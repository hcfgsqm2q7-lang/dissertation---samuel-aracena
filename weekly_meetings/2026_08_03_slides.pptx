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District-level coverage</c:v>
                </c:pt>
              </c:strCache>
            </c:strRef>
          </c:tx>
          <c:spPr>
            <a:solidFill>
              <a:srgbClr val="9FB4C0"/>
            </a:solidFill>
            <a:effectLst/>
          </c:spPr>
          <c:invertIfNegative val="0"/>
          <c:dPt>
            <c:idx val="0"/>
            <c:invertIfNegative val="0"/>
            <c:bubble3D val="0"/>
            <c:spPr>
              <a:solidFill>
                <a:srgbClr val="9FB4C0"/>
              </a:solidFill>
              <a:effectLst/>
            </c:spPr>
            <c:extLst>
              <c:ext xmlns:c16="http://schemas.microsoft.com/office/drawing/2014/chart" uri="{C3380CC4-5D6E-409C-BE32-E72D297353CC}">
                <c16:uniqueId val="{00000001-9B30-4F90-A629-E2742568CE20}"/>
              </c:ext>
            </c:extLst>
          </c:dPt>
          <c:dPt>
            <c:idx val="1"/>
            <c:invertIfNegative val="0"/>
            <c:bubble3D val="0"/>
            <c:spPr>
              <a:solidFill>
                <a:srgbClr val="9FB4C0"/>
              </a:solidFill>
              <a:effectLst/>
            </c:spPr>
            <c:extLst>
              <c:ext xmlns:c16="http://schemas.microsoft.com/office/drawing/2014/chart" uri="{C3380CC4-5D6E-409C-BE32-E72D297353CC}">
                <c16:uniqueId val="{00000003-9B30-4F90-A629-E2742568CE20}"/>
              </c:ext>
            </c:extLst>
          </c:dPt>
          <c:dPt>
            <c:idx val="2"/>
            <c:invertIfNegative val="0"/>
            <c:bubble3D val="0"/>
            <c:spPr>
              <a:solidFill>
                <a:srgbClr val="C1502F"/>
              </a:solidFill>
              <a:effectLst/>
            </c:spPr>
            <c:extLst>
              <c:ext xmlns:c16="http://schemas.microsoft.com/office/drawing/2014/chart" uri="{C3380CC4-5D6E-409C-BE32-E72D297353CC}">
                <c16:uniqueId val="{00000005-9B30-4F90-A629-E2742568CE20}"/>
              </c:ext>
            </c:extLst>
          </c:dPt>
          <c:dPt>
            <c:idx val="3"/>
            <c:invertIfNegative val="0"/>
            <c:bubble3D val="0"/>
            <c:spPr>
              <a:solidFill>
                <a:srgbClr val="C1502F"/>
              </a:solidFill>
              <a:effectLst/>
            </c:spPr>
            <c:extLst>
              <c:ext xmlns:c16="http://schemas.microsoft.com/office/drawing/2014/chart" uri="{C3380CC4-5D6E-409C-BE32-E72D297353CC}">
                <c16:uniqueId val="{00000007-9B30-4F90-A629-E2742568CE20}"/>
              </c:ext>
            </c:extLst>
          </c:dPt>
          <c:dLbls>
            <c:numFmt formatCode="0&quot;%&quot;" sourceLinked="0"/>
            <c:spPr>
              <a:noFill/>
              <a:ln>
                <a:noFill/>
              </a:ln>
              <a:effectLst/>
            </c:spPr>
            <c:txPr>
              <a:bodyPr/>
              <a:lstStyle/>
              <a:p>
                <a:pPr>
                  <a:defRPr sz="13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Conflict
(ACLED)</c:v>
                </c:pt>
                <c:pt idx="1">
                  <c:v>Climate
(CHIRPS/VHI)</c:v>
                </c:pt>
                <c:pt idx="2">
                  <c:v>Market
(WFP)</c:v>
                </c:pt>
                <c:pt idx="3">
                  <c:v>Reporting
(ReliefWeb)</c:v>
                </c:pt>
              </c:strCache>
            </c:strRef>
          </c:cat>
          <c:val>
            <c:numRef>
              <c:f>Sheet1!$B$2:$B$5</c:f>
              <c:numCache>
                <c:formatCode>General</c:formatCode>
                <c:ptCount val="4"/>
                <c:pt idx="0">
                  <c:v>100</c:v>
                </c:pt>
                <c:pt idx="1">
                  <c:v>100</c:v>
                </c:pt>
                <c:pt idx="2">
                  <c:v>47</c:v>
                </c:pt>
                <c:pt idx="3">
                  <c:v>60</c:v>
                </c:pt>
              </c:numCache>
            </c:numRef>
          </c:val>
          <c:extLst>
            <c:ext xmlns:c16="http://schemas.microsoft.com/office/drawing/2014/chart" uri="{C3380CC4-5D6E-409C-BE32-E72D297353CC}">
              <c16:uniqueId val="{00000008-9B30-4F90-A629-E2742568CE20}"/>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3E5C6C"/>
            </a:solidFill>
            <a:prstDash val="solid"/>
            <a:round/>
          </a:ln>
        </c:spPr>
        <c:txPr>
          <a:bodyPr/>
          <a:lstStyle/>
          <a:p>
            <a:pPr>
              <a:defRPr sz="1100" b="0" i="0" u="none" strike="noStrike">
                <a:solidFill>
                  <a:srgbClr val="9FB4C0"/>
                </a:solidFill>
                <a:latin typeface="Arial"/>
              </a:defRPr>
            </a:pPr>
            <a:endParaRPr lang="en-US"/>
          </a:p>
        </c:txPr>
        <c:crossAx val="2094734552"/>
        <c:crosses val="autoZero"/>
        <c:auto val="1"/>
        <c:lblAlgn val="ctr"/>
        <c:lblOffset val="100"/>
        <c:noMultiLvlLbl val="1"/>
      </c:catAx>
      <c:valAx>
        <c:axId val="2094734552"/>
        <c:scaling>
          <c:orientation val="minMax"/>
          <c:max val="11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Correlation (r)</c:v>
                </c:pt>
              </c:strCache>
            </c:strRef>
          </c:tx>
          <c:spPr>
            <a:solidFill>
              <a:srgbClr val="D9D2C4"/>
            </a:solidFill>
            <a:effectLst/>
          </c:spPr>
          <c:invertIfNegative val="0"/>
          <c:dPt>
            <c:idx val="0"/>
            <c:invertIfNegative val="0"/>
            <c:bubble3D val="0"/>
            <c:extLst>
              <c:ext xmlns:c16="http://schemas.microsoft.com/office/drawing/2014/chart" uri="{C3380CC4-5D6E-409C-BE32-E72D297353CC}">
                <c16:uniqueId val="{00000001-DF92-48F1-BF92-75A113C5E1C1}"/>
              </c:ext>
            </c:extLst>
          </c:dPt>
          <c:dPt>
            <c:idx val="1"/>
            <c:invertIfNegative val="0"/>
            <c:bubble3D val="0"/>
            <c:extLst>
              <c:ext xmlns:c16="http://schemas.microsoft.com/office/drawing/2014/chart" uri="{C3380CC4-5D6E-409C-BE32-E72D297353CC}">
                <c16:uniqueId val="{00000003-DF92-48F1-BF92-75A113C5E1C1}"/>
              </c:ext>
            </c:extLst>
          </c:dPt>
          <c:dPt>
            <c:idx val="2"/>
            <c:invertIfNegative val="0"/>
            <c:bubble3D val="0"/>
            <c:spPr>
              <a:solidFill>
                <a:srgbClr val="C1502F"/>
              </a:solidFill>
              <a:effectLst/>
            </c:spPr>
            <c:extLst>
              <c:ext xmlns:c16="http://schemas.microsoft.com/office/drawing/2014/chart" uri="{C3380CC4-5D6E-409C-BE32-E72D297353CC}">
                <c16:uniqueId val="{00000005-DF92-48F1-BF92-75A113C5E1C1}"/>
              </c:ext>
            </c:extLst>
          </c:dPt>
          <c:dPt>
            <c:idx val="3"/>
            <c:invertIfNegative val="0"/>
            <c:bubble3D val="0"/>
            <c:spPr>
              <a:solidFill>
                <a:srgbClr val="B0BEC5"/>
              </a:solidFill>
              <a:effectLst/>
            </c:spPr>
            <c:extLst>
              <c:ext xmlns:c16="http://schemas.microsoft.com/office/drawing/2014/chart" uri="{C3380CC4-5D6E-409C-BE32-E72D297353CC}">
                <c16:uniqueId val="{00000007-DF92-48F1-BF92-75A113C5E1C1}"/>
              </c:ext>
            </c:extLst>
          </c:dPt>
          <c:dPt>
            <c:idx val="4"/>
            <c:invertIfNegative val="0"/>
            <c:bubble3D val="0"/>
            <c:spPr>
              <a:solidFill>
                <a:srgbClr val="C1502F"/>
              </a:solidFill>
              <a:effectLst/>
            </c:spPr>
            <c:extLst>
              <c:ext xmlns:c16="http://schemas.microsoft.com/office/drawing/2014/chart" uri="{C3380CC4-5D6E-409C-BE32-E72D297353CC}">
                <c16:uniqueId val="{00000009-DF92-48F1-BF92-75A113C5E1C1}"/>
              </c:ext>
            </c:extLst>
          </c:dPt>
          <c:dLbls>
            <c:numFmt formatCode="0.00" sourceLinked="0"/>
            <c:spPr>
              <a:noFill/>
              <a:ln>
                <a:noFill/>
              </a:ln>
              <a:effectLst/>
            </c:spPr>
            <c:txPr>
              <a:bodyPr/>
              <a:lstStyle/>
              <a:p>
                <a:pPr>
                  <a:defRPr sz="1200" b="0" i="0" u="none" strike="noStrike">
                    <a:solidFill>
                      <a:srgbClr val="1B3A4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Same month
(all districts)</c:v>
                </c:pt>
                <c:pt idx="1">
                  <c:v>Same month
(no Banadir)</c:v>
                </c:pt>
                <c:pt idx="2">
                  <c:v>January
only</c:v>
                </c:pt>
                <c:pt idx="3">
                  <c:v>February
only</c:v>
                </c:pt>
                <c:pt idx="4">
                  <c:v>Jan conflict →
Feb reports</c:v>
                </c:pt>
              </c:strCache>
            </c:strRef>
          </c:cat>
          <c:val>
            <c:numRef>
              <c:f>Sheet1!$B$2:$B$6</c:f>
              <c:numCache>
                <c:formatCode>General</c:formatCode>
                <c:ptCount val="5"/>
                <c:pt idx="0">
                  <c:v>0.32</c:v>
                </c:pt>
                <c:pt idx="1">
                  <c:v>0.28999999999999998</c:v>
                </c:pt>
                <c:pt idx="2">
                  <c:v>0.48</c:v>
                </c:pt>
                <c:pt idx="3">
                  <c:v>0.14000000000000001</c:v>
                </c:pt>
                <c:pt idx="4">
                  <c:v>0.38</c:v>
                </c:pt>
              </c:numCache>
            </c:numRef>
          </c:val>
          <c:extLst>
            <c:ext xmlns:c16="http://schemas.microsoft.com/office/drawing/2014/chart" uri="{C3380CC4-5D6E-409C-BE32-E72D297353CC}">
              <c16:uniqueId val="{0000000A-DF92-48F1-BF92-75A113C5E1C1}"/>
            </c:ext>
          </c:extLst>
        </c:ser>
        <c:dLbls>
          <c:showLegendKey val="0"/>
          <c:showVal val="1"/>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9D2C4"/>
            </a:solidFill>
            <a:prstDash val="solid"/>
            <a:round/>
          </a:ln>
        </c:spPr>
        <c:txPr>
          <a:bodyPr/>
          <a:lstStyle/>
          <a:p>
            <a:pPr>
              <a:defRPr sz="1000" b="0" i="0" u="none" strike="noStrike">
                <a:solidFill>
                  <a:srgbClr val="5B6B73"/>
                </a:solidFill>
                <a:latin typeface="Arial"/>
              </a:defRPr>
            </a:pPr>
            <a:endParaRPr lang="en-US"/>
          </a:p>
        </c:txPr>
        <c:crossAx val="2094734552"/>
        <c:crosses val="autoZero"/>
        <c:auto val="1"/>
        <c:lblAlgn val="ctr"/>
        <c:lblOffset val="100"/>
        <c:noMultiLvlLbl val="1"/>
      </c:catAx>
      <c:valAx>
        <c:axId val="2094734552"/>
        <c:scaling>
          <c:orientation val="minMax"/>
          <c:max val="0.6"/>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4381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4B"/>
        </a:solidFill>
        <a:effectLst/>
      </p:bgPr>
    </p:bg>
    <p:spTree>
      <p:nvGrpSpPr>
        <p:cNvPr id="1" name=""/>
        <p:cNvGrpSpPr/>
        <p:nvPr/>
      </p:nvGrpSpPr>
      <p:grpSpPr>
        <a:xfrm>
          <a:off x="0" y="0"/>
          <a:ext cx="0" cy="0"/>
          <a:chOff x="0" y="0"/>
          <a:chExt cx="0" cy="0"/>
        </a:xfrm>
      </p:grpSpPr>
      <p:sp>
        <p:nvSpPr>
          <p:cNvPr id="2" name="Text 0"/>
          <p:cNvSpPr/>
          <p:nvPr/>
        </p:nvSpPr>
        <p:spPr>
          <a:xfrm>
            <a:off x="822960" y="1051560"/>
            <a:ext cx="10515600" cy="365760"/>
          </a:xfrm>
          <a:prstGeom prst="rect">
            <a:avLst/>
          </a:prstGeom>
          <a:noFill/>
          <a:ln/>
        </p:spPr>
        <p:txBody>
          <a:bodyPr wrap="square" lIns="0" tIns="0" rIns="0" bIns="0" rtlCol="0" anchor="ctr"/>
          <a:lstStyle/>
          <a:p>
            <a:pPr marL="0" indent="0">
              <a:buNone/>
            </a:pPr>
            <a:r>
              <a:rPr lang="en-US" sz="1400" b="1" kern="0" spc="200" dirty="0">
                <a:solidFill>
                  <a:srgbClr val="E0876A"/>
                </a:solidFill>
                <a:latin typeface="Calibri" pitchFamily="34" charset="0"/>
                <a:ea typeface="Calibri" pitchFamily="34" charset="-122"/>
                <a:cs typeface="Calibri" pitchFamily="34" charset="-120"/>
              </a:rPr>
              <a:t>BUILDING A RESEARCH-READY HUMANITARIAN DATASET</a:t>
            </a:r>
            <a:endParaRPr lang="en-US" sz="1400" dirty="0"/>
          </a:p>
        </p:txBody>
      </p:sp>
      <p:sp>
        <p:nvSpPr>
          <p:cNvPr id="3" name="Text 1"/>
          <p:cNvSpPr/>
          <p:nvPr/>
        </p:nvSpPr>
        <p:spPr>
          <a:xfrm>
            <a:off x="822960" y="1600200"/>
            <a:ext cx="10058400" cy="2103120"/>
          </a:xfrm>
          <a:prstGeom prst="rect">
            <a:avLst/>
          </a:prstGeom>
          <a:noFill/>
          <a:ln/>
        </p:spPr>
        <p:txBody>
          <a:bodyPr wrap="square" lIns="0" tIns="0" rIns="0" bIns="0" rtlCol="0" anchor="ctr"/>
          <a:lstStyle/>
          <a:p>
            <a:pPr marL="0" indent="0">
              <a:lnSpc>
                <a:spcPct val="115000"/>
              </a:lnSpc>
              <a:buNone/>
            </a:pPr>
            <a:r>
              <a:rPr lang="en-US" sz="3800" b="1" dirty="0">
                <a:solidFill>
                  <a:srgbClr val="FFFFFF"/>
                </a:solidFill>
                <a:latin typeface="Cambria" pitchFamily="34" charset="0"/>
                <a:ea typeface="Cambria" pitchFamily="34" charset="-122"/>
                <a:cs typeface="Cambria" pitchFamily="34" charset="-120"/>
              </a:rPr>
              <a:t>Integrating conflict, climate, market, and reporting data</a:t>
            </a:r>
            <a:endParaRPr lang="en-US" sz="3800" dirty="0"/>
          </a:p>
          <a:p>
            <a:pPr marL="0" indent="0">
              <a:lnSpc>
                <a:spcPct val="115000"/>
              </a:lnSpc>
              <a:buNone/>
            </a:pPr>
            <a:r>
              <a:rPr lang="en-US" sz="3800" b="1" dirty="0">
                <a:solidFill>
                  <a:srgbClr val="FFFFFF"/>
                </a:solidFill>
                <a:latin typeface="Cambria" pitchFamily="34" charset="0"/>
                <a:ea typeface="Cambria" pitchFamily="34" charset="-122"/>
                <a:cs typeface="Cambria" pitchFamily="34" charset="-120"/>
              </a:rPr>
              <a:t>for sub-national food-insecurity monitoring</a:t>
            </a:r>
            <a:endParaRPr lang="en-US" sz="3800" dirty="0"/>
          </a:p>
        </p:txBody>
      </p:sp>
      <p:sp>
        <p:nvSpPr>
          <p:cNvPr id="4" name="Text 2"/>
          <p:cNvSpPr/>
          <p:nvPr/>
        </p:nvSpPr>
        <p:spPr>
          <a:xfrm>
            <a:off x="822960" y="3977640"/>
            <a:ext cx="8229600" cy="457200"/>
          </a:xfrm>
          <a:prstGeom prst="rect">
            <a:avLst/>
          </a:prstGeom>
          <a:noFill/>
          <a:ln/>
        </p:spPr>
        <p:txBody>
          <a:bodyPr wrap="square" lIns="0" tIns="0" rIns="0" bIns="0" rtlCol="0" anchor="ctr"/>
          <a:lstStyle/>
          <a:p>
            <a:pPr marL="0" indent="0">
              <a:buNone/>
            </a:pPr>
            <a:r>
              <a:rPr lang="en-US" sz="1700" i="1" dirty="0">
                <a:solidFill>
                  <a:srgbClr val="9FB4C0"/>
                </a:solidFill>
                <a:latin typeface="Calibri" pitchFamily="34" charset="0"/>
                <a:ea typeface="Calibri" pitchFamily="34" charset="-122"/>
                <a:cs typeface="Calibri" pitchFamily="34" charset="-120"/>
              </a:rPr>
              <a:t>Prototype: Somalia, January–February 2024</a:t>
            </a:r>
            <a:endParaRPr lang="en-US" sz="1700" dirty="0"/>
          </a:p>
        </p:txBody>
      </p:sp>
      <p:sp>
        <p:nvSpPr>
          <p:cNvPr id="5" name="Shape 3"/>
          <p:cNvSpPr/>
          <p:nvPr/>
        </p:nvSpPr>
        <p:spPr>
          <a:xfrm>
            <a:off x="822960" y="4617720"/>
            <a:ext cx="2011680" cy="0"/>
          </a:xfrm>
          <a:prstGeom prst="line">
            <a:avLst/>
          </a:prstGeom>
          <a:noFill/>
          <a:ln w="38100">
            <a:solidFill>
              <a:srgbClr val="C1502F"/>
            </a:solidFill>
            <a:prstDash val="solid"/>
          </a:ln>
        </p:spPr>
      </p:sp>
      <p:sp>
        <p:nvSpPr>
          <p:cNvPr id="6" name="Text 4"/>
          <p:cNvSpPr/>
          <p:nvPr/>
        </p:nvSpPr>
        <p:spPr>
          <a:xfrm>
            <a:off x="822960" y="6080760"/>
            <a:ext cx="9144000" cy="365760"/>
          </a:xfrm>
          <a:prstGeom prst="rect">
            <a:avLst/>
          </a:prstGeom>
          <a:noFill/>
          <a:ln/>
        </p:spPr>
        <p:txBody>
          <a:bodyPr wrap="square" lIns="0" tIns="0" rIns="0" bIns="0" rtlCol="0" anchor="ctr"/>
          <a:lstStyle/>
          <a:p>
            <a:pPr marL="0" indent="0">
              <a:buNone/>
            </a:pPr>
            <a:r>
              <a:rPr lang="en-US" sz="1200" dirty="0">
                <a:solidFill>
                  <a:srgbClr val="9FB4C0"/>
                </a:solidFill>
                <a:latin typeface="Calibri" pitchFamily="34" charset="0"/>
                <a:ea typeface="Calibri" pitchFamily="34" charset="-122"/>
                <a:cs typeface="Calibri" pitchFamily="34" charset="-120"/>
              </a:rPr>
              <a:t>MSc Dissertation Prototype  —  Data Integration &amp; Quality Evaluation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Study scope</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Why Somalia, why this window, and what it validates</a:t>
            </a:r>
            <a:endParaRPr lang="en-US" sz="1350" dirty="0"/>
          </a:p>
        </p:txBody>
      </p:sp>
      <p:sp>
        <p:nvSpPr>
          <p:cNvPr id="4" name="Text 2"/>
          <p:cNvSpPr/>
          <p:nvPr/>
        </p:nvSpPr>
        <p:spPr>
          <a:xfrm>
            <a:off x="548640" y="1389888"/>
            <a:ext cx="11064240" cy="365760"/>
          </a:xfrm>
          <a:prstGeom prst="rect">
            <a:avLst/>
          </a:prstGeom>
          <a:noFill/>
          <a:ln/>
        </p:spPr>
        <p:txBody>
          <a:bodyPr wrap="square" lIns="0" tIns="0" rIns="0" bIns="0" rtlCol="0" anchor="ctr"/>
          <a:lstStyle/>
          <a:p>
            <a:pPr marL="0" indent="0">
              <a:buNone/>
            </a:pPr>
            <a:r>
              <a:rPr lang="en-US" sz="1300" i="1" dirty="0">
                <a:solidFill>
                  <a:srgbClr val="C1502F"/>
                </a:solidFill>
                <a:latin typeface="Calibri" pitchFamily="34" charset="0"/>
                <a:ea typeface="Calibri" pitchFamily="34" charset="-122"/>
                <a:cs typeface="Calibri" pitchFamily="34" charset="-120"/>
              </a:rPr>
              <a:t>A prototype dataset was built applying the considerations below, ahead of scaling to the full study.</a:t>
            </a:r>
            <a:endParaRPr lang="en-US" sz="1300" dirty="0"/>
          </a:p>
        </p:txBody>
      </p:sp>
      <p:sp>
        <p:nvSpPr>
          <p:cNvPr id="5" name="Shape 3"/>
          <p:cNvSpPr/>
          <p:nvPr/>
        </p:nvSpPr>
        <p:spPr>
          <a:xfrm>
            <a:off x="548640" y="1965960"/>
            <a:ext cx="11064240" cy="969264"/>
          </a:xfrm>
          <a:prstGeom prst="rect">
            <a:avLst/>
          </a:prstGeom>
          <a:solidFill>
            <a:srgbClr val="F1E9DC"/>
          </a:solidFill>
          <a:ln/>
        </p:spPr>
      </p:sp>
      <p:sp>
        <p:nvSpPr>
          <p:cNvPr id="6" name="Text 4"/>
          <p:cNvSpPr/>
          <p:nvPr/>
        </p:nvSpPr>
        <p:spPr>
          <a:xfrm>
            <a:off x="822960" y="2057400"/>
            <a:ext cx="2377440" cy="347472"/>
          </a:xfrm>
          <a:prstGeom prst="rect">
            <a:avLst/>
          </a:prstGeom>
          <a:noFill/>
          <a:ln/>
        </p:spPr>
        <p:txBody>
          <a:bodyPr wrap="square" lIns="0" tIns="0" rIns="0" bIns="0" rtlCol="0" anchor="ctr"/>
          <a:lstStyle/>
          <a:p>
            <a:pPr marL="0" indent="0">
              <a:buNone/>
            </a:pPr>
            <a:r>
              <a:rPr lang="en-US" sz="1100" b="1" kern="0" spc="100" dirty="0">
                <a:solidFill>
                  <a:srgbClr val="C1502F"/>
                </a:solidFill>
                <a:latin typeface="Calibri" pitchFamily="34" charset="0"/>
                <a:ea typeface="Calibri" pitchFamily="34" charset="-122"/>
                <a:cs typeface="Calibri" pitchFamily="34" charset="-120"/>
              </a:rPr>
              <a:t>COUNTRY</a:t>
            </a:r>
            <a:endParaRPr lang="en-US" sz="1100" dirty="0"/>
          </a:p>
        </p:txBody>
      </p:sp>
      <p:sp>
        <p:nvSpPr>
          <p:cNvPr id="7" name="Text 5"/>
          <p:cNvSpPr/>
          <p:nvPr/>
        </p:nvSpPr>
        <p:spPr>
          <a:xfrm>
            <a:off x="822960" y="2350008"/>
            <a:ext cx="3108960" cy="502920"/>
          </a:xfrm>
          <a:prstGeom prst="rect">
            <a:avLst/>
          </a:prstGeom>
          <a:noFill/>
          <a:ln/>
        </p:spPr>
        <p:txBody>
          <a:bodyPr wrap="square" lIns="0" tIns="0" rIns="0" bIns="0" rtlCol="0" anchor="ctr"/>
          <a:lstStyle/>
          <a:p>
            <a:pPr marL="0" indent="0">
              <a:buNone/>
            </a:pPr>
            <a:r>
              <a:rPr lang="en-US" sz="1800" b="1" dirty="0">
                <a:solidFill>
                  <a:srgbClr val="1B3A4B"/>
                </a:solidFill>
                <a:latin typeface="Cambria" pitchFamily="34" charset="0"/>
                <a:ea typeface="Cambria" pitchFamily="34" charset="-122"/>
                <a:cs typeface="Cambria" pitchFamily="34" charset="-120"/>
              </a:rPr>
              <a:t>Somalia</a:t>
            </a:r>
            <a:endParaRPr lang="en-US" sz="1800" dirty="0"/>
          </a:p>
        </p:txBody>
      </p:sp>
      <p:sp>
        <p:nvSpPr>
          <p:cNvPr id="8" name="Text 6"/>
          <p:cNvSpPr/>
          <p:nvPr/>
        </p:nvSpPr>
        <p:spPr>
          <a:xfrm>
            <a:off x="4114800" y="2148840"/>
            <a:ext cx="7223760" cy="64008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Most complete data across all four mechanisms among the four target countries</a:t>
            </a:r>
            <a:endParaRPr lang="en-US" sz="1300" dirty="0"/>
          </a:p>
        </p:txBody>
      </p:sp>
      <p:sp>
        <p:nvSpPr>
          <p:cNvPr id="9" name="Shape 7"/>
          <p:cNvSpPr/>
          <p:nvPr/>
        </p:nvSpPr>
        <p:spPr>
          <a:xfrm>
            <a:off x="548640" y="3026664"/>
            <a:ext cx="11064240" cy="969264"/>
          </a:xfrm>
          <a:prstGeom prst="rect">
            <a:avLst/>
          </a:prstGeom>
          <a:solidFill>
            <a:srgbClr val="FFFFFF"/>
          </a:solidFill>
          <a:ln/>
        </p:spPr>
      </p:sp>
      <p:sp>
        <p:nvSpPr>
          <p:cNvPr id="10" name="Text 8"/>
          <p:cNvSpPr/>
          <p:nvPr/>
        </p:nvSpPr>
        <p:spPr>
          <a:xfrm>
            <a:off x="822960" y="3118104"/>
            <a:ext cx="2377440" cy="347472"/>
          </a:xfrm>
          <a:prstGeom prst="rect">
            <a:avLst/>
          </a:prstGeom>
          <a:noFill/>
          <a:ln/>
        </p:spPr>
        <p:txBody>
          <a:bodyPr wrap="square" lIns="0" tIns="0" rIns="0" bIns="0" rtlCol="0" anchor="ctr"/>
          <a:lstStyle/>
          <a:p>
            <a:pPr marL="0" indent="0">
              <a:buNone/>
            </a:pPr>
            <a:r>
              <a:rPr lang="en-US" sz="1100" b="1" kern="0" spc="100" dirty="0">
                <a:solidFill>
                  <a:srgbClr val="C1502F"/>
                </a:solidFill>
                <a:latin typeface="Calibri" pitchFamily="34" charset="0"/>
                <a:ea typeface="Calibri" pitchFamily="34" charset="-122"/>
                <a:cs typeface="Calibri" pitchFamily="34" charset="-120"/>
              </a:rPr>
              <a:t>TIME WINDOW</a:t>
            </a:r>
            <a:endParaRPr lang="en-US" sz="1100" dirty="0"/>
          </a:p>
        </p:txBody>
      </p:sp>
      <p:sp>
        <p:nvSpPr>
          <p:cNvPr id="11" name="Text 9"/>
          <p:cNvSpPr/>
          <p:nvPr/>
        </p:nvSpPr>
        <p:spPr>
          <a:xfrm>
            <a:off x="822960" y="3410712"/>
            <a:ext cx="3108960" cy="502920"/>
          </a:xfrm>
          <a:prstGeom prst="rect">
            <a:avLst/>
          </a:prstGeom>
          <a:noFill/>
          <a:ln/>
        </p:spPr>
        <p:txBody>
          <a:bodyPr wrap="square" lIns="0" tIns="0" rIns="0" bIns="0" rtlCol="0" anchor="ctr"/>
          <a:lstStyle/>
          <a:p>
            <a:pPr marL="0" indent="0">
              <a:buNone/>
            </a:pPr>
            <a:r>
              <a:rPr lang="en-US" sz="1800" b="1" dirty="0">
                <a:solidFill>
                  <a:srgbClr val="1B3A4B"/>
                </a:solidFill>
                <a:latin typeface="Cambria" pitchFamily="34" charset="0"/>
                <a:ea typeface="Cambria" pitchFamily="34" charset="-122"/>
                <a:cs typeface="Cambria" pitchFamily="34" charset="-120"/>
              </a:rPr>
              <a:t>January–February 2024</a:t>
            </a:r>
            <a:endParaRPr lang="en-US" sz="1800" dirty="0"/>
          </a:p>
        </p:txBody>
      </p:sp>
      <p:sp>
        <p:nvSpPr>
          <p:cNvPr id="12" name="Text 10"/>
          <p:cNvSpPr/>
          <p:nvPr/>
        </p:nvSpPr>
        <p:spPr>
          <a:xfrm>
            <a:off x="4114800" y="3209544"/>
            <a:ext cx="7223760" cy="64008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The only period in the WFP export with real, non-forecast prices</a:t>
            </a:r>
            <a:endParaRPr lang="en-US" sz="1300" dirty="0"/>
          </a:p>
        </p:txBody>
      </p:sp>
      <p:sp>
        <p:nvSpPr>
          <p:cNvPr id="13" name="Shape 11"/>
          <p:cNvSpPr/>
          <p:nvPr/>
        </p:nvSpPr>
        <p:spPr>
          <a:xfrm>
            <a:off x="548640" y="4087368"/>
            <a:ext cx="11064240" cy="969264"/>
          </a:xfrm>
          <a:prstGeom prst="rect">
            <a:avLst/>
          </a:prstGeom>
          <a:solidFill>
            <a:srgbClr val="F1E9DC"/>
          </a:solidFill>
          <a:ln/>
        </p:spPr>
      </p:sp>
      <p:sp>
        <p:nvSpPr>
          <p:cNvPr id="14" name="Text 12"/>
          <p:cNvSpPr/>
          <p:nvPr/>
        </p:nvSpPr>
        <p:spPr>
          <a:xfrm>
            <a:off x="822960" y="4178808"/>
            <a:ext cx="2377440" cy="347472"/>
          </a:xfrm>
          <a:prstGeom prst="rect">
            <a:avLst/>
          </a:prstGeom>
          <a:noFill/>
          <a:ln/>
        </p:spPr>
        <p:txBody>
          <a:bodyPr wrap="square" lIns="0" tIns="0" rIns="0" bIns="0" rtlCol="0" anchor="ctr"/>
          <a:lstStyle/>
          <a:p>
            <a:pPr marL="0" indent="0">
              <a:buNone/>
            </a:pPr>
            <a:r>
              <a:rPr lang="en-US" sz="1100" b="1" kern="0" spc="100" dirty="0">
                <a:solidFill>
                  <a:srgbClr val="C1502F"/>
                </a:solidFill>
                <a:latin typeface="Calibri" pitchFamily="34" charset="0"/>
                <a:ea typeface="Calibri" pitchFamily="34" charset="-122"/>
                <a:cs typeface="Calibri" pitchFamily="34" charset="-120"/>
              </a:rPr>
              <a:t>TARGET STUDY</a:t>
            </a:r>
            <a:endParaRPr lang="en-US" sz="1100" dirty="0"/>
          </a:p>
        </p:txBody>
      </p:sp>
      <p:sp>
        <p:nvSpPr>
          <p:cNvPr id="15" name="Text 13"/>
          <p:cNvSpPr/>
          <p:nvPr/>
        </p:nvSpPr>
        <p:spPr>
          <a:xfrm>
            <a:off x="822960" y="4471416"/>
            <a:ext cx="3108960" cy="502920"/>
          </a:xfrm>
          <a:prstGeom prst="rect">
            <a:avLst/>
          </a:prstGeom>
          <a:noFill/>
          <a:ln/>
        </p:spPr>
        <p:txBody>
          <a:bodyPr wrap="square" lIns="0" tIns="0" rIns="0" bIns="0" rtlCol="0" anchor="ctr"/>
          <a:lstStyle/>
          <a:p>
            <a:pPr marL="0" indent="0">
              <a:buNone/>
            </a:pPr>
            <a:r>
              <a:rPr lang="en-US" sz="1800" b="1" dirty="0">
                <a:solidFill>
                  <a:srgbClr val="1B3A4B"/>
                </a:solidFill>
                <a:latin typeface="Cambria" pitchFamily="34" charset="0"/>
                <a:ea typeface="Cambria" pitchFamily="34" charset="-122"/>
                <a:cs typeface="Cambria" pitchFamily="34" charset="-120"/>
              </a:rPr>
              <a:t>2015–2024 · 4 countries</a:t>
            </a:r>
            <a:endParaRPr lang="en-US" sz="1800" dirty="0"/>
          </a:p>
        </p:txBody>
      </p:sp>
      <p:sp>
        <p:nvSpPr>
          <p:cNvPr id="16" name="Text 14"/>
          <p:cNvSpPr/>
          <p:nvPr/>
        </p:nvSpPr>
        <p:spPr>
          <a:xfrm>
            <a:off x="4114800" y="4270248"/>
            <a:ext cx="7223760" cy="64008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Ethiopia, Somalia, Kenya, South Sudan — this prototype validates the pipeline first</a:t>
            </a:r>
            <a:endParaRPr lang="en-US" sz="1300" dirty="0"/>
          </a:p>
        </p:txBody>
      </p:sp>
      <p:sp>
        <p:nvSpPr>
          <p:cNvPr id="17" name="Shape 15"/>
          <p:cNvSpPr/>
          <p:nvPr/>
        </p:nvSpPr>
        <p:spPr>
          <a:xfrm>
            <a:off x="548640" y="5148072"/>
            <a:ext cx="11064240" cy="969264"/>
          </a:xfrm>
          <a:prstGeom prst="rect">
            <a:avLst/>
          </a:prstGeom>
          <a:solidFill>
            <a:srgbClr val="FFFFFF"/>
          </a:solidFill>
          <a:ln/>
        </p:spPr>
      </p:sp>
      <p:sp>
        <p:nvSpPr>
          <p:cNvPr id="18" name="Text 16"/>
          <p:cNvSpPr/>
          <p:nvPr/>
        </p:nvSpPr>
        <p:spPr>
          <a:xfrm>
            <a:off x="822960" y="5239512"/>
            <a:ext cx="2377440" cy="347472"/>
          </a:xfrm>
          <a:prstGeom prst="rect">
            <a:avLst/>
          </a:prstGeom>
          <a:noFill/>
          <a:ln/>
        </p:spPr>
        <p:txBody>
          <a:bodyPr wrap="square" lIns="0" tIns="0" rIns="0" bIns="0" rtlCol="0" anchor="ctr"/>
          <a:lstStyle/>
          <a:p>
            <a:pPr marL="0" indent="0">
              <a:buNone/>
            </a:pPr>
            <a:r>
              <a:rPr lang="en-US" sz="1100" b="1" kern="0" spc="100" dirty="0">
                <a:solidFill>
                  <a:srgbClr val="C1502F"/>
                </a:solidFill>
                <a:latin typeface="Calibri" pitchFamily="34" charset="0"/>
                <a:ea typeface="Calibri" pitchFamily="34" charset="-122"/>
                <a:cs typeface="Calibri" pitchFamily="34" charset="-120"/>
              </a:rPr>
              <a:t>SPATIAL RESOLUTION</a:t>
            </a:r>
            <a:endParaRPr lang="en-US" sz="1100" dirty="0"/>
          </a:p>
        </p:txBody>
      </p:sp>
      <p:sp>
        <p:nvSpPr>
          <p:cNvPr id="19" name="Text 17"/>
          <p:cNvSpPr/>
          <p:nvPr/>
        </p:nvSpPr>
        <p:spPr>
          <a:xfrm>
            <a:off x="822960" y="5532120"/>
            <a:ext cx="3108960" cy="502920"/>
          </a:xfrm>
          <a:prstGeom prst="rect">
            <a:avLst/>
          </a:prstGeom>
          <a:noFill/>
          <a:ln/>
        </p:spPr>
        <p:txBody>
          <a:bodyPr wrap="square" lIns="0" tIns="0" rIns="0" bIns="0" rtlCol="0" anchor="ctr"/>
          <a:lstStyle/>
          <a:p>
            <a:pPr marL="0" indent="0">
              <a:buNone/>
            </a:pPr>
            <a:r>
              <a:rPr lang="en-US" sz="1800" b="1" dirty="0">
                <a:solidFill>
                  <a:srgbClr val="1B3A4B"/>
                </a:solidFill>
                <a:latin typeface="Cambria" pitchFamily="34" charset="0"/>
                <a:ea typeface="Cambria" pitchFamily="34" charset="-122"/>
                <a:cs typeface="Cambria" pitchFamily="34" charset="-120"/>
              </a:rPr>
              <a:t>Admin2 · 74 districts</a:t>
            </a:r>
            <a:endParaRPr lang="en-US" sz="1800" dirty="0"/>
          </a:p>
        </p:txBody>
      </p:sp>
      <p:sp>
        <p:nvSpPr>
          <p:cNvPr id="20" name="Text 18"/>
          <p:cNvSpPr/>
          <p:nvPr/>
        </p:nvSpPr>
        <p:spPr>
          <a:xfrm>
            <a:off x="4114800" y="5330952"/>
            <a:ext cx="7223760" cy="640080"/>
          </a:xfrm>
          <a:prstGeom prst="rect">
            <a:avLst/>
          </a:prstGeom>
          <a:noFill/>
          <a:ln/>
        </p:spPr>
        <p:txBody>
          <a:bodyPr wrap="square" lIns="0" tIns="0" rIns="0" bIns="0" rtlCol="0" anchor="ctr"/>
          <a:lstStyle/>
          <a:p>
            <a:pPr marL="0" indent="0">
              <a:buNone/>
            </a:pPr>
            <a:r>
              <a:rPr lang="en-US" sz="1300" dirty="0">
                <a:solidFill>
                  <a:srgbClr val="5B6B73"/>
                </a:solidFill>
                <a:latin typeface="Calibri" pitchFamily="34" charset="0"/>
                <a:ea typeface="Calibri" pitchFamily="34" charset="-122"/>
                <a:cs typeface="Calibri" pitchFamily="34" charset="-120"/>
              </a:rPr>
              <a:t>Full GADM 4.1 district set — not limited to WFP market coverage</a:t>
            </a:r>
            <a:endParaRPr lang="en-US" sz="1300" dirty="0"/>
          </a:p>
        </p:txBody>
      </p:sp>
      <p:sp>
        <p:nvSpPr>
          <p:cNvPr id="21" name="Text 19"/>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A fact constellation, not a single star</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Four mechanism-specific fact tables sharing two common dimensions</a:t>
            </a:r>
            <a:endParaRPr lang="en-US" sz="1350" dirty="0"/>
          </a:p>
        </p:txBody>
      </p:sp>
      <p:sp>
        <p:nvSpPr>
          <p:cNvPr id="4" name="Shape 2"/>
          <p:cNvSpPr/>
          <p:nvPr/>
        </p:nvSpPr>
        <p:spPr>
          <a:xfrm>
            <a:off x="3200400" y="1691640"/>
            <a:ext cx="2834640" cy="960120"/>
          </a:xfrm>
          <a:prstGeom prst="roundRect">
            <a:avLst>
              <a:gd name="adj" fmla="val 6667"/>
            </a:avLst>
          </a:prstGeom>
          <a:solidFill>
            <a:srgbClr val="1B3A4B"/>
          </a:solidFill>
          <a:ln/>
        </p:spPr>
      </p:sp>
      <p:sp>
        <p:nvSpPr>
          <p:cNvPr id="5" name="Text 3"/>
          <p:cNvSpPr/>
          <p:nvPr/>
        </p:nvSpPr>
        <p:spPr>
          <a:xfrm>
            <a:off x="3337560" y="1764792"/>
            <a:ext cx="2560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dim_location</a:t>
            </a:r>
            <a:endParaRPr lang="en-US" sz="1300" dirty="0"/>
          </a:p>
        </p:txBody>
      </p:sp>
      <p:sp>
        <p:nvSpPr>
          <p:cNvPr id="6" name="Text 4"/>
          <p:cNvSpPr/>
          <p:nvPr/>
        </p:nvSpPr>
        <p:spPr>
          <a:xfrm>
            <a:off x="3337560" y="2029968"/>
            <a:ext cx="2560320" cy="256032"/>
          </a:xfrm>
          <a:prstGeom prst="rect">
            <a:avLst/>
          </a:prstGeom>
          <a:noFill/>
          <a:ln/>
        </p:spPr>
        <p:txBody>
          <a:bodyPr wrap="square" lIns="0" tIns="0" rIns="0" bIns="0" rtlCol="0" anchor="ctr"/>
          <a:lstStyle/>
          <a:p>
            <a:pPr marL="0" indent="0">
              <a:buNone/>
            </a:pPr>
            <a:r>
              <a:rPr lang="en-US" sz="1100" dirty="0">
                <a:solidFill>
                  <a:srgbClr val="E0876A"/>
                </a:solidFill>
                <a:latin typeface="Calibri" pitchFamily="34" charset="0"/>
                <a:ea typeface="Calibri" pitchFamily="34" charset="-122"/>
                <a:cs typeface="Calibri" pitchFamily="34" charset="-120"/>
              </a:rPr>
              <a:t>74 districts</a:t>
            </a:r>
            <a:endParaRPr lang="en-US" sz="1100" dirty="0"/>
          </a:p>
        </p:txBody>
      </p:sp>
      <p:sp>
        <p:nvSpPr>
          <p:cNvPr id="7" name="Text 5"/>
          <p:cNvSpPr/>
          <p:nvPr/>
        </p:nvSpPr>
        <p:spPr>
          <a:xfrm>
            <a:off x="3337560" y="2286000"/>
            <a:ext cx="2560320" cy="320040"/>
          </a:xfrm>
          <a:prstGeom prst="rect">
            <a:avLst/>
          </a:prstGeom>
          <a:noFill/>
          <a:ln/>
        </p:spPr>
        <p:txBody>
          <a:bodyPr wrap="square" lIns="0" tIns="0" rIns="0" bIns="0" rtlCol="0" anchor="ctr"/>
          <a:lstStyle/>
          <a:p>
            <a:pPr marL="0" indent="0">
              <a:lnSpc>
                <a:spcPct val="110000"/>
              </a:lnSpc>
              <a:buNone/>
            </a:pPr>
            <a:r>
              <a:rPr lang="en-US" sz="950" dirty="0">
                <a:solidFill>
                  <a:srgbClr val="9FB4C0"/>
                </a:solidFill>
                <a:latin typeface="Calibri" pitchFamily="34" charset="0"/>
                <a:ea typeface="Calibri" pitchFamily="34" charset="-122"/>
                <a:cs typeface="Calibri" pitchFamily="34" charset="-120"/>
              </a:rPr>
              <a:t>Centroid, area, market-coverage flag</a:t>
            </a:r>
            <a:endParaRPr lang="en-US" sz="950" dirty="0"/>
          </a:p>
        </p:txBody>
      </p:sp>
      <p:sp>
        <p:nvSpPr>
          <p:cNvPr id="8" name="Shape 6"/>
          <p:cNvSpPr/>
          <p:nvPr/>
        </p:nvSpPr>
        <p:spPr>
          <a:xfrm>
            <a:off x="6309360" y="1691640"/>
            <a:ext cx="2834640" cy="960120"/>
          </a:xfrm>
          <a:prstGeom prst="roundRect">
            <a:avLst>
              <a:gd name="adj" fmla="val 6667"/>
            </a:avLst>
          </a:prstGeom>
          <a:solidFill>
            <a:srgbClr val="1B3A4B"/>
          </a:solidFill>
          <a:ln/>
        </p:spPr>
      </p:sp>
      <p:sp>
        <p:nvSpPr>
          <p:cNvPr id="9" name="Text 7"/>
          <p:cNvSpPr/>
          <p:nvPr/>
        </p:nvSpPr>
        <p:spPr>
          <a:xfrm>
            <a:off x="6446520" y="1764792"/>
            <a:ext cx="2560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dim_time</a:t>
            </a:r>
            <a:endParaRPr lang="en-US" sz="1300" dirty="0"/>
          </a:p>
        </p:txBody>
      </p:sp>
      <p:sp>
        <p:nvSpPr>
          <p:cNvPr id="10" name="Text 8"/>
          <p:cNvSpPr/>
          <p:nvPr/>
        </p:nvSpPr>
        <p:spPr>
          <a:xfrm>
            <a:off x="6446520" y="2029968"/>
            <a:ext cx="2560320" cy="256032"/>
          </a:xfrm>
          <a:prstGeom prst="rect">
            <a:avLst/>
          </a:prstGeom>
          <a:noFill/>
          <a:ln/>
        </p:spPr>
        <p:txBody>
          <a:bodyPr wrap="square" lIns="0" tIns="0" rIns="0" bIns="0" rtlCol="0" anchor="ctr"/>
          <a:lstStyle/>
          <a:p>
            <a:pPr marL="0" indent="0">
              <a:buNone/>
            </a:pPr>
            <a:r>
              <a:rPr lang="en-US" sz="1100" dirty="0">
                <a:solidFill>
                  <a:srgbClr val="E0876A"/>
                </a:solidFill>
                <a:latin typeface="Calibri" pitchFamily="34" charset="0"/>
                <a:ea typeface="Calibri" pitchFamily="34" charset="-122"/>
                <a:cs typeface="Calibri" pitchFamily="34" charset="-120"/>
              </a:rPr>
              <a:t>2 months</a:t>
            </a:r>
            <a:endParaRPr lang="en-US" sz="1100" dirty="0"/>
          </a:p>
        </p:txBody>
      </p:sp>
      <p:sp>
        <p:nvSpPr>
          <p:cNvPr id="11" name="Text 9"/>
          <p:cNvSpPr/>
          <p:nvPr/>
        </p:nvSpPr>
        <p:spPr>
          <a:xfrm>
            <a:off x="6446520" y="2286000"/>
            <a:ext cx="2560320" cy="320040"/>
          </a:xfrm>
          <a:prstGeom prst="rect">
            <a:avLst/>
          </a:prstGeom>
          <a:noFill/>
          <a:ln/>
        </p:spPr>
        <p:txBody>
          <a:bodyPr wrap="square" lIns="0" tIns="0" rIns="0" bIns="0" rtlCol="0" anchor="ctr"/>
          <a:lstStyle/>
          <a:p>
            <a:pPr marL="0" indent="0">
              <a:lnSpc>
                <a:spcPct val="110000"/>
              </a:lnSpc>
              <a:buNone/>
            </a:pPr>
            <a:r>
              <a:rPr lang="en-US" sz="950" dirty="0">
                <a:solidFill>
                  <a:srgbClr val="9FB4C0"/>
                </a:solidFill>
                <a:latin typeface="Calibri" pitchFamily="34" charset="0"/>
                <a:ea typeface="Calibri" pitchFamily="34" charset="-122"/>
                <a:cs typeface="Calibri" pitchFamily="34" charset="-120"/>
              </a:rPr>
              <a:t>January &amp; February 2024</a:t>
            </a:r>
            <a:endParaRPr lang="en-US" sz="950" dirty="0"/>
          </a:p>
        </p:txBody>
      </p:sp>
      <p:sp>
        <p:nvSpPr>
          <p:cNvPr id="12" name="Shape 10"/>
          <p:cNvSpPr/>
          <p:nvPr/>
        </p:nvSpPr>
        <p:spPr>
          <a:xfrm>
            <a:off x="4617720" y="2651760"/>
            <a:ext cx="0" cy="411480"/>
          </a:xfrm>
          <a:prstGeom prst="line">
            <a:avLst/>
          </a:prstGeom>
          <a:noFill/>
          <a:ln w="19050">
            <a:solidFill>
              <a:srgbClr val="D9D2C4"/>
            </a:solidFill>
            <a:prstDash val="solid"/>
          </a:ln>
        </p:spPr>
      </p:sp>
      <p:sp>
        <p:nvSpPr>
          <p:cNvPr id="13" name="Shape 11"/>
          <p:cNvSpPr/>
          <p:nvPr/>
        </p:nvSpPr>
        <p:spPr>
          <a:xfrm>
            <a:off x="7726680" y="2651760"/>
            <a:ext cx="0" cy="411480"/>
          </a:xfrm>
          <a:prstGeom prst="line">
            <a:avLst/>
          </a:prstGeom>
          <a:noFill/>
          <a:ln w="19050">
            <a:solidFill>
              <a:srgbClr val="D9D2C4"/>
            </a:solidFill>
            <a:prstDash val="solid"/>
          </a:ln>
        </p:spPr>
      </p:sp>
      <p:sp>
        <p:nvSpPr>
          <p:cNvPr id="14" name="Shape 12"/>
          <p:cNvSpPr/>
          <p:nvPr/>
        </p:nvSpPr>
        <p:spPr>
          <a:xfrm>
            <a:off x="1234440" y="3063240"/>
            <a:ext cx="9692640" cy="0"/>
          </a:xfrm>
          <a:prstGeom prst="line">
            <a:avLst/>
          </a:prstGeom>
          <a:noFill/>
          <a:ln w="19050">
            <a:solidFill>
              <a:srgbClr val="D9D2C4"/>
            </a:solidFill>
            <a:prstDash val="solid"/>
          </a:ln>
        </p:spPr>
      </p:sp>
      <p:sp>
        <p:nvSpPr>
          <p:cNvPr id="15" name="Shape 13"/>
          <p:cNvSpPr/>
          <p:nvPr/>
        </p:nvSpPr>
        <p:spPr>
          <a:xfrm>
            <a:off x="2148840" y="3063240"/>
            <a:ext cx="0" cy="274320"/>
          </a:xfrm>
          <a:prstGeom prst="line">
            <a:avLst/>
          </a:prstGeom>
          <a:noFill/>
          <a:ln w="19050">
            <a:solidFill>
              <a:srgbClr val="D9D2C4"/>
            </a:solidFill>
            <a:prstDash val="solid"/>
          </a:ln>
        </p:spPr>
      </p:sp>
      <p:sp>
        <p:nvSpPr>
          <p:cNvPr id="16" name="Shape 14"/>
          <p:cNvSpPr/>
          <p:nvPr/>
        </p:nvSpPr>
        <p:spPr>
          <a:xfrm>
            <a:off x="868680" y="3337560"/>
            <a:ext cx="2560320" cy="1371600"/>
          </a:xfrm>
          <a:prstGeom prst="roundRect">
            <a:avLst>
              <a:gd name="adj" fmla="val 4667"/>
            </a:avLst>
          </a:prstGeom>
          <a:solidFill>
            <a:srgbClr val="C1502F"/>
          </a:solidFill>
          <a:ln/>
        </p:spPr>
      </p:sp>
      <p:sp>
        <p:nvSpPr>
          <p:cNvPr id="17" name="Text 15"/>
          <p:cNvSpPr/>
          <p:nvPr/>
        </p:nvSpPr>
        <p:spPr>
          <a:xfrm>
            <a:off x="1005840" y="3429000"/>
            <a:ext cx="228600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fact_conflict</a:t>
            </a:r>
            <a:endParaRPr lang="en-US" sz="1350" dirty="0"/>
          </a:p>
        </p:txBody>
      </p:sp>
      <p:sp>
        <p:nvSpPr>
          <p:cNvPr id="18" name="Text 16"/>
          <p:cNvSpPr/>
          <p:nvPr/>
        </p:nvSpPr>
        <p:spPr>
          <a:xfrm>
            <a:off x="1005840" y="3730752"/>
            <a:ext cx="2286000" cy="274320"/>
          </a:xfrm>
          <a:prstGeom prst="rect">
            <a:avLst/>
          </a:prstGeom>
          <a:noFill/>
          <a:ln/>
        </p:spPr>
        <p:txBody>
          <a:bodyPr wrap="square" lIns="0" tIns="0" rIns="0" bIns="0" rtlCol="0" anchor="ctr"/>
          <a:lstStyle/>
          <a:p>
            <a:pPr marL="0" indent="0">
              <a:buNone/>
            </a:pPr>
            <a:r>
              <a:rPr lang="en-US" sz="1100" dirty="0">
                <a:solidFill>
                  <a:srgbClr val="F1E9DC"/>
                </a:solidFill>
                <a:latin typeface="Calibri" pitchFamily="34" charset="0"/>
                <a:ea typeface="Calibri" pitchFamily="34" charset="-122"/>
                <a:cs typeface="Calibri" pitchFamily="34" charset="-120"/>
              </a:rPr>
              <a:t>4 features</a:t>
            </a:r>
            <a:endParaRPr lang="en-US" sz="1100" dirty="0"/>
          </a:p>
        </p:txBody>
      </p:sp>
      <p:sp>
        <p:nvSpPr>
          <p:cNvPr id="19" name="Text 17"/>
          <p:cNvSpPr/>
          <p:nvPr/>
        </p:nvSpPr>
        <p:spPr>
          <a:xfrm>
            <a:off x="1005840" y="4041648"/>
            <a:ext cx="2286000" cy="594360"/>
          </a:xfrm>
          <a:prstGeom prst="rect">
            <a:avLst/>
          </a:prstGeom>
          <a:noFill/>
          <a:ln/>
        </p:spPr>
        <p:txBody>
          <a:bodyPr wrap="square" lIns="0" tIns="0" rIns="0" bIns="0" rtlCol="0" anchor="ctr"/>
          <a:lstStyle/>
          <a:p>
            <a:pPr marL="0" indent="0">
              <a:lnSpc>
                <a:spcPct val="115000"/>
              </a:lnSpc>
              <a:buNone/>
            </a:pPr>
            <a:r>
              <a:rPr lang="en-US" sz="950" dirty="0">
                <a:solidFill>
                  <a:srgbClr val="FFFFFF"/>
                </a:solidFill>
                <a:latin typeface="Calibri" pitchFamily="34" charset="0"/>
                <a:ea typeface="Calibri" pitchFamily="34" charset="-122"/>
                <a:cs typeface="Calibri" pitchFamily="34" charset="-120"/>
              </a:rPr>
              <a:t>ACLED events, fatalities, density, trend</a:t>
            </a:r>
            <a:endParaRPr lang="en-US" sz="950" dirty="0"/>
          </a:p>
        </p:txBody>
      </p:sp>
      <p:sp>
        <p:nvSpPr>
          <p:cNvPr id="20" name="Shape 18"/>
          <p:cNvSpPr/>
          <p:nvPr/>
        </p:nvSpPr>
        <p:spPr>
          <a:xfrm>
            <a:off x="4846320" y="3063240"/>
            <a:ext cx="0" cy="274320"/>
          </a:xfrm>
          <a:prstGeom prst="line">
            <a:avLst/>
          </a:prstGeom>
          <a:noFill/>
          <a:ln w="19050">
            <a:solidFill>
              <a:srgbClr val="D9D2C4"/>
            </a:solidFill>
            <a:prstDash val="solid"/>
          </a:ln>
        </p:spPr>
      </p:sp>
      <p:sp>
        <p:nvSpPr>
          <p:cNvPr id="21" name="Shape 19"/>
          <p:cNvSpPr/>
          <p:nvPr/>
        </p:nvSpPr>
        <p:spPr>
          <a:xfrm>
            <a:off x="3566160" y="3337560"/>
            <a:ext cx="2560320" cy="1371600"/>
          </a:xfrm>
          <a:prstGeom prst="roundRect">
            <a:avLst>
              <a:gd name="adj" fmla="val 4667"/>
            </a:avLst>
          </a:prstGeom>
          <a:solidFill>
            <a:srgbClr val="C1502F"/>
          </a:solidFill>
          <a:ln/>
        </p:spPr>
      </p:sp>
      <p:sp>
        <p:nvSpPr>
          <p:cNvPr id="22" name="Text 20"/>
          <p:cNvSpPr/>
          <p:nvPr/>
        </p:nvSpPr>
        <p:spPr>
          <a:xfrm>
            <a:off x="3703320" y="3429000"/>
            <a:ext cx="228600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fact_climate</a:t>
            </a:r>
            <a:endParaRPr lang="en-US" sz="1350" dirty="0"/>
          </a:p>
        </p:txBody>
      </p:sp>
      <p:sp>
        <p:nvSpPr>
          <p:cNvPr id="23" name="Text 21"/>
          <p:cNvSpPr/>
          <p:nvPr/>
        </p:nvSpPr>
        <p:spPr>
          <a:xfrm>
            <a:off x="3703320" y="3730752"/>
            <a:ext cx="2286000" cy="274320"/>
          </a:xfrm>
          <a:prstGeom prst="rect">
            <a:avLst/>
          </a:prstGeom>
          <a:noFill/>
          <a:ln/>
        </p:spPr>
        <p:txBody>
          <a:bodyPr wrap="square" lIns="0" tIns="0" rIns="0" bIns="0" rtlCol="0" anchor="ctr"/>
          <a:lstStyle/>
          <a:p>
            <a:pPr marL="0" indent="0">
              <a:buNone/>
            </a:pPr>
            <a:r>
              <a:rPr lang="en-US" sz="1100" dirty="0">
                <a:solidFill>
                  <a:srgbClr val="F1E9DC"/>
                </a:solidFill>
                <a:latin typeface="Calibri" pitchFamily="34" charset="0"/>
                <a:ea typeface="Calibri" pitchFamily="34" charset="-122"/>
                <a:cs typeface="Calibri" pitchFamily="34" charset="-120"/>
              </a:rPr>
              <a:t>2 features</a:t>
            </a:r>
            <a:endParaRPr lang="en-US" sz="1100" dirty="0"/>
          </a:p>
        </p:txBody>
      </p:sp>
      <p:sp>
        <p:nvSpPr>
          <p:cNvPr id="24" name="Text 22"/>
          <p:cNvSpPr/>
          <p:nvPr/>
        </p:nvSpPr>
        <p:spPr>
          <a:xfrm>
            <a:off x="3703320" y="4041648"/>
            <a:ext cx="2286000" cy="594360"/>
          </a:xfrm>
          <a:prstGeom prst="rect">
            <a:avLst/>
          </a:prstGeom>
          <a:noFill/>
          <a:ln/>
        </p:spPr>
        <p:txBody>
          <a:bodyPr wrap="square" lIns="0" tIns="0" rIns="0" bIns="0" rtlCol="0" anchor="ctr"/>
          <a:lstStyle/>
          <a:p>
            <a:pPr marL="0" indent="0">
              <a:lnSpc>
                <a:spcPct val="115000"/>
              </a:lnSpc>
              <a:buNone/>
            </a:pPr>
            <a:r>
              <a:rPr lang="en-US" sz="950" dirty="0">
                <a:solidFill>
                  <a:srgbClr val="FFFFFF"/>
                </a:solidFill>
                <a:latin typeface="Calibri" pitchFamily="34" charset="0"/>
                <a:ea typeface="Calibri" pitchFamily="34" charset="-122"/>
                <a:cs typeface="Calibri" pitchFamily="34" charset="-120"/>
              </a:rPr>
              <a:t>CHIRPS rainfall, VHI vegetation health</a:t>
            </a:r>
            <a:endParaRPr lang="en-US" sz="950" dirty="0"/>
          </a:p>
        </p:txBody>
      </p:sp>
      <p:sp>
        <p:nvSpPr>
          <p:cNvPr id="25" name="Shape 23"/>
          <p:cNvSpPr/>
          <p:nvPr/>
        </p:nvSpPr>
        <p:spPr>
          <a:xfrm>
            <a:off x="7543800" y="3063240"/>
            <a:ext cx="0" cy="274320"/>
          </a:xfrm>
          <a:prstGeom prst="line">
            <a:avLst/>
          </a:prstGeom>
          <a:noFill/>
          <a:ln w="19050">
            <a:solidFill>
              <a:srgbClr val="D9D2C4"/>
            </a:solidFill>
            <a:prstDash val="solid"/>
          </a:ln>
        </p:spPr>
      </p:sp>
      <p:sp>
        <p:nvSpPr>
          <p:cNvPr id="26" name="Shape 24"/>
          <p:cNvSpPr/>
          <p:nvPr/>
        </p:nvSpPr>
        <p:spPr>
          <a:xfrm>
            <a:off x="6263640" y="3337560"/>
            <a:ext cx="2560320" cy="1371600"/>
          </a:xfrm>
          <a:prstGeom prst="roundRect">
            <a:avLst>
              <a:gd name="adj" fmla="val 4667"/>
            </a:avLst>
          </a:prstGeom>
          <a:solidFill>
            <a:srgbClr val="C1502F"/>
          </a:solidFill>
          <a:ln/>
        </p:spPr>
      </p:sp>
      <p:sp>
        <p:nvSpPr>
          <p:cNvPr id="27" name="Text 25"/>
          <p:cNvSpPr/>
          <p:nvPr/>
        </p:nvSpPr>
        <p:spPr>
          <a:xfrm>
            <a:off x="6400800" y="3429000"/>
            <a:ext cx="228600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fact_market</a:t>
            </a:r>
            <a:endParaRPr lang="en-US" sz="1350" dirty="0"/>
          </a:p>
        </p:txBody>
      </p:sp>
      <p:sp>
        <p:nvSpPr>
          <p:cNvPr id="28" name="Text 26"/>
          <p:cNvSpPr/>
          <p:nvPr/>
        </p:nvSpPr>
        <p:spPr>
          <a:xfrm>
            <a:off x="6400800" y="3730752"/>
            <a:ext cx="2286000" cy="274320"/>
          </a:xfrm>
          <a:prstGeom prst="rect">
            <a:avLst/>
          </a:prstGeom>
          <a:noFill/>
          <a:ln/>
        </p:spPr>
        <p:txBody>
          <a:bodyPr wrap="square" lIns="0" tIns="0" rIns="0" bIns="0" rtlCol="0" anchor="ctr"/>
          <a:lstStyle/>
          <a:p>
            <a:pPr marL="0" indent="0">
              <a:buNone/>
            </a:pPr>
            <a:r>
              <a:rPr lang="en-US" sz="1100" dirty="0">
                <a:solidFill>
                  <a:srgbClr val="F1E9DC"/>
                </a:solidFill>
                <a:latin typeface="Calibri" pitchFamily="34" charset="0"/>
                <a:ea typeface="Calibri" pitchFamily="34" charset="-122"/>
                <a:cs typeface="Calibri" pitchFamily="34" charset="-120"/>
              </a:rPr>
              <a:t>12 features</a:t>
            </a:r>
            <a:endParaRPr lang="en-US" sz="1100" dirty="0"/>
          </a:p>
        </p:txBody>
      </p:sp>
      <p:sp>
        <p:nvSpPr>
          <p:cNvPr id="29" name="Text 27"/>
          <p:cNvSpPr/>
          <p:nvPr/>
        </p:nvSpPr>
        <p:spPr>
          <a:xfrm>
            <a:off x="6400800" y="4041648"/>
            <a:ext cx="2286000" cy="594360"/>
          </a:xfrm>
          <a:prstGeom prst="rect">
            <a:avLst/>
          </a:prstGeom>
          <a:noFill/>
          <a:ln/>
        </p:spPr>
        <p:txBody>
          <a:bodyPr wrap="square" lIns="0" tIns="0" rIns="0" bIns="0" rtlCol="0" anchor="ctr"/>
          <a:lstStyle/>
          <a:p>
            <a:pPr marL="0" indent="0">
              <a:lnSpc>
                <a:spcPct val="115000"/>
              </a:lnSpc>
              <a:buNone/>
            </a:pPr>
            <a:r>
              <a:rPr lang="en-US" sz="950" dirty="0">
                <a:solidFill>
                  <a:srgbClr val="FFFFFF"/>
                </a:solidFill>
                <a:latin typeface="Calibri" pitchFamily="34" charset="0"/>
                <a:ea typeface="Calibri" pitchFamily="34" charset="-122"/>
                <a:cs typeface="Calibri" pitchFamily="34" charset="-120"/>
              </a:rPr>
              <a:t>4 commodities: price, change, Pewi (USD)</a:t>
            </a:r>
            <a:endParaRPr lang="en-US" sz="950" dirty="0"/>
          </a:p>
        </p:txBody>
      </p:sp>
      <p:sp>
        <p:nvSpPr>
          <p:cNvPr id="30" name="Shape 28"/>
          <p:cNvSpPr/>
          <p:nvPr/>
        </p:nvSpPr>
        <p:spPr>
          <a:xfrm>
            <a:off x="10241280" y="3063240"/>
            <a:ext cx="0" cy="274320"/>
          </a:xfrm>
          <a:prstGeom prst="line">
            <a:avLst/>
          </a:prstGeom>
          <a:noFill/>
          <a:ln w="19050">
            <a:solidFill>
              <a:srgbClr val="D9D2C4"/>
            </a:solidFill>
            <a:prstDash val="solid"/>
          </a:ln>
        </p:spPr>
      </p:sp>
      <p:sp>
        <p:nvSpPr>
          <p:cNvPr id="31" name="Shape 29"/>
          <p:cNvSpPr/>
          <p:nvPr/>
        </p:nvSpPr>
        <p:spPr>
          <a:xfrm>
            <a:off x="8961120" y="3337560"/>
            <a:ext cx="2560320" cy="1371600"/>
          </a:xfrm>
          <a:prstGeom prst="roundRect">
            <a:avLst>
              <a:gd name="adj" fmla="val 4667"/>
            </a:avLst>
          </a:prstGeom>
          <a:solidFill>
            <a:srgbClr val="C1502F"/>
          </a:solidFill>
          <a:ln/>
        </p:spPr>
      </p:sp>
      <p:sp>
        <p:nvSpPr>
          <p:cNvPr id="32" name="Text 30"/>
          <p:cNvSpPr/>
          <p:nvPr/>
        </p:nvSpPr>
        <p:spPr>
          <a:xfrm>
            <a:off x="9098280" y="3429000"/>
            <a:ext cx="228600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fact_reporting</a:t>
            </a:r>
            <a:endParaRPr lang="en-US" sz="1350" dirty="0"/>
          </a:p>
        </p:txBody>
      </p:sp>
      <p:sp>
        <p:nvSpPr>
          <p:cNvPr id="33" name="Text 31"/>
          <p:cNvSpPr/>
          <p:nvPr/>
        </p:nvSpPr>
        <p:spPr>
          <a:xfrm>
            <a:off x="9098280" y="3730752"/>
            <a:ext cx="2286000" cy="274320"/>
          </a:xfrm>
          <a:prstGeom prst="rect">
            <a:avLst/>
          </a:prstGeom>
          <a:noFill/>
          <a:ln/>
        </p:spPr>
        <p:txBody>
          <a:bodyPr wrap="square" lIns="0" tIns="0" rIns="0" bIns="0" rtlCol="0" anchor="ctr"/>
          <a:lstStyle/>
          <a:p>
            <a:pPr marL="0" indent="0">
              <a:buNone/>
            </a:pPr>
            <a:r>
              <a:rPr lang="en-US" sz="1100" dirty="0">
                <a:solidFill>
                  <a:srgbClr val="F1E9DC"/>
                </a:solidFill>
                <a:latin typeface="Calibri" pitchFamily="34" charset="0"/>
                <a:ea typeface="Calibri" pitchFamily="34" charset="-122"/>
                <a:cs typeface="Calibri" pitchFamily="34" charset="-120"/>
              </a:rPr>
              <a:t>3 features</a:t>
            </a:r>
            <a:endParaRPr lang="en-US" sz="1100" dirty="0"/>
          </a:p>
        </p:txBody>
      </p:sp>
      <p:sp>
        <p:nvSpPr>
          <p:cNvPr id="34" name="Text 32"/>
          <p:cNvSpPr/>
          <p:nvPr/>
        </p:nvSpPr>
        <p:spPr>
          <a:xfrm>
            <a:off x="9098280" y="4041648"/>
            <a:ext cx="2286000" cy="594360"/>
          </a:xfrm>
          <a:prstGeom prst="rect">
            <a:avLst/>
          </a:prstGeom>
          <a:noFill/>
          <a:ln/>
        </p:spPr>
        <p:txBody>
          <a:bodyPr wrap="square" lIns="0" tIns="0" rIns="0" bIns="0" rtlCol="0" anchor="ctr"/>
          <a:lstStyle/>
          <a:p>
            <a:pPr marL="0" indent="0">
              <a:lnSpc>
                <a:spcPct val="115000"/>
              </a:lnSpc>
              <a:buNone/>
            </a:pPr>
            <a:r>
              <a:rPr lang="en-US" sz="950" dirty="0">
                <a:solidFill>
                  <a:srgbClr val="FFFFFF"/>
                </a:solidFill>
                <a:latin typeface="Calibri" pitchFamily="34" charset="0"/>
                <a:ea typeface="Calibri" pitchFamily="34" charset="-122"/>
                <a:cs typeface="Calibri" pitchFamily="34" charset="-120"/>
              </a:rPr>
              <a:t>ReliefWeb mentions, Food/Nutrition, WASH</a:t>
            </a:r>
            <a:endParaRPr lang="en-US" sz="950" dirty="0"/>
          </a:p>
        </p:txBody>
      </p:sp>
      <p:sp>
        <p:nvSpPr>
          <p:cNvPr id="35" name="Shape 33"/>
          <p:cNvSpPr/>
          <p:nvPr/>
        </p:nvSpPr>
        <p:spPr>
          <a:xfrm>
            <a:off x="6080760" y="4709160"/>
            <a:ext cx="0" cy="365760"/>
          </a:xfrm>
          <a:prstGeom prst="line">
            <a:avLst/>
          </a:prstGeom>
          <a:noFill/>
          <a:ln w="25400">
            <a:solidFill>
              <a:srgbClr val="D9D2C4"/>
            </a:solidFill>
            <a:prstDash val="solid"/>
            <a:tailEnd type="triangle"/>
          </a:ln>
        </p:spPr>
      </p:sp>
      <p:sp>
        <p:nvSpPr>
          <p:cNvPr id="36" name="Shape 34"/>
          <p:cNvSpPr/>
          <p:nvPr/>
        </p:nvSpPr>
        <p:spPr>
          <a:xfrm>
            <a:off x="3337560" y="5120640"/>
            <a:ext cx="5486400" cy="868680"/>
          </a:xfrm>
          <a:prstGeom prst="roundRect">
            <a:avLst>
              <a:gd name="adj" fmla="val 7368"/>
            </a:avLst>
          </a:prstGeom>
          <a:solidFill>
            <a:srgbClr val="1B3A4B"/>
          </a:solidFill>
          <a:ln/>
        </p:spPr>
      </p:sp>
      <p:sp>
        <p:nvSpPr>
          <p:cNvPr id="37" name="Text 35"/>
          <p:cNvSpPr/>
          <p:nvPr/>
        </p:nvSpPr>
        <p:spPr>
          <a:xfrm>
            <a:off x="3337560" y="5175504"/>
            <a:ext cx="5486400" cy="3200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vw_food_insecurity_panel</a:t>
            </a:r>
            <a:endParaRPr lang="en-US" sz="1350" dirty="0"/>
          </a:p>
        </p:txBody>
      </p:sp>
      <p:sp>
        <p:nvSpPr>
          <p:cNvPr id="38" name="Text 36"/>
          <p:cNvSpPr/>
          <p:nvPr/>
        </p:nvSpPr>
        <p:spPr>
          <a:xfrm>
            <a:off x="3337560" y="5486400"/>
            <a:ext cx="5486400" cy="320040"/>
          </a:xfrm>
          <a:prstGeom prst="rect">
            <a:avLst/>
          </a:prstGeom>
          <a:noFill/>
          <a:ln/>
        </p:spPr>
        <p:txBody>
          <a:bodyPr wrap="square" lIns="0" tIns="0" rIns="0" bIns="0" rtlCol="0" anchor="ctr"/>
          <a:lstStyle/>
          <a:p>
            <a:pPr marL="0" indent="0" algn="ctr">
              <a:buNone/>
            </a:pPr>
            <a:r>
              <a:rPr lang="en-US" sz="1050" dirty="0">
                <a:solidFill>
                  <a:srgbClr val="9FB4C0"/>
                </a:solidFill>
                <a:latin typeface="Calibri" pitchFamily="34" charset="0"/>
                <a:ea typeface="Calibri" pitchFamily="34" charset="-122"/>
                <a:cs typeface="Calibri" pitchFamily="34" charset="-120"/>
              </a:rPr>
              <a:t>148 rows × 27 columns — one row per Admin2 × Month, every mechanism joined</a:t>
            </a:r>
            <a:endParaRPr lang="en-US" sz="1050" dirty="0"/>
          </a:p>
        </p:txBody>
      </p:sp>
      <p:sp>
        <p:nvSpPr>
          <p:cNvPr id="39" name="Text 37"/>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21 features, four mechanisms</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What each feature is, and why it was chosen — by mechanism</a:t>
            </a:r>
            <a:endParaRPr lang="en-US" sz="1350" dirty="0"/>
          </a:p>
        </p:txBody>
      </p:sp>
      <p:sp>
        <p:nvSpPr>
          <p:cNvPr id="4" name="Shape 2"/>
          <p:cNvSpPr/>
          <p:nvPr/>
        </p:nvSpPr>
        <p:spPr>
          <a:xfrm>
            <a:off x="457200" y="1691640"/>
            <a:ext cx="2816352" cy="4617720"/>
          </a:xfrm>
          <a:prstGeom prst="roundRect">
            <a:avLst>
              <a:gd name="adj" fmla="val 2597"/>
            </a:avLst>
          </a:prstGeom>
          <a:solidFill>
            <a:srgbClr val="F1E9DC"/>
          </a:solidFill>
          <a:ln/>
        </p:spPr>
      </p:sp>
      <p:sp>
        <p:nvSpPr>
          <p:cNvPr id="5" name="Shape 3"/>
          <p:cNvSpPr/>
          <p:nvPr/>
        </p:nvSpPr>
        <p:spPr>
          <a:xfrm>
            <a:off x="658368" y="1901952"/>
            <a:ext cx="640080" cy="640080"/>
          </a:xfrm>
          <a:prstGeom prst="ellipse">
            <a:avLst/>
          </a:prstGeom>
          <a:solidFill>
            <a:srgbClr val="C1502F"/>
          </a:solidFill>
          <a:ln/>
        </p:spPr>
      </p:sp>
      <p:sp>
        <p:nvSpPr>
          <p:cNvPr id="6" name="Text 4"/>
          <p:cNvSpPr/>
          <p:nvPr/>
        </p:nvSpPr>
        <p:spPr>
          <a:xfrm>
            <a:off x="658368" y="190195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7" name="Text 5"/>
          <p:cNvSpPr/>
          <p:nvPr/>
        </p:nvSpPr>
        <p:spPr>
          <a:xfrm>
            <a:off x="1371600" y="1993392"/>
            <a:ext cx="1719072" cy="457200"/>
          </a:xfrm>
          <a:prstGeom prst="rect">
            <a:avLst/>
          </a:prstGeom>
          <a:noFill/>
          <a:ln/>
        </p:spPr>
        <p:txBody>
          <a:bodyPr wrap="square" lIns="0" tIns="0" rIns="0" bIns="0" rtlCol="0" anchor="ctr"/>
          <a:lstStyle/>
          <a:p>
            <a:pPr marL="0" indent="0">
              <a:buNone/>
            </a:pPr>
            <a:r>
              <a:rPr lang="en-US" sz="1600" b="1" dirty="0">
                <a:solidFill>
                  <a:srgbClr val="1B3A4B"/>
                </a:solidFill>
                <a:latin typeface="Cambria" pitchFamily="34" charset="0"/>
                <a:ea typeface="Cambria" pitchFamily="34" charset="-122"/>
                <a:cs typeface="Cambria" pitchFamily="34" charset="-120"/>
              </a:rPr>
              <a:t>Conflict</a:t>
            </a:r>
            <a:endParaRPr lang="en-US" sz="1600" dirty="0"/>
          </a:p>
        </p:txBody>
      </p:sp>
      <p:sp>
        <p:nvSpPr>
          <p:cNvPr id="8" name="Text 6"/>
          <p:cNvSpPr/>
          <p:nvPr/>
        </p:nvSpPr>
        <p:spPr>
          <a:xfrm>
            <a:off x="658368" y="2697480"/>
            <a:ext cx="2414016" cy="237744"/>
          </a:xfrm>
          <a:prstGeom prst="rect">
            <a:avLst/>
          </a:prstGeom>
          <a:noFill/>
          <a:ln/>
        </p:spPr>
        <p:txBody>
          <a:bodyPr wrap="square" lIns="0" tIns="0" rIns="0" bIns="0" rtlCol="0" anchor="ctr"/>
          <a:lstStyle/>
          <a:p>
            <a:pPr marL="0" indent="0">
              <a:buNone/>
            </a:pPr>
            <a:r>
              <a:rPr lang="en-US" sz="950" b="1" dirty="0">
                <a:solidFill>
                  <a:srgbClr val="C1502F"/>
                </a:solidFill>
                <a:latin typeface="Courier New" pitchFamily="34" charset="0"/>
                <a:ea typeface="Courier New" pitchFamily="34" charset="-122"/>
                <a:cs typeface="Courier New" pitchFamily="34" charset="-120"/>
              </a:rPr>
              <a:t>conflict_event_count</a:t>
            </a:r>
            <a:endParaRPr lang="en-US" sz="950" dirty="0"/>
          </a:p>
        </p:txBody>
      </p:sp>
      <p:sp>
        <p:nvSpPr>
          <p:cNvPr id="9" name="Text 7"/>
          <p:cNvSpPr/>
          <p:nvPr/>
        </p:nvSpPr>
        <p:spPr>
          <a:xfrm>
            <a:off x="658368" y="2916936"/>
            <a:ext cx="2414016" cy="365760"/>
          </a:xfrm>
          <a:prstGeom prst="rect">
            <a:avLst/>
          </a:prstGeom>
          <a:noFill/>
          <a:ln/>
        </p:spPr>
        <p:txBody>
          <a:bodyPr wrap="square" lIns="0" tIns="0" rIns="0" bIns="0" rtlCol="0" anchor="ctr"/>
          <a:lstStyle/>
          <a:p>
            <a:pPr marL="0" indent="0">
              <a:lnSpc>
                <a:spcPct val="105000"/>
              </a:lnSpc>
              <a:buNone/>
            </a:pPr>
            <a:r>
              <a:rPr lang="en-US" sz="1000" dirty="0">
                <a:solidFill>
                  <a:srgbClr val="5B6B73"/>
                </a:solidFill>
                <a:latin typeface="Calibri" pitchFamily="34" charset="0"/>
                <a:ea typeface="Calibri" pitchFamily="34" charset="-122"/>
                <a:cs typeface="Calibri" pitchFamily="34" charset="-120"/>
              </a:rPr>
              <a:t>Total ACLED events for the district-month</a:t>
            </a:r>
            <a:endParaRPr lang="en-US" sz="1000" dirty="0"/>
          </a:p>
        </p:txBody>
      </p:sp>
      <p:sp>
        <p:nvSpPr>
          <p:cNvPr id="10" name="Text 8"/>
          <p:cNvSpPr/>
          <p:nvPr/>
        </p:nvSpPr>
        <p:spPr>
          <a:xfrm>
            <a:off x="658368" y="3264408"/>
            <a:ext cx="2414016" cy="237744"/>
          </a:xfrm>
          <a:prstGeom prst="rect">
            <a:avLst/>
          </a:prstGeom>
          <a:noFill/>
          <a:ln/>
        </p:spPr>
        <p:txBody>
          <a:bodyPr wrap="square" lIns="0" tIns="0" rIns="0" bIns="0" rtlCol="0" anchor="ctr"/>
          <a:lstStyle/>
          <a:p>
            <a:pPr marL="0" indent="0">
              <a:buNone/>
            </a:pPr>
            <a:r>
              <a:rPr lang="en-US" sz="950" b="1" dirty="0">
                <a:solidFill>
                  <a:srgbClr val="C1502F"/>
                </a:solidFill>
                <a:latin typeface="Courier New" pitchFamily="34" charset="0"/>
                <a:ea typeface="Courier New" pitchFamily="34" charset="-122"/>
                <a:cs typeface="Courier New" pitchFamily="34" charset="-120"/>
              </a:rPr>
              <a:t>fatalities</a:t>
            </a:r>
            <a:endParaRPr lang="en-US" sz="950" dirty="0"/>
          </a:p>
        </p:txBody>
      </p:sp>
      <p:sp>
        <p:nvSpPr>
          <p:cNvPr id="11" name="Text 9"/>
          <p:cNvSpPr/>
          <p:nvPr/>
        </p:nvSpPr>
        <p:spPr>
          <a:xfrm>
            <a:off x="658368" y="3483864"/>
            <a:ext cx="2414016" cy="365760"/>
          </a:xfrm>
          <a:prstGeom prst="rect">
            <a:avLst/>
          </a:prstGeom>
          <a:noFill/>
          <a:ln/>
        </p:spPr>
        <p:txBody>
          <a:bodyPr wrap="square" lIns="0" tIns="0" rIns="0" bIns="0" rtlCol="0" anchor="ctr"/>
          <a:lstStyle/>
          <a:p>
            <a:pPr marL="0" indent="0">
              <a:lnSpc>
                <a:spcPct val="105000"/>
              </a:lnSpc>
              <a:buNone/>
            </a:pPr>
            <a:r>
              <a:rPr lang="en-US" sz="1000" dirty="0">
                <a:solidFill>
                  <a:srgbClr val="5B6B73"/>
                </a:solidFill>
                <a:latin typeface="Calibri" pitchFamily="34" charset="0"/>
                <a:ea typeface="Calibri" pitchFamily="34" charset="-122"/>
                <a:cs typeface="Calibri" pitchFamily="34" charset="-120"/>
              </a:rPr>
              <a:t>Total reported deaths</a:t>
            </a:r>
            <a:endParaRPr lang="en-US" sz="1000" dirty="0"/>
          </a:p>
        </p:txBody>
      </p:sp>
      <p:sp>
        <p:nvSpPr>
          <p:cNvPr id="12" name="Text 10"/>
          <p:cNvSpPr/>
          <p:nvPr/>
        </p:nvSpPr>
        <p:spPr>
          <a:xfrm>
            <a:off x="658368" y="3831336"/>
            <a:ext cx="2414016" cy="237744"/>
          </a:xfrm>
          <a:prstGeom prst="rect">
            <a:avLst/>
          </a:prstGeom>
          <a:noFill/>
          <a:ln/>
        </p:spPr>
        <p:txBody>
          <a:bodyPr wrap="square" lIns="0" tIns="0" rIns="0" bIns="0" rtlCol="0" anchor="ctr"/>
          <a:lstStyle/>
          <a:p>
            <a:pPr marL="0" indent="0">
              <a:buNone/>
            </a:pPr>
            <a:r>
              <a:rPr lang="en-US" sz="950" b="1" dirty="0">
                <a:solidFill>
                  <a:srgbClr val="C1502F"/>
                </a:solidFill>
                <a:latin typeface="Courier New" pitchFamily="34" charset="0"/>
                <a:ea typeface="Courier New" pitchFamily="34" charset="-122"/>
                <a:cs typeface="Courier New" pitchFamily="34" charset="-120"/>
              </a:rPr>
              <a:t>conflict_density</a:t>
            </a:r>
            <a:endParaRPr lang="en-US" sz="950" dirty="0"/>
          </a:p>
        </p:txBody>
      </p:sp>
      <p:sp>
        <p:nvSpPr>
          <p:cNvPr id="13" name="Text 11"/>
          <p:cNvSpPr/>
          <p:nvPr/>
        </p:nvSpPr>
        <p:spPr>
          <a:xfrm>
            <a:off x="658368" y="4050792"/>
            <a:ext cx="2414016" cy="365760"/>
          </a:xfrm>
          <a:prstGeom prst="rect">
            <a:avLst/>
          </a:prstGeom>
          <a:noFill/>
          <a:ln/>
        </p:spPr>
        <p:txBody>
          <a:bodyPr wrap="square" lIns="0" tIns="0" rIns="0" bIns="0" rtlCol="0" anchor="ctr"/>
          <a:lstStyle/>
          <a:p>
            <a:pPr marL="0" indent="0">
              <a:lnSpc>
                <a:spcPct val="105000"/>
              </a:lnSpc>
              <a:buNone/>
            </a:pPr>
            <a:r>
              <a:rPr lang="en-US" sz="1000" dirty="0">
                <a:solidFill>
                  <a:srgbClr val="5B6B73"/>
                </a:solidFill>
                <a:latin typeface="Calibri" pitchFamily="34" charset="0"/>
                <a:ea typeface="Calibri" pitchFamily="34" charset="-122"/>
                <a:cs typeface="Calibri" pitchFamily="34" charset="-120"/>
              </a:rPr>
              <a:t>Events ÷ district area</a:t>
            </a:r>
            <a:endParaRPr lang="en-US" sz="1000" dirty="0"/>
          </a:p>
        </p:txBody>
      </p:sp>
      <p:sp>
        <p:nvSpPr>
          <p:cNvPr id="14" name="Text 12"/>
          <p:cNvSpPr/>
          <p:nvPr/>
        </p:nvSpPr>
        <p:spPr>
          <a:xfrm>
            <a:off x="658368" y="4398264"/>
            <a:ext cx="2414016" cy="237744"/>
          </a:xfrm>
          <a:prstGeom prst="rect">
            <a:avLst/>
          </a:prstGeom>
          <a:noFill/>
          <a:ln/>
        </p:spPr>
        <p:txBody>
          <a:bodyPr wrap="square" lIns="0" tIns="0" rIns="0" bIns="0" rtlCol="0" anchor="ctr"/>
          <a:lstStyle/>
          <a:p>
            <a:pPr marL="0" indent="0">
              <a:buNone/>
            </a:pPr>
            <a:r>
              <a:rPr lang="en-US" sz="950" b="1" dirty="0">
                <a:solidFill>
                  <a:srgbClr val="C1502F"/>
                </a:solidFill>
                <a:latin typeface="Courier New" pitchFamily="34" charset="0"/>
                <a:ea typeface="Courier New" pitchFamily="34" charset="-122"/>
                <a:cs typeface="Courier New" pitchFamily="34" charset="-120"/>
              </a:rPr>
              <a:t>conflict_trend_pct</a:t>
            </a:r>
            <a:endParaRPr lang="en-US" sz="950" dirty="0"/>
          </a:p>
        </p:txBody>
      </p:sp>
      <p:sp>
        <p:nvSpPr>
          <p:cNvPr id="15" name="Text 13"/>
          <p:cNvSpPr/>
          <p:nvPr/>
        </p:nvSpPr>
        <p:spPr>
          <a:xfrm>
            <a:off x="658368" y="4617720"/>
            <a:ext cx="2414016" cy="365760"/>
          </a:xfrm>
          <a:prstGeom prst="rect">
            <a:avLst/>
          </a:prstGeom>
          <a:noFill/>
          <a:ln/>
        </p:spPr>
        <p:txBody>
          <a:bodyPr wrap="square" lIns="0" tIns="0" rIns="0" bIns="0" rtlCol="0" anchor="ctr"/>
          <a:lstStyle/>
          <a:p>
            <a:pPr marL="0" indent="0">
              <a:lnSpc>
                <a:spcPct val="105000"/>
              </a:lnSpc>
              <a:buNone/>
            </a:pPr>
            <a:r>
              <a:rPr lang="en-US" sz="1000" dirty="0">
                <a:solidFill>
                  <a:srgbClr val="5B6B73"/>
                </a:solidFill>
                <a:latin typeface="Calibri" pitchFamily="34" charset="0"/>
                <a:ea typeface="Calibri" pitchFamily="34" charset="-122"/>
                <a:cs typeface="Calibri" pitchFamily="34" charset="-120"/>
              </a:rPr>
              <a:t>% change vs. previous month</a:t>
            </a:r>
            <a:endParaRPr lang="en-US" sz="1000" dirty="0"/>
          </a:p>
        </p:txBody>
      </p:sp>
      <p:sp>
        <p:nvSpPr>
          <p:cNvPr id="16" name="Shape 14"/>
          <p:cNvSpPr/>
          <p:nvPr/>
        </p:nvSpPr>
        <p:spPr>
          <a:xfrm>
            <a:off x="658368" y="5074920"/>
            <a:ext cx="2414016" cy="0"/>
          </a:xfrm>
          <a:prstGeom prst="line">
            <a:avLst/>
          </a:prstGeom>
          <a:noFill/>
          <a:ln w="12700">
            <a:solidFill>
              <a:srgbClr val="D9D2C4"/>
            </a:solidFill>
            <a:prstDash val="solid"/>
          </a:ln>
        </p:spPr>
      </p:sp>
      <p:sp>
        <p:nvSpPr>
          <p:cNvPr id="17" name="Text 15"/>
          <p:cNvSpPr/>
          <p:nvPr/>
        </p:nvSpPr>
        <p:spPr>
          <a:xfrm>
            <a:off x="658368" y="5193792"/>
            <a:ext cx="2414016" cy="1051560"/>
          </a:xfrm>
          <a:prstGeom prst="rect">
            <a:avLst/>
          </a:prstGeom>
          <a:noFill/>
          <a:ln/>
        </p:spPr>
        <p:txBody>
          <a:bodyPr wrap="square" lIns="0" tIns="0" rIns="0" bIns="0" rtlCol="0" anchor="ctr"/>
          <a:lstStyle/>
          <a:p>
            <a:pPr marL="0" indent="0">
              <a:lnSpc>
                <a:spcPct val="115000"/>
              </a:lnSpc>
              <a:buNone/>
            </a:pPr>
            <a:r>
              <a:rPr lang="en-US" sz="970" i="1" dirty="0">
                <a:solidFill>
                  <a:srgbClr val="1B3A4B"/>
                </a:solidFill>
                <a:latin typeface="Calibri" pitchFamily="34" charset="0"/>
                <a:ea typeface="Calibri" pitchFamily="34" charset="-122"/>
                <a:cs typeface="Calibri" pitchFamily="34" charset="-120"/>
              </a:rPr>
              <a:t>Each captures a distinct dimension — activity, severity, intensity, direction — rather than repeating the same signal.</a:t>
            </a:r>
            <a:endParaRPr lang="en-US" sz="970" dirty="0"/>
          </a:p>
        </p:txBody>
      </p:sp>
      <p:sp>
        <p:nvSpPr>
          <p:cNvPr id="18" name="Shape 16"/>
          <p:cNvSpPr/>
          <p:nvPr/>
        </p:nvSpPr>
        <p:spPr>
          <a:xfrm>
            <a:off x="3355848" y="1691640"/>
            <a:ext cx="2816352" cy="4617720"/>
          </a:xfrm>
          <a:prstGeom prst="roundRect">
            <a:avLst>
              <a:gd name="adj" fmla="val 2597"/>
            </a:avLst>
          </a:prstGeom>
          <a:solidFill>
            <a:srgbClr val="F1E9DC"/>
          </a:solidFill>
          <a:ln/>
        </p:spPr>
      </p:sp>
      <p:sp>
        <p:nvSpPr>
          <p:cNvPr id="19" name="Shape 17"/>
          <p:cNvSpPr/>
          <p:nvPr/>
        </p:nvSpPr>
        <p:spPr>
          <a:xfrm>
            <a:off x="3557016" y="1901952"/>
            <a:ext cx="640080" cy="640080"/>
          </a:xfrm>
          <a:prstGeom prst="ellipse">
            <a:avLst/>
          </a:prstGeom>
          <a:solidFill>
            <a:srgbClr val="C1502F"/>
          </a:solidFill>
          <a:ln/>
        </p:spPr>
      </p:sp>
      <p:sp>
        <p:nvSpPr>
          <p:cNvPr id="20" name="Text 18"/>
          <p:cNvSpPr/>
          <p:nvPr/>
        </p:nvSpPr>
        <p:spPr>
          <a:xfrm>
            <a:off x="3557016" y="190195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1" name="Text 19"/>
          <p:cNvSpPr/>
          <p:nvPr/>
        </p:nvSpPr>
        <p:spPr>
          <a:xfrm>
            <a:off x="4270248" y="1993392"/>
            <a:ext cx="1719072" cy="457200"/>
          </a:xfrm>
          <a:prstGeom prst="rect">
            <a:avLst/>
          </a:prstGeom>
          <a:noFill/>
          <a:ln/>
        </p:spPr>
        <p:txBody>
          <a:bodyPr wrap="square" lIns="0" tIns="0" rIns="0" bIns="0" rtlCol="0" anchor="ctr"/>
          <a:lstStyle/>
          <a:p>
            <a:pPr marL="0" indent="0">
              <a:buNone/>
            </a:pPr>
            <a:r>
              <a:rPr lang="en-US" sz="1600" b="1" dirty="0">
                <a:solidFill>
                  <a:srgbClr val="1B3A4B"/>
                </a:solidFill>
                <a:latin typeface="Cambria" pitchFamily="34" charset="0"/>
                <a:ea typeface="Cambria" pitchFamily="34" charset="-122"/>
                <a:cs typeface="Cambria" pitchFamily="34" charset="-120"/>
              </a:rPr>
              <a:t>Climate</a:t>
            </a:r>
            <a:endParaRPr lang="en-US" sz="1600" dirty="0"/>
          </a:p>
        </p:txBody>
      </p:sp>
      <p:sp>
        <p:nvSpPr>
          <p:cNvPr id="22" name="Text 20"/>
          <p:cNvSpPr/>
          <p:nvPr/>
        </p:nvSpPr>
        <p:spPr>
          <a:xfrm>
            <a:off x="3557016" y="2697480"/>
            <a:ext cx="2414016" cy="237744"/>
          </a:xfrm>
          <a:prstGeom prst="rect">
            <a:avLst/>
          </a:prstGeom>
          <a:noFill/>
          <a:ln/>
        </p:spPr>
        <p:txBody>
          <a:bodyPr wrap="square" lIns="0" tIns="0" rIns="0" bIns="0" rtlCol="0" anchor="ctr"/>
          <a:lstStyle/>
          <a:p>
            <a:pPr marL="0" indent="0">
              <a:buNone/>
            </a:pPr>
            <a:r>
              <a:rPr lang="en-US" sz="950" b="1" dirty="0">
                <a:solidFill>
                  <a:srgbClr val="C1502F"/>
                </a:solidFill>
                <a:latin typeface="Courier New" pitchFamily="34" charset="0"/>
                <a:ea typeface="Courier New" pitchFamily="34" charset="-122"/>
                <a:cs typeface="Courier New" pitchFamily="34" charset="-120"/>
              </a:rPr>
              <a:t>rainfall_mean_mm</a:t>
            </a:r>
            <a:endParaRPr lang="en-US" sz="950" dirty="0"/>
          </a:p>
        </p:txBody>
      </p:sp>
      <p:sp>
        <p:nvSpPr>
          <p:cNvPr id="23" name="Text 21"/>
          <p:cNvSpPr/>
          <p:nvPr/>
        </p:nvSpPr>
        <p:spPr>
          <a:xfrm>
            <a:off x="3557016" y="2916936"/>
            <a:ext cx="2414016" cy="365760"/>
          </a:xfrm>
          <a:prstGeom prst="rect">
            <a:avLst/>
          </a:prstGeom>
          <a:noFill/>
          <a:ln/>
        </p:spPr>
        <p:txBody>
          <a:bodyPr wrap="square" lIns="0" tIns="0" rIns="0" bIns="0" rtlCol="0" anchor="ctr"/>
          <a:lstStyle/>
          <a:p>
            <a:pPr marL="0" indent="0">
              <a:lnSpc>
                <a:spcPct val="105000"/>
              </a:lnSpc>
              <a:buNone/>
            </a:pPr>
            <a:r>
              <a:rPr lang="en-US" sz="1000" dirty="0">
                <a:solidFill>
                  <a:srgbClr val="5B6B73"/>
                </a:solidFill>
                <a:latin typeface="Calibri" pitchFamily="34" charset="0"/>
                <a:ea typeface="Calibri" pitchFamily="34" charset="-122"/>
                <a:cs typeface="Calibri" pitchFamily="34" charset="-120"/>
              </a:rPr>
              <a:t>Monthly zonal mean, CHIRPS</a:t>
            </a:r>
            <a:endParaRPr lang="en-US" sz="1000" dirty="0"/>
          </a:p>
        </p:txBody>
      </p:sp>
      <p:sp>
        <p:nvSpPr>
          <p:cNvPr id="24" name="Text 22"/>
          <p:cNvSpPr/>
          <p:nvPr/>
        </p:nvSpPr>
        <p:spPr>
          <a:xfrm>
            <a:off x="3557016" y="3264408"/>
            <a:ext cx="2414016" cy="237744"/>
          </a:xfrm>
          <a:prstGeom prst="rect">
            <a:avLst/>
          </a:prstGeom>
          <a:noFill/>
          <a:ln/>
        </p:spPr>
        <p:txBody>
          <a:bodyPr wrap="square" lIns="0" tIns="0" rIns="0" bIns="0" rtlCol="0" anchor="ctr"/>
          <a:lstStyle/>
          <a:p>
            <a:pPr marL="0" indent="0">
              <a:buNone/>
            </a:pPr>
            <a:r>
              <a:rPr lang="en-US" sz="950" b="1" dirty="0">
                <a:solidFill>
                  <a:srgbClr val="C1502F"/>
                </a:solidFill>
                <a:latin typeface="Courier New" pitchFamily="34" charset="0"/>
                <a:ea typeface="Courier New" pitchFamily="34" charset="-122"/>
                <a:cs typeface="Courier New" pitchFamily="34" charset="-120"/>
              </a:rPr>
              <a:t>vegetation_health_index_mean</a:t>
            </a:r>
            <a:endParaRPr lang="en-US" sz="950" dirty="0"/>
          </a:p>
        </p:txBody>
      </p:sp>
      <p:sp>
        <p:nvSpPr>
          <p:cNvPr id="25" name="Text 23"/>
          <p:cNvSpPr/>
          <p:nvPr/>
        </p:nvSpPr>
        <p:spPr>
          <a:xfrm>
            <a:off x="3557016" y="3483864"/>
            <a:ext cx="2414016" cy="365760"/>
          </a:xfrm>
          <a:prstGeom prst="rect">
            <a:avLst/>
          </a:prstGeom>
          <a:noFill/>
          <a:ln/>
        </p:spPr>
        <p:txBody>
          <a:bodyPr wrap="square" lIns="0" tIns="0" rIns="0" bIns="0" rtlCol="0" anchor="ctr"/>
          <a:lstStyle/>
          <a:p>
            <a:pPr marL="0" indent="0">
              <a:lnSpc>
                <a:spcPct val="105000"/>
              </a:lnSpc>
              <a:buNone/>
            </a:pPr>
            <a:r>
              <a:rPr lang="en-US" sz="1000" dirty="0">
                <a:solidFill>
                  <a:srgbClr val="5B6B73"/>
                </a:solidFill>
                <a:latin typeface="Calibri" pitchFamily="34" charset="0"/>
                <a:ea typeface="Calibri" pitchFamily="34" charset="-122"/>
                <a:cs typeface="Calibri" pitchFamily="34" charset="-120"/>
              </a:rPr>
              <a:t>Monthly VHI, weekly composites</a:t>
            </a:r>
            <a:endParaRPr lang="en-US" sz="1000" dirty="0"/>
          </a:p>
        </p:txBody>
      </p:sp>
      <p:sp>
        <p:nvSpPr>
          <p:cNvPr id="26" name="Shape 24"/>
          <p:cNvSpPr/>
          <p:nvPr/>
        </p:nvSpPr>
        <p:spPr>
          <a:xfrm>
            <a:off x="3557016" y="5074920"/>
            <a:ext cx="2414016" cy="0"/>
          </a:xfrm>
          <a:prstGeom prst="line">
            <a:avLst/>
          </a:prstGeom>
          <a:noFill/>
          <a:ln w="12700">
            <a:solidFill>
              <a:srgbClr val="D9D2C4"/>
            </a:solidFill>
            <a:prstDash val="solid"/>
          </a:ln>
        </p:spPr>
      </p:sp>
      <p:sp>
        <p:nvSpPr>
          <p:cNvPr id="27" name="Text 25"/>
          <p:cNvSpPr/>
          <p:nvPr/>
        </p:nvSpPr>
        <p:spPr>
          <a:xfrm>
            <a:off x="3557016" y="5193792"/>
            <a:ext cx="2414016" cy="1051560"/>
          </a:xfrm>
          <a:prstGeom prst="rect">
            <a:avLst/>
          </a:prstGeom>
          <a:noFill/>
          <a:ln/>
        </p:spPr>
        <p:txBody>
          <a:bodyPr wrap="square" lIns="0" tIns="0" rIns="0" bIns="0" rtlCol="0" anchor="ctr"/>
          <a:lstStyle/>
          <a:p>
            <a:pPr marL="0" indent="0">
              <a:lnSpc>
                <a:spcPct val="115000"/>
              </a:lnSpc>
              <a:buNone/>
            </a:pPr>
            <a:r>
              <a:rPr lang="en-US" sz="970" i="1" dirty="0">
                <a:solidFill>
                  <a:srgbClr val="1B3A4B"/>
                </a:solidFill>
                <a:latin typeface="Calibri" pitchFamily="34" charset="0"/>
                <a:ea typeface="Calibri" pitchFamily="34" charset="-122"/>
                <a:cs typeface="Calibri" pitchFamily="34" charset="-120"/>
              </a:rPr>
              <a:t>Rainfall and vegetation health features are kept since these are strong </a:t>
            </a:r>
            <a:r>
              <a:rPr lang="en-US" sz="970" i="1" dirty="0" err="1">
                <a:solidFill>
                  <a:srgbClr val="1B3A4B"/>
                </a:solidFill>
                <a:latin typeface="Calibri" pitchFamily="34" charset="0"/>
                <a:ea typeface="Calibri" pitchFamily="34" charset="-122"/>
                <a:cs typeface="Calibri" pitchFamily="34" charset="-120"/>
              </a:rPr>
              <a:t>enviromental</a:t>
            </a:r>
            <a:r>
              <a:rPr lang="en-US" sz="970" i="1" dirty="0">
                <a:solidFill>
                  <a:srgbClr val="1B3A4B"/>
                </a:solidFill>
                <a:latin typeface="Calibri" pitchFamily="34" charset="0"/>
                <a:ea typeface="Calibri" pitchFamily="34" charset="-122"/>
                <a:cs typeface="Calibri" pitchFamily="34" charset="-120"/>
              </a:rPr>
              <a:t> factors related to food insecurity</a:t>
            </a:r>
            <a:endParaRPr lang="en-US" sz="970" dirty="0"/>
          </a:p>
        </p:txBody>
      </p:sp>
      <p:sp>
        <p:nvSpPr>
          <p:cNvPr id="28" name="Shape 26"/>
          <p:cNvSpPr/>
          <p:nvPr/>
        </p:nvSpPr>
        <p:spPr>
          <a:xfrm>
            <a:off x="6254496" y="1691640"/>
            <a:ext cx="2816352" cy="4617720"/>
          </a:xfrm>
          <a:prstGeom prst="roundRect">
            <a:avLst>
              <a:gd name="adj" fmla="val 2597"/>
            </a:avLst>
          </a:prstGeom>
          <a:solidFill>
            <a:srgbClr val="F1E9DC"/>
          </a:solidFill>
          <a:ln/>
        </p:spPr>
      </p:sp>
      <p:sp>
        <p:nvSpPr>
          <p:cNvPr id="29" name="Shape 27"/>
          <p:cNvSpPr/>
          <p:nvPr/>
        </p:nvSpPr>
        <p:spPr>
          <a:xfrm>
            <a:off x="6455664" y="1901952"/>
            <a:ext cx="640080" cy="640080"/>
          </a:xfrm>
          <a:prstGeom prst="ellipse">
            <a:avLst/>
          </a:prstGeom>
          <a:solidFill>
            <a:srgbClr val="C1502F"/>
          </a:solidFill>
          <a:ln/>
        </p:spPr>
      </p:sp>
      <p:sp>
        <p:nvSpPr>
          <p:cNvPr id="30" name="Text 28"/>
          <p:cNvSpPr/>
          <p:nvPr/>
        </p:nvSpPr>
        <p:spPr>
          <a:xfrm>
            <a:off x="6455664" y="190195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12</a:t>
            </a:r>
            <a:endParaRPr lang="en-US" sz="1800" dirty="0"/>
          </a:p>
        </p:txBody>
      </p:sp>
      <p:sp>
        <p:nvSpPr>
          <p:cNvPr id="31" name="Text 29"/>
          <p:cNvSpPr/>
          <p:nvPr/>
        </p:nvSpPr>
        <p:spPr>
          <a:xfrm>
            <a:off x="7168896" y="1993392"/>
            <a:ext cx="1719072" cy="457200"/>
          </a:xfrm>
          <a:prstGeom prst="rect">
            <a:avLst/>
          </a:prstGeom>
          <a:noFill/>
          <a:ln/>
        </p:spPr>
        <p:txBody>
          <a:bodyPr wrap="square" lIns="0" tIns="0" rIns="0" bIns="0" rtlCol="0" anchor="ctr"/>
          <a:lstStyle/>
          <a:p>
            <a:pPr marL="0" indent="0">
              <a:buNone/>
            </a:pPr>
            <a:r>
              <a:rPr lang="en-US" sz="1600" b="1" dirty="0">
                <a:solidFill>
                  <a:srgbClr val="1B3A4B"/>
                </a:solidFill>
                <a:latin typeface="Cambria" pitchFamily="34" charset="0"/>
                <a:ea typeface="Cambria" pitchFamily="34" charset="-122"/>
                <a:cs typeface="Cambria" pitchFamily="34" charset="-120"/>
              </a:rPr>
              <a:t>Market</a:t>
            </a:r>
            <a:endParaRPr lang="en-US" sz="1600" dirty="0"/>
          </a:p>
        </p:txBody>
      </p:sp>
      <p:sp>
        <p:nvSpPr>
          <p:cNvPr id="32" name="Text 30"/>
          <p:cNvSpPr/>
          <p:nvPr/>
        </p:nvSpPr>
        <p:spPr>
          <a:xfrm>
            <a:off x="6455664" y="2697480"/>
            <a:ext cx="2414016" cy="237744"/>
          </a:xfrm>
          <a:prstGeom prst="rect">
            <a:avLst/>
          </a:prstGeom>
          <a:noFill/>
          <a:ln/>
        </p:spPr>
        <p:txBody>
          <a:bodyPr wrap="square" lIns="0" tIns="0" rIns="0" bIns="0" rtlCol="0" anchor="ctr"/>
          <a:lstStyle/>
          <a:p>
            <a:pPr marL="0" indent="0">
              <a:buNone/>
            </a:pPr>
            <a:r>
              <a:rPr lang="en-US" sz="950" b="1" dirty="0">
                <a:solidFill>
                  <a:srgbClr val="C1502F"/>
                </a:solidFill>
                <a:latin typeface="Courier New" pitchFamily="34" charset="0"/>
                <a:ea typeface="Courier New" pitchFamily="34" charset="-122"/>
                <a:cs typeface="Courier New" pitchFamily="34" charset="-120"/>
              </a:rPr>
              <a:t>_price_usd</a:t>
            </a:r>
            <a:endParaRPr lang="en-US" sz="950" dirty="0"/>
          </a:p>
        </p:txBody>
      </p:sp>
      <p:sp>
        <p:nvSpPr>
          <p:cNvPr id="33" name="Text 31"/>
          <p:cNvSpPr/>
          <p:nvPr/>
        </p:nvSpPr>
        <p:spPr>
          <a:xfrm>
            <a:off x="6455664" y="2916936"/>
            <a:ext cx="2414016" cy="365760"/>
          </a:xfrm>
          <a:prstGeom prst="rect">
            <a:avLst/>
          </a:prstGeom>
          <a:noFill/>
          <a:ln/>
        </p:spPr>
        <p:txBody>
          <a:bodyPr wrap="square" lIns="0" tIns="0" rIns="0" bIns="0" rtlCol="0" anchor="ctr"/>
          <a:lstStyle/>
          <a:p>
            <a:pPr marL="0" indent="0">
              <a:lnSpc>
                <a:spcPct val="105000"/>
              </a:lnSpc>
              <a:buNone/>
            </a:pPr>
            <a:r>
              <a:rPr lang="en-US" sz="1000" dirty="0">
                <a:solidFill>
                  <a:srgbClr val="5B6B73"/>
                </a:solidFill>
                <a:latin typeface="Calibri" pitchFamily="34" charset="0"/>
                <a:ea typeface="Calibri" pitchFamily="34" charset="-122"/>
                <a:cs typeface="Calibri" pitchFamily="34" charset="-120"/>
              </a:rPr>
              <a:t>Price, converted to USD</a:t>
            </a:r>
            <a:endParaRPr lang="en-US" sz="1000" dirty="0"/>
          </a:p>
        </p:txBody>
      </p:sp>
      <p:sp>
        <p:nvSpPr>
          <p:cNvPr id="34" name="Text 32"/>
          <p:cNvSpPr/>
          <p:nvPr/>
        </p:nvSpPr>
        <p:spPr>
          <a:xfrm>
            <a:off x="6455664" y="3264408"/>
            <a:ext cx="2414016" cy="237744"/>
          </a:xfrm>
          <a:prstGeom prst="rect">
            <a:avLst/>
          </a:prstGeom>
          <a:noFill/>
          <a:ln/>
        </p:spPr>
        <p:txBody>
          <a:bodyPr wrap="square" lIns="0" tIns="0" rIns="0" bIns="0" rtlCol="0" anchor="ctr"/>
          <a:lstStyle/>
          <a:p>
            <a:pPr marL="0" indent="0">
              <a:buNone/>
            </a:pPr>
            <a:r>
              <a:rPr lang="en-US" sz="950" b="1" dirty="0">
                <a:solidFill>
                  <a:srgbClr val="C1502F"/>
                </a:solidFill>
                <a:latin typeface="Courier New" pitchFamily="34" charset="0"/>
                <a:ea typeface="Courier New" pitchFamily="34" charset="-122"/>
                <a:cs typeface="Courier New" pitchFamily="34" charset="-120"/>
              </a:rPr>
              <a:t>_price_change_pct</a:t>
            </a:r>
            <a:endParaRPr lang="en-US" sz="950" dirty="0"/>
          </a:p>
        </p:txBody>
      </p:sp>
      <p:sp>
        <p:nvSpPr>
          <p:cNvPr id="35" name="Text 33"/>
          <p:cNvSpPr/>
          <p:nvPr/>
        </p:nvSpPr>
        <p:spPr>
          <a:xfrm>
            <a:off x="6455664" y="3483864"/>
            <a:ext cx="2414016" cy="365760"/>
          </a:xfrm>
          <a:prstGeom prst="rect">
            <a:avLst/>
          </a:prstGeom>
          <a:noFill/>
          <a:ln/>
        </p:spPr>
        <p:txBody>
          <a:bodyPr wrap="square" lIns="0" tIns="0" rIns="0" bIns="0" rtlCol="0" anchor="ctr"/>
          <a:lstStyle/>
          <a:p>
            <a:pPr marL="0" indent="0">
              <a:lnSpc>
                <a:spcPct val="105000"/>
              </a:lnSpc>
              <a:buNone/>
            </a:pPr>
            <a:r>
              <a:rPr lang="en-US" sz="1000" dirty="0">
                <a:solidFill>
                  <a:srgbClr val="5B6B73"/>
                </a:solidFill>
                <a:latin typeface="Calibri" pitchFamily="34" charset="0"/>
                <a:ea typeface="Calibri" pitchFamily="34" charset="-122"/>
                <a:cs typeface="Calibri" pitchFamily="34" charset="-120"/>
              </a:rPr>
              <a:t>% change vs. previous month</a:t>
            </a:r>
            <a:endParaRPr lang="en-US" sz="1000" dirty="0"/>
          </a:p>
        </p:txBody>
      </p:sp>
      <p:sp>
        <p:nvSpPr>
          <p:cNvPr id="36" name="Text 34"/>
          <p:cNvSpPr/>
          <p:nvPr/>
        </p:nvSpPr>
        <p:spPr>
          <a:xfrm>
            <a:off x="6455664" y="3831336"/>
            <a:ext cx="2414016" cy="237744"/>
          </a:xfrm>
          <a:prstGeom prst="rect">
            <a:avLst/>
          </a:prstGeom>
          <a:noFill/>
          <a:ln/>
        </p:spPr>
        <p:txBody>
          <a:bodyPr wrap="square" lIns="0" tIns="0" rIns="0" bIns="0" rtlCol="0" anchor="ctr"/>
          <a:lstStyle/>
          <a:p>
            <a:pPr marL="0" indent="0">
              <a:buNone/>
            </a:pPr>
            <a:r>
              <a:rPr lang="en-US" sz="950" b="1" dirty="0">
                <a:solidFill>
                  <a:srgbClr val="C1502F"/>
                </a:solidFill>
                <a:latin typeface="Courier New" pitchFamily="34" charset="0"/>
                <a:ea typeface="Courier New" pitchFamily="34" charset="-122"/>
                <a:cs typeface="Courier New" pitchFamily="34" charset="-120"/>
              </a:rPr>
              <a:t>_pewi_score</a:t>
            </a:r>
            <a:endParaRPr lang="en-US" sz="950" dirty="0"/>
          </a:p>
        </p:txBody>
      </p:sp>
      <p:sp>
        <p:nvSpPr>
          <p:cNvPr id="37" name="Text 35"/>
          <p:cNvSpPr/>
          <p:nvPr/>
        </p:nvSpPr>
        <p:spPr>
          <a:xfrm>
            <a:off x="6455664" y="4050792"/>
            <a:ext cx="2414016" cy="365760"/>
          </a:xfrm>
          <a:prstGeom prst="rect">
            <a:avLst/>
          </a:prstGeom>
          <a:noFill/>
          <a:ln/>
        </p:spPr>
        <p:txBody>
          <a:bodyPr wrap="square" lIns="0" tIns="0" rIns="0" bIns="0" rtlCol="0" anchor="ctr"/>
          <a:lstStyle/>
          <a:p>
            <a:pPr marL="0" indent="0">
              <a:lnSpc>
                <a:spcPct val="105000"/>
              </a:lnSpc>
              <a:buNone/>
            </a:pPr>
            <a:r>
              <a:rPr lang="en-US" sz="1000" dirty="0">
                <a:solidFill>
                  <a:srgbClr val="5B6B73"/>
                </a:solidFill>
                <a:latin typeface="Calibri" pitchFamily="34" charset="0"/>
                <a:ea typeface="Calibri" pitchFamily="34" charset="-122"/>
                <a:cs typeface="Calibri" pitchFamily="34" charset="-120"/>
              </a:rPr>
              <a:t>WFP seasonal anomaly z-score</a:t>
            </a:r>
            <a:endParaRPr lang="en-US" sz="1000" dirty="0"/>
          </a:p>
        </p:txBody>
      </p:sp>
      <p:sp>
        <p:nvSpPr>
          <p:cNvPr id="38" name="Shape 36"/>
          <p:cNvSpPr/>
          <p:nvPr/>
        </p:nvSpPr>
        <p:spPr>
          <a:xfrm>
            <a:off x="6455664" y="5074920"/>
            <a:ext cx="2414016" cy="0"/>
          </a:xfrm>
          <a:prstGeom prst="line">
            <a:avLst/>
          </a:prstGeom>
          <a:noFill/>
          <a:ln w="12700">
            <a:solidFill>
              <a:srgbClr val="D9D2C4"/>
            </a:solidFill>
            <a:prstDash val="solid"/>
          </a:ln>
        </p:spPr>
      </p:sp>
      <p:sp>
        <p:nvSpPr>
          <p:cNvPr id="39" name="Text 37"/>
          <p:cNvSpPr/>
          <p:nvPr/>
        </p:nvSpPr>
        <p:spPr>
          <a:xfrm>
            <a:off x="6455664" y="5193792"/>
            <a:ext cx="2414016" cy="1051560"/>
          </a:xfrm>
          <a:prstGeom prst="rect">
            <a:avLst/>
          </a:prstGeom>
          <a:noFill/>
          <a:ln/>
        </p:spPr>
        <p:txBody>
          <a:bodyPr wrap="square" lIns="0" tIns="0" rIns="0" bIns="0" rtlCol="0" anchor="ctr"/>
          <a:lstStyle/>
          <a:p>
            <a:pPr marL="0" indent="0">
              <a:lnSpc>
                <a:spcPct val="115000"/>
              </a:lnSpc>
              <a:buNone/>
            </a:pPr>
            <a:r>
              <a:rPr lang="en-US" sz="970" i="1" dirty="0">
                <a:solidFill>
                  <a:srgbClr val="1B3A4B"/>
                </a:solidFill>
                <a:latin typeface="Calibri" pitchFamily="34" charset="0"/>
                <a:ea typeface="Calibri" pitchFamily="34" charset="-122"/>
                <a:cs typeface="Calibri" pitchFamily="34" charset="-120"/>
              </a:rPr>
              <a:t>4 commodities (Somalia's WFP basket) kept standalone, not a single index — preserves commodity-specific signal</a:t>
            </a:r>
            <a:endParaRPr lang="en-US" sz="970" dirty="0"/>
          </a:p>
        </p:txBody>
      </p:sp>
      <p:sp>
        <p:nvSpPr>
          <p:cNvPr id="40" name="Shape 38"/>
          <p:cNvSpPr/>
          <p:nvPr/>
        </p:nvSpPr>
        <p:spPr>
          <a:xfrm>
            <a:off x="9153144" y="1691640"/>
            <a:ext cx="2816352" cy="4617720"/>
          </a:xfrm>
          <a:prstGeom prst="roundRect">
            <a:avLst>
              <a:gd name="adj" fmla="val 2597"/>
            </a:avLst>
          </a:prstGeom>
          <a:solidFill>
            <a:srgbClr val="F1E9DC"/>
          </a:solidFill>
          <a:ln/>
        </p:spPr>
      </p:sp>
      <p:sp>
        <p:nvSpPr>
          <p:cNvPr id="41" name="Shape 39"/>
          <p:cNvSpPr/>
          <p:nvPr/>
        </p:nvSpPr>
        <p:spPr>
          <a:xfrm>
            <a:off x="9354312" y="1901952"/>
            <a:ext cx="640080" cy="640080"/>
          </a:xfrm>
          <a:prstGeom prst="ellipse">
            <a:avLst/>
          </a:prstGeom>
          <a:solidFill>
            <a:srgbClr val="C1502F"/>
          </a:solidFill>
          <a:ln/>
        </p:spPr>
      </p:sp>
      <p:sp>
        <p:nvSpPr>
          <p:cNvPr id="42" name="Text 40"/>
          <p:cNvSpPr/>
          <p:nvPr/>
        </p:nvSpPr>
        <p:spPr>
          <a:xfrm>
            <a:off x="9354312" y="190195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3" name="Text 41"/>
          <p:cNvSpPr/>
          <p:nvPr/>
        </p:nvSpPr>
        <p:spPr>
          <a:xfrm>
            <a:off x="10067544" y="1993392"/>
            <a:ext cx="1719072" cy="457200"/>
          </a:xfrm>
          <a:prstGeom prst="rect">
            <a:avLst/>
          </a:prstGeom>
          <a:noFill/>
          <a:ln/>
        </p:spPr>
        <p:txBody>
          <a:bodyPr wrap="square" lIns="0" tIns="0" rIns="0" bIns="0" rtlCol="0" anchor="ctr"/>
          <a:lstStyle/>
          <a:p>
            <a:pPr marL="0" indent="0">
              <a:buNone/>
            </a:pPr>
            <a:r>
              <a:rPr lang="en-US" sz="1600" b="1" dirty="0">
                <a:solidFill>
                  <a:srgbClr val="1B3A4B"/>
                </a:solidFill>
                <a:latin typeface="Cambria" pitchFamily="34" charset="0"/>
                <a:ea typeface="Cambria" pitchFamily="34" charset="-122"/>
                <a:cs typeface="Cambria" pitchFamily="34" charset="-120"/>
              </a:rPr>
              <a:t>Reporting</a:t>
            </a:r>
            <a:endParaRPr lang="en-US" sz="1600" dirty="0"/>
          </a:p>
        </p:txBody>
      </p:sp>
      <p:sp>
        <p:nvSpPr>
          <p:cNvPr id="44" name="Text 42"/>
          <p:cNvSpPr/>
          <p:nvPr/>
        </p:nvSpPr>
        <p:spPr>
          <a:xfrm>
            <a:off x="9354312" y="2697480"/>
            <a:ext cx="2414016" cy="237744"/>
          </a:xfrm>
          <a:prstGeom prst="rect">
            <a:avLst/>
          </a:prstGeom>
          <a:noFill/>
          <a:ln/>
        </p:spPr>
        <p:txBody>
          <a:bodyPr wrap="square" lIns="0" tIns="0" rIns="0" bIns="0" rtlCol="0" anchor="ctr"/>
          <a:lstStyle/>
          <a:p>
            <a:pPr marL="0" indent="0">
              <a:buNone/>
            </a:pPr>
            <a:r>
              <a:rPr lang="en-US" sz="950" b="1" dirty="0">
                <a:solidFill>
                  <a:srgbClr val="C1502F"/>
                </a:solidFill>
                <a:latin typeface="Courier New" pitchFamily="34" charset="0"/>
                <a:ea typeface="Courier New" pitchFamily="34" charset="-122"/>
                <a:cs typeface="Courier New" pitchFamily="34" charset="-120"/>
              </a:rPr>
              <a:t>reports_mentioning_district_count</a:t>
            </a:r>
            <a:endParaRPr lang="en-US" sz="950" dirty="0"/>
          </a:p>
        </p:txBody>
      </p:sp>
      <p:sp>
        <p:nvSpPr>
          <p:cNvPr id="45" name="Text 43"/>
          <p:cNvSpPr/>
          <p:nvPr/>
        </p:nvSpPr>
        <p:spPr>
          <a:xfrm>
            <a:off x="9354312" y="2916936"/>
            <a:ext cx="2414016" cy="365760"/>
          </a:xfrm>
          <a:prstGeom prst="rect">
            <a:avLst/>
          </a:prstGeom>
          <a:noFill/>
          <a:ln/>
        </p:spPr>
        <p:txBody>
          <a:bodyPr wrap="square" lIns="0" tIns="0" rIns="0" bIns="0" rtlCol="0" anchor="ctr"/>
          <a:lstStyle/>
          <a:p>
            <a:pPr marL="0" indent="0">
              <a:lnSpc>
                <a:spcPct val="105000"/>
              </a:lnSpc>
              <a:buNone/>
            </a:pPr>
            <a:r>
              <a:rPr lang="en-US" sz="1000" dirty="0">
                <a:solidFill>
                  <a:srgbClr val="5B6B73"/>
                </a:solidFill>
                <a:latin typeface="Calibri" pitchFamily="34" charset="0"/>
                <a:ea typeface="Calibri" pitchFamily="34" charset="-122"/>
                <a:cs typeface="Calibri" pitchFamily="34" charset="-120"/>
              </a:rPr>
              <a:t>Reports naming the district</a:t>
            </a:r>
            <a:endParaRPr lang="en-US" sz="1000" dirty="0"/>
          </a:p>
        </p:txBody>
      </p:sp>
      <p:sp>
        <p:nvSpPr>
          <p:cNvPr id="46" name="Text 44"/>
          <p:cNvSpPr/>
          <p:nvPr/>
        </p:nvSpPr>
        <p:spPr>
          <a:xfrm>
            <a:off x="9354312" y="3264408"/>
            <a:ext cx="2414016" cy="237744"/>
          </a:xfrm>
          <a:prstGeom prst="rect">
            <a:avLst/>
          </a:prstGeom>
          <a:noFill/>
          <a:ln/>
        </p:spPr>
        <p:txBody>
          <a:bodyPr wrap="square" lIns="0" tIns="0" rIns="0" bIns="0" rtlCol="0" anchor="ctr"/>
          <a:lstStyle/>
          <a:p>
            <a:pPr marL="0" indent="0">
              <a:buNone/>
            </a:pPr>
            <a:r>
              <a:rPr lang="en-US" sz="950" b="1" dirty="0">
                <a:solidFill>
                  <a:srgbClr val="C1502F"/>
                </a:solidFill>
                <a:latin typeface="Courier New" pitchFamily="34" charset="0"/>
                <a:ea typeface="Courier New" pitchFamily="34" charset="-122"/>
                <a:cs typeface="Courier New" pitchFamily="34" charset="-120"/>
              </a:rPr>
              <a:t>food_nutrition_report_count</a:t>
            </a:r>
            <a:endParaRPr lang="en-US" sz="950" dirty="0"/>
          </a:p>
        </p:txBody>
      </p:sp>
      <p:sp>
        <p:nvSpPr>
          <p:cNvPr id="47" name="Text 45"/>
          <p:cNvSpPr/>
          <p:nvPr/>
        </p:nvSpPr>
        <p:spPr>
          <a:xfrm>
            <a:off x="9354312" y="3483864"/>
            <a:ext cx="2414016" cy="365760"/>
          </a:xfrm>
          <a:prstGeom prst="rect">
            <a:avLst/>
          </a:prstGeom>
          <a:noFill/>
          <a:ln/>
        </p:spPr>
        <p:txBody>
          <a:bodyPr wrap="square" lIns="0" tIns="0" rIns="0" bIns="0" rtlCol="0" anchor="ctr"/>
          <a:lstStyle/>
          <a:p>
            <a:pPr marL="0" indent="0">
              <a:lnSpc>
                <a:spcPct val="105000"/>
              </a:lnSpc>
              <a:buNone/>
            </a:pPr>
            <a:r>
              <a:rPr lang="en-US" sz="1000" dirty="0">
                <a:solidFill>
                  <a:srgbClr val="5B6B73"/>
                </a:solidFill>
                <a:latin typeface="Calibri" pitchFamily="34" charset="0"/>
                <a:ea typeface="Calibri" pitchFamily="34" charset="-122"/>
                <a:cs typeface="Calibri" pitchFamily="34" charset="-120"/>
              </a:rPr>
              <a:t>Same, Food &amp; Nutrition theme</a:t>
            </a:r>
            <a:endParaRPr lang="en-US" sz="1000" dirty="0"/>
          </a:p>
        </p:txBody>
      </p:sp>
      <p:sp>
        <p:nvSpPr>
          <p:cNvPr id="48" name="Text 46"/>
          <p:cNvSpPr/>
          <p:nvPr/>
        </p:nvSpPr>
        <p:spPr>
          <a:xfrm>
            <a:off x="9354312" y="3831336"/>
            <a:ext cx="2414016" cy="237744"/>
          </a:xfrm>
          <a:prstGeom prst="rect">
            <a:avLst/>
          </a:prstGeom>
          <a:noFill/>
          <a:ln/>
        </p:spPr>
        <p:txBody>
          <a:bodyPr wrap="square" lIns="0" tIns="0" rIns="0" bIns="0" rtlCol="0" anchor="ctr"/>
          <a:lstStyle/>
          <a:p>
            <a:pPr marL="0" indent="0">
              <a:buNone/>
            </a:pPr>
            <a:r>
              <a:rPr lang="en-US" sz="950" b="1" dirty="0">
                <a:solidFill>
                  <a:srgbClr val="C1502F"/>
                </a:solidFill>
                <a:latin typeface="Courier New" pitchFamily="34" charset="0"/>
                <a:ea typeface="Courier New" pitchFamily="34" charset="-122"/>
                <a:cs typeface="Courier New" pitchFamily="34" charset="-120"/>
              </a:rPr>
              <a:t>wash_report_count</a:t>
            </a:r>
            <a:endParaRPr lang="en-US" sz="950" dirty="0"/>
          </a:p>
        </p:txBody>
      </p:sp>
      <p:sp>
        <p:nvSpPr>
          <p:cNvPr id="49" name="Text 47"/>
          <p:cNvSpPr/>
          <p:nvPr/>
        </p:nvSpPr>
        <p:spPr>
          <a:xfrm>
            <a:off x="9354312" y="4050792"/>
            <a:ext cx="2414016" cy="365760"/>
          </a:xfrm>
          <a:prstGeom prst="rect">
            <a:avLst/>
          </a:prstGeom>
          <a:noFill/>
          <a:ln/>
        </p:spPr>
        <p:txBody>
          <a:bodyPr wrap="square" lIns="0" tIns="0" rIns="0" bIns="0" rtlCol="0" anchor="ctr"/>
          <a:lstStyle/>
          <a:p>
            <a:pPr marL="0" indent="0">
              <a:lnSpc>
                <a:spcPct val="105000"/>
              </a:lnSpc>
              <a:buNone/>
            </a:pPr>
            <a:r>
              <a:rPr lang="en-US" sz="1000" dirty="0">
                <a:solidFill>
                  <a:srgbClr val="5B6B73"/>
                </a:solidFill>
                <a:latin typeface="Calibri" pitchFamily="34" charset="0"/>
                <a:ea typeface="Calibri" pitchFamily="34" charset="-122"/>
                <a:cs typeface="Calibri" pitchFamily="34" charset="-120"/>
              </a:rPr>
              <a:t>Same, WASH theme</a:t>
            </a:r>
            <a:endParaRPr lang="en-US" sz="1000" dirty="0"/>
          </a:p>
        </p:txBody>
      </p:sp>
      <p:sp>
        <p:nvSpPr>
          <p:cNvPr id="50" name="Shape 48"/>
          <p:cNvSpPr/>
          <p:nvPr/>
        </p:nvSpPr>
        <p:spPr>
          <a:xfrm>
            <a:off x="9354312" y="5074920"/>
            <a:ext cx="2414016" cy="0"/>
          </a:xfrm>
          <a:prstGeom prst="line">
            <a:avLst/>
          </a:prstGeom>
          <a:noFill/>
          <a:ln w="12700">
            <a:solidFill>
              <a:srgbClr val="D9D2C4"/>
            </a:solidFill>
            <a:prstDash val="solid"/>
          </a:ln>
        </p:spPr>
      </p:sp>
      <p:sp>
        <p:nvSpPr>
          <p:cNvPr id="51" name="Text 49"/>
          <p:cNvSpPr/>
          <p:nvPr/>
        </p:nvSpPr>
        <p:spPr>
          <a:xfrm>
            <a:off x="9354312" y="5193792"/>
            <a:ext cx="2414016" cy="1051560"/>
          </a:xfrm>
          <a:prstGeom prst="rect">
            <a:avLst/>
          </a:prstGeom>
          <a:noFill/>
          <a:ln/>
        </p:spPr>
        <p:txBody>
          <a:bodyPr wrap="square" lIns="0" tIns="0" rIns="0" bIns="0" rtlCol="0" anchor="ctr"/>
          <a:lstStyle/>
          <a:p>
            <a:pPr marL="0" indent="0">
              <a:lnSpc>
                <a:spcPct val="115000"/>
              </a:lnSpc>
              <a:buNone/>
            </a:pPr>
            <a:r>
              <a:rPr lang="en-US" sz="970" i="1" dirty="0">
                <a:solidFill>
                  <a:srgbClr val="1B3A4B"/>
                </a:solidFill>
                <a:latin typeface="Calibri" pitchFamily="34" charset="0"/>
                <a:ea typeface="Calibri" pitchFamily="34" charset="-122"/>
                <a:cs typeface="Calibri" pitchFamily="34" charset="-120"/>
              </a:rPr>
              <a:t>Rebuilt via geoparsing for real district variation; validated by its correlation with conflict data (see Pilot Analysis 2).</a:t>
            </a:r>
            <a:endParaRPr lang="en-US" sz="970" dirty="0"/>
          </a:p>
        </p:txBody>
      </p:sp>
      <p:sp>
        <p:nvSpPr>
          <p:cNvPr id="52" name="Text 50"/>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A4B"/>
        </a:solidFill>
        <a:effectLst/>
      </p:bgPr>
    </p:bg>
    <p:spTree>
      <p:nvGrpSpPr>
        <p:cNvPr id="1" name=""/>
        <p:cNvGrpSpPr/>
        <p:nvPr/>
      </p:nvGrpSpPr>
      <p:grpSpPr>
        <a:xfrm>
          <a:off x="0" y="0"/>
          <a:ext cx="0" cy="0"/>
          <a:chOff x="0" y="0"/>
          <a:chExt cx="0" cy="0"/>
        </a:xfrm>
      </p:grpSpPr>
      <p:sp>
        <p:nvSpPr>
          <p:cNvPr id="2" name="Text 0"/>
          <p:cNvSpPr/>
          <p:nvPr/>
        </p:nvSpPr>
        <p:spPr>
          <a:xfrm>
            <a:off x="822960" y="502920"/>
            <a:ext cx="10058400" cy="365760"/>
          </a:xfrm>
          <a:prstGeom prst="rect">
            <a:avLst/>
          </a:prstGeom>
          <a:noFill/>
          <a:ln/>
        </p:spPr>
        <p:txBody>
          <a:bodyPr wrap="square" lIns="0" tIns="0" rIns="0" bIns="0" rtlCol="0" anchor="ctr"/>
          <a:lstStyle/>
          <a:p>
            <a:pPr marL="0" indent="0">
              <a:buNone/>
            </a:pPr>
            <a:r>
              <a:rPr lang="en-US" sz="1300" b="1" kern="0" spc="200" dirty="0">
                <a:solidFill>
                  <a:srgbClr val="E0876A"/>
                </a:solidFill>
                <a:latin typeface="Calibri" pitchFamily="34" charset="0"/>
                <a:ea typeface="Calibri" pitchFamily="34" charset="-122"/>
                <a:cs typeface="Calibri" pitchFamily="34" charset="-120"/>
              </a:rPr>
              <a:t>THE FINDING THAT SET THE STUDY WINDOW</a:t>
            </a:r>
            <a:endParaRPr lang="en-US" sz="1300" dirty="0"/>
          </a:p>
        </p:txBody>
      </p:sp>
      <p:sp>
        <p:nvSpPr>
          <p:cNvPr id="3" name="Text 1"/>
          <p:cNvSpPr/>
          <p:nvPr/>
        </p:nvSpPr>
        <p:spPr>
          <a:xfrm>
            <a:off x="822960" y="914400"/>
            <a:ext cx="100584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Most of the WFP price export isn’t real data</a:t>
            </a:r>
            <a:endParaRPr lang="en-US" sz="2800" dirty="0"/>
          </a:p>
        </p:txBody>
      </p:sp>
      <p:sp>
        <p:nvSpPr>
          <p:cNvPr id="4" name="Shape 2"/>
          <p:cNvSpPr/>
          <p:nvPr/>
        </p:nvSpPr>
        <p:spPr>
          <a:xfrm>
            <a:off x="1188720" y="1920240"/>
            <a:ext cx="1920240" cy="1920240"/>
          </a:xfrm>
          <a:prstGeom prst="ellipse">
            <a:avLst/>
          </a:prstGeom>
          <a:solidFill>
            <a:srgbClr val="C1502F"/>
          </a:solidFill>
          <a:ln/>
        </p:spPr>
      </p:sp>
      <p:sp>
        <p:nvSpPr>
          <p:cNvPr id="5" name="Text 3"/>
          <p:cNvSpPr/>
          <p:nvPr/>
        </p:nvSpPr>
        <p:spPr>
          <a:xfrm>
            <a:off x="1188720" y="1920240"/>
            <a:ext cx="1920240" cy="1190549"/>
          </a:xfrm>
          <a:prstGeom prst="rect">
            <a:avLst/>
          </a:prstGeom>
          <a:noFill/>
          <a:ln/>
        </p:spPr>
        <p:txBody>
          <a:bodyPr wrap="square" lIns="0" tIns="0" rIns="0" bIns="0" rtlCol="0" anchor="b"/>
          <a:lstStyle/>
          <a:p>
            <a:pPr marL="0" indent="0" algn="ctr">
              <a:buNone/>
            </a:pPr>
            <a:r>
              <a:rPr lang="en-US" sz="3000" b="1" dirty="0">
                <a:solidFill>
                  <a:srgbClr val="FFFFFF"/>
                </a:solidFill>
                <a:latin typeface="Cambria" pitchFamily="34" charset="0"/>
                <a:ea typeface="Cambria" pitchFamily="34" charset="-122"/>
                <a:cs typeface="Cambria" pitchFamily="34" charset="-120"/>
              </a:rPr>
              <a:t>92.3%</a:t>
            </a:r>
            <a:endParaRPr lang="en-US" sz="3000" dirty="0"/>
          </a:p>
        </p:txBody>
      </p:sp>
      <p:sp>
        <p:nvSpPr>
          <p:cNvPr id="6" name="Text 4"/>
          <p:cNvSpPr/>
          <p:nvPr/>
        </p:nvSpPr>
        <p:spPr>
          <a:xfrm>
            <a:off x="914400" y="3895344"/>
            <a:ext cx="2468880" cy="457200"/>
          </a:xfrm>
          <a:prstGeom prst="rect">
            <a:avLst/>
          </a:prstGeom>
          <a:noFill/>
          <a:ln/>
        </p:spPr>
        <p:txBody>
          <a:bodyPr wrap="square" lIns="0" tIns="0" rIns="0" bIns="0" rtlCol="0" anchor="t"/>
          <a:lstStyle/>
          <a:p>
            <a:pPr marL="0" indent="0" algn="ctr">
              <a:buNone/>
            </a:pPr>
            <a:r>
              <a:rPr lang="en-US" sz="1200" dirty="0">
                <a:solidFill>
                  <a:srgbClr val="9FB4C0"/>
                </a:solidFill>
                <a:latin typeface="Calibri" pitchFamily="34" charset="0"/>
                <a:ea typeface="Calibri" pitchFamily="34" charset="-122"/>
                <a:cs typeface="Calibri" pitchFamily="34" charset="-120"/>
              </a:rPr>
              <a:t>of all rows are model-</a:t>
            </a:r>
            <a:endParaRPr lang="en-US" sz="1200" dirty="0"/>
          </a:p>
          <a:p>
            <a:pPr marL="0" indent="0" algn="ctr">
              <a:buNone/>
            </a:pPr>
            <a:r>
              <a:rPr lang="en-US" sz="1200" dirty="0">
                <a:solidFill>
                  <a:srgbClr val="9FB4C0"/>
                </a:solidFill>
                <a:latin typeface="Calibri" pitchFamily="34" charset="0"/>
                <a:ea typeface="Calibri" pitchFamily="34" charset="-122"/>
                <a:cs typeface="Calibri" pitchFamily="34" charset="-120"/>
              </a:rPr>
              <a:t>generated forecasts</a:t>
            </a:r>
            <a:endParaRPr lang="en-US" sz="1200" dirty="0"/>
          </a:p>
        </p:txBody>
      </p:sp>
      <p:sp>
        <p:nvSpPr>
          <p:cNvPr id="7" name="Shape 5"/>
          <p:cNvSpPr/>
          <p:nvPr/>
        </p:nvSpPr>
        <p:spPr>
          <a:xfrm>
            <a:off x="4023360" y="1920240"/>
            <a:ext cx="1920240" cy="1920240"/>
          </a:xfrm>
          <a:prstGeom prst="ellipse">
            <a:avLst/>
          </a:prstGeom>
          <a:solidFill>
            <a:srgbClr val="26485C"/>
          </a:solidFill>
          <a:ln/>
        </p:spPr>
      </p:sp>
      <p:sp>
        <p:nvSpPr>
          <p:cNvPr id="8" name="Text 6"/>
          <p:cNvSpPr/>
          <p:nvPr/>
        </p:nvSpPr>
        <p:spPr>
          <a:xfrm>
            <a:off x="4023360" y="1920240"/>
            <a:ext cx="1920240" cy="1190549"/>
          </a:xfrm>
          <a:prstGeom prst="rect">
            <a:avLst/>
          </a:prstGeom>
          <a:noFill/>
          <a:ln/>
        </p:spPr>
        <p:txBody>
          <a:bodyPr wrap="square" lIns="0" tIns="0" rIns="0" bIns="0" rtlCol="0" anchor="b"/>
          <a:lstStyle/>
          <a:p>
            <a:pPr marL="0" indent="0" algn="ctr">
              <a:buNone/>
            </a:pPr>
            <a:r>
              <a:rPr lang="en-US" sz="3000" b="1" dirty="0">
                <a:solidFill>
                  <a:srgbClr val="E0876A"/>
                </a:solidFill>
                <a:latin typeface="Cambria" pitchFamily="34" charset="0"/>
                <a:ea typeface="Cambria" pitchFamily="34" charset="-122"/>
                <a:cs typeface="Cambria" pitchFamily="34" charset="-120"/>
              </a:rPr>
              <a:t>7.7%</a:t>
            </a:r>
            <a:endParaRPr lang="en-US" sz="3000" dirty="0"/>
          </a:p>
        </p:txBody>
      </p:sp>
      <p:sp>
        <p:nvSpPr>
          <p:cNvPr id="9" name="Text 7"/>
          <p:cNvSpPr/>
          <p:nvPr/>
        </p:nvSpPr>
        <p:spPr>
          <a:xfrm>
            <a:off x="3749040" y="3895344"/>
            <a:ext cx="2468880" cy="457200"/>
          </a:xfrm>
          <a:prstGeom prst="rect">
            <a:avLst/>
          </a:prstGeom>
          <a:noFill/>
          <a:ln/>
        </p:spPr>
        <p:txBody>
          <a:bodyPr wrap="square" lIns="0" tIns="0" rIns="0" bIns="0" rtlCol="0" anchor="t"/>
          <a:lstStyle/>
          <a:p>
            <a:pPr marL="0" indent="0" algn="ctr">
              <a:buNone/>
            </a:pPr>
            <a:r>
              <a:rPr lang="en-US" sz="1200" dirty="0">
                <a:solidFill>
                  <a:srgbClr val="9FB4C0"/>
                </a:solidFill>
                <a:latin typeface="Calibri" pitchFamily="34" charset="0"/>
                <a:ea typeface="Calibri" pitchFamily="34" charset="-122"/>
                <a:cs typeface="Calibri" pitchFamily="34" charset="-120"/>
              </a:rPr>
              <a:t>of rows are genuinely</a:t>
            </a:r>
            <a:endParaRPr lang="en-US" sz="1200" dirty="0"/>
          </a:p>
          <a:p>
            <a:pPr marL="0" indent="0" algn="ctr">
              <a:buNone/>
            </a:pPr>
            <a:r>
              <a:rPr lang="en-US" sz="1200" dirty="0">
                <a:solidFill>
                  <a:srgbClr val="9FB4C0"/>
                </a:solidFill>
                <a:latin typeface="Calibri" pitchFamily="34" charset="0"/>
                <a:ea typeface="Calibri" pitchFamily="34" charset="-122"/>
                <a:cs typeface="Calibri" pitchFamily="34" charset="-120"/>
              </a:rPr>
              <a:t>observed prices</a:t>
            </a:r>
            <a:endParaRPr lang="en-US" sz="1200" dirty="0"/>
          </a:p>
        </p:txBody>
      </p:sp>
      <p:sp>
        <p:nvSpPr>
          <p:cNvPr id="10" name="Shape 8"/>
          <p:cNvSpPr/>
          <p:nvPr/>
        </p:nvSpPr>
        <p:spPr>
          <a:xfrm>
            <a:off x="6858000" y="1920240"/>
            <a:ext cx="1920240" cy="1920240"/>
          </a:xfrm>
          <a:prstGeom prst="ellipse">
            <a:avLst/>
          </a:prstGeom>
          <a:solidFill>
            <a:srgbClr val="C1502F"/>
          </a:solidFill>
          <a:ln/>
        </p:spPr>
      </p:sp>
      <p:sp>
        <p:nvSpPr>
          <p:cNvPr id="11" name="Text 9"/>
          <p:cNvSpPr/>
          <p:nvPr/>
        </p:nvSpPr>
        <p:spPr>
          <a:xfrm>
            <a:off x="6858000" y="1920240"/>
            <a:ext cx="1920240" cy="1190549"/>
          </a:xfrm>
          <a:prstGeom prst="rect">
            <a:avLst/>
          </a:prstGeom>
          <a:noFill/>
          <a:ln/>
        </p:spPr>
        <p:txBody>
          <a:bodyPr wrap="square" lIns="0" tIns="0" rIns="0" bIns="0" rtlCol="0" anchor="b"/>
          <a:lstStyle/>
          <a:p>
            <a:pPr marL="0" indent="0" algn="ctr">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2" name="Text 10"/>
          <p:cNvSpPr/>
          <p:nvPr/>
        </p:nvSpPr>
        <p:spPr>
          <a:xfrm>
            <a:off x="6583680" y="3895344"/>
            <a:ext cx="2468880" cy="457200"/>
          </a:xfrm>
          <a:prstGeom prst="rect">
            <a:avLst/>
          </a:prstGeom>
          <a:noFill/>
          <a:ln/>
        </p:spPr>
        <p:txBody>
          <a:bodyPr wrap="square" lIns="0" tIns="0" rIns="0" bIns="0" rtlCol="0" anchor="t"/>
          <a:lstStyle/>
          <a:p>
            <a:pPr marL="0" indent="0" algn="ctr">
              <a:buNone/>
            </a:pPr>
            <a:r>
              <a:rPr lang="en-US" sz="1200" dirty="0">
                <a:solidFill>
                  <a:srgbClr val="9FB4C0"/>
                </a:solidFill>
                <a:latin typeface="Calibri" pitchFamily="34" charset="0"/>
                <a:ea typeface="Calibri" pitchFamily="34" charset="-122"/>
                <a:cs typeface="Calibri" pitchFamily="34" charset="-120"/>
              </a:rPr>
              <a:t>months of real data</a:t>
            </a:r>
            <a:endParaRPr lang="en-US" sz="1200" dirty="0"/>
          </a:p>
          <a:p>
            <a:pPr marL="0" indent="0" algn="ctr">
              <a:buNone/>
            </a:pPr>
            <a:r>
              <a:rPr lang="en-US" sz="1200" dirty="0">
                <a:solidFill>
                  <a:srgbClr val="9FB4C0"/>
                </a:solidFill>
                <a:latin typeface="Calibri" pitchFamily="34" charset="0"/>
                <a:ea typeface="Calibri" pitchFamily="34" charset="-122"/>
                <a:cs typeface="Calibri" pitchFamily="34" charset="-120"/>
              </a:rPr>
              <a:t>in the entire export</a:t>
            </a:r>
            <a:endParaRPr lang="en-US" sz="1200" dirty="0"/>
          </a:p>
        </p:txBody>
      </p:sp>
      <p:sp>
        <p:nvSpPr>
          <p:cNvPr id="13" name="Shape 11"/>
          <p:cNvSpPr/>
          <p:nvPr/>
        </p:nvSpPr>
        <p:spPr>
          <a:xfrm>
            <a:off x="822960" y="4617720"/>
            <a:ext cx="10515600" cy="1600200"/>
          </a:xfrm>
          <a:prstGeom prst="rect">
            <a:avLst/>
          </a:prstGeom>
          <a:solidFill>
            <a:srgbClr val="26485C"/>
          </a:solidFill>
          <a:ln/>
        </p:spPr>
      </p:sp>
      <p:sp>
        <p:nvSpPr>
          <p:cNvPr id="14" name="Text 12"/>
          <p:cNvSpPr/>
          <p:nvPr/>
        </p:nvSpPr>
        <p:spPr>
          <a:xfrm>
            <a:off x="1097280" y="4800600"/>
            <a:ext cx="9966960" cy="1280160"/>
          </a:xfrm>
          <a:prstGeom prst="rect">
            <a:avLst/>
          </a:prstGeom>
          <a:noFill/>
          <a:ln/>
        </p:spPr>
        <p:txBody>
          <a:bodyPr wrap="square" lIns="0" tIns="0" rIns="0" bIns="0" rtlCol="0" anchor="ctr"/>
          <a:lstStyle/>
          <a:p>
            <a:pPr marL="0" indent="0">
              <a:lnSpc>
                <a:spcPct val="125000"/>
              </a:lnSpc>
              <a:buNone/>
            </a:pPr>
            <a:r>
              <a:rPr lang="en-US" sz="1400" b="1" dirty="0">
                <a:solidFill>
                  <a:srgbClr val="E0876A"/>
                </a:solidFill>
                <a:latin typeface="Calibri" pitchFamily="34" charset="0"/>
                <a:ea typeface="Calibri" pitchFamily="34" charset="-122"/>
                <a:cs typeface="Calibri" pitchFamily="34" charset="-120"/>
              </a:rPr>
              <a:t>January–February 2024 </a:t>
            </a:r>
            <a:r>
              <a:rPr lang="en-US" sz="1400" dirty="0">
                <a:solidFill>
                  <a:srgbClr val="F1E9DC"/>
                </a:solidFill>
                <a:latin typeface="Calibri" pitchFamily="34" charset="0"/>
                <a:ea typeface="Calibri" pitchFamily="34" charset="-122"/>
                <a:cs typeface="Calibri" pitchFamily="34" charset="-120"/>
              </a:rPr>
              <a:t>is the only period in the entire multi-year export with verifiable, observed prices — everything else, including the rest of 2024, is a forecast extending to January 2027. This is why the prototype window was set here: using forecast rows without noticing would mean testing the pipeline against WFP’s own model instead of ground truth.</a:t>
            </a:r>
            <a:endParaRPr lang="en-US" sz="1400" dirty="0"/>
          </a:p>
        </p:txBody>
      </p:sp>
      <p:sp>
        <p:nvSpPr>
          <p:cNvPr id="15" name="Text 13"/>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9FB4C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Market data: integration mechanics</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What it took to make WFP prices usable at Admin2 × Month, within the 2-month real-data window</a:t>
            </a:r>
            <a:endParaRPr lang="en-US" sz="1350" dirty="0"/>
          </a:p>
        </p:txBody>
      </p:sp>
      <p:sp>
        <p:nvSpPr>
          <p:cNvPr id="4" name="Shape 2"/>
          <p:cNvSpPr/>
          <p:nvPr/>
        </p:nvSpPr>
        <p:spPr>
          <a:xfrm>
            <a:off x="777240" y="1920240"/>
            <a:ext cx="1737360" cy="1737360"/>
          </a:xfrm>
          <a:prstGeom prst="ellipse">
            <a:avLst/>
          </a:prstGeom>
          <a:solidFill>
            <a:srgbClr val="C1502F"/>
          </a:solidFill>
          <a:ln/>
        </p:spPr>
      </p:sp>
      <p:sp>
        <p:nvSpPr>
          <p:cNvPr id="5" name="Text 3"/>
          <p:cNvSpPr/>
          <p:nvPr/>
        </p:nvSpPr>
        <p:spPr>
          <a:xfrm>
            <a:off x="777240" y="1920240"/>
            <a:ext cx="1737360" cy="1077163"/>
          </a:xfrm>
          <a:prstGeom prst="rect">
            <a:avLst/>
          </a:prstGeom>
          <a:noFill/>
          <a:ln/>
        </p:spPr>
        <p:txBody>
          <a:bodyPr wrap="square" lIns="0" tIns="0" rIns="0" bIns="0" rtlCol="0" anchor="b"/>
          <a:lstStyle/>
          <a:p>
            <a:pPr marL="0" indent="0" algn="ctr">
              <a:buNone/>
            </a:pPr>
            <a:r>
              <a:rPr lang="en-US" sz="3000" b="1" dirty="0">
                <a:solidFill>
                  <a:srgbClr val="FFFFFF"/>
                </a:solidFill>
                <a:latin typeface="Cambria" pitchFamily="34" charset="0"/>
                <a:ea typeface="Cambria" pitchFamily="34" charset="-122"/>
                <a:cs typeface="Cambria" pitchFamily="34" charset="-120"/>
              </a:rPr>
              <a:t>35 / 74</a:t>
            </a:r>
            <a:endParaRPr lang="en-US" sz="3000" dirty="0"/>
          </a:p>
        </p:txBody>
      </p:sp>
      <p:sp>
        <p:nvSpPr>
          <p:cNvPr id="6" name="Text 4"/>
          <p:cNvSpPr/>
          <p:nvPr/>
        </p:nvSpPr>
        <p:spPr>
          <a:xfrm>
            <a:off x="502920" y="3712464"/>
            <a:ext cx="2286000" cy="457200"/>
          </a:xfrm>
          <a:prstGeom prst="rect">
            <a:avLst/>
          </a:prstGeom>
          <a:noFill/>
          <a:ln/>
        </p:spPr>
        <p:txBody>
          <a:bodyPr wrap="square" lIns="0" tIns="0" rIns="0" bIns="0" rtlCol="0" anchor="t"/>
          <a:lstStyle/>
          <a:p>
            <a:pPr marL="0" indent="0" algn="ctr">
              <a:buNone/>
            </a:pPr>
            <a:r>
              <a:rPr lang="en-US" sz="1200" dirty="0">
                <a:solidFill>
                  <a:srgbClr val="5B6B73"/>
                </a:solidFill>
                <a:latin typeface="Calibri" pitchFamily="34" charset="0"/>
                <a:ea typeface="Calibri" pitchFamily="34" charset="-122"/>
                <a:cs typeface="Calibri" pitchFamily="34" charset="-120"/>
              </a:rPr>
              <a:t>districts have any</a:t>
            </a:r>
            <a:endParaRPr lang="en-US" sz="1200" dirty="0"/>
          </a:p>
          <a:p>
            <a:pPr marL="0" indent="0" algn="ctr">
              <a:buNone/>
            </a:pPr>
            <a:r>
              <a:rPr lang="en-US" sz="1200" dirty="0">
                <a:solidFill>
                  <a:srgbClr val="5B6B73"/>
                </a:solidFill>
                <a:latin typeface="Calibri" pitchFamily="34" charset="0"/>
                <a:ea typeface="Calibri" pitchFamily="34" charset="-122"/>
                <a:cs typeface="Calibri" pitchFamily="34" charset="-120"/>
              </a:rPr>
              <a:t>WFP-monitored market</a:t>
            </a:r>
            <a:endParaRPr lang="en-US" sz="1200" dirty="0"/>
          </a:p>
        </p:txBody>
      </p:sp>
      <p:sp>
        <p:nvSpPr>
          <p:cNvPr id="7" name="Shape 5"/>
          <p:cNvSpPr/>
          <p:nvPr/>
        </p:nvSpPr>
        <p:spPr>
          <a:xfrm>
            <a:off x="3429000" y="1920240"/>
            <a:ext cx="1737360" cy="1737360"/>
          </a:xfrm>
          <a:prstGeom prst="ellipse">
            <a:avLst/>
          </a:prstGeom>
          <a:solidFill>
            <a:srgbClr val="C1502F"/>
          </a:solidFill>
          <a:ln/>
        </p:spPr>
      </p:sp>
      <p:sp>
        <p:nvSpPr>
          <p:cNvPr id="8" name="Text 6"/>
          <p:cNvSpPr/>
          <p:nvPr/>
        </p:nvSpPr>
        <p:spPr>
          <a:xfrm>
            <a:off x="3429000" y="1920240"/>
            <a:ext cx="1737360" cy="1077163"/>
          </a:xfrm>
          <a:prstGeom prst="rect">
            <a:avLst/>
          </a:prstGeom>
          <a:noFill/>
          <a:ln/>
        </p:spPr>
        <p:txBody>
          <a:bodyPr wrap="square" lIns="0" tIns="0" rIns="0" bIns="0" rtlCol="0" anchor="b"/>
          <a:lstStyle/>
          <a:p>
            <a:pPr marL="0" indent="0" algn="ctr">
              <a:buNone/>
            </a:pPr>
            <a:r>
              <a:rPr lang="en-US" sz="3000" b="1" dirty="0">
                <a:solidFill>
                  <a:srgbClr val="FFFFFF"/>
                </a:solidFill>
                <a:latin typeface="Cambria" pitchFamily="34" charset="0"/>
                <a:ea typeface="Cambria" pitchFamily="34" charset="-122"/>
                <a:cs typeface="Cambria" pitchFamily="34" charset="-120"/>
              </a:rPr>
              <a:t>78 / 148</a:t>
            </a:r>
            <a:endParaRPr lang="en-US" sz="3000" dirty="0"/>
          </a:p>
        </p:txBody>
      </p:sp>
      <p:sp>
        <p:nvSpPr>
          <p:cNvPr id="9" name="Text 7"/>
          <p:cNvSpPr/>
          <p:nvPr/>
        </p:nvSpPr>
        <p:spPr>
          <a:xfrm>
            <a:off x="3154680" y="3712464"/>
            <a:ext cx="2286000" cy="457200"/>
          </a:xfrm>
          <a:prstGeom prst="rect">
            <a:avLst/>
          </a:prstGeom>
          <a:noFill/>
          <a:ln/>
        </p:spPr>
        <p:txBody>
          <a:bodyPr wrap="square" lIns="0" tIns="0" rIns="0" bIns="0" rtlCol="0" anchor="t"/>
          <a:lstStyle/>
          <a:p>
            <a:pPr marL="0" indent="0" algn="ctr">
              <a:buNone/>
            </a:pPr>
            <a:r>
              <a:rPr lang="en-US" sz="1200" dirty="0">
                <a:solidFill>
                  <a:srgbClr val="5B6B73"/>
                </a:solidFill>
                <a:latin typeface="Calibri" pitchFamily="34" charset="0"/>
                <a:ea typeface="Calibri" pitchFamily="34" charset="-122"/>
                <a:cs typeface="Calibri" pitchFamily="34" charset="-120"/>
              </a:rPr>
              <a:t>district-months missing</a:t>
            </a:r>
            <a:endParaRPr lang="en-US" sz="1200" dirty="0"/>
          </a:p>
          <a:p>
            <a:pPr marL="0" indent="0" algn="ctr">
              <a:buNone/>
            </a:pPr>
            <a:r>
              <a:rPr lang="en-US" sz="1200" dirty="0">
                <a:solidFill>
                  <a:srgbClr val="5B6B73"/>
                </a:solidFill>
                <a:latin typeface="Calibri" pitchFamily="34" charset="0"/>
                <a:ea typeface="Calibri" pitchFamily="34" charset="-122"/>
                <a:cs typeface="Calibri" pitchFamily="34" charset="-120"/>
              </a:rPr>
              <a:t>every price feature</a:t>
            </a:r>
            <a:endParaRPr lang="en-US" sz="1200" dirty="0"/>
          </a:p>
        </p:txBody>
      </p:sp>
      <p:sp>
        <p:nvSpPr>
          <p:cNvPr id="10" name="Shape 8"/>
          <p:cNvSpPr/>
          <p:nvPr/>
        </p:nvSpPr>
        <p:spPr>
          <a:xfrm>
            <a:off x="6080760" y="1920240"/>
            <a:ext cx="1737360" cy="1737360"/>
          </a:xfrm>
          <a:prstGeom prst="ellipse">
            <a:avLst/>
          </a:prstGeom>
          <a:solidFill>
            <a:srgbClr val="C1502F"/>
          </a:solidFill>
          <a:ln/>
        </p:spPr>
      </p:sp>
      <p:sp>
        <p:nvSpPr>
          <p:cNvPr id="11" name="Text 9"/>
          <p:cNvSpPr/>
          <p:nvPr/>
        </p:nvSpPr>
        <p:spPr>
          <a:xfrm>
            <a:off x="6080760" y="1920240"/>
            <a:ext cx="1737360" cy="1077163"/>
          </a:xfrm>
          <a:prstGeom prst="rect">
            <a:avLst/>
          </a:prstGeom>
          <a:noFill/>
          <a:ln/>
        </p:spPr>
        <p:txBody>
          <a:bodyPr wrap="square" lIns="0" tIns="0" rIns="0" bIns="0" rtlCol="0" anchor="b"/>
          <a:lstStyle/>
          <a:p>
            <a:pPr marL="0" indent="0" algn="ctr">
              <a:buNone/>
            </a:pPr>
            <a:r>
              <a:rPr lang="en-US" sz="3000" b="1" dirty="0">
                <a:solidFill>
                  <a:srgbClr val="FFFFFF"/>
                </a:solidFill>
                <a:latin typeface="Cambria" pitchFamily="34" charset="0"/>
                <a:ea typeface="Cambria" pitchFamily="34" charset="-122"/>
                <a:cs typeface="Cambria" pitchFamily="34" charset="-120"/>
              </a:rPr>
              <a:t>14</a:t>
            </a:r>
            <a:endParaRPr lang="en-US" sz="3000" dirty="0"/>
          </a:p>
        </p:txBody>
      </p:sp>
      <p:sp>
        <p:nvSpPr>
          <p:cNvPr id="12" name="Text 10"/>
          <p:cNvSpPr/>
          <p:nvPr/>
        </p:nvSpPr>
        <p:spPr>
          <a:xfrm>
            <a:off x="5806440" y="3712464"/>
            <a:ext cx="2286000" cy="457200"/>
          </a:xfrm>
          <a:prstGeom prst="rect">
            <a:avLst/>
          </a:prstGeom>
          <a:noFill/>
          <a:ln/>
        </p:spPr>
        <p:txBody>
          <a:bodyPr wrap="square" lIns="0" tIns="0" rIns="0" bIns="0" rtlCol="0" anchor="t"/>
          <a:lstStyle/>
          <a:p>
            <a:pPr marL="0" indent="0" algn="ctr">
              <a:buNone/>
            </a:pPr>
            <a:r>
              <a:rPr lang="en-US" sz="1200" dirty="0">
                <a:solidFill>
                  <a:srgbClr val="5B6B73"/>
                </a:solidFill>
                <a:latin typeface="Calibri" pitchFamily="34" charset="0"/>
                <a:ea typeface="Calibri" pitchFamily="34" charset="-122"/>
                <a:cs typeface="Calibri" pitchFamily="34" charset="-120"/>
              </a:rPr>
              <a:t>district names required</a:t>
            </a:r>
            <a:endParaRPr lang="en-US" sz="1200" dirty="0"/>
          </a:p>
          <a:p>
            <a:pPr marL="0" indent="0" algn="ctr">
              <a:buNone/>
            </a:pPr>
            <a:r>
              <a:rPr lang="en-US" sz="1200" dirty="0">
                <a:solidFill>
                  <a:srgbClr val="5B6B73"/>
                </a:solidFill>
                <a:latin typeface="Calibri" pitchFamily="34" charset="0"/>
                <a:ea typeface="Calibri" pitchFamily="34" charset="-122"/>
                <a:cs typeface="Calibri" pitchFamily="34" charset="-120"/>
              </a:rPr>
              <a:t>manual renaming to match GADM</a:t>
            </a:r>
            <a:endParaRPr lang="en-US" sz="1200" dirty="0"/>
          </a:p>
        </p:txBody>
      </p:sp>
      <p:sp>
        <p:nvSpPr>
          <p:cNvPr id="13" name="Shape 11"/>
          <p:cNvSpPr/>
          <p:nvPr/>
        </p:nvSpPr>
        <p:spPr>
          <a:xfrm>
            <a:off x="8732520" y="1920240"/>
            <a:ext cx="1737360" cy="1737360"/>
          </a:xfrm>
          <a:prstGeom prst="ellipse">
            <a:avLst/>
          </a:prstGeom>
          <a:solidFill>
            <a:srgbClr val="C1502F"/>
          </a:solidFill>
          <a:ln/>
        </p:spPr>
      </p:sp>
      <p:sp>
        <p:nvSpPr>
          <p:cNvPr id="14" name="Text 12"/>
          <p:cNvSpPr/>
          <p:nvPr/>
        </p:nvSpPr>
        <p:spPr>
          <a:xfrm>
            <a:off x="8732520" y="1920240"/>
            <a:ext cx="1737360" cy="1077163"/>
          </a:xfrm>
          <a:prstGeom prst="rect">
            <a:avLst/>
          </a:prstGeom>
          <a:noFill/>
          <a:ln/>
        </p:spPr>
        <p:txBody>
          <a:bodyPr wrap="square" lIns="0" tIns="0" rIns="0" bIns="0" rtlCol="0" anchor="b"/>
          <a:lstStyle/>
          <a:p>
            <a:pPr marL="0" indent="0" algn="ctr">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5" name="Text 13"/>
          <p:cNvSpPr/>
          <p:nvPr/>
        </p:nvSpPr>
        <p:spPr>
          <a:xfrm>
            <a:off x="8458200" y="3712464"/>
            <a:ext cx="2286000" cy="457200"/>
          </a:xfrm>
          <a:prstGeom prst="rect">
            <a:avLst/>
          </a:prstGeom>
          <a:noFill/>
          <a:ln/>
        </p:spPr>
        <p:txBody>
          <a:bodyPr wrap="square" lIns="0" tIns="0" rIns="0" bIns="0" rtlCol="0" anchor="t"/>
          <a:lstStyle/>
          <a:p>
            <a:pPr marL="0" indent="0" algn="ctr">
              <a:buNone/>
            </a:pPr>
            <a:r>
              <a:rPr lang="en-US" sz="1200" dirty="0">
                <a:solidFill>
                  <a:srgbClr val="5B6B73"/>
                </a:solidFill>
                <a:latin typeface="Calibri" pitchFamily="34" charset="0"/>
                <a:ea typeface="Calibri" pitchFamily="34" charset="-122"/>
                <a:cs typeface="Calibri" pitchFamily="34" charset="-120"/>
              </a:rPr>
              <a:t>currencies converted to USD</a:t>
            </a:r>
            <a:endParaRPr lang="en-US" sz="1200" dirty="0"/>
          </a:p>
          <a:p>
            <a:pPr marL="0" indent="0" algn="ctr">
              <a:buNone/>
            </a:pPr>
            <a:r>
              <a:rPr lang="en-US" sz="1200" dirty="0">
                <a:solidFill>
                  <a:srgbClr val="5B6B73"/>
                </a:solidFill>
                <a:latin typeface="Calibri" pitchFamily="34" charset="0"/>
                <a:ea typeface="Calibri" pitchFamily="34" charset="-122"/>
                <a:cs typeface="Calibri" pitchFamily="34" charset="-120"/>
              </a:rPr>
              <a:t>(Somali &amp; Somaliland Shilling)</a:t>
            </a:r>
            <a:endParaRPr lang="en-US" sz="1200" dirty="0"/>
          </a:p>
        </p:txBody>
      </p:sp>
      <p:sp>
        <p:nvSpPr>
          <p:cNvPr id="16" name="Shape 14"/>
          <p:cNvSpPr/>
          <p:nvPr/>
        </p:nvSpPr>
        <p:spPr>
          <a:xfrm>
            <a:off x="548640" y="4617720"/>
            <a:ext cx="11064240" cy="1371600"/>
          </a:xfrm>
          <a:prstGeom prst="roundRect">
            <a:avLst>
              <a:gd name="adj" fmla="val 4000"/>
            </a:avLst>
          </a:prstGeom>
          <a:solidFill>
            <a:srgbClr val="F1E9DC"/>
          </a:solidFill>
          <a:ln/>
        </p:spPr>
      </p:sp>
      <p:sp>
        <p:nvSpPr>
          <p:cNvPr id="17" name="Text 15"/>
          <p:cNvSpPr/>
          <p:nvPr/>
        </p:nvSpPr>
        <p:spPr>
          <a:xfrm>
            <a:off x="822960" y="4773168"/>
            <a:ext cx="10515600" cy="1097280"/>
          </a:xfrm>
          <a:prstGeom prst="rect">
            <a:avLst/>
          </a:prstGeom>
          <a:noFill/>
          <a:ln/>
        </p:spPr>
        <p:txBody>
          <a:bodyPr wrap="square" lIns="0" tIns="0" rIns="0" bIns="0" rtlCol="0" anchor="ctr"/>
          <a:lstStyle/>
          <a:p>
            <a:pPr marL="0" indent="0">
              <a:lnSpc>
                <a:spcPct val="125000"/>
              </a:lnSpc>
              <a:buNone/>
            </a:pPr>
            <a:r>
              <a:rPr lang="en-US" sz="1250" b="1" dirty="0">
                <a:solidFill>
                  <a:srgbClr val="1B3A4B"/>
                </a:solidFill>
                <a:latin typeface="Calibri" pitchFamily="34" charset="0"/>
                <a:ea typeface="Calibri" pitchFamily="34" charset="-122"/>
                <a:cs typeface="Calibri" pitchFamily="34" charset="-120"/>
              </a:rPr>
              <a:t>One further gap found within the 35 covered districts: </a:t>
            </a:r>
            <a:r>
              <a:rPr lang="en-US" sz="1250" dirty="0">
                <a:solidFill>
                  <a:srgbClr val="5B6B73"/>
                </a:solidFill>
                <a:latin typeface="Calibri" pitchFamily="34" charset="0"/>
                <a:ea typeface="Calibri" pitchFamily="34" charset="-122"/>
                <a:cs typeface="Calibri" pitchFamily="34" charset="-120"/>
              </a:rPr>
              <a:t>Banadir has no recorded prices at all in January — a genuine collection gap, not a structural one. Prices in five northern districts are recorded in Somaliland Shilling rather than Somali Shilling, requiring conversion using each district's own monthly exchange rate before any cross-district comparison was possible.</a:t>
            </a:r>
            <a:endParaRPr lang="en-US" sz="1250" dirty="0"/>
          </a:p>
        </p:txBody>
      </p:sp>
      <p:sp>
        <p:nvSpPr>
          <p:cNvPr id="18" name="Text 16"/>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Data quality, measured empirically</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Missing values, spatial coverage, temporal coverage and integration issues, per source</a:t>
            </a:r>
            <a:endParaRPr lang="en-US" sz="1350" dirty="0"/>
          </a:p>
        </p:txBody>
      </p:sp>
      <p:sp>
        <p:nvSpPr>
          <p:cNvPr id="4" name="Shape 2"/>
          <p:cNvSpPr/>
          <p:nvPr/>
        </p:nvSpPr>
        <p:spPr>
          <a:xfrm>
            <a:off x="548640" y="1783080"/>
            <a:ext cx="2697480" cy="4160520"/>
          </a:xfrm>
          <a:prstGeom prst="roundRect">
            <a:avLst>
              <a:gd name="adj" fmla="val 2712"/>
            </a:avLst>
          </a:prstGeom>
          <a:solidFill>
            <a:srgbClr val="F1E9DC"/>
          </a:solidFill>
          <a:ln/>
        </p:spPr>
      </p:sp>
      <p:sp>
        <p:nvSpPr>
          <p:cNvPr id="5" name="Text 3"/>
          <p:cNvSpPr/>
          <p:nvPr/>
        </p:nvSpPr>
        <p:spPr>
          <a:xfrm>
            <a:off x="731520" y="1938528"/>
            <a:ext cx="2331720" cy="365760"/>
          </a:xfrm>
          <a:prstGeom prst="rect">
            <a:avLst/>
          </a:prstGeom>
          <a:noFill/>
          <a:ln/>
        </p:spPr>
        <p:txBody>
          <a:bodyPr wrap="square" lIns="0" tIns="0" rIns="0" bIns="0" rtlCol="0" anchor="ctr"/>
          <a:lstStyle/>
          <a:p>
            <a:pPr marL="0" indent="0">
              <a:buNone/>
            </a:pPr>
            <a:r>
              <a:rPr lang="en-US" sz="1700" b="1" dirty="0">
                <a:solidFill>
                  <a:srgbClr val="1B3A4B"/>
                </a:solidFill>
                <a:latin typeface="Cambria" pitchFamily="34" charset="0"/>
                <a:ea typeface="Cambria" pitchFamily="34" charset="-122"/>
                <a:cs typeface="Cambria" pitchFamily="34" charset="-120"/>
              </a:rPr>
              <a:t>Conflict</a:t>
            </a:r>
            <a:endParaRPr lang="en-US" sz="1700" dirty="0"/>
          </a:p>
        </p:txBody>
      </p:sp>
      <p:sp>
        <p:nvSpPr>
          <p:cNvPr id="6" name="Text 4"/>
          <p:cNvSpPr/>
          <p:nvPr/>
        </p:nvSpPr>
        <p:spPr>
          <a:xfrm>
            <a:off x="731520" y="2286000"/>
            <a:ext cx="2331720" cy="27432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ACLED</a:t>
            </a:r>
            <a:endParaRPr lang="en-US" sz="1100" dirty="0"/>
          </a:p>
        </p:txBody>
      </p:sp>
      <p:sp>
        <p:nvSpPr>
          <p:cNvPr id="7" name="Text 5"/>
          <p:cNvSpPr/>
          <p:nvPr/>
        </p:nvSpPr>
        <p:spPr>
          <a:xfrm>
            <a:off x="731520" y="2743200"/>
            <a:ext cx="2331720" cy="228600"/>
          </a:xfrm>
          <a:prstGeom prst="rect">
            <a:avLst/>
          </a:prstGeom>
          <a:noFill/>
          <a:ln/>
        </p:spPr>
        <p:txBody>
          <a:bodyPr wrap="square" lIns="0" tIns="0" rIns="0" bIns="0" rtlCol="0" anchor="ctr"/>
          <a:lstStyle/>
          <a:p>
            <a:pPr marL="0" indent="0">
              <a:buNone/>
            </a:pPr>
            <a:r>
              <a:rPr lang="en-US" sz="950" b="1" kern="0" spc="100" dirty="0">
                <a:solidFill>
                  <a:srgbClr val="C1502F"/>
                </a:solidFill>
                <a:latin typeface="Calibri" pitchFamily="34" charset="0"/>
                <a:ea typeface="Calibri" pitchFamily="34" charset="-122"/>
                <a:cs typeface="Calibri" pitchFamily="34" charset="-120"/>
              </a:rPr>
              <a:t>MISSING VALUES</a:t>
            </a:r>
            <a:endParaRPr lang="en-US" sz="950" dirty="0"/>
          </a:p>
        </p:txBody>
      </p:sp>
      <p:sp>
        <p:nvSpPr>
          <p:cNvPr id="8" name="Text 6"/>
          <p:cNvSpPr/>
          <p:nvPr/>
        </p:nvSpPr>
        <p:spPr>
          <a:xfrm>
            <a:off x="731520" y="2944368"/>
            <a:ext cx="2331720" cy="502920"/>
          </a:xfrm>
          <a:prstGeom prst="rect">
            <a:avLst/>
          </a:prstGeom>
          <a:noFill/>
          <a:ln/>
        </p:spPr>
        <p:txBody>
          <a:bodyPr wrap="square" lIns="0" tIns="0" rIns="0" bIns="0" rtlCol="0" anchor="ctr"/>
          <a:lstStyle/>
          <a:p>
            <a:pPr marL="0" indent="0">
              <a:buNone/>
            </a:pPr>
            <a:r>
              <a:rPr lang="en-US" sz="2600" b="1" dirty="0">
                <a:solidFill>
                  <a:srgbClr val="1B3A4B"/>
                </a:solidFill>
                <a:latin typeface="Cambria" pitchFamily="34" charset="0"/>
                <a:ea typeface="Cambria" pitchFamily="34" charset="-122"/>
                <a:cs typeface="Cambria" pitchFamily="34" charset="-120"/>
              </a:rPr>
              <a:t>0%</a:t>
            </a:r>
            <a:endParaRPr lang="en-US" sz="2600" dirty="0"/>
          </a:p>
        </p:txBody>
      </p:sp>
      <p:sp>
        <p:nvSpPr>
          <p:cNvPr id="9" name="Text 7"/>
          <p:cNvSpPr/>
          <p:nvPr/>
        </p:nvSpPr>
        <p:spPr>
          <a:xfrm>
            <a:off x="731520" y="3566160"/>
            <a:ext cx="2331720" cy="228600"/>
          </a:xfrm>
          <a:prstGeom prst="rect">
            <a:avLst/>
          </a:prstGeom>
          <a:noFill/>
          <a:ln/>
        </p:spPr>
        <p:txBody>
          <a:bodyPr wrap="square" lIns="0" tIns="0" rIns="0" bIns="0" rtlCol="0" anchor="ctr"/>
          <a:lstStyle/>
          <a:p>
            <a:pPr marL="0" indent="0">
              <a:buNone/>
            </a:pPr>
            <a:r>
              <a:rPr lang="en-US" sz="950" b="1" kern="0" spc="100" dirty="0">
                <a:solidFill>
                  <a:srgbClr val="C1502F"/>
                </a:solidFill>
                <a:latin typeface="Calibri" pitchFamily="34" charset="0"/>
                <a:ea typeface="Calibri" pitchFamily="34" charset="-122"/>
                <a:cs typeface="Calibri" pitchFamily="34" charset="-120"/>
              </a:rPr>
              <a:t>SPATIAL COVERAGE</a:t>
            </a:r>
            <a:endParaRPr lang="en-US" sz="950" dirty="0"/>
          </a:p>
        </p:txBody>
      </p:sp>
      <p:sp>
        <p:nvSpPr>
          <p:cNvPr id="10" name="Text 8"/>
          <p:cNvSpPr/>
          <p:nvPr/>
        </p:nvSpPr>
        <p:spPr>
          <a:xfrm>
            <a:off x="731520" y="3767328"/>
            <a:ext cx="2331720" cy="502920"/>
          </a:xfrm>
          <a:prstGeom prst="rect">
            <a:avLst/>
          </a:prstGeom>
          <a:noFill/>
          <a:ln/>
        </p:spPr>
        <p:txBody>
          <a:bodyPr wrap="square" lIns="0" tIns="0" rIns="0" bIns="0" rtlCol="0" anchor="ctr"/>
          <a:lstStyle/>
          <a:p>
            <a:pPr marL="0" indent="0">
              <a:buNone/>
            </a:pPr>
            <a:r>
              <a:rPr lang="en-US" sz="2600" b="1" dirty="0">
                <a:solidFill>
                  <a:srgbClr val="1B3A4B"/>
                </a:solidFill>
                <a:latin typeface="Cambria" pitchFamily="34" charset="0"/>
                <a:ea typeface="Cambria" pitchFamily="34" charset="-122"/>
                <a:cs typeface="Cambria" pitchFamily="34" charset="-120"/>
              </a:rPr>
              <a:t>100%</a:t>
            </a:r>
            <a:endParaRPr lang="en-US" sz="2600" dirty="0"/>
          </a:p>
        </p:txBody>
      </p:sp>
      <p:sp>
        <p:nvSpPr>
          <p:cNvPr id="11" name="Shape 9"/>
          <p:cNvSpPr/>
          <p:nvPr/>
        </p:nvSpPr>
        <p:spPr>
          <a:xfrm>
            <a:off x="731520" y="4434840"/>
            <a:ext cx="2331720" cy="0"/>
          </a:xfrm>
          <a:prstGeom prst="line">
            <a:avLst/>
          </a:prstGeom>
          <a:noFill/>
          <a:ln w="12700">
            <a:solidFill>
              <a:srgbClr val="D9D2C4"/>
            </a:solidFill>
            <a:prstDash val="solid"/>
          </a:ln>
        </p:spPr>
      </p:sp>
      <p:sp>
        <p:nvSpPr>
          <p:cNvPr id="12" name="Text 10"/>
          <p:cNvSpPr/>
          <p:nvPr/>
        </p:nvSpPr>
        <p:spPr>
          <a:xfrm>
            <a:off x="731520" y="4553712"/>
            <a:ext cx="2331720" cy="228600"/>
          </a:xfrm>
          <a:prstGeom prst="rect">
            <a:avLst/>
          </a:prstGeom>
          <a:noFill/>
          <a:ln/>
        </p:spPr>
        <p:txBody>
          <a:bodyPr wrap="square" lIns="0" tIns="0" rIns="0" bIns="0" rtlCol="0" anchor="ctr"/>
          <a:lstStyle/>
          <a:p>
            <a:pPr marL="0" indent="0">
              <a:buNone/>
            </a:pPr>
            <a:r>
              <a:rPr lang="en-US" sz="950" b="1" kern="0" spc="100" dirty="0">
                <a:solidFill>
                  <a:srgbClr val="C1502F"/>
                </a:solidFill>
                <a:latin typeface="Calibri" pitchFamily="34" charset="0"/>
                <a:ea typeface="Calibri" pitchFamily="34" charset="-122"/>
                <a:cs typeface="Calibri" pitchFamily="34" charset="-120"/>
              </a:rPr>
              <a:t>MAIN INTEGRATION ISSUE</a:t>
            </a:r>
            <a:endParaRPr lang="en-US" sz="950" dirty="0"/>
          </a:p>
        </p:txBody>
      </p:sp>
      <p:sp>
        <p:nvSpPr>
          <p:cNvPr id="13" name="Text 11"/>
          <p:cNvSpPr/>
          <p:nvPr/>
        </p:nvSpPr>
        <p:spPr>
          <a:xfrm>
            <a:off x="731520" y="4773168"/>
            <a:ext cx="2331720" cy="1051560"/>
          </a:xfrm>
          <a:prstGeom prst="rect">
            <a:avLst/>
          </a:prstGeom>
          <a:noFill/>
          <a:ln/>
        </p:spPr>
        <p:txBody>
          <a:bodyPr wrap="square" lIns="0" tIns="0" rIns="0" bIns="0" rtlCol="0" anchor="ctr"/>
          <a:lstStyle/>
          <a:p>
            <a:pPr marL="0" indent="0">
              <a:lnSpc>
                <a:spcPct val="115000"/>
              </a:lnSpc>
              <a:buNone/>
            </a:pPr>
            <a:r>
              <a:rPr lang="en-US" sz="1150" dirty="0">
                <a:solidFill>
                  <a:srgbClr val="5B6B73"/>
                </a:solidFill>
                <a:latin typeface="Calibri" pitchFamily="34" charset="0"/>
                <a:ea typeface="Calibri" pitchFamily="34" charset="-122"/>
                <a:cs typeface="Calibri" pitchFamily="34" charset="-120"/>
              </a:rPr>
              <a:t>District naming: 15 renamed, 1 unresolved</a:t>
            </a:r>
            <a:endParaRPr lang="en-US" sz="1150" dirty="0"/>
          </a:p>
        </p:txBody>
      </p:sp>
      <p:sp>
        <p:nvSpPr>
          <p:cNvPr id="14" name="Shape 12"/>
          <p:cNvSpPr/>
          <p:nvPr/>
        </p:nvSpPr>
        <p:spPr>
          <a:xfrm>
            <a:off x="3383280" y="1783080"/>
            <a:ext cx="2697480" cy="4160520"/>
          </a:xfrm>
          <a:prstGeom prst="roundRect">
            <a:avLst>
              <a:gd name="adj" fmla="val 2712"/>
            </a:avLst>
          </a:prstGeom>
          <a:solidFill>
            <a:srgbClr val="F1E9DC"/>
          </a:solidFill>
          <a:ln/>
        </p:spPr>
      </p:sp>
      <p:sp>
        <p:nvSpPr>
          <p:cNvPr id="15" name="Text 13"/>
          <p:cNvSpPr/>
          <p:nvPr/>
        </p:nvSpPr>
        <p:spPr>
          <a:xfrm>
            <a:off x="3566160" y="1938528"/>
            <a:ext cx="2331720" cy="365760"/>
          </a:xfrm>
          <a:prstGeom prst="rect">
            <a:avLst/>
          </a:prstGeom>
          <a:noFill/>
          <a:ln/>
        </p:spPr>
        <p:txBody>
          <a:bodyPr wrap="square" lIns="0" tIns="0" rIns="0" bIns="0" rtlCol="0" anchor="ctr"/>
          <a:lstStyle/>
          <a:p>
            <a:pPr marL="0" indent="0">
              <a:buNone/>
            </a:pPr>
            <a:r>
              <a:rPr lang="en-US" sz="1700" b="1" dirty="0">
                <a:solidFill>
                  <a:srgbClr val="1B3A4B"/>
                </a:solidFill>
                <a:latin typeface="Cambria" pitchFamily="34" charset="0"/>
                <a:ea typeface="Cambria" pitchFamily="34" charset="-122"/>
                <a:cs typeface="Cambria" pitchFamily="34" charset="-120"/>
              </a:rPr>
              <a:t>Climate</a:t>
            </a:r>
            <a:endParaRPr lang="en-US" sz="1700" dirty="0"/>
          </a:p>
        </p:txBody>
      </p:sp>
      <p:sp>
        <p:nvSpPr>
          <p:cNvPr id="16" name="Text 14"/>
          <p:cNvSpPr/>
          <p:nvPr/>
        </p:nvSpPr>
        <p:spPr>
          <a:xfrm>
            <a:off x="3566160" y="2286000"/>
            <a:ext cx="2331720" cy="27432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CHIRPS / VHI</a:t>
            </a:r>
            <a:endParaRPr lang="en-US" sz="1100" dirty="0"/>
          </a:p>
        </p:txBody>
      </p:sp>
      <p:sp>
        <p:nvSpPr>
          <p:cNvPr id="17" name="Text 15"/>
          <p:cNvSpPr/>
          <p:nvPr/>
        </p:nvSpPr>
        <p:spPr>
          <a:xfrm>
            <a:off x="3566160" y="2743200"/>
            <a:ext cx="2331720" cy="228600"/>
          </a:xfrm>
          <a:prstGeom prst="rect">
            <a:avLst/>
          </a:prstGeom>
          <a:noFill/>
          <a:ln/>
        </p:spPr>
        <p:txBody>
          <a:bodyPr wrap="square" lIns="0" tIns="0" rIns="0" bIns="0" rtlCol="0" anchor="ctr"/>
          <a:lstStyle/>
          <a:p>
            <a:pPr marL="0" indent="0">
              <a:buNone/>
            </a:pPr>
            <a:r>
              <a:rPr lang="en-US" sz="950" b="1" kern="0" spc="100" dirty="0">
                <a:solidFill>
                  <a:srgbClr val="C1502F"/>
                </a:solidFill>
                <a:latin typeface="Calibri" pitchFamily="34" charset="0"/>
                <a:ea typeface="Calibri" pitchFamily="34" charset="-122"/>
                <a:cs typeface="Calibri" pitchFamily="34" charset="-120"/>
              </a:rPr>
              <a:t>MISSING VALUES</a:t>
            </a:r>
            <a:endParaRPr lang="en-US" sz="950" dirty="0"/>
          </a:p>
        </p:txBody>
      </p:sp>
      <p:sp>
        <p:nvSpPr>
          <p:cNvPr id="18" name="Text 16"/>
          <p:cNvSpPr/>
          <p:nvPr/>
        </p:nvSpPr>
        <p:spPr>
          <a:xfrm>
            <a:off x="3566160" y="2944368"/>
            <a:ext cx="2331720" cy="502920"/>
          </a:xfrm>
          <a:prstGeom prst="rect">
            <a:avLst/>
          </a:prstGeom>
          <a:noFill/>
          <a:ln/>
        </p:spPr>
        <p:txBody>
          <a:bodyPr wrap="square" lIns="0" tIns="0" rIns="0" bIns="0" rtlCol="0" anchor="ctr"/>
          <a:lstStyle/>
          <a:p>
            <a:pPr marL="0" indent="0">
              <a:buNone/>
            </a:pPr>
            <a:r>
              <a:rPr lang="en-US" sz="2600" b="1" dirty="0">
                <a:solidFill>
                  <a:srgbClr val="1B3A4B"/>
                </a:solidFill>
                <a:latin typeface="Cambria" pitchFamily="34" charset="0"/>
                <a:ea typeface="Cambria" pitchFamily="34" charset="-122"/>
                <a:cs typeface="Cambria" pitchFamily="34" charset="-120"/>
              </a:rPr>
              <a:t>0%</a:t>
            </a:r>
            <a:endParaRPr lang="en-US" sz="2600" dirty="0"/>
          </a:p>
        </p:txBody>
      </p:sp>
      <p:sp>
        <p:nvSpPr>
          <p:cNvPr id="19" name="Text 17"/>
          <p:cNvSpPr/>
          <p:nvPr/>
        </p:nvSpPr>
        <p:spPr>
          <a:xfrm>
            <a:off x="3566160" y="3566160"/>
            <a:ext cx="2331720" cy="228600"/>
          </a:xfrm>
          <a:prstGeom prst="rect">
            <a:avLst/>
          </a:prstGeom>
          <a:noFill/>
          <a:ln/>
        </p:spPr>
        <p:txBody>
          <a:bodyPr wrap="square" lIns="0" tIns="0" rIns="0" bIns="0" rtlCol="0" anchor="ctr"/>
          <a:lstStyle/>
          <a:p>
            <a:pPr marL="0" indent="0">
              <a:buNone/>
            </a:pPr>
            <a:r>
              <a:rPr lang="en-US" sz="950" b="1" kern="0" spc="100" dirty="0">
                <a:solidFill>
                  <a:srgbClr val="C1502F"/>
                </a:solidFill>
                <a:latin typeface="Calibri" pitchFamily="34" charset="0"/>
                <a:ea typeface="Calibri" pitchFamily="34" charset="-122"/>
                <a:cs typeface="Calibri" pitchFamily="34" charset="-120"/>
              </a:rPr>
              <a:t>SPATIAL COVERAGE</a:t>
            </a:r>
            <a:endParaRPr lang="en-US" sz="950" dirty="0"/>
          </a:p>
        </p:txBody>
      </p:sp>
      <p:sp>
        <p:nvSpPr>
          <p:cNvPr id="20" name="Text 18"/>
          <p:cNvSpPr/>
          <p:nvPr/>
        </p:nvSpPr>
        <p:spPr>
          <a:xfrm>
            <a:off x="3566160" y="3767328"/>
            <a:ext cx="2331720" cy="502920"/>
          </a:xfrm>
          <a:prstGeom prst="rect">
            <a:avLst/>
          </a:prstGeom>
          <a:noFill/>
          <a:ln/>
        </p:spPr>
        <p:txBody>
          <a:bodyPr wrap="square" lIns="0" tIns="0" rIns="0" bIns="0" rtlCol="0" anchor="ctr"/>
          <a:lstStyle/>
          <a:p>
            <a:pPr marL="0" indent="0">
              <a:buNone/>
            </a:pPr>
            <a:r>
              <a:rPr lang="en-US" sz="2600" b="1" dirty="0">
                <a:solidFill>
                  <a:srgbClr val="1B3A4B"/>
                </a:solidFill>
                <a:latin typeface="Cambria" pitchFamily="34" charset="0"/>
                <a:ea typeface="Cambria" pitchFamily="34" charset="-122"/>
                <a:cs typeface="Cambria" pitchFamily="34" charset="-120"/>
              </a:rPr>
              <a:t>100%</a:t>
            </a:r>
            <a:endParaRPr lang="en-US" sz="2600" dirty="0"/>
          </a:p>
        </p:txBody>
      </p:sp>
      <p:sp>
        <p:nvSpPr>
          <p:cNvPr id="21" name="Shape 19"/>
          <p:cNvSpPr/>
          <p:nvPr/>
        </p:nvSpPr>
        <p:spPr>
          <a:xfrm>
            <a:off x="3566160" y="4434840"/>
            <a:ext cx="2331720" cy="0"/>
          </a:xfrm>
          <a:prstGeom prst="line">
            <a:avLst/>
          </a:prstGeom>
          <a:noFill/>
          <a:ln w="12700">
            <a:solidFill>
              <a:srgbClr val="D9D2C4"/>
            </a:solidFill>
            <a:prstDash val="solid"/>
          </a:ln>
        </p:spPr>
      </p:sp>
      <p:sp>
        <p:nvSpPr>
          <p:cNvPr id="22" name="Text 20"/>
          <p:cNvSpPr/>
          <p:nvPr/>
        </p:nvSpPr>
        <p:spPr>
          <a:xfrm>
            <a:off x="3566160" y="4553712"/>
            <a:ext cx="2331720" cy="228600"/>
          </a:xfrm>
          <a:prstGeom prst="rect">
            <a:avLst/>
          </a:prstGeom>
          <a:noFill/>
          <a:ln/>
        </p:spPr>
        <p:txBody>
          <a:bodyPr wrap="square" lIns="0" tIns="0" rIns="0" bIns="0" rtlCol="0" anchor="ctr"/>
          <a:lstStyle/>
          <a:p>
            <a:pPr marL="0" indent="0">
              <a:buNone/>
            </a:pPr>
            <a:r>
              <a:rPr lang="en-US" sz="950" b="1" kern="0" spc="100" dirty="0">
                <a:solidFill>
                  <a:srgbClr val="C1502F"/>
                </a:solidFill>
                <a:latin typeface="Calibri" pitchFamily="34" charset="0"/>
                <a:ea typeface="Calibri" pitchFamily="34" charset="-122"/>
                <a:cs typeface="Calibri" pitchFamily="34" charset="-120"/>
              </a:rPr>
              <a:t>MAIN INTEGRATION ISSUE</a:t>
            </a:r>
            <a:endParaRPr lang="en-US" sz="950" dirty="0"/>
          </a:p>
        </p:txBody>
      </p:sp>
      <p:sp>
        <p:nvSpPr>
          <p:cNvPr id="23" name="Text 21"/>
          <p:cNvSpPr/>
          <p:nvPr/>
        </p:nvSpPr>
        <p:spPr>
          <a:xfrm>
            <a:off x="3566160" y="4773168"/>
            <a:ext cx="2331720" cy="1051560"/>
          </a:xfrm>
          <a:prstGeom prst="rect">
            <a:avLst/>
          </a:prstGeom>
          <a:noFill/>
          <a:ln/>
        </p:spPr>
        <p:txBody>
          <a:bodyPr wrap="square" lIns="0" tIns="0" rIns="0" bIns="0" rtlCol="0" anchor="ctr"/>
          <a:lstStyle/>
          <a:p>
            <a:pPr marL="0" indent="0">
              <a:lnSpc>
                <a:spcPct val="115000"/>
              </a:lnSpc>
              <a:buNone/>
            </a:pPr>
            <a:r>
              <a:rPr lang="en-US" sz="1150" dirty="0">
                <a:solidFill>
                  <a:srgbClr val="5B6B73"/>
                </a:solidFill>
                <a:latin typeface="Calibri" pitchFamily="34" charset="0"/>
                <a:ea typeface="Calibri" pitchFamily="34" charset="-122"/>
                <a:cs typeface="Calibri" pitchFamily="34" charset="-120"/>
              </a:rPr>
              <a:t>Weekly → monthly conversion; NoData confirmation</a:t>
            </a:r>
            <a:endParaRPr lang="en-US" sz="1150" dirty="0"/>
          </a:p>
        </p:txBody>
      </p:sp>
      <p:sp>
        <p:nvSpPr>
          <p:cNvPr id="24" name="Shape 22"/>
          <p:cNvSpPr/>
          <p:nvPr/>
        </p:nvSpPr>
        <p:spPr>
          <a:xfrm>
            <a:off x="6217920" y="1783080"/>
            <a:ext cx="2697480" cy="4160520"/>
          </a:xfrm>
          <a:prstGeom prst="roundRect">
            <a:avLst>
              <a:gd name="adj" fmla="val 2712"/>
            </a:avLst>
          </a:prstGeom>
          <a:solidFill>
            <a:srgbClr val="F1E9DC"/>
          </a:solidFill>
          <a:ln/>
        </p:spPr>
      </p:sp>
      <p:sp>
        <p:nvSpPr>
          <p:cNvPr id="25" name="Text 23"/>
          <p:cNvSpPr/>
          <p:nvPr/>
        </p:nvSpPr>
        <p:spPr>
          <a:xfrm>
            <a:off x="6400800" y="1938528"/>
            <a:ext cx="2331720" cy="365760"/>
          </a:xfrm>
          <a:prstGeom prst="rect">
            <a:avLst/>
          </a:prstGeom>
          <a:noFill/>
          <a:ln/>
        </p:spPr>
        <p:txBody>
          <a:bodyPr wrap="square" lIns="0" tIns="0" rIns="0" bIns="0" rtlCol="0" anchor="ctr"/>
          <a:lstStyle/>
          <a:p>
            <a:pPr marL="0" indent="0">
              <a:buNone/>
            </a:pPr>
            <a:r>
              <a:rPr lang="en-US" sz="1700" b="1" dirty="0">
                <a:solidFill>
                  <a:srgbClr val="1B3A4B"/>
                </a:solidFill>
                <a:latin typeface="Cambria" pitchFamily="34" charset="0"/>
                <a:ea typeface="Cambria" pitchFamily="34" charset="-122"/>
                <a:cs typeface="Cambria" pitchFamily="34" charset="-120"/>
              </a:rPr>
              <a:t>Market</a:t>
            </a:r>
            <a:endParaRPr lang="en-US" sz="1700" dirty="0"/>
          </a:p>
        </p:txBody>
      </p:sp>
      <p:sp>
        <p:nvSpPr>
          <p:cNvPr id="26" name="Text 24"/>
          <p:cNvSpPr/>
          <p:nvPr/>
        </p:nvSpPr>
        <p:spPr>
          <a:xfrm>
            <a:off x="6400800" y="2286000"/>
            <a:ext cx="2331720" cy="27432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WFP</a:t>
            </a:r>
            <a:endParaRPr lang="en-US" sz="1100" dirty="0"/>
          </a:p>
        </p:txBody>
      </p:sp>
      <p:sp>
        <p:nvSpPr>
          <p:cNvPr id="27" name="Text 25"/>
          <p:cNvSpPr/>
          <p:nvPr/>
        </p:nvSpPr>
        <p:spPr>
          <a:xfrm>
            <a:off x="6400800" y="2743200"/>
            <a:ext cx="2331720" cy="228600"/>
          </a:xfrm>
          <a:prstGeom prst="rect">
            <a:avLst/>
          </a:prstGeom>
          <a:noFill/>
          <a:ln/>
        </p:spPr>
        <p:txBody>
          <a:bodyPr wrap="square" lIns="0" tIns="0" rIns="0" bIns="0" rtlCol="0" anchor="ctr"/>
          <a:lstStyle/>
          <a:p>
            <a:pPr marL="0" indent="0">
              <a:buNone/>
            </a:pPr>
            <a:r>
              <a:rPr lang="en-US" sz="950" b="1" kern="0" spc="100" dirty="0">
                <a:solidFill>
                  <a:srgbClr val="C1502F"/>
                </a:solidFill>
                <a:latin typeface="Calibri" pitchFamily="34" charset="0"/>
                <a:ea typeface="Calibri" pitchFamily="34" charset="-122"/>
                <a:cs typeface="Calibri" pitchFamily="34" charset="-120"/>
              </a:rPr>
              <a:t>MISSING VALUES</a:t>
            </a:r>
            <a:endParaRPr lang="en-US" sz="950" dirty="0"/>
          </a:p>
        </p:txBody>
      </p:sp>
      <p:sp>
        <p:nvSpPr>
          <p:cNvPr id="28" name="Text 26"/>
          <p:cNvSpPr/>
          <p:nvPr/>
        </p:nvSpPr>
        <p:spPr>
          <a:xfrm>
            <a:off x="6400800" y="2944368"/>
            <a:ext cx="2331720" cy="502920"/>
          </a:xfrm>
          <a:prstGeom prst="rect">
            <a:avLst/>
          </a:prstGeom>
          <a:noFill/>
          <a:ln/>
        </p:spPr>
        <p:txBody>
          <a:bodyPr wrap="square" lIns="0" tIns="0" rIns="0" bIns="0" rtlCol="0" anchor="ctr"/>
          <a:lstStyle/>
          <a:p>
            <a:pPr marL="0" indent="0">
              <a:buNone/>
            </a:pPr>
            <a:r>
              <a:rPr lang="en-US" sz="2600" b="1" dirty="0">
                <a:solidFill>
                  <a:srgbClr val="1B3A4B"/>
                </a:solidFill>
                <a:latin typeface="Cambria" pitchFamily="34" charset="0"/>
                <a:ea typeface="Cambria" pitchFamily="34" charset="-122"/>
                <a:cs typeface="Cambria" pitchFamily="34" charset="-120"/>
              </a:rPr>
              <a:t>53%</a:t>
            </a:r>
            <a:endParaRPr lang="en-US" sz="2600" dirty="0"/>
          </a:p>
        </p:txBody>
      </p:sp>
      <p:sp>
        <p:nvSpPr>
          <p:cNvPr id="29" name="Text 27"/>
          <p:cNvSpPr/>
          <p:nvPr/>
        </p:nvSpPr>
        <p:spPr>
          <a:xfrm>
            <a:off x="6400800" y="3566160"/>
            <a:ext cx="2331720" cy="228600"/>
          </a:xfrm>
          <a:prstGeom prst="rect">
            <a:avLst/>
          </a:prstGeom>
          <a:noFill/>
          <a:ln/>
        </p:spPr>
        <p:txBody>
          <a:bodyPr wrap="square" lIns="0" tIns="0" rIns="0" bIns="0" rtlCol="0" anchor="ctr"/>
          <a:lstStyle/>
          <a:p>
            <a:pPr marL="0" indent="0">
              <a:buNone/>
            </a:pPr>
            <a:r>
              <a:rPr lang="en-US" sz="950" b="1" kern="0" spc="100" dirty="0">
                <a:solidFill>
                  <a:srgbClr val="C1502F"/>
                </a:solidFill>
                <a:latin typeface="Calibri" pitchFamily="34" charset="0"/>
                <a:ea typeface="Calibri" pitchFamily="34" charset="-122"/>
                <a:cs typeface="Calibri" pitchFamily="34" charset="-120"/>
              </a:rPr>
              <a:t>SPATIAL COVERAGE</a:t>
            </a:r>
            <a:endParaRPr lang="en-US" sz="950" dirty="0"/>
          </a:p>
        </p:txBody>
      </p:sp>
      <p:sp>
        <p:nvSpPr>
          <p:cNvPr id="30" name="Text 28"/>
          <p:cNvSpPr/>
          <p:nvPr/>
        </p:nvSpPr>
        <p:spPr>
          <a:xfrm>
            <a:off x="6400800" y="3767328"/>
            <a:ext cx="2331720" cy="502920"/>
          </a:xfrm>
          <a:prstGeom prst="rect">
            <a:avLst/>
          </a:prstGeom>
          <a:noFill/>
          <a:ln/>
        </p:spPr>
        <p:txBody>
          <a:bodyPr wrap="square" lIns="0" tIns="0" rIns="0" bIns="0" rtlCol="0" anchor="ctr"/>
          <a:lstStyle/>
          <a:p>
            <a:pPr marL="0" indent="0">
              <a:buNone/>
            </a:pPr>
            <a:r>
              <a:rPr lang="en-US" sz="2600" b="1" dirty="0">
                <a:solidFill>
                  <a:srgbClr val="1B3A4B"/>
                </a:solidFill>
                <a:latin typeface="Cambria" pitchFamily="34" charset="0"/>
                <a:ea typeface="Cambria" pitchFamily="34" charset="-122"/>
                <a:cs typeface="Cambria" pitchFamily="34" charset="-120"/>
              </a:rPr>
              <a:t>47%</a:t>
            </a:r>
            <a:endParaRPr lang="en-US" sz="2600" dirty="0"/>
          </a:p>
        </p:txBody>
      </p:sp>
      <p:sp>
        <p:nvSpPr>
          <p:cNvPr id="31" name="Shape 29"/>
          <p:cNvSpPr/>
          <p:nvPr/>
        </p:nvSpPr>
        <p:spPr>
          <a:xfrm>
            <a:off x="6400800" y="4434840"/>
            <a:ext cx="2331720" cy="0"/>
          </a:xfrm>
          <a:prstGeom prst="line">
            <a:avLst/>
          </a:prstGeom>
          <a:noFill/>
          <a:ln w="12700">
            <a:solidFill>
              <a:srgbClr val="D9D2C4"/>
            </a:solidFill>
            <a:prstDash val="solid"/>
          </a:ln>
        </p:spPr>
      </p:sp>
      <p:sp>
        <p:nvSpPr>
          <p:cNvPr id="32" name="Text 30"/>
          <p:cNvSpPr/>
          <p:nvPr/>
        </p:nvSpPr>
        <p:spPr>
          <a:xfrm>
            <a:off x="6400800" y="4553712"/>
            <a:ext cx="2331720" cy="228600"/>
          </a:xfrm>
          <a:prstGeom prst="rect">
            <a:avLst/>
          </a:prstGeom>
          <a:noFill/>
          <a:ln/>
        </p:spPr>
        <p:txBody>
          <a:bodyPr wrap="square" lIns="0" tIns="0" rIns="0" bIns="0" rtlCol="0" anchor="ctr"/>
          <a:lstStyle/>
          <a:p>
            <a:pPr marL="0" indent="0">
              <a:buNone/>
            </a:pPr>
            <a:r>
              <a:rPr lang="en-US" sz="950" b="1" kern="0" spc="100" dirty="0">
                <a:solidFill>
                  <a:srgbClr val="C1502F"/>
                </a:solidFill>
                <a:latin typeface="Calibri" pitchFamily="34" charset="0"/>
                <a:ea typeface="Calibri" pitchFamily="34" charset="-122"/>
                <a:cs typeface="Calibri" pitchFamily="34" charset="-120"/>
              </a:rPr>
              <a:t>MAIN INTEGRATION ISSUE</a:t>
            </a:r>
            <a:endParaRPr lang="en-US" sz="950" dirty="0"/>
          </a:p>
        </p:txBody>
      </p:sp>
      <p:sp>
        <p:nvSpPr>
          <p:cNvPr id="33" name="Text 31"/>
          <p:cNvSpPr/>
          <p:nvPr/>
        </p:nvSpPr>
        <p:spPr>
          <a:xfrm>
            <a:off x="6400800" y="4773168"/>
            <a:ext cx="2331720" cy="1051560"/>
          </a:xfrm>
          <a:prstGeom prst="rect">
            <a:avLst/>
          </a:prstGeom>
          <a:noFill/>
          <a:ln/>
        </p:spPr>
        <p:txBody>
          <a:bodyPr wrap="square" lIns="0" tIns="0" rIns="0" bIns="0" rtlCol="0" anchor="ctr"/>
          <a:lstStyle/>
          <a:p>
            <a:pPr marL="0" indent="0">
              <a:lnSpc>
                <a:spcPct val="115000"/>
              </a:lnSpc>
              <a:buNone/>
            </a:pPr>
            <a:r>
              <a:rPr lang="en-US" sz="1150" dirty="0">
                <a:solidFill>
                  <a:srgbClr val="5B6B73"/>
                </a:solidFill>
                <a:latin typeface="Calibri" pitchFamily="34" charset="0"/>
                <a:ea typeface="Calibri" pitchFamily="34" charset="-122"/>
                <a:cs typeface="Calibri" pitchFamily="34" charset="-120"/>
              </a:rPr>
              <a:t>Forecast contamination; 2 currencies; naming</a:t>
            </a:r>
            <a:endParaRPr lang="en-US" sz="1150" dirty="0"/>
          </a:p>
        </p:txBody>
      </p:sp>
      <p:sp>
        <p:nvSpPr>
          <p:cNvPr id="34" name="Shape 32"/>
          <p:cNvSpPr/>
          <p:nvPr/>
        </p:nvSpPr>
        <p:spPr>
          <a:xfrm>
            <a:off x="9052560" y="1783080"/>
            <a:ext cx="2697480" cy="4160520"/>
          </a:xfrm>
          <a:prstGeom prst="roundRect">
            <a:avLst>
              <a:gd name="adj" fmla="val 2712"/>
            </a:avLst>
          </a:prstGeom>
          <a:solidFill>
            <a:srgbClr val="F1E9DC"/>
          </a:solidFill>
          <a:ln/>
        </p:spPr>
      </p:sp>
      <p:sp>
        <p:nvSpPr>
          <p:cNvPr id="35" name="Text 33"/>
          <p:cNvSpPr/>
          <p:nvPr/>
        </p:nvSpPr>
        <p:spPr>
          <a:xfrm>
            <a:off x="9235440" y="1938528"/>
            <a:ext cx="2331720" cy="365760"/>
          </a:xfrm>
          <a:prstGeom prst="rect">
            <a:avLst/>
          </a:prstGeom>
          <a:noFill/>
          <a:ln/>
        </p:spPr>
        <p:txBody>
          <a:bodyPr wrap="square" lIns="0" tIns="0" rIns="0" bIns="0" rtlCol="0" anchor="ctr"/>
          <a:lstStyle/>
          <a:p>
            <a:pPr marL="0" indent="0">
              <a:buNone/>
            </a:pPr>
            <a:r>
              <a:rPr lang="en-US" sz="1700" b="1" dirty="0">
                <a:solidFill>
                  <a:srgbClr val="1B3A4B"/>
                </a:solidFill>
                <a:latin typeface="Cambria" pitchFamily="34" charset="0"/>
                <a:ea typeface="Cambria" pitchFamily="34" charset="-122"/>
                <a:cs typeface="Cambria" pitchFamily="34" charset="-120"/>
              </a:rPr>
              <a:t>Reporting</a:t>
            </a:r>
            <a:endParaRPr lang="en-US" sz="1700" dirty="0"/>
          </a:p>
        </p:txBody>
      </p:sp>
      <p:sp>
        <p:nvSpPr>
          <p:cNvPr id="36" name="Text 34"/>
          <p:cNvSpPr/>
          <p:nvPr/>
        </p:nvSpPr>
        <p:spPr>
          <a:xfrm>
            <a:off x="9235440" y="2286000"/>
            <a:ext cx="2331720" cy="274320"/>
          </a:xfrm>
          <a:prstGeom prst="rect">
            <a:avLst/>
          </a:prstGeom>
          <a:noFill/>
          <a:ln/>
        </p:spPr>
        <p:txBody>
          <a:bodyPr wrap="square" lIns="0" tIns="0" rIns="0" bIns="0" rtlCol="0" anchor="ctr"/>
          <a:lstStyle/>
          <a:p>
            <a:pPr marL="0" indent="0">
              <a:buNone/>
            </a:pPr>
            <a:r>
              <a:rPr lang="en-US" sz="1100" dirty="0">
                <a:solidFill>
                  <a:srgbClr val="5B6B73"/>
                </a:solidFill>
                <a:latin typeface="Calibri" pitchFamily="34" charset="0"/>
                <a:ea typeface="Calibri" pitchFamily="34" charset="-122"/>
                <a:cs typeface="Calibri" pitchFamily="34" charset="-120"/>
              </a:rPr>
              <a:t>ReliefWeb</a:t>
            </a:r>
            <a:endParaRPr lang="en-US" sz="1100" dirty="0"/>
          </a:p>
        </p:txBody>
      </p:sp>
      <p:sp>
        <p:nvSpPr>
          <p:cNvPr id="37" name="Text 35"/>
          <p:cNvSpPr/>
          <p:nvPr/>
        </p:nvSpPr>
        <p:spPr>
          <a:xfrm>
            <a:off x="9235440" y="2743200"/>
            <a:ext cx="2331720" cy="228600"/>
          </a:xfrm>
          <a:prstGeom prst="rect">
            <a:avLst/>
          </a:prstGeom>
          <a:noFill/>
          <a:ln/>
        </p:spPr>
        <p:txBody>
          <a:bodyPr wrap="square" lIns="0" tIns="0" rIns="0" bIns="0" rtlCol="0" anchor="ctr"/>
          <a:lstStyle/>
          <a:p>
            <a:pPr marL="0" indent="0">
              <a:buNone/>
            </a:pPr>
            <a:r>
              <a:rPr lang="en-US" sz="950" b="1" kern="0" spc="100" dirty="0">
                <a:solidFill>
                  <a:srgbClr val="C1502F"/>
                </a:solidFill>
                <a:latin typeface="Calibri" pitchFamily="34" charset="0"/>
                <a:ea typeface="Calibri" pitchFamily="34" charset="-122"/>
                <a:cs typeface="Calibri" pitchFamily="34" charset="-120"/>
              </a:rPr>
              <a:t>MISSING VALUES</a:t>
            </a:r>
            <a:endParaRPr lang="en-US" sz="950" dirty="0"/>
          </a:p>
        </p:txBody>
      </p:sp>
      <p:sp>
        <p:nvSpPr>
          <p:cNvPr id="38" name="Text 36"/>
          <p:cNvSpPr/>
          <p:nvPr/>
        </p:nvSpPr>
        <p:spPr>
          <a:xfrm>
            <a:off x="9235440" y="2944368"/>
            <a:ext cx="2331720" cy="502920"/>
          </a:xfrm>
          <a:prstGeom prst="rect">
            <a:avLst/>
          </a:prstGeom>
          <a:noFill/>
          <a:ln/>
        </p:spPr>
        <p:txBody>
          <a:bodyPr wrap="square" lIns="0" tIns="0" rIns="0" bIns="0" rtlCol="0" anchor="ctr"/>
          <a:lstStyle/>
          <a:p>
            <a:pPr marL="0" indent="0">
              <a:buNone/>
            </a:pPr>
            <a:r>
              <a:rPr lang="en-US" sz="2600" b="1" dirty="0">
                <a:solidFill>
                  <a:srgbClr val="1B3A4B"/>
                </a:solidFill>
                <a:latin typeface="Cambria" pitchFamily="34" charset="0"/>
                <a:ea typeface="Cambria" pitchFamily="34" charset="-122"/>
                <a:cs typeface="Cambria" pitchFamily="34" charset="-120"/>
              </a:rPr>
              <a:t>0%*</a:t>
            </a:r>
            <a:endParaRPr lang="en-US" sz="2600" dirty="0"/>
          </a:p>
        </p:txBody>
      </p:sp>
      <p:sp>
        <p:nvSpPr>
          <p:cNvPr id="39" name="Text 37"/>
          <p:cNvSpPr/>
          <p:nvPr/>
        </p:nvSpPr>
        <p:spPr>
          <a:xfrm>
            <a:off x="9235440" y="3566160"/>
            <a:ext cx="2331720" cy="228600"/>
          </a:xfrm>
          <a:prstGeom prst="rect">
            <a:avLst/>
          </a:prstGeom>
          <a:noFill/>
          <a:ln/>
        </p:spPr>
        <p:txBody>
          <a:bodyPr wrap="square" lIns="0" tIns="0" rIns="0" bIns="0" rtlCol="0" anchor="ctr"/>
          <a:lstStyle/>
          <a:p>
            <a:pPr marL="0" indent="0">
              <a:buNone/>
            </a:pPr>
            <a:r>
              <a:rPr lang="en-US" sz="950" b="1" kern="0" spc="100" dirty="0">
                <a:solidFill>
                  <a:srgbClr val="C1502F"/>
                </a:solidFill>
                <a:latin typeface="Calibri" pitchFamily="34" charset="0"/>
                <a:ea typeface="Calibri" pitchFamily="34" charset="-122"/>
                <a:cs typeface="Calibri" pitchFamily="34" charset="-120"/>
              </a:rPr>
              <a:t>SPATIAL COVERAGE</a:t>
            </a:r>
            <a:endParaRPr lang="en-US" sz="950" dirty="0"/>
          </a:p>
        </p:txBody>
      </p:sp>
      <p:sp>
        <p:nvSpPr>
          <p:cNvPr id="40" name="Text 38"/>
          <p:cNvSpPr/>
          <p:nvPr/>
        </p:nvSpPr>
        <p:spPr>
          <a:xfrm>
            <a:off x="9235440" y="3767328"/>
            <a:ext cx="2331720" cy="502920"/>
          </a:xfrm>
          <a:prstGeom prst="rect">
            <a:avLst/>
          </a:prstGeom>
          <a:noFill/>
          <a:ln/>
        </p:spPr>
        <p:txBody>
          <a:bodyPr wrap="square" lIns="0" tIns="0" rIns="0" bIns="0" rtlCol="0" anchor="ctr"/>
          <a:lstStyle/>
          <a:p>
            <a:pPr marL="0" indent="0">
              <a:buNone/>
            </a:pPr>
            <a:r>
              <a:rPr lang="en-US" sz="2600" b="1" dirty="0">
                <a:solidFill>
                  <a:srgbClr val="1B3A4B"/>
                </a:solidFill>
                <a:latin typeface="Cambria" pitchFamily="34" charset="0"/>
                <a:ea typeface="Cambria" pitchFamily="34" charset="-122"/>
                <a:cs typeface="Cambria" pitchFamily="34" charset="-120"/>
              </a:rPr>
              <a:t>60%</a:t>
            </a:r>
            <a:endParaRPr lang="en-US" sz="2600" dirty="0"/>
          </a:p>
        </p:txBody>
      </p:sp>
      <p:sp>
        <p:nvSpPr>
          <p:cNvPr id="41" name="Shape 39"/>
          <p:cNvSpPr/>
          <p:nvPr/>
        </p:nvSpPr>
        <p:spPr>
          <a:xfrm>
            <a:off x="9235440" y="4434840"/>
            <a:ext cx="2331720" cy="0"/>
          </a:xfrm>
          <a:prstGeom prst="line">
            <a:avLst/>
          </a:prstGeom>
          <a:noFill/>
          <a:ln w="12700">
            <a:solidFill>
              <a:srgbClr val="D9D2C4"/>
            </a:solidFill>
            <a:prstDash val="solid"/>
          </a:ln>
        </p:spPr>
      </p:sp>
      <p:sp>
        <p:nvSpPr>
          <p:cNvPr id="42" name="Text 40"/>
          <p:cNvSpPr/>
          <p:nvPr/>
        </p:nvSpPr>
        <p:spPr>
          <a:xfrm>
            <a:off x="9235440" y="4553712"/>
            <a:ext cx="2331720" cy="228600"/>
          </a:xfrm>
          <a:prstGeom prst="rect">
            <a:avLst/>
          </a:prstGeom>
          <a:noFill/>
          <a:ln/>
        </p:spPr>
        <p:txBody>
          <a:bodyPr wrap="square" lIns="0" tIns="0" rIns="0" bIns="0" rtlCol="0" anchor="ctr"/>
          <a:lstStyle/>
          <a:p>
            <a:pPr marL="0" indent="0">
              <a:buNone/>
            </a:pPr>
            <a:r>
              <a:rPr lang="en-US" sz="950" b="1" kern="0" spc="100" dirty="0">
                <a:solidFill>
                  <a:srgbClr val="C1502F"/>
                </a:solidFill>
                <a:latin typeface="Calibri" pitchFamily="34" charset="0"/>
                <a:ea typeface="Calibri" pitchFamily="34" charset="-122"/>
                <a:cs typeface="Calibri" pitchFamily="34" charset="-120"/>
              </a:rPr>
              <a:t>MAIN INTEGRATION ISSUE</a:t>
            </a:r>
            <a:endParaRPr lang="en-US" sz="950" dirty="0"/>
          </a:p>
        </p:txBody>
      </p:sp>
      <p:sp>
        <p:nvSpPr>
          <p:cNvPr id="43" name="Text 41"/>
          <p:cNvSpPr/>
          <p:nvPr/>
        </p:nvSpPr>
        <p:spPr>
          <a:xfrm>
            <a:off x="9235440" y="4773168"/>
            <a:ext cx="2331720" cy="1051560"/>
          </a:xfrm>
          <a:prstGeom prst="rect">
            <a:avLst/>
          </a:prstGeom>
          <a:noFill/>
          <a:ln/>
        </p:spPr>
        <p:txBody>
          <a:bodyPr wrap="square" lIns="0" tIns="0" rIns="0" bIns="0" rtlCol="0" anchor="ctr"/>
          <a:lstStyle/>
          <a:p>
            <a:pPr marL="0" indent="0">
              <a:lnSpc>
                <a:spcPct val="115000"/>
              </a:lnSpc>
              <a:buNone/>
            </a:pPr>
            <a:r>
              <a:rPr lang="en-US" sz="1150" dirty="0">
                <a:solidFill>
                  <a:srgbClr val="5B6B73"/>
                </a:solidFill>
                <a:latin typeface="Calibri" pitchFamily="34" charset="0"/>
                <a:ea typeface="Calibri" pitchFamily="34" charset="-122"/>
                <a:cs typeface="Calibri" pitchFamily="34" charset="-120"/>
              </a:rPr>
              <a:t>Country-level grain; text-based disaggregation</a:t>
            </a:r>
            <a:endParaRPr lang="en-US" sz="1150" dirty="0"/>
          </a:p>
        </p:txBody>
      </p:sp>
      <p:sp>
        <p:nvSpPr>
          <p:cNvPr id="45" name="Text 43"/>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3A4B"/>
        </a:solidFill>
        <a:effectLst/>
      </p:bgPr>
    </p:bg>
    <p:spTree>
      <p:nvGrpSpPr>
        <p:cNvPr id="1" name=""/>
        <p:cNvGrpSpPr/>
        <p:nvPr/>
      </p:nvGrpSpPr>
      <p:grpSpPr>
        <a:xfrm>
          <a:off x="0" y="0"/>
          <a:ext cx="0" cy="0"/>
          <a:chOff x="0" y="0"/>
          <a:chExt cx="0" cy="0"/>
        </a:xfrm>
      </p:grpSpPr>
      <p:sp>
        <p:nvSpPr>
          <p:cNvPr id="2" name="Text 0"/>
          <p:cNvSpPr/>
          <p:nvPr/>
        </p:nvSpPr>
        <p:spPr>
          <a:xfrm>
            <a:off x="822960" y="457200"/>
            <a:ext cx="10058400" cy="365760"/>
          </a:xfrm>
          <a:prstGeom prst="rect">
            <a:avLst/>
          </a:prstGeom>
          <a:noFill/>
          <a:ln/>
        </p:spPr>
        <p:txBody>
          <a:bodyPr wrap="square" lIns="0" tIns="0" rIns="0" bIns="0" rtlCol="0" anchor="ctr"/>
          <a:lstStyle/>
          <a:p>
            <a:pPr marL="0" indent="0">
              <a:buNone/>
            </a:pPr>
            <a:r>
              <a:rPr lang="en-US" sz="1300" b="1" kern="0" spc="200" dirty="0">
                <a:solidFill>
                  <a:srgbClr val="E0876A"/>
                </a:solidFill>
                <a:latin typeface="Calibri" pitchFamily="34" charset="0"/>
                <a:ea typeface="Calibri" pitchFamily="34" charset="-122"/>
                <a:cs typeface="Calibri" pitchFamily="34" charset="-120"/>
              </a:rPr>
              <a:t>SCIENTIFICALLY INTERESTING FINDING</a:t>
            </a:r>
            <a:endParaRPr lang="en-US" sz="1300" dirty="0"/>
          </a:p>
        </p:txBody>
      </p:sp>
      <p:sp>
        <p:nvSpPr>
          <p:cNvPr id="3" name="Text 1"/>
          <p:cNvSpPr/>
          <p:nvPr/>
        </p:nvSpPr>
        <p:spPr>
          <a:xfrm>
            <a:off x="822960" y="841248"/>
            <a:ext cx="10515600" cy="64008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Not every mechanism can “see” the whole country</a:t>
            </a:r>
            <a:endParaRPr lang="en-US" sz="2700" dirty="0"/>
          </a:p>
        </p:txBody>
      </p:sp>
      <p:graphicFrame>
        <p:nvGraphicFramePr>
          <p:cNvPr id="4" name="Chart 0"/>
          <p:cNvGraphicFramePr/>
          <p:nvPr/>
        </p:nvGraphicFramePr>
        <p:xfrm>
          <a:off x="822960" y="1691640"/>
          <a:ext cx="557784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720840" y="1783080"/>
            <a:ext cx="4663440" cy="3840480"/>
          </a:xfrm>
          <a:prstGeom prst="rect">
            <a:avLst/>
          </a:prstGeom>
          <a:solidFill>
            <a:srgbClr val="26485C"/>
          </a:solidFill>
          <a:ln/>
        </p:spPr>
      </p:sp>
      <p:sp>
        <p:nvSpPr>
          <p:cNvPr id="6" name="Text 3"/>
          <p:cNvSpPr/>
          <p:nvPr/>
        </p:nvSpPr>
        <p:spPr>
          <a:xfrm>
            <a:off x="6949440" y="1965960"/>
            <a:ext cx="4206240" cy="3474720"/>
          </a:xfrm>
          <a:prstGeom prst="rect">
            <a:avLst/>
          </a:prstGeom>
          <a:noFill/>
          <a:ln/>
        </p:spPr>
        <p:txBody>
          <a:bodyPr wrap="square" lIns="0" tIns="0" rIns="0" bIns="0" rtlCol="0" anchor="ctr"/>
          <a:lstStyle/>
          <a:p>
            <a:pPr marL="0" indent="0">
              <a:lnSpc>
                <a:spcPct val="120000"/>
              </a:lnSpc>
              <a:buNone/>
            </a:pPr>
            <a:r>
              <a:rPr lang="en-US" sz="1300" b="1" dirty="0">
                <a:solidFill>
                  <a:srgbClr val="FFFFFF"/>
                </a:solidFill>
                <a:latin typeface="Calibri" pitchFamily="34" charset="0"/>
                <a:ea typeface="Calibri" pitchFamily="34" charset="-122"/>
                <a:cs typeface="Calibri" pitchFamily="34" charset="-120"/>
              </a:rPr>
              <a:t>Conflict and climate </a:t>
            </a:r>
            <a:r>
              <a:rPr lang="en-US" sz="1300" dirty="0">
                <a:solidFill>
                  <a:srgbClr val="F1E9DC"/>
                </a:solidFill>
                <a:latin typeface="Calibri" pitchFamily="34" charset="0"/>
                <a:ea typeface="Calibri" pitchFamily="34" charset="-122"/>
                <a:cs typeface="Calibri" pitchFamily="34" charset="-120"/>
              </a:rPr>
              <a:t>data are collected independently of local infrastructure — satellites and media monitoring cover the whole country.</a:t>
            </a:r>
          </a:p>
          <a:p>
            <a:pPr marL="0" indent="0">
              <a:lnSpc>
                <a:spcPct val="120000"/>
              </a:lnSpc>
              <a:buNone/>
            </a:pPr>
            <a:endParaRPr lang="en-US" sz="1300" dirty="0">
              <a:solidFill>
                <a:srgbClr val="F1E9DC"/>
              </a:solidFill>
              <a:latin typeface="Calibri" pitchFamily="34" charset="0"/>
              <a:ea typeface="Calibri" pitchFamily="34" charset="-122"/>
              <a:cs typeface="Calibri" pitchFamily="34" charset="-120"/>
            </a:endParaRPr>
          </a:p>
          <a:p>
            <a:pPr marL="0" indent="0">
              <a:lnSpc>
                <a:spcPct val="120000"/>
              </a:lnSpc>
              <a:buNone/>
            </a:pPr>
            <a:r>
              <a:rPr lang="en-US" sz="1300" dirty="0">
                <a:solidFill>
                  <a:srgbClr val="F1E9DC"/>
                </a:solidFill>
                <a:latin typeface="Calibri" pitchFamily="34" charset="0"/>
                <a:ea typeface="Calibri" pitchFamily="34" charset="-122"/>
                <a:cs typeface="Calibri" pitchFamily="34" charset="-120"/>
              </a:rPr>
              <a:t>
</a:t>
            </a:r>
            <a:r>
              <a:rPr lang="en-US" sz="1300" b="1" dirty="0">
                <a:solidFill>
                  <a:srgbClr val="E0876A"/>
                </a:solidFill>
                <a:latin typeface="Calibri" pitchFamily="34" charset="0"/>
                <a:ea typeface="Calibri" pitchFamily="34" charset="-122"/>
                <a:cs typeface="Calibri" pitchFamily="34" charset="-120"/>
              </a:rPr>
              <a:t>Market and reporting </a:t>
            </a:r>
            <a:r>
              <a:rPr lang="en-US" sz="1300" dirty="0">
                <a:solidFill>
                  <a:srgbClr val="F1E9DC"/>
                </a:solidFill>
                <a:latin typeface="Calibri" pitchFamily="34" charset="0"/>
                <a:ea typeface="Calibri" pitchFamily="34" charset="-122"/>
                <a:cs typeface="Calibri" pitchFamily="34" charset="-120"/>
              </a:rPr>
              <a:t>data can only exist where a market or reporting infrastructure already does. Having limited infrastructure can impact data collection significantly.
</a:t>
            </a:r>
            <a:endParaRPr lang="en-US" sz="1300" dirty="0"/>
          </a:p>
        </p:txBody>
      </p:sp>
      <p:sp>
        <p:nvSpPr>
          <p:cNvPr id="8" name="Text 5"/>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9FB4C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Resolving the ReliefWeb integration issue</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Country-level reports, forced to speak at the district level</a:t>
            </a:r>
            <a:endParaRPr lang="en-US" sz="1350" dirty="0"/>
          </a:p>
        </p:txBody>
      </p:sp>
      <p:sp>
        <p:nvSpPr>
          <p:cNvPr id="4" name="Shape 2"/>
          <p:cNvSpPr/>
          <p:nvPr/>
        </p:nvSpPr>
        <p:spPr>
          <a:xfrm>
            <a:off x="548640" y="1783080"/>
            <a:ext cx="5303520" cy="1874520"/>
          </a:xfrm>
          <a:prstGeom prst="roundRect">
            <a:avLst>
              <a:gd name="adj" fmla="val 2927"/>
            </a:avLst>
          </a:prstGeom>
          <a:solidFill>
            <a:srgbClr val="F1E9DC"/>
          </a:solidFill>
          <a:ln/>
        </p:spPr>
      </p:sp>
      <p:sp>
        <p:nvSpPr>
          <p:cNvPr id="5" name="Text 3"/>
          <p:cNvSpPr/>
          <p:nvPr/>
        </p:nvSpPr>
        <p:spPr>
          <a:xfrm>
            <a:off x="777240" y="1938528"/>
            <a:ext cx="4846320" cy="274320"/>
          </a:xfrm>
          <a:prstGeom prst="rect">
            <a:avLst/>
          </a:prstGeom>
          <a:noFill/>
          <a:ln/>
        </p:spPr>
        <p:txBody>
          <a:bodyPr wrap="square" lIns="0" tIns="0" rIns="0" bIns="0" rtlCol="0" anchor="ctr"/>
          <a:lstStyle/>
          <a:p>
            <a:pPr marL="0" indent="0">
              <a:buNone/>
            </a:pPr>
            <a:r>
              <a:rPr lang="en-US" sz="1100" b="1" kern="0" spc="100" dirty="0">
                <a:solidFill>
                  <a:srgbClr val="C1502F"/>
                </a:solidFill>
                <a:latin typeface="Calibri" pitchFamily="34" charset="0"/>
                <a:ea typeface="Calibri" pitchFamily="34" charset="-122"/>
                <a:cs typeface="Calibri" pitchFamily="34" charset="-120"/>
              </a:rPr>
              <a:t>THE PROBLEM</a:t>
            </a:r>
            <a:endParaRPr lang="en-US" sz="1100" dirty="0"/>
          </a:p>
        </p:txBody>
      </p:sp>
      <p:sp>
        <p:nvSpPr>
          <p:cNvPr id="6" name="Text 4"/>
          <p:cNvSpPr/>
          <p:nvPr/>
        </p:nvSpPr>
        <p:spPr>
          <a:xfrm>
            <a:off x="777240" y="2240280"/>
            <a:ext cx="4846320" cy="1280160"/>
          </a:xfrm>
          <a:prstGeom prst="rect">
            <a:avLst/>
          </a:prstGeom>
          <a:noFill/>
          <a:ln/>
        </p:spPr>
        <p:txBody>
          <a:bodyPr wrap="square" lIns="0" tIns="0" rIns="0" bIns="0" rtlCol="0" anchor="ctr"/>
          <a:lstStyle/>
          <a:p>
            <a:pPr marL="0" indent="0">
              <a:lnSpc>
                <a:spcPct val="120000"/>
              </a:lnSpc>
              <a:buNone/>
            </a:pPr>
            <a:r>
              <a:rPr lang="en-US" sz="1350" dirty="0">
                <a:solidFill>
                  <a:srgbClr val="5B6B73"/>
                </a:solidFill>
                <a:latin typeface="Calibri" pitchFamily="34" charset="0"/>
                <a:ea typeface="Calibri" pitchFamily="34" charset="-122"/>
                <a:cs typeface="Calibri" pitchFamily="34" charset="-120"/>
              </a:rPr>
              <a:t>ReliefWeb reports carry only a country-level tag (“Somalia”) — no district. Everything else in this project runs at Admin2 × Month.</a:t>
            </a:r>
            <a:endParaRPr lang="en-US" sz="1350" dirty="0"/>
          </a:p>
        </p:txBody>
      </p:sp>
      <p:sp>
        <p:nvSpPr>
          <p:cNvPr id="7" name="Shape 5"/>
          <p:cNvSpPr/>
          <p:nvPr/>
        </p:nvSpPr>
        <p:spPr>
          <a:xfrm>
            <a:off x="6172200" y="1783080"/>
            <a:ext cx="5468112" cy="1874520"/>
          </a:xfrm>
          <a:prstGeom prst="roundRect">
            <a:avLst>
              <a:gd name="adj" fmla="val 2927"/>
            </a:avLst>
          </a:prstGeom>
          <a:solidFill>
            <a:srgbClr val="C1502F"/>
          </a:solidFill>
          <a:ln/>
        </p:spPr>
      </p:sp>
      <p:sp>
        <p:nvSpPr>
          <p:cNvPr id="8" name="Text 6"/>
          <p:cNvSpPr/>
          <p:nvPr/>
        </p:nvSpPr>
        <p:spPr>
          <a:xfrm>
            <a:off x="6400800" y="1938528"/>
            <a:ext cx="5029200" cy="274320"/>
          </a:xfrm>
          <a:prstGeom prst="rect">
            <a:avLst/>
          </a:prstGeom>
          <a:noFill/>
          <a:ln/>
        </p:spPr>
        <p:txBody>
          <a:bodyPr wrap="square" lIns="0" tIns="0" rIns="0" bIns="0" rtlCol="0" anchor="ctr"/>
          <a:lstStyle/>
          <a:p>
            <a:pPr marL="0" indent="0">
              <a:buNone/>
            </a:pPr>
            <a:r>
              <a:rPr lang="en-US" sz="1100" b="1" kern="0" spc="100" dirty="0">
                <a:solidFill>
                  <a:srgbClr val="F1E9DC"/>
                </a:solidFill>
                <a:latin typeface="Calibri" pitchFamily="34" charset="0"/>
                <a:ea typeface="Calibri" pitchFamily="34" charset="-122"/>
                <a:cs typeface="Calibri" pitchFamily="34" charset="-120"/>
              </a:rPr>
              <a:t>OPTION CHOSEN: GEOPARSING</a:t>
            </a:r>
            <a:endParaRPr lang="en-US" sz="1100" dirty="0"/>
          </a:p>
        </p:txBody>
      </p:sp>
      <p:sp>
        <p:nvSpPr>
          <p:cNvPr id="9" name="Text 7"/>
          <p:cNvSpPr/>
          <p:nvPr/>
        </p:nvSpPr>
        <p:spPr>
          <a:xfrm>
            <a:off x="6400800" y="2240280"/>
            <a:ext cx="5029200" cy="1280160"/>
          </a:xfrm>
          <a:prstGeom prst="rect">
            <a:avLst/>
          </a:prstGeom>
          <a:noFill/>
          <a:ln/>
        </p:spPr>
        <p:txBody>
          <a:bodyPr wrap="square" lIns="0" tIns="0" rIns="0" bIns="0" rtlCol="0" anchor="ctr"/>
          <a:lstStyle/>
          <a:p>
            <a:pPr marL="0" indent="0">
              <a:lnSpc>
                <a:spcPct val="120000"/>
              </a:lnSpc>
              <a:buNone/>
            </a:pPr>
            <a:r>
              <a:rPr lang="en-US" sz="1350" dirty="0">
                <a:solidFill>
                  <a:srgbClr val="FFFFFF"/>
                </a:solidFill>
                <a:latin typeface="Calibri" pitchFamily="34" charset="0"/>
                <a:ea typeface="Calibri" pitchFamily="34" charset="-122"/>
                <a:cs typeface="Calibri" pitchFamily="34" charset="-120"/>
              </a:rPr>
              <a:t>Search each report’s text for district names — official spelling plus common English aliases (“Baidoa,” “Mogadishu,” “Kismayo”).</a:t>
            </a:r>
            <a:endParaRPr lang="en-US" sz="1350" dirty="0"/>
          </a:p>
        </p:txBody>
      </p:sp>
      <p:sp>
        <p:nvSpPr>
          <p:cNvPr id="10" name="Text 8"/>
          <p:cNvSpPr/>
          <p:nvPr/>
        </p:nvSpPr>
        <p:spPr>
          <a:xfrm>
            <a:off x="548640" y="3840480"/>
            <a:ext cx="5486400" cy="32004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Alternatives considered</a:t>
            </a:r>
            <a:endParaRPr lang="en-US" sz="1500" dirty="0"/>
          </a:p>
        </p:txBody>
      </p:sp>
      <p:sp>
        <p:nvSpPr>
          <p:cNvPr id="11" name="Text 9"/>
          <p:cNvSpPr/>
          <p:nvPr/>
        </p:nvSpPr>
        <p:spPr>
          <a:xfrm>
            <a:off x="640080" y="4206240"/>
            <a:ext cx="5394960" cy="1920240"/>
          </a:xfrm>
          <a:prstGeom prst="rect">
            <a:avLst/>
          </a:prstGeom>
          <a:noFill/>
          <a:ln/>
        </p:spPr>
        <p:txBody>
          <a:bodyPr wrap="square" lIns="0" tIns="0" rIns="0" bIns="0" rtlCol="0" anchor="ctr"/>
          <a:lstStyle/>
          <a:p>
            <a:pPr marL="342900" indent="-342900">
              <a:lnSpc>
                <a:spcPct val="125000"/>
              </a:lnSpc>
              <a:buSzPct val="100000"/>
              <a:buChar char="•"/>
            </a:pPr>
            <a:r>
              <a:rPr lang="en-US" sz="1200" dirty="0">
                <a:solidFill>
                  <a:srgbClr val="5B6B73"/>
                </a:solidFill>
                <a:latin typeface="Calibri" pitchFamily="34" charset="0"/>
                <a:ea typeface="Calibri" pitchFamily="34" charset="-122"/>
                <a:cs typeface="Calibri" pitchFamily="34" charset="-120"/>
              </a:rPr>
              <a:t>Population-weighted disaggregation — assumes reporting scales with population</a:t>
            </a:r>
            <a:endParaRPr lang="en-US" sz="1200" dirty="0"/>
          </a:p>
          <a:p>
            <a:pPr marL="342900" indent="-342900">
              <a:lnSpc>
                <a:spcPct val="125000"/>
              </a:lnSpc>
              <a:buSzPct val="100000"/>
              <a:buChar char="•"/>
            </a:pPr>
            <a:r>
              <a:rPr lang="en-US" sz="1200" dirty="0">
                <a:solidFill>
                  <a:srgbClr val="5B6B73"/>
                </a:solidFill>
                <a:latin typeface="Calibri" pitchFamily="34" charset="0"/>
                <a:ea typeface="Calibri" pitchFamily="34" charset="-122"/>
                <a:cs typeface="Calibri" pitchFamily="34" charset="-120"/>
              </a:rPr>
              <a:t>Precision-based restriction — discards ambiguous reports, loses data</a:t>
            </a:r>
            <a:endParaRPr lang="en-US" sz="1200" dirty="0"/>
          </a:p>
          <a:p>
            <a:pPr marL="342900" indent="-342900">
              <a:lnSpc>
                <a:spcPct val="125000"/>
              </a:lnSpc>
              <a:buSzPct val="100000"/>
              <a:buChar char="•"/>
            </a:pPr>
            <a:r>
              <a:rPr lang="en-US" sz="1200" dirty="0">
                <a:solidFill>
                  <a:srgbClr val="5B6B73"/>
                </a:solidFill>
                <a:latin typeface="Calibri" pitchFamily="34" charset="0"/>
                <a:ea typeface="Calibri" pitchFamily="34" charset="-122"/>
                <a:cs typeface="Calibri" pitchFamily="34" charset="-120"/>
              </a:rPr>
              <a:t>Keep country-level, document as limitation — simplest, but weakest</a:t>
            </a:r>
            <a:endParaRPr lang="en-US" sz="1200" dirty="0"/>
          </a:p>
        </p:txBody>
      </p:sp>
      <p:sp>
        <p:nvSpPr>
          <p:cNvPr id="12" name="Text 10"/>
          <p:cNvSpPr/>
          <p:nvPr/>
        </p:nvSpPr>
        <p:spPr>
          <a:xfrm>
            <a:off x="6172200" y="3840480"/>
            <a:ext cx="5486400" cy="32004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Real limitations, stated directly</a:t>
            </a:r>
            <a:endParaRPr lang="en-US" sz="1500" dirty="0"/>
          </a:p>
        </p:txBody>
      </p:sp>
      <p:sp>
        <p:nvSpPr>
          <p:cNvPr id="13" name="Text 11"/>
          <p:cNvSpPr/>
          <p:nvPr/>
        </p:nvSpPr>
        <p:spPr>
          <a:xfrm>
            <a:off x="6263640" y="4206240"/>
            <a:ext cx="5394960" cy="1920240"/>
          </a:xfrm>
          <a:prstGeom prst="rect">
            <a:avLst/>
          </a:prstGeom>
          <a:noFill/>
          <a:ln/>
        </p:spPr>
        <p:txBody>
          <a:bodyPr wrap="square" lIns="0" tIns="0" rIns="0" bIns="0" rtlCol="0" anchor="ctr"/>
          <a:lstStyle/>
          <a:p>
            <a:pPr marL="342900" indent="-342900">
              <a:lnSpc>
                <a:spcPct val="125000"/>
              </a:lnSpc>
              <a:buSzPct val="100000"/>
              <a:buChar char="•"/>
            </a:pPr>
            <a:r>
              <a:rPr lang="en-US" sz="1200" dirty="0">
                <a:solidFill>
                  <a:srgbClr val="5B6B73"/>
                </a:solidFill>
                <a:latin typeface="Calibri" pitchFamily="34" charset="0"/>
                <a:ea typeface="Calibri" pitchFamily="34" charset="-122"/>
                <a:cs typeface="Calibri" pitchFamily="34" charset="-120"/>
              </a:rPr>
              <a:t>Mention ≠ event location — the feature is named accordingly</a:t>
            </a:r>
            <a:endParaRPr lang="en-US" sz="1200" dirty="0"/>
          </a:p>
          <a:p>
            <a:pPr marL="342900" indent="-342900">
              <a:lnSpc>
                <a:spcPct val="125000"/>
              </a:lnSpc>
              <a:buSzPct val="100000"/>
              <a:buChar char="•"/>
            </a:pPr>
            <a:r>
              <a:rPr lang="en-US" sz="1200" dirty="0">
                <a:solidFill>
                  <a:srgbClr val="5B6B73"/>
                </a:solidFill>
                <a:latin typeface="Calibri" pitchFamily="34" charset="0"/>
                <a:ea typeface="Calibri" pitchFamily="34" charset="-122"/>
                <a:cs typeface="Calibri" pitchFamily="34" charset="-120"/>
              </a:rPr>
              <a:t>112 of 220 reports (51%) match no district at all</a:t>
            </a:r>
            <a:endParaRPr lang="en-US" sz="1200" dirty="0"/>
          </a:p>
          <a:p>
            <a:pPr marL="342900" indent="-342900">
              <a:lnSpc>
                <a:spcPct val="125000"/>
              </a:lnSpc>
              <a:buSzPct val="100000"/>
              <a:buChar char="•"/>
            </a:pPr>
            <a:r>
              <a:rPr lang="en-US" sz="1200" dirty="0">
                <a:solidFill>
                  <a:srgbClr val="5B6B73"/>
                </a:solidFill>
                <a:latin typeface="Calibri" pitchFamily="34" charset="0"/>
                <a:ea typeface="Calibri" pitchFamily="34" charset="-122"/>
                <a:cs typeface="Calibri" pitchFamily="34" charset="-120"/>
              </a:rPr>
              <a:t>Alias list only covers 16 of 74 districts</a:t>
            </a:r>
            <a:endParaRPr lang="en-US" sz="1200" dirty="0"/>
          </a:p>
          <a:p>
            <a:pPr marL="342900" indent="-342900">
              <a:lnSpc>
                <a:spcPct val="125000"/>
              </a:lnSpc>
              <a:buSzPct val="100000"/>
              <a:buChar char="•"/>
            </a:pPr>
            <a:r>
              <a:rPr lang="en-US" sz="1200" dirty="0">
                <a:solidFill>
                  <a:srgbClr val="5B6B73"/>
                </a:solidFill>
                <a:latin typeface="Calibri" pitchFamily="34" charset="0"/>
                <a:ea typeface="Calibri" pitchFamily="34" charset="-122"/>
                <a:cs typeface="Calibri" pitchFamily="34" charset="-120"/>
              </a:rPr>
              <a:t>A report naming 3 districts credits all 3, so totals overlap</a:t>
            </a:r>
            <a:endParaRPr lang="en-US" sz="1200" dirty="0"/>
          </a:p>
        </p:txBody>
      </p:sp>
      <p:sp>
        <p:nvSpPr>
          <p:cNvPr id="14" name="Text 12"/>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How the pipeline was built (1/2): the dimensions</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Every fact table is built against these two reference tables</a:t>
            </a:r>
            <a:endParaRPr lang="en-US" sz="1350" dirty="0"/>
          </a:p>
        </p:txBody>
      </p:sp>
      <p:sp>
        <p:nvSpPr>
          <p:cNvPr id="4" name="Shape 2"/>
          <p:cNvSpPr/>
          <p:nvPr/>
        </p:nvSpPr>
        <p:spPr>
          <a:xfrm>
            <a:off x="548640" y="1783080"/>
            <a:ext cx="5349240" cy="4206240"/>
          </a:xfrm>
          <a:prstGeom prst="roundRect">
            <a:avLst>
              <a:gd name="adj" fmla="val 1522"/>
            </a:avLst>
          </a:prstGeom>
          <a:solidFill>
            <a:srgbClr val="F1E9DC"/>
          </a:solidFill>
          <a:ln/>
        </p:spPr>
        <p:txBody>
          <a:bodyPr/>
          <a:lstStyle/>
          <a:p>
            <a:endParaRPr lang="en-US"/>
          </a:p>
        </p:txBody>
      </p:sp>
      <p:sp>
        <p:nvSpPr>
          <p:cNvPr id="5" name="Text 3"/>
          <p:cNvSpPr/>
          <p:nvPr/>
        </p:nvSpPr>
        <p:spPr>
          <a:xfrm>
            <a:off x="822960" y="1965960"/>
            <a:ext cx="4846320" cy="365760"/>
          </a:xfrm>
          <a:prstGeom prst="rect">
            <a:avLst/>
          </a:prstGeom>
          <a:noFill/>
          <a:ln/>
        </p:spPr>
        <p:txBody>
          <a:bodyPr wrap="square" lIns="0" tIns="0" rIns="0" bIns="0" rtlCol="0" anchor="ctr"/>
          <a:lstStyle/>
          <a:p>
            <a:pPr marL="0" indent="0">
              <a:buNone/>
            </a:pPr>
            <a:r>
              <a:rPr lang="en-US" sz="1700" b="1" dirty="0">
                <a:solidFill>
                  <a:srgbClr val="1B3A4B"/>
                </a:solidFill>
                <a:latin typeface="Cambria" pitchFamily="34" charset="0"/>
                <a:ea typeface="Cambria" pitchFamily="34" charset="-122"/>
                <a:cs typeface="Cambria" pitchFamily="34" charset="-120"/>
              </a:rPr>
              <a:t>dim_location</a:t>
            </a:r>
            <a:endParaRPr lang="en-US" sz="1700" dirty="0"/>
          </a:p>
        </p:txBody>
      </p:sp>
      <p:sp>
        <p:nvSpPr>
          <p:cNvPr id="6" name="Text 4"/>
          <p:cNvSpPr/>
          <p:nvPr/>
        </p:nvSpPr>
        <p:spPr>
          <a:xfrm>
            <a:off x="822960" y="2423160"/>
            <a:ext cx="4846320" cy="3383280"/>
          </a:xfrm>
          <a:prstGeom prst="rect">
            <a:avLst/>
          </a:prstGeom>
          <a:noFill/>
          <a:ln/>
        </p:spPr>
        <p:txBody>
          <a:bodyPr wrap="square" lIns="0" tIns="0" rIns="0" bIns="0" rtlCol="0" anchor="ctr"/>
          <a:lstStyle/>
          <a:p>
            <a:pPr marL="342900" indent="-342900">
              <a:lnSpc>
                <a:spcPct val="135000"/>
              </a:lnSpc>
              <a:spcAft>
                <a:spcPts val="1000"/>
              </a:spcAft>
              <a:buAutoNum type="arabicPeriod"/>
            </a:pPr>
            <a:r>
              <a:rPr lang="en-US" sz="1100" dirty="0">
                <a:solidFill>
                  <a:srgbClr val="5B6B73"/>
                </a:solidFill>
                <a:latin typeface="Calibri" pitchFamily="34" charset="0"/>
                <a:ea typeface="Calibri" pitchFamily="34" charset="-122"/>
                <a:cs typeface="Calibri" pitchFamily="34" charset="-120"/>
              </a:rPr>
              <a:t>Load the district shapes. Pull in the boundary map for all 74 districts in Somalia, from a standard geographic database (GADM).</a:t>
            </a:r>
          </a:p>
          <a:p>
            <a:pPr marL="342900" indent="-342900">
              <a:lnSpc>
                <a:spcPct val="135000"/>
              </a:lnSpc>
              <a:spcAft>
                <a:spcPts val="1000"/>
              </a:spcAft>
              <a:buAutoNum type="arabicPeriod"/>
            </a:pPr>
            <a:r>
              <a:rPr lang="en-US" sz="1100" dirty="0">
                <a:solidFill>
                  <a:srgbClr val="5B6B73"/>
                </a:solidFill>
                <a:latin typeface="Calibri" pitchFamily="34" charset="0"/>
                <a:ea typeface="Calibri" pitchFamily="34" charset="-122"/>
                <a:cs typeface="Calibri" pitchFamily="34" charset="-120"/>
              </a:rPr>
              <a:t>Measure each district. Calculate each district's true size (in km²) and center point, using a method built for the Earth's actual curved shape , so the measurements are accurate, not distorted by flattening the map first.</a:t>
            </a:r>
          </a:p>
          <a:p>
            <a:pPr marL="342900" indent="-342900">
              <a:lnSpc>
                <a:spcPct val="135000"/>
              </a:lnSpc>
              <a:spcAft>
                <a:spcPts val="1000"/>
              </a:spcAft>
              <a:buAutoNum type="arabicPeriod"/>
            </a:pPr>
            <a:r>
              <a:rPr lang="en-US" sz="1100" dirty="0">
                <a:solidFill>
                  <a:srgbClr val="5B6B73"/>
                </a:solidFill>
                <a:latin typeface="Calibri" pitchFamily="34" charset="0"/>
                <a:ea typeface="Calibri" pitchFamily="34" charset="-122"/>
                <a:cs typeface="Calibri" pitchFamily="34" charset="-120"/>
              </a:rPr>
              <a:t>Fix mismatched names. The same district often gets spelled differently across sources. 14 district names had to be corrected to match WFP's spelling, and another 15 to match ACLED’s . one district (</a:t>
            </a:r>
            <a:r>
              <a:rPr lang="en-US" sz="1100" dirty="0" err="1">
                <a:solidFill>
                  <a:srgbClr val="5B6B73"/>
                </a:solidFill>
                <a:latin typeface="Calibri" pitchFamily="34" charset="0"/>
                <a:ea typeface="Calibri" pitchFamily="34" charset="-122"/>
                <a:cs typeface="Calibri" pitchFamily="34" charset="-120"/>
              </a:rPr>
              <a:t>Laasqoray</a:t>
            </a:r>
            <a:r>
              <a:rPr lang="en-US" sz="1100" dirty="0">
                <a:solidFill>
                  <a:srgbClr val="5B6B73"/>
                </a:solidFill>
                <a:latin typeface="Calibri" pitchFamily="34" charset="0"/>
                <a:ea typeface="Calibri" pitchFamily="34" charset="-122"/>
                <a:cs typeface="Calibri" pitchFamily="34" charset="-120"/>
              </a:rPr>
              <a:t>) never found a match and had to be left out.</a:t>
            </a:r>
          </a:p>
          <a:p>
            <a:pPr marL="342900" indent="-342900">
              <a:lnSpc>
                <a:spcPct val="135000"/>
              </a:lnSpc>
              <a:spcAft>
                <a:spcPts val="1000"/>
              </a:spcAft>
              <a:buAutoNum type="arabicPeriod"/>
            </a:pPr>
            <a:r>
              <a:rPr lang="en-US" sz="1100" dirty="0">
                <a:solidFill>
                  <a:srgbClr val="5B6B73"/>
                </a:solidFill>
                <a:latin typeface="Calibri" pitchFamily="34" charset="0"/>
                <a:ea typeface="Calibri" pitchFamily="34" charset="-122"/>
                <a:cs typeface="Calibri" pitchFamily="34" charset="-120"/>
              </a:rPr>
              <a:t>Mark which districts have a market. Add a simple yes/no label showing whether WFP tracks prices there, this becomes useful later for checking whether market coverage is linked to how much conflict a district has.</a:t>
            </a:r>
            <a:endParaRPr lang="en-US" sz="1100" dirty="0"/>
          </a:p>
        </p:txBody>
      </p:sp>
      <p:sp>
        <p:nvSpPr>
          <p:cNvPr id="7" name="Shape 5"/>
          <p:cNvSpPr/>
          <p:nvPr/>
        </p:nvSpPr>
        <p:spPr>
          <a:xfrm>
            <a:off x="6263640" y="1783080"/>
            <a:ext cx="5376672" cy="4206240"/>
          </a:xfrm>
          <a:prstGeom prst="roundRect">
            <a:avLst>
              <a:gd name="adj" fmla="val 1522"/>
            </a:avLst>
          </a:prstGeom>
          <a:solidFill>
            <a:srgbClr val="F1E9DC"/>
          </a:solidFill>
          <a:ln/>
        </p:spPr>
        <p:txBody>
          <a:bodyPr/>
          <a:lstStyle/>
          <a:p>
            <a:endParaRPr lang="en-US"/>
          </a:p>
        </p:txBody>
      </p:sp>
      <p:sp>
        <p:nvSpPr>
          <p:cNvPr id="8" name="Text 6"/>
          <p:cNvSpPr/>
          <p:nvPr/>
        </p:nvSpPr>
        <p:spPr>
          <a:xfrm>
            <a:off x="6537960" y="1965960"/>
            <a:ext cx="4846320" cy="365760"/>
          </a:xfrm>
          <a:prstGeom prst="rect">
            <a:avLst/>
          </a:prstGeom>
          <a:noFill/>
          <a:ln/>
        </p:spPr>
        <p:txBody>
          <a:bodyPr wrap="square" lIns="0" tIns="0" rIns="0" bIns="0" rtlCol="0" anchor="ctr"/>
          <a:lstStyle/>
          <a:p>
            <a:pPr marL="0" indent="0">
              <a:buNone/>
            </a:pPr>
            <a:r>
              <a:rPr lang="en-US" sz="1700" b="1" dirty="0">
                <a:solidFill>
                  <a:srgbClr val="1B3A4B"/>
                </a:solidFill>
                <a:latin typeface="Cambria" pitchFamily="34" charset="0"/>
                <a:ea typeface="Cambria" pitchFamily="34" charset="-122"/>
                <a:cs typeface="Cambria" pitchFamily="34" charset="-120"/>
              </a:rPr>
              <a:t>dim_time</a:t>
            </a:r>
            <a:endParaRPr lang="en-US" sz="1700" dirty="0"/>
          </a:p>
        </p:txBody>
      </p:sp>
      <p:sp>
        <p:nvSpPr>
          <p:cNvPr id="9" name="Text 7"/>
          <p:cNvSpPr/>
          <p:nvPr/>
        </p:nvSpPr>
        <p:spPr>
          <a:xfrm>
            <a:off x="6537960" y="2423160"/>
            <a:ext cx="4846320" cy="3383280"/>
          </a:xfrm>
          <a:prstGeom prst="rect">
            <a:avLst/>
          </a:prstGeom>
          <a:noFill/>
          <a:ln/>
        </p:spPr>
        <p:txBody>
          <a:bodyPr wrap="square" lIns="0" tIns="0" rIns="0" bIns="0" rtlCol="0" anchor="ctr"/>
          <a:lstStyle/>
          <a:p>
            <a:pPr marL="342900" indent="-342900">
              <a:lnSpc>
                <a:spcPct val="135000"/>
              </a:lnSpc>
              <a:spcAft>
                <a:spcPts val="1000"/>
              </a:spcAft>
              <a:buAutoNum type="arabicPeriod"/>
            </a:pPr>
            <a:r>
              <a:rPr lang="en-US" sz="1200" dirty="0">
                <a:solidFill>
                  <a:srgbClr val="5B6B73"/>
                </a:solidFill>
                <a:latin typeface="Calibri" pitchFamily="34" charset="0"/>
                <a:ea typeface="Calibri" pitchFamily="34" charset="-122"/>
                <a:cs typeface="Calibri" pitchFamily="34" charset="-120"/>
              </a:rPr>
              <a:t>Set the two months. Generate January and February 2024 as the two time periods this prototype covers.</a:t>
            </a:r>
          </a:p>
          <a:p>
            <a:pPr marL="342900" indent="-342900">
              <a:lnSpc>
                <a:spcPct val="135000"/>
              </a:lnSpc>
              <a:spcAft>
                <a:spcPts val="1000"/>
              </a:spcAft>
              <a:buAutoNum type="arabicPeriod"/>
            </a:pPr>
            <a:r>
              <a:rPr lang="en-US" sz="1200" dirty="0">
                <a:solidFill>
                  <a:srgbClr val="5B6B73"/>
                </a:solidFill>
                <a:latin typeface="Calibri" pitchFamily="34" charset="0"/>
                <a:ea typeface="Calibri" pitchFamily="34" charset="-122"/>
                <a:cs typeface="Calibri" pitchFamily="34" charset="-120"/>
              </a:rPr>
              <a:t>Add useful labels. Store the year, month number, month name, and quarter for each , so other tables can be sorted or grouped by any of these.</a:t>
            </a:r>
          </a:p>
          <a:p>
            <a:pPr marL="342900" indent="-342900">
              <a:lnSpc>
                <a:spcPct val="135000"/>
              </a:lnSpc>
              <a:spcAft>
                <a:spcPts val="1000"/>
              </a:spcAft>
              <a:buAutoNum type="arabicPeriod"/>
            </a:pPr>
            <a:r>
              <a:rPr lang="en-US" sz="1200" dirty="0">
                <a:solidFill>
                  <a:srgbClr val="5B6B73"/>
                </a:solidFill>
                <a:latin typeface="Calibri" pitchFamily="34" charset="0"/>
                <a:ea typeface="Calibri" pitchFamily="34" charset="-122"/>
                <a:cs typeface="Calibri" pitchFamily="34" charset="-120"/>
              </a:rPr>
              <a:t>Explain why only two months. This wasn't an arbitrary choice, it's a direct result of the earlier finding that WFP only has real (non-forecast) price data for these two months.</a:t>
            </a:r>
          </a:p>
          <a:p>
            <a:pPr marL="342900" indent="-342900">
              <a:lnSpc>
                <a:spcPct val="135000"/>
              </a:lnSpc>
              <a:spcAft>
                <a:spcPts val="1000"/>
              </a:spcAft>
              <a:buAutoNum type="arabicPeriod"/>
            </a:pPr>
            <a:r>
              <a:rPr lang="en-US" sz="1200" dirty="0">
                <a:solidFill>
                  <a:srgbClr val="5B6B73"/>
                </a:solidFill>
                <a:latin typeface="Calibri" pitchFamily="34" charset="0"/>
                <a:ea typeface="Calibri" pitchFamily="34" charset="-122"/>
                <a:cs typeface="Calibri" pitchFamily="34" charset="-120"/>
              </a:rPr>
              <a:t>Built to grow easily. Extending to the full study later would be easier, just generate more months, from 2015 through 2024, using the same method.</a:t>
            </a:r>
          </a:p>
        </p:txBody>
      </p:sp>
      <p:sp>
        <p:nvSpPr>
          <p:cNvPr id="10" name="Text 8"/>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How the pipeline was built (2/2): facts &amp; merge</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Each fact table built independently, then joined once at the end</a:t>
            </a:r>
            <a:endParaRPr lang="en-US" sz="1350" dirty="0"/>
          </a:p>
        </p:txBody>
      </p:sp>
      <p:sp>
        <p:nvSpPr>
          <p:cNvPr id="4" name="Shape 2"/>
          <p:cNvSpPr/>
          <p:nvPr/>
        </p:nvSpPr>
        <p:spPr>
          <a:xfrm>
            <a:off x="548640" y="1783080"/>
            <a:ext cx="2724912" cy="2880360"/>
          </a:xfrm>
          <a:prstGeom prst="roundRect">
            <a:avLst>
              <a:gd name="adj" fmla="val 2349"/>
            </a:avLst>
          </a:prstGeom>
          <a:solidFill>
            <a:srgbClr val="F1E9DC"/>
          </a:solidFill>
          <a:ln/>
        </p:spPr>
      </p:sp>
      <p:sp>
        <p:nvSpPr>
          <p:cNvPr id="5" name="Text 3"/>
          <p:cNvSpPr/>
          <p:nvPr/>
        </p:nvSpPr>
        <p:spPr>
          <a:xfrm>
            <a:off x="731520" y="1965960"/>
            <a:ext cx="2359152" cy="365760"/>
          </a:xfrm>
          <a:prstGeom prst="rect">
            <a:avLst/>
          </a:prstGeom>
          <a:noFill/>
          <a:ln/>
        </p:spPr>
        <p:txBody>
          <a:bodyPr wrap="square" lIns="0" tIns="0" rIns="0" bIns="0" rtlCol="0" anchor="ctr"/>
          <a:lstStyle/>
          <a:p>
            <a:pPr marL="0" indent="0">
              <a:buNone/>
            </a:pPr>
            <a:r>
              <a:rPr lang="en-US" sz="1300" b="1" dirty="0">
                <a:solidFill>
                  <a:srgbClr val="C1502F"/>
                </a:solidFill>
                <a:latin typeface="Courier New" pitchFamily="34" charset="0"/>
                <a:ea typeface="Courier New" pitchFamily="34" charset="-122"/>
                <a:cs typeface="Courier New" pitchFamily="34" charset="-120"/>
              </a:rPr>
              <a:t>fact_conflict</a:t>
            </a:r>
            <a:endParaRPr lang="en-US" sz="1300" dirty="0"/>
          </a:p>
        </p:txBody>
      </p:sp>
      <p:sp>
        <p:nvSpPr>
          <p:cNvPr id="6" name="Text 4"/>
          <p:cNvSpPr/>
          <p:nvPr/>
        </p:nvSpPr>
        <p:spPr>
          <a:xfrm>
            <a:off x="731520" y="2377440"/>
            <a:ext cx="2359152" cy="2148840"/>
          </a:xfrm>
          <a:prstGeom prst="rect">
            <a:avLst/>
          </a:prstGeom>
          <a:noFill/>
          <a:ln/>
        </p:spPr>
        <p:txBody>
          <a:bodyPr wrap="square" lIns="0" tIns="0" rIns="0" bIns="0" rtlCol="0" anchor="ctr"/>
          <a:lstStyle/>
          <a:p>
            <a:pPr marL="0" indent="0">
              <a:lnSpc>
                <a:spcPct val="120000"/>
              </a:lnSpc>
              <a:buNone/>
            </a:pPr>
            <a:r>
              <a:rPr lang="en-US" sz="1050" dirty="0">
                <a:solidFill>
                  <a:srgbClr val="5B6B73"/>
                </a:solidFill>
                <a:latin typeface="Calibri" pitchFamily="34" charset="0"/>
                <a:ea typeface="Calibri" pitchFamily="34" charset="-122"/>
                <a:cs typeface="Calibri" pitchFamily="34" charset="-120"/>
              </a:rPr>
              <a:t>ACLED events filtered to Somalia, aggregated to Admin2 × Month; zero-filled into a complete 74×2 panel; trend_pct undefined (NA) whenever the previous month was zero</a:t>
            </a:r>
            <a:endParaRPr lang="en-US" sz="1050" dirty="0"/>
          </a:p>
        </p:txBody>
      </p:sp>
      <p:sp>
        <p:nvSpPr>
          <p:cNvPr id="7" name="Shape 5"/>
          <p:cNvSpPr/>
          <p:nvPr/>
        </p:nvSpPr>
        <p:spPr>
          <a:xfrm>
            <a:off x="3383280" y="1783080"/>
            <a:ext cx="2724912" cy="2880360"/>
          </a:xfrm>
          <a:prstGeom prst="roundRect">
            <a:avLst>
              <a:gd name="adj" fmla="val 2349"/>
            </a:avLst>
          </a:prstGeom>
          <a:solidFill>
            <a:srgbClr val="F1E9DC"/>
          </a:solidFill>
          <a:ln/>
        </p:spPr>
      </p:sp>
      <p:sp>
        <p:nvSpPr>
          <p:cNvPr id="8" name="Text 6"/>
          <p:cNvSpPr/>
          <p:nvPr/>
        </p:nvSpPr>
        <p:spPr>
          <a:xfrm>
            <a:off x="3566160" y="1965960"/>
            <a:ext cx="2359152" cy="365760"/>
          </a:xfrm>
          <a:prstGeom prst="rect">
            <a:avLst/>
          </a:prstGeom>
          <a:noFill/>
          <a:ln/>
        </p:spPr>
        <p:txBody>
          <a:bodyPr wrap="square" lIns="0" tIns="0" rIns="0" bIns="0" rtlCol="0" anchor="ctr"/>
          <a:lstStyle/>
          <a:p>
            <a:pPr marL="0" indent="0">
              <a:buNone/>
            </a:pPr>
            <a:r>
              <a:rPr lang="en-US" sz="1300" b="1" dirty="0">
                <a:solidFill>
                  <a:srgbClr val="C1502F"/>
                </a:solidFill>
                <a:latin typeface="Courier New" pitchFamily="34" charset="0"/>
                <a:ea typeface="Courier New" pitchFamily="34" charset="-122"/>
                <a:cs typeface="Courier New" pitchFamily="34" charset="-120"/>
              </a:rPr>
              <a:t>fact_climate</a:t>
            </a:r>
            <a:endParaRPr lang="en-US" sz="1300" dirty="0"/>
          </a:p>
        </p:txBody>
      </p:sp>
      <p:sp>
        <p:nvSpPr>
          <p:cNvPr id="9" name="Text 7"/>
          <p:cNvSpPr/>
          <p:nvPr/>
        </p:nvSpPr>
        <p:spPr>
          <a:xfrm>
            <a:off x="3566160" y="2377440"/>
            <a:ext cx="2359152" cy="2148840"/>
          </a:xfrm>
          <a:prstGeom prst="rect">
            <a:avLst/>
          </a:prstGeom>
          <a:noFill/>
          <a:ln/>
        </p:spPr>
        <p:txBody>
          <a:bodyPr wrap="square" lIns="0" tIns="0" rIns="0" bIns="0" rtlCol="0" anchor="ctr"/>
          <a:lstStyle/>
          <a:p>
            <a:pPr marL="0" indent="0">
              <a:lnSpc>
                <a:spcPct val="120000"/>
              </a:lnSpc>
              <a:buNone/>
            </a:pPr>
            <a:r>
              <a:rPr lang="en-US" sz="1050" dirty="0">
                <a:solidFill>
                  <a:srgbClr val="5B6B73"/>
                </a:solidFill>
                <a:latin typeface="Calibri" pitchFamily="34" charset="0"/>
                <a:ea typeface="Calibri" pitchFamily="34" charset="-122"/>
                <a:cs typeface="Calibri" pitchFamily="34" charset="-120"/>
              </a:rPr>
              <a:t>CHIRPS monthly rainfall + VHI weekly composites, both via zonal statistics; VHI's 2 boundary-crossing weeks apportioned by day-count into the correct month</a:t>
            </a:r>
            <a:endParaRPr lang="en-US" sz="1050" dirty="0"/>
          </a:p>
        </p:txBody>
      </p:sp>
      <p:sp>
        <p:nvSpPr>
          <p:cNvPr id="10" name="Shape 8"/>
          <p:cNvSpPr/>
          <p:nvPr/>
        </p:nvSpPr>
        <p:spPr>
          <a:xfrm>
            <a:off x="6217920" y="1783080"/>
            <a:ext cx="2724912" cy="2880360"/>
          </a:xfrm>
          <a:prstGeom prst="roundRect">
            <a:avLst>
              <a:gd name="adj" fmla="val 2349"/>
            </a:avLst>
          </a:prstGeom>
          <a:solidFill>
            <a:srgbClr val="F1E9DC"/>
          </a:solidFill>
          <a:ln/>
        </p:spPr>
      </p:sp>
      <p:sp>
        <p:nvSpPr>
          <p:cNvPr id="11" name="Text 9"/>
          <p:cNvSpPr/>
          <p:nvPr/>
        </p:nvSpPr>
        <p:spPr>
          <a:xfrm>
            <a:off x="6400800" y="1965960"/>
            <a:ext cx="2359152" cy="365760"/>
          </a:xfrm>
          <a:prstGeom prst="rect">
            <a:avLst/>
          </a:prstGeom>
          <a:noFill/>
          <a:ln/>
        </p:spPr>
        <p:txBody>
          <a:bodyPr wrap="square" lIns="0" tIns="0" rIns="0" bIns="0" rtlCol="0" anchor="ctr"/>
          <a:lstStyle/>
          <a:p>
            <a:pPr marL="0" indent="0">
              <a:buNone/>
            </a:pPr>
            <a:r>
              <a:rPr lang="en-US" sz="1300" b="1" dirty="0">
                <a:solidFill>
                  <a:srgbClr val="C1502F"/>
                </a:solidFill>
                <a:latin typeface="Courier New" pitchFamily="34" charset="0"/>
                <a:ea typeface="Courier New" pitchFamily="34" charset="-122"/>
                <a:cs typeface="Courier New" pitchFamily="34" charset="-120"/>
              </a:rPr>
              <a:t>fact_market</a:t>
            </a:r>
            <a:endParaRPr lang="en-US" sz="1300" dirty="0"/>
          </a:p>
        </p:txBody>
      </p:sp>
      <p:sp>
        <p:nvSpPr>
          <p:cNvPr id="12" name="Text 10"/>
          <p:cNvSpPr/>
          <p:nvPr/>
        </p:nvSpPr>
        <p:spPr>
          <a:xfrm>
            <a:off x="6400800" y="2377440"/>
            <a:ext cx="2359152" cy="2148840"/>
          </a:xfrm>
          <a:prstGeom prst="rect">
            <a:avLst/>
          </a:prstGeom>
          <a:noFill/>
          <a:ln/>
        </p:spPr>
        <p:txBody>
          <a:bodyPr wrap="square" lIns="0" tIns="0" rIns="0" bIns="0" rtlCol="0" anchor="ctr"/>
          <a:lstStyle/>
          <a:p>
            <a:pPr marL="0" indent="0">
              <a:lnSpc>
                <a:spcPct val="120000"/>
              </a:lnSpc>
              <a:buNone/>
            </a:pPr>
            <a:r>
              <a:rPr lang="en-US" sz="1050" dirty="0">
                <a:solidFill>
                  <a:srgbClr val="5B6B73"/>
                </a:solidFill>
                <a:latin typeface="Calibri" pitchFamily="34" charset="0"/>
                <a:ea typeface="Calibri" pitchFamily="34" charset="-122"/>
                <a:cs typeface="Calibri" pitchFamily="34" charset="-120"/>
              </a:rPr>
              <a:t>WFP prices filtered to real (Aggregated) rows for 4 basket commodities; converted to USD by each district's own monthly exchange rate; pivoted wide</a:t>
            </a:r>
            <a:endParaRPr lang="en-US" sz="1050" dirty="0"/>
          </a:p>
        </p:txBody>
      </p:sp>
      <p:sp>
        <p:nvSpPr>
          <p:cNvPr id="13" name="Shape 11"/>
          <p:cNvSpPr/>
          <p:nvPr/>
        </p:nvSpPr>
        <p:spPr>
          <a:xfrm>
            <a:off x="9052560" y="1783080"/>
            <a:ext cx="2724912" cy="2880360"/>
          </a:xfrm>
          <a:prstGeom prst="roundRect">
            <a:avLst>
              <a:gd name="adj" fmla="val 2349"/>
            </a:avLst>
          </a:prstGeom>
          <a:solidFill>
            <a:srgbClr val="F1E9DC"/>
          </a:solidFill>
          <a:ln/>
        </p:spPr>
      </p:sp>
      <p:sp>
        <p:nvSpPr>
          <p:cNvPr id="14" name="Text 12"/>
          <p:cNvSpPr/>
          <p:nvPr/>
        </p:nvSpPr>
        <p:spPr>
          <a:xfrm>
            <a:off x="9235440" y="1965960"/>
            <a:ext cx="2359152" cy="365760"/>
          </a:xfrm>
          <a:prstGeom prst="rect">
            <a:avLst/>
          </a:prstGeom>
          <a:noFill/>
          <a:ln/>
        </p:spPr>
        <p:txBody>
          <a:bodyPr wrap="square" lIns="0" tIns="0" rIns="0" bIns="0" rtlCol="0" anchor="ctr"/>
          <a:lstStyle/>
          <a:p>
            <a:pPr marL="0" indent="0">
              <a:buNone/>
            </a:pPr>
            <a:r>
              <a:rPr lang="en-US" sz="1300" b="1" dirty="0">
                <a:solidFill>
                  <a:srgbClr val="C1502F"/>
                </a:solidFill>
                <a:latin typeface="Courier New" pitchFamily="34" charset="0"/>
                <a:ea typeface="Courier New" pitchFamily="34" charset="-122"/>
                <a:cs typeface="Courier New" pitchFamily="34" charset="-120"/>
              </a:rPr>
              <a:t>fact_reporting</a:t>
            </a:r>
            <a:endParaRPr lang="en-US" sz="1300" dirty="0"/>
          </a:p>
        </p:txBody>
      </p:sp>
      <p:sp>
        <p:nvSpPr>
          <p:cNvPr id="15" name="Text 13"/>
          <p:cNvSpPr/>
          <p:nvPr/>
        </p:nvSpPr>
        <p:spPr>
          <a:xfrm>
            <a:off x="9235440" y="2377440"/>
            <a:ext cx="2359152" cy="2148840"/>
          </a:xfrm>
          <a:prstGeom prst="rect">
            <a:avLst/>
          </a:prstGeom>
          <a:noFill/>
          <a:ln/>
        </p:spPr>
        <p:txBody>
          <a:bodyPr wrap="square" lIns="0" tIns="0" rIns="0" bIns="0" rtlCol="0" anchor="ctr"/>
          <a:lstStyle/>
          <a:p>
            <a:pPr marL="0" indent="0">
              <a:lnSpc>
                <a:spcPct val="120000"/>
              </a:lnSpc>
              <a:buNone/>
            </a:pPr>
            <a:r>
              <a:rPr lang="en-US" sz="1050" dirty="0">
                <a:solidFill>
                  <a:srgbClr val="5B6B73"/>
                </a:solidFill>
                <a:latin typeface="Calibri" pitchFamily="34" charset="0"/>
                <a:ea typeface="Calibri" pitchFamily="34" charset="-122"/>
                <a:cs typeface="Calibri" pitchFamily="34" charset="-120"/>
              </a:rPr>
              <a:t>Each report's title &amp; body searched for district names + aliases; matches counted per district-month, then split further by theme tag</a:t>
            </a:r>
            <a:endParaRPr lang="en-US" sz="1050" dirty="0"/>
          </a:p>
        </p:txBody>
      </p:sp>
      <p:sp>
        <p:nvSpPr>
          <p:cNvPr id="16" name="Shape 14"/>
          <p:cNvSpPr/>
          <p:nvPr/>
        </p:nvSpPr>
        <p:spPr>
          <a:xfrm>
            <a:off x="6080760" y="4709160"/>
            <a:ext cx="0" cy="365760"/>
          </a:xfrm>
          <a:prstGeom prst="line">
            <a:avLst/>
          </a:prstGeom>
          <a:noFill/>
          <a:ln w="25400">
            <a:solidFill>
              <a:srgbClr val="D9D2C4"/>
            </a:solidFill>
            <a:prstDash val="solid"/>
            <a:tailEnd type="triangle"/>
          </a:ln>
        </p:spPr>
      </p:sp>
      <p:sp>
        <p:nvSpPr>
          <p:cNvPr id="17" name="Shape 15"/>
          <p:cNvSpPr/>
          <p:nvPr/>
        </p:nvSpPr>
        <p:spPr>
          <a:xfrm>
            <a:off x="2651760" y="5120640"/>
            <a:ext cx="6858000" cy="1051560"/>
          </a:xfrm>
          <a:prstGeom prst="roundRect">
            <a:avLst>
              <a:gd name="adj" fmla="val 6087"/>
            </a:avLst>
          </a:prstGeom>
          <a:solidFill>
            <a:srgbClr val="1B3A4B"/>
          </a:solidFill>
          <a:ln/>
        </p:spPr>
      </p:sp>
      <p:sp>
        <p:nvSpPr>
          <p:cNvPr id="18" name="Text 16"/>
          <p:cNvSpPr/>
          <p:nvPr/>
        </p:nvSpPr>
        <p:spPr>
          <a:xfrm>
            <a:off x="2880360" y="5230368"/>
            <a:ext cx="6400800" cy="822960"/>
          </a:xfrm>
          <a:prstGeom prst="rect">
            <a:avLst/>
          </a:prstGeom>
          <a:noFill/>
          <a:ln/>
        </p:spPr>
        <p:txBody>
          <a:bodyPr wrap="square" lIns="0" tIns="0" rIns="0" bIns="0" rtlCol="0" anchor="ctr"/>
          <a:lstStyle/>
          <a:p>
            <a:pPr marL="0" indent="0">
              <a:lnSpc>
                <a:spcPct val="120000"/>
              </a:lnSpc>
              <a:buNone/>
            </a:pPr>
            <a:r>
              <a:rPr lang="en-US" sz="1150" b="1" dirty="0">
                <a:solidFill>
                  <a:srgbClr val="E0876A"/>
                </a:solidFill>
                <a:latin typeface="Calibri" pitchFamily="34" charset="0"/>
                <a:ea typeface="Calibri" pitchFamily="34" charset="-122"/>
                <a:cs typeface="Calibri" pitchFamily="34" charset="-120"/>
              </a:rPr>
              <a:t>Merge: </a:t>
            </a:r>
            <a:r>
              <a:rPr lang="en-US" sz="1150" dirty="0">
                <a:solidFill>
                  <a:srgbClr val="FFFFFF"/>
                </a:solidFill>
                <a:latin typeface="Calibri" pitchFamily="34" charset="0"/>
                <a:ea typeface="Calibri" pitchFamily="34" charset="-122"/>
                <a:cs typeface="Calibri" pitchFamily="34" charset="-120"/>
              </a:rPr>
              <a:t>all four fact tables now share the same Admin2 × Month grain, so the merge is a direct join onto a dim_location × dim_time spine — no pivoting or disaggregation needed at this final step.</a:t>
            </a:r>
            <a:endParaRPr lang="en-US" sz="1150" dirty="0"/>
          </a:p>
        </p:txBody>
      </p:sp>
      <p:sp>
        <p:nvSpPr>
          <p:cNvPr id="19" name="Text 17"/>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What the tables actually look like (1/3)</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Dimension tables — shared reference data</a:t>
            </a:r>
            <a:endParaRPr lang="en-US" sz="1350" dirty="0"/>
          </a:p>
        </p:txBody>
      </p:sp>
      <p:sp>
        <p:nvSpPr>
          <p:cNvPr id="4" name="Text 2"/>
          <p:cNvSpPr/>
          <p:nvPr/>
        </p:nvSpPr>
        <p:spPr>
          <a:xfrm>
            <a:off x="548640" y="1737360"/>
            <a:ext cx="5486400" cy="32004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dim_location</a:t>
            </a:r>
            <a:endParaRPr lang="en-US" sz="1500" dirty="0"/>
          </a:p>
        </p:txBody>
      </p:sp>
      <p:sp>
        <p:nvSpPr>
          <p:cNvPr id="5" name="Shape 3"/>
          <p:cNvSpPr/>
          <p:nvPr/>
        </p:nvSpPr>
        <p:spPr>
          <a:xfrm>
            <a:off x="548640" y="2103120"/>
            <a:ext cx="11064240" cy="384048"/>
          </a:xfrm>
          <a:prstGeom prst="rect">
            <a:avLst/>
          </a:prstGeom>
          <a:solidFill>
            <a:srgbClr val="1B3A4B"/>
          </a:solidFill>
          <a:ln/>
        </p:spPr>
      </p:sp>
      <p:sp>
        <p:nvSpPr>
          <p:cNvPr id="6" name="Text 4"/>
          <p:cNvSpPr/>
          <p:nvPr/>
        </p:nvSpPr>
        <p:spPr>
          <a:xfrm>
            <a:off x="603504" y="2103120"/>
            <a:ext cx="2674620" cy="38404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location_id</a:t>
            </a:r>
            <a:endParaRPr lang="en-US" sz="1100" dirty="0"/>
          </a:p>
        </p:txBody>
      </p:sp>
      <p:sp>
        <p:nvSpPr>
          <p:cNvPr id="7" name="Text 5"/>
          <p:cNvSpPr/>
          <p:nvPr/>
        </p:nvSpPr>
        <p:spPr>
          <a:xfrm>
            <a:off x="3369564" y="2103120"/>
            <a:ext cx="212140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admin2</a:t>
            </a:r>
            <a:endParaRPr lang="en-US" sz="1100" dirty="0"/>
          </a:p>
        </p:txBody>
      </p:sp>
      <p:sp>
        <p:nvSpPr>
          <p:cNvPr id="8" name="Text 6"/>
          <p:cNvSpPr/>
          <p:nvPr/>
        </p:nvSpPr>
        <p:spPr>
          <a:xfrm>
            <a:off x="5582412" y="2103120"/>
            <a:ext cx="129159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latitude</a:t>
            </a:r>
            <a:endParaRPr lang="en-US" sz="1100" dirty="0"/>
          </a:p>
        </p:txBody>
      </p:sp>
      <p:sp>
        <p:nvSpPr>
          <p:cNvPr id="9" name="Text 7"/>
          <p:cNvSpPr/>
          <p:nvPr/>
        </p:nvSpPr>
        <p:spPr>
          <a:xfrm>
            <a:off x="6965442" y="2103120"/>
            <a:ext cx="129159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longitude</a:t>
            </a:r>
            <a:endParaRPr lang="en-US" sz="1100" dirty="0"/>
          </a:p>
        </p:txBody>
      </p:sp>
      <p:sp>
        <p:nvSpPr>
          <p:cNvPr id="10" name="Text 8"/>
          <p:cNvSpPr/>
          <p:nvPr/>
        </p:nvSpPr>
        <p:spPr>
          <a:xfrm>
            <a:off x="8348472" y="2103120"/>
            <a:ext cx="129159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area_km2</a:t>
            </a:r>
            <a:endParaRPr lang="en-US" sz="1100" dirty="0"/>
          </a:p>
        </p:txBody>
      </p:sp>
      <p:sp>
        <p:nvSpPr>
          <p:cNvPr id="11" name="Text 9"/>
          <p:cNvSpPr/>
          <p:nvPr/>
        </p:nvSpPr>
        <p:spPr>
          <a:xfrm>
            <a:off x="9731502" y="2103120"/>
            <a:ext cx="1844802"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has_market_coverage</a:t>
            </a:r>
            <a:endParaRPr lang="en-US" sz="1100" dirty="0"/>
          </a:p>
        </p:txBody>
      </p:sp>
      <p:sp>
        <p:nvSpPr>
          <p:cNvPr id="12" name="Shape 10"/>
          <p:cNvSpPr/>
          <p:nvPr/>
        </p:nvSpPr>
        <p:spPr>
          <a:xfrm>
            <a:off x="548640" y="2487168"/>
            <a:ext cx="11064240" cy="438912"/>
          </a:xfrm>
          <a:prstGeom prst="rect">
            <a:avLst/>
          </a:prstGeom>
          <a:solidFill>
            <a:srgbClr val="F1E9DC"/>
          </a:solidFill>
          <a:ln/>
        </p:spPr>
      </p:sp>
      <p:sp>
        <p:nvSpPr>
          <p:cNvPr id="13" name="Text 11"/>
          <p:cNvSpPr/>
          <p:nvPr/>
        </p:nvSpPr>
        <p:spPr>
          <a:xfrm>
            <a:off x="603504" y="2487168"/>
            <a:ext cx="2674620" cy="438912"/>
          </a:xfrm>
          <a:prstGeom prst="rect">
            <a:avLst/>
          </a:prstGeom>
          <a:noFill/>
          <a:ln/>
        </p:spPr>
        <p:txBody>
          <a:bodyPr wrap="square" lIns="0" tIns="0" rIns="0" bIns="0" rtlCol="0" anchor="ctr"/>
          <a:lstStyle/>
          <a:p>
            <a:pPr marL="0" indent="0" algn="l">
              <a:buNone/>
            </a:pPr>
            <a:r>
              <a:rPr lang="en-US" sz="1150" dirty="0">
                <a:solidFill>
                  <a:srgbClr val="1B3A4B"/>
                </a:solidFill>
                <a:latin typeface="Courier New" pitchFamily="34" charset="0"/>
                <a:ea typeface="Courier New" pitchFamily="34" charset="-122"/>
                <a:cs typeface="Courier New" pitchFamily="34" charset="-120"/>
              </a:rPr>
              <a:t>SO_BANADIR</a:t>
            </a:r>
            <a:endParaRPr lang="en-US" sz="1150" dirty="0"/>
          </a:p>
        </p:txBody>
      </p:sp>
      <p:sp>
        <p:nvSpPr>
          <p:cNvPr id="14" name="Text 12"/>
          <p:cNvSpPr/>
          <p:nvPr/>
        </p:nvSpPr>
        <p:spPr>
          <a:xfrm>
            <a:off x="3369564" y="2487168"/>
            <a:ext cx="2121408"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Banadir</a:t>
            </a:r>
            <a:endParaRPr lang="en-US" sz="1150" dirty="0"/>
          </a:p>
        </p:txBody>
      </p:sp>
      <p:sp>
        <p:nvSpPr>
          <p:cNvPr id="15" name="Text 13"/>
          <p:cNvSpPr/>
          <p:nvPr/>
        </p:nvSpPr>
        <p:spPr>
          <a:xfrm>
            <a:off x="5582412" y="2487168"/>
            <a:ext cx="129159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2.109122</a:t>
            </a:r>
            <a:endParaRPr lang="en-US" sz="1150" dirty="0"/>
          </a:p>
        </p:txBody>
      </p:sp>
      <p:sp>
        <p:nvSpPr>
          <p:cNvPr id="16" name="Text 14"/>
          <p:cNvSpPr/>
          <p:nvPr/>
        </p:nvSpPr>
        <p:spPr>
          <a:xfrm>
            <a:off x="6965442" y="2487168"/>
            <a:ext cx="129159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45.424251</a:t>
            </a:r>
            <a:endParaRPr lang="en-US" sz="1150" dirty="0"/>
          </a:p>
        </p:txBody>
      </p:sp>
      <p:sp>
        <p:nvSpPr>
          <p:cNvPr id="17" name="Text 15"/>
          <p:cNvSpPr/>
          <p:nvPr/>
        </p:nvSpPr>
        <p:spPr>
          <a:xfrm>
            <a:off x="8348472" y="2487168"/>
            <a:ext cx="129159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210.88</a:t>
            </a:r>
            <a:endParaRPr lang="en-US" sz="1150" dirty="0"/>
          </a:p>
        </p:txBody>
      </p:sp>
      <p:sp>
        <p:nvSpPr>
          <p:cNvPr id="18" name="Text 16"/>
          <p:cNvSpPr/>
          <p:nvPr/>
        </p:nvSpPr>
        <p:spPr>
          <a:xfrm>
            <a:off x="9731502" y="2487168"/>
            <a:ext cx="1844802"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True</a:t>
            </a:r>
            <a:endParaRPr lang="en-US" sz="1150" dirty="0"/>
          </a:p>
        </p:txBody>
      </p:sp>
      <p:sp>
        <p:nvSpPr>
          <p:cNvPr id="19" name="Shape 17"/>
          <p:cNvSpPr/>
          <p:nvPr/>
        </p:nvSpPr>
        <p:spPr>
          <a:xfrm>
            <a:off x="548640" y="2926080"/>
            <a:ext cx="11064240" cy="438912"/>
          </a:xfrm>
          <a:prstGeom prst="rect">
            <a:avLst/>
          </a:prstGeom>
          <a:solidFill>
            <a:srgbClr val="FFFFFF"/>
          </a:solidFill>
          <a:ln/>
        </p:spPr>
      </p:sp>
      <p:sp>
        <p:nvSpPr>
          <p:cNvPr id="20" name="Text 18"/>
          <p:cNvSpPr/>
          <p:nvPr/>
        </p:nvSpPr>
        <p:spPr>
          <a:xfrm>
            <a:off x="603504" y="2926080"/>
            <a:ext cx="2674620" cy="438912"/>
          </a:xfrm>
          <a:prstGeom prst="rect">
            <a:avLst/>
          </a:prstGeom>
          <a:noFill/>
          <a:ln/>
        </p:spPr>
        <p:txBody>
          <a:bodyPr wrap="square" lIns="0" tIns="0" rIns="0" bIns="0" rtlCol="0" anchor="ctr"/>
          <a:lstStyle/>
          <a:p>
            <a:pPr marL="0" indent="0" algn="l">
              <a:buNone/>
            </a:pPr>
            <a:r>
              <a:rPr lang="en-US" sz="1150" dirty="0">
                <a:solidFill>
                  <a:srgbClr val="1B3A4B"/>
                </a:solidFill>
                <a:latin typeface="Courier New" pitchFamily="34" charset="0"/>
                <a:ea typeface="Courier New" pitchFamily="34" charset="-122"/>
                <a:cs typeface="Courier New" pitchFamily="34" charset="-120"/>
              </a:rPr>
              <a:t>SO_CEERIGAABO</a:t>
            </a:r>
            <a:endParaRPr lang="en-US" sz="1150" dirty="0"/>
          </a:p>
        </p:txBody>
      </p:sp>
      <p:sp>
        <p:nvSpPr>
          <p:cNvPr id="21" name="Text 19"/>
          <p:cNvSpPr/>
          <p:nvPr/>
        </p:nvSpPr>
        <p:spPr>
          <a:xfrm>
            <a:off x="3369564" y="2926080"/>
            <a:ext cx="2121408"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Ceerigaabo</a:t>
            </a:r>
            <a:endParaRPr lang="en-US" sz="1150" dirty="0"/>
          </a:p>
        </p:txBody>
      </p:sp>
      <p:sp>
        <p:nvSpPr>
          <p:cNvPr id="22" name="Text 20"/>
          <p:cNvSpPr/>
          <p:nvPr/>
        </p:nvSpPr>
        <p:spPr>
          <a:xfrm>
            <a:off x="5582412" y="2926080"/>
            <a:ext cx="129159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10.4021</a:t>
            </a:r>
            <a:endParaRPr lang="en-US" sz="1150" dirty="0"/>
          </a:p>
        </p:txBody>
      </p:sp>
      <p:sp>
        <p:nvSpPr>
          <p:cNvPr id="23" name="Text 21"/>
          <p:cNvSpPr/>
          <p:nvPr/>
        </p:nvSpPr>
        <p:spPr>
          <a:xfrm>
            <a:off x="6965442" y="2926080"/>
            <a:ext cx="129159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47.3667</a:t>
            </a:r>
            <a:endParaRPr lang="en-US" sz="1150" dirty="0"/>
          </a:p>
        </p:txBody>
      </p:sp>
      <p:sp>
        <p:nvSpPr>
          <p:cNvPr id="24" name="Text 22"/>
          <p:cNvSpPr/>
          <p:nvPr/>
        </p:nvSpPr>
        <p:spPr>
          <a:xfrm>
            <a:off x="8348472" y="2926080"/>
            <a:ext cx="129159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25,883.61</a:t>
            </a:r>
            <a:endParaRPr lang="en-US" sz="1150" dirty="0"/>
          </a:p>
        </p:txBody>
      </p:sp>
      <p:sp>
        <p:nvSpPr>
          <p:cNvPr id="25" name="Text 23"/>
          <p:cNvSpPr/>
          <p:nvPr/>
        </p:nvSpPr>
        <p:spPr>
          <a:xfrm>
            <a:off x="9731502" y="2926080"/>
            <a:ext cx="1844802"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True</a:t>
            </a:r>
            <a:endParaRPr lang="en-US" sz="1150" dirty="0"/>
          </a:p>
        </p:txBody>
      </p:sp>
      <p:sp>
        <p:nvSpPr>
          <p:cNvPr id="26" name="Shape 24"/>
          <p:cNvSpPr/>
          <p:nvPr/>
        </p:nvSpPr>
        <p:spPr>
          <a:xfrm>
            <a:off x="548640" y="3364992"/>
            <a:ext cx="11064240" cy="438912"/>
          </a:xfrm>
          <a:prstGeom prst="rect">
            <a:avLst/>
          </a:prstGeom>
          <a:solidFill>
            <a:srgbClr val="F1E9DC"/>
          </a:solidFill>
          <a:ln/>
        </p:spPr>
      </p:sp>
      <p:sp>
        <p:nvSpPr>
          <p:cNvPr id="27" name="Text 25"/>
          <p:cNvSpPr/>
          <p:nvPr/>
        </p:nvSpPr>
        <p:spPr>
          <a:xfrm>
            <a:off x="603504" y="3364992"/>
            <a:ext cx="2674620" cy="438912"/>
          </a:xfrm>
          <a:prstGeom prst="rect">
            <a:avLst/>
          </a:prstGeom>
          <a:noFill/>
          <a:ln/>
        </p:spPr>
        <p:txBody>
          <a:bodyPr wrap="square" lIns="0" tIns="0" rIns="0" bIns="0" rtlCol="0" anchor="ctr"/>
          <a:lstStyle/>
          <a:p>
            <a:pPr marL="0" indent="0" algn="l">
              <a:buNone/>
            </a:pPr>
            <a:r>
              <a:rPr lang="en-US" sz="1150" dirty="0">
                <a:solidFill>
                  <a:srgbClr val="1B3A4B"/>
                </a:solidFill>
                <a:latin typeface="Courier New" pitchFamily="34" charset="0"/>
                <a:ea typeface="Courier New" pitchFamily="34" charset="-122"/>
                <a:cs typeface="Courier New" pitchFamily="34" charset="-120"/>
              </a:rPr>
              <a:t>SO_AADAN</a:t>
            </a:r>
            <a:endParaRPr lang="en-US" sz="1150" dirty="0"/>
          </a:p>
        </p:txBody>
      </p:sp>
      <p:sp>
        <p:nvSpPr>
          <p:cNvPr id="28" name="Text 26"/>
          <p:cNvSpPr/>
          <p:nvPr/>
        </p:nvSpPr>
        <p:spPr>
          <a:xfrm>
            <a:off x="3369564" y="3364992"/>
            <a:ext cx="2121408"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Aadan</a:t>
            </a:r>
            <a:endParaRPr lang="en-US" sz="1150" dirty="0"/>
          </a:p>
        </p:txBody>
      </p:sp>
      <p:sp>
        <p:nvSpPr>
          <p:cNvPr id="29" name="Text 27"/>
          <p:cNvSpPr/>
          <p:nvPr/>
        </p:nvSpPr>
        <p:spPr>
          <a:xfrm>
            <a:off x="5582412" y="3364992"/>
            <a:ext cx="129159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a:t>
            </a:r>
            <a:endParaRPr lang="en-US" sz="1150" dirty="0"/>
          </a:p>
        </p:txBody>
      </p:sp>
      <p:sp>
        <p:nvSpPr>
          <p:cNvPr id="30" name="Text 28"/>
          <p:cNvSpPr/>
          <p:nvPr/>
        </p:nvSpPr>
        <p:spPr>
          <a:xfrm>
            <a:off x="6965442" y="3364992"/>
            <a:ext cx="129159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a:t>
            </a:r>
            <a:endParaRPr lang="en-US" sz="1150" dirty="0"/>
          </a:p>
        </p:txBody>
      </p:sp>
      <p:sp>
        <p:nvSpPr>
          <p:cNvPr id="31" name="Text 29"/>
          <p:cNvSpPr/>
          <p:nvPr/>
        </p:nvSpPr>
        <p:spPr>
          <a:xfrm>
            <a:off x="8348472" y="3364992"/>
            <a:ext cx="129159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a:t>
            </a:r>
            <a:endParaRPr lang="en-US" sz="1150" dirty="0"/>
          </a:p>
        </p:txBody>
      </p:sp>
      <p:sp>
        <p:nvSpPr>
          <p:cNvPr id="32" name="Text 30"/>
          <p:cNvSpPr/>
          <p:nvPr/>
        </p:nvSpPr>
        <p:spPr>
          <a:xfrm>
            <a:off x="9731502" y="3364992"/>
            <a:ext cx="1844802"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False</a:t>
            </a:r>
            <a:endParaRPr lang="en-US" sz="1150" dirty="0"/>
          </a:p>
        </p:txBody>
      </p:sp>
      <p:sp>
        <p:nvSpPr>
          <p:cNvPr id="33" name="Text 31"/>
          <p:cNvSpPr/>
          <p:nvPr/>
        </p:nvSpPr>
        <p:spPr>
          <a:xfrm>
            <a:off x="548640" y="4306824"/>
            <a:ext cx="5486400" cy="32004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dim_time</a:t>
            </a:r>
            <a:endParaRPr lang="en-US" sz="1500" dirty="0"/>
          </a:p>
        </p:txBody>
      </p:sp>
      <p:sp>
        <p:nvSpPr>
          <p:cNvPr id="34" name="Shape 32"/>
          <p:cNvSpPr/>
          <p:nvPr/>
        </p:nvSpPr>
        <p:spPr>
          <a:xfrm>
            <a:off x="548640" y="4672584"/>
            <a:ext cx="6858000" cy="384048"/>
          </a:xfrm>
          <a:prstGeom prst="rect">
            <a:avLst/>
          </a:prstGeom>
          <a:solidFill>
            <a:srgbClr val="1B3A4B"/>
          </a:solidFill>
          <a:ln/>
        </p:spPr>
      </p:sp>
      <p:sp>
        <p:nvSpPr>
          <p:cNvPr id="35" name="Text 33"/>
          <p:cNvSpPr/>
          <p:nvPr/>
        </p:nvSpPr>
        <p:spPr>
          <a:xfrm>
            <a:off x="603504" y="4672584"/>
            <a:ext cx="1846690" cy="38404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time_id</a:t>
            </a:r>
            <a:endParaRPr lang="en-US" sz="1100" dirty="0"/>
          </a:p>
        </p:txBody>
      </p:sp>
      <p:sp>
        <p:nvSpPr>
          <p:cNvPr id="36" name="Text 34"/>
          <p:cNvSpPr/>
          <p:nvPr/>
        </p:nvSpPr>
        <p:spPr>
          <a:xfrm>
            <a:off x="2541634" y="4672584"/>
            <a:ext cx="139943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year</a:t>
            </a:r>
            <a:endParaRPr lang="en-US" sz="1100" dirty="0"/>
          </a:p>
        </p:txBody>
      </p:sp>
      <p:sp>
        <p:nvSpPr>
          <p:cNvPr id="37" name="Text 35"/>
          <p:cNvSpPr/>
          <p:nvPr/>
        </p:nvSpPr>
        <p:spPr>
          <a:xfrm>
            <a:off x="4032504" y="4672584"/>
            <a:ext cx="139943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month_number</a:t>
            </a:r>
            <a:endParaRPr lang="en-US" sz="1100" dirty="0"/>
          </a:p>
        </p:txBody>
      </p:sp>
      <p:sp>
        <p:nvSpPr>
          <p:cNvPr id="38" name="Text 36"/>
          <p:cNvSpPr/>
          <p:nvPr/>
        </p:nvSpPr>
        <p:spPr>
          <a:xfrm>
            <a:off x="5523374" y="4672584"/>
            <a:ext cx="184669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month_name</a:t>
            </a:r>
            <a:endParaRPr lang="en-US" sz="1100" dirty="0"/>
          </a:p>
        </p:txBody>
      </p:sp>
      <p:sp>
        <p:nvSpPr>
          <p:cNvPr id="39" name="Shape 37"/>
          <p:cNvSpPr/>
          <p:nvPr/>
        </p:nvSpPr>
        <p:spPr>
          <a:xfrm>
            <a:off x="548640" y="5056632"/>
            <a:ext cx="6858000" cy="438912"/>
          </a:xfrm>
          <a:prstGeom prst="rect">
            <a:avLst/>
          </a:prstGeom>
          <a:solidFill>
            <a:srgbClr val="F1E9DC"/>
          </a:solidFill>
          <a:ln/>
        </p:spPr>
      </p:sp>
      <p:sp>
        <p:nvSpPr>
          <p:cNvPr id="40" name="Text 38"/>
          <p:cNvSpPr/>
          <p:nvPr/>
        </p:nvSpPr>
        <p:spPr>
          <a:xfrm>
            <a:off x="603504" y="5056632"/>
            <a:ext cx="1846690" cy="438912"/>
          </a:xfrm>
          <a:prstGeom prst="rect">
            <a:avLst/>
          </a:prstGeom>
          <a:noFill/>
          <a:ln/>
        </p:spPr>
        <p:txBody>
          <a:bodyPr wrap="square" lIns="0" tIns="0" rIns="0" bIns="0" rtlCol="0" anchor="ctr"/>
          <a:lstStyle/>
          <a:p>
            <a:pPr marL="0" indent="0" algn="l">
              <a:buNone/>
            </a:pPr>
            <a:r>
              <a:rPr lang="en-US" sz="1150" dirty="0">
                <a:solidFill>
                  <a:srgbClr val="1B3A4B"/>
                </a:solidFill>
                <a:latin typeface="Courier New" pitchFamily="34" charset="0"/>
                <a:ea typeface="Courier New" pitchFamily="34" charset="-122"/>
                <a:cs typeface="Courier New" pitchFamily="34" charset="-120"/>
              </a:rPr>
              <a:t>202401</a:t>
            </a:r>
            <a:endParaRPr lang="en-US" sz="1150" dirty="0"/>
          </a:p>
        </p:txBody>
      </p:sp>
      <p:sp>
        <p:nvSpPr>
          <p:cNvPr id="41" name="Text 39"/>
          <p:cNvSpPr/>
          <p:nvPr/>
        </p:nvSpPr>
        <p:spPr>
          <a:xfrm>
            <a:off x="2541634" y="5056632"/>
            <a:ext cx="139943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2024</a:t>
            </a:r>
            <a:endParaRPr lang="en-US" sz="1150" dirty="0"/>
          </a:p>
        </p:txBody>
      </p:sp>
      <p:sp>
        <p:nvSpPr>
          <p:cNvPr id="42" name="Text 40"/>
          <p:cNvSpPr/>
          <p:nvPr/>
        </p:nvSpPr>
        <p:spPr>
          <a:xfrm>
            <a:off x="4032504" y="5056632"/>
            <a:ext cx="139943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1</a:t>
            </a:r>
            <a:endParaRPr lang="en-US" sz="1150" dirty="0"/>
          </a:p>
        </p:txBody>
      </p:sp>
      <p:sp>
        <p:nvSpPr>
          <p:cNvPr id="43" name="Text 41"/>
          <p:cNvSpPr/>
          <p:nvPr/>
        </p:nvSpPr>
        <p:spPr>
          <a:xfrm>
            <a:off x="5523374" y="5056632"/>
            <a:ext cx="184669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January</a:t>
            </a:r>
            <a:endParaRPr lang="en-US" sz="1150" dirty="0"/>
          </a:p>
        </p:txBody>
      </p:sp>
      <p:sp>
        <p:nvSpPr>
          <p:cNvPr id="44" name="Shape 42"/>
          <p:cNvSpPr/>
          <p:nvPr/>
        </p:nvSpPr>
        <p:spPr>
          <a:xfrm>
            <a:off x="548640" y="5495544"/>
            <a:ext cx="6858000" cy="438912"/>
          </a:xfrm>
          <a:prstGeom prst="rect">
            <a:avLst/>
          </a:prstGeom>
          <a:solidFill>
            <a:srgbClr val="FFFFFF"/>
          </a:solidFill>
          <a:ln/>
        </p:spPr>
      </p:sp>
      <p:sp>
        <p:nvSpPr>
          <p:cNvPr id="45" name="Text 43"/>
          <p:cNvSpPr/>
          <p:nvPr/>
        </p:nvSpPr>
        <p:spPr>
          <a:xfrm>
            <a:off x="603504" y="5495544"/>
            <a:ext cx="1846690" cy="438912"/>
          </a:xfrm>
          <a:prstGeom prst="rect">
            <a:avLst/>
          </a:prstGeom>
          <a:noFill/>
          <a:ln/>
        </p:spPr>
        <p:txBody>
          <a:bodyPr wrap="square" lIns="0" tIns="0" rIns="0" bIns="0" rtlCol="0" anchor="ctr"/>
          <a:lstStyle/>
          <a:p>
            <a:pPr marL="0" indent="0" algn="l">
              <a:buNone/>
            </a:pPr>
            <a:r>
              <a:rPr lang="en-US" sz="1150" dirty="0">
                <a:solidFill>
                  <a:srgbClr val="1B3A4B"/>
                </a:solidFill>
                <a:latin typeface="Courier New" pitchFamily="34" charset="0"/>
                <a:ea typeface="Courier New" pitchFamily="34" charset="-122"/>
                <a:cs typeface="Courier New" pitchFamily="34" charset="-120"/>
              </a:rPr>
              <a:t>202402</a:t>
            </a:r>
            <a:endParaRPr lang="en-US" sz="1150" dirty="0"/>
          </a:p>
        </p:txBody>
      </p:sp>
      <p:sp>
        <p:nvSpPr>
          <p:cNvPr id="46" name="Text 44"/>
          <p:cNvSpPr/>
          <p:nvPr/>
        </p:nvSpPr>
        <p:spPr>
          <a:xfrm>
            <a:off x="2541634" y="5495544"/>
            <a:ext cx="139943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2024</a:t>
            </a:r>
            <a:endParaRPr lang="en-US" sz="1150" dirty="0"/>
          </a:p>
        </p:txBody>
      </p:sp>
      <p:sp>
        <p:nvSpPr>
          <p:cNvPr id="47" name="Text 45"/>
          <p:cNvSpPr/>
          <p:nvPr/>
        </p:nvSpPr>
        <p:spPr>
          <a:xfrm>
            <a:off x="4032504" y="5495544"/>
            <a:ext cx="139943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a:t>
            </a:r>
            <a:endParaRPr lang="en-US" sz="1150" dirty="0"/>
          </a:p>
        </p:txBody>
      </p:sp>
      <p:sp>
        <p:nvSpPr>
          <p:cNvPr id="48" name="Text 46"/>
          <p:cNvSpPr/>
          <p:nvPr/>
        </p:nvSpPr>
        <p:spPr>
          <a:xfrm>
            <a:off x="5523374" y="5495544"/>
            <a:ext cx="1846690"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February</a:t>
            </a:r>
            <a:endParaRPr lang="en-US" sz="1150" dirty="0"/>
          </a:p>
        </p:txBody>
      </p:sp>
      <p:sp>
        <p:nvSpPr>
          <p:cNvPr id="50" name="Text 48"/>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What the tables actually look like (2/3)</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Conflict and climate — both at Admin2 × Month grain</a:t>
            </a:r>
            <a:endParaRPr lang="en-US" sz="1350" dirty="0"/>
          </a:p>
        </p:txBody>
      </p:sp>
      <p:sp>
        <p:nvSpPr>
          <p:cNvPr id="4" name="Text 2"/>
          <p:cNvSpPr/>
          <p:nvPr/>
        </p:nvSpPr>
        <p:spPr>
          <a:xfrm>
            <a:off x="548640" y="1737360"/>
            <a:ext cx="5486400" cy="32004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fact_conflict</a:t>
            </a:r>
            <a:endParaRPr lang="en-US" sz="1500" dirty="0"/>
          </a:p>
        </p:txBody>
      </p:sp>
      <p:sp>
        <p:nvSpPr>
          <p:cNvPr id="5" name="Shape 3"/>
          <p:cNvSpPr/>
          <p:nvPr/>
        </p:nvSpPr>
        <p:spPr>
          <a:xfrm>
            <a:off x="548640" y="2103120"/>
            <a:ext cx="11064240" cy="384048"/>
          </a:xfrm>
          <a:prstGeom prst="rect">
            <a:avLst/>
          </a:prstGeom>
          <a:solidFill>
            <a:srgbClr val="1B3A4B"/>
          </a:solidFill>
          <a:ln/>
        </p:spPr>
      </p:sp>
      <p:sp>
        <p:nvSpPr>
          <p:cNvPr id="6" name="Text 4"/>
          <p:cNvSpPr/>
          <p:nvPr/>
        </p:nvSpPr>
        <p:spPr>
          <a:xfrm>
            <a:off x="603504" y="2103120"/>
            <a:ext cx="2289472" cy="38404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location_id</a:t>
            </a:r>
            <a:endParaRPr lang="en-US" sz="1100" dirty="0"/>
          </a:p>
        </p:txBody>
      </p:sp>
      <p:sp>
        <p:nvSpPr>
          <p:cNvPr id="7" name="Text 5"/>
          <p:cNvSpPr/>
          <p:nvPr/>
        </p:nvSpPr>
        <p:spPr>
          <a:xfrm>
            <a:off x="2984416" y="2103120"/>
            <a:ext cx="1309097"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time_id</a:t>
            </a:r>
            <a:endParaRPr lang="en-US" sz="1100" dirty="0"/>
          </a:p>
        </p:txBody>
      </p:sp>
      <p:sp>
        <p:nvSpPr>
          <p:cNvPr id="8" name="Text 6"/>
          <p:cNvSpPr/>
          <p:nvPr/>
        </p:nvSpPr>
        <p:spPr>
          <a:xfrm>
            <a:off x="4384953" y="2103120"/>
            <a:ext cx="2009365"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conflict_event_count</a:t>
            </a:r>
            <a:endParaRPr lang="en-US" sz="1100" dirty="0"/>
          </a:p>
        </p:txBody>
      </p:sp>
      <p:sp>
        <p:nvSpPr>
          <p:cNvPr id="9" name="Text 7"/>
          <p:cNvSpPr/>
          <p:nvPr/>
        </p:nvSpPr>
        <p:spPr>
          <a:xfrm>
            <a:off x="6485758" y="2103120"/>
            <a:ext cx="1309097"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fatalities</a:t>
            </a:r>
            <a:endParaRPr lang="en-US" sz="1100" dirty="0"/>
          </a:p>
        </p:txBody>
      </p:sp>
      <p:sp>
        <p:nvSpPr>
          <p:cNvPr id="10" name="Text 8"/>
          <p:cNvSpPr/>
          <p:nvPr/>
        </p:nvSpPr>
        <p:spPr>
          <a:xfrm>
            <a:off x="7886295" y="2103120"/>
            <a:ext cx="172925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conflict_density</a:t>
            </a:r>
            <a:endParaRPr lang="en-US" sz="1100" dirty="0"/>
          </a:p>
        </p:txBody>
      </p:sp>
      <p:sp>
        <p:nvSpPr>
          <p:cNvPr id="11" name="Text 9"/>
          <p:cNvSpPr/>
          <p:nvPr/>
        </p:nvSpPr>
        <p:spPr>
          <a:xfrm>
            <a:off x="9706993" y="2103120"/>
            <a:ext cx="1869311"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conflict_trend_pct</a:t>
            </a:r>
            <a:endParaRPr lang="en-US" sz="1100" dirty="0"/>
          </a:p>
        </p:txBody>
      </p:sp>
      <p:sp>
        <p:nvSpPr>
          <p:cNvPr id="12" name="Shape 10"/>
          <p:cNvSpPr/>
          <p:nvPr/>
        </p:nvSpPr>
        <p:spPr>
          <a:xfrm>
            <a:off x="548640" y="2487168"/>
            <a:ext cx="11064240" cy="438912"/>
          </a:xfrm>
          <a:prstGeom prst="rect">
            <a:avLst/>
          </a:prstGeom>
          <a:solidFill>
            <a:srgbClr val="F1E9DC"/>
          </a:solidFill>
          <a:ln/>
        </p:spPr>
      </p:sp>
      <p:sp>
        <p:nvSpPr>
          <p:cNvPr id="13" name="Text 11"/>
          <p:cNvSpPr/>
          <p:nvPr/>
        </p:nvSpPr>
        <p:spPr>
          <a:xfrm>
            <a:off x="603504" y="2487168"/>
            <a:ext cx="2289472" cy="438912"/>
          </a:xfrm>
          <a:prstGeom prst="rect">
            <a:avLst/>
          </a:prstGeom>
          <a:noFill/>
          <a:ln/>
        </p:spPr>
        <p:txBody>
          <a:bodyPr wrap="square" lIns="0" tIns="0" rIns="0" bIns="0" rtlCol="0" anchor="ctr"/>
          <a:lstStyle/>
          <a:p>
            <a:pPr marL="0" indent="0" algn="l">
              <a:buNone/>
            </a:pPr>
            <a:r>
              <a:rPr lang="en-US" sz="1150" dirty="0">
                <a:solidFill>
                  <a:srgbClr val="1B3A4B"/>
                </a:solidFill>
                <a:latin typeface="Courier New" pitchFamily="34" charset="0"/>
                <a:ea typeface="Courier New" pitchFamily="34" charset="-122"/>
                <a:cs typeface="Courier New" pitchFamily="34" charset="-120"/>
              </a:rPr>
              <a:t>SO_BANADIR</a:t>
            </a:r>
            <a:endParaRPr lang="en-US" sz="1150" dirty="0"/>
          </a:p>
        </p:txBody>
      </p:sp>
      <p:sp>
        <p:nvSpPr>
          <p:cNvPr id="14" name="Text 12"/>
          <p:cNvSpPr/>
          <p:nvPr/>
        </p:nvSpPr>
        <p:spPr>
          <a:xfrm>
            <a:off x="2984416" y="2487168"/>
            <a:ext cx="1309097"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202401</a:t>
            </a:r>
            <a:endParaRPr lang="en-US" sz="1150" dirty="0"/>
          </a:p>
        </p:txBody>
      </p:sp>
      <p:sp>
        <p:nvSpPr>
          <p:cNvPr id="15" name="Text 13"/>
          <p:cNvSpPr/>
          <p:nvPr/>
        </p:nvSpPr>
        <p:spPr>
          <a:xfrm>
            <a:off x="4384953" y="2487168"/>
            <a:ext cx="2009365"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53</a:t>
            </a:r>
            <a:endParaRPr lang="en-US" sz="1150" dirty="0"/>
          </a:p>
        </p:txBody>
      </p:sp>
      <p:sp>
        <p:nvSpPr>
          <p:cNvPr id="16" name="Text 14"/>
          <p:cNvSpPr/>
          <p:nvPr/>
        </p:nvSpPr>
        <p:spPr>
          <a:xfrm>
            <a:off x="6485758" y="2487168"/>
            <a:ext cx="1309097"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39</a:t>
            </a:r>
            <a:endParaRPr lang="en-US" sz="1150" dirty="0"/>
          </a:p>
        </p:txBody>
      </p:sp>
      <p:sp>
        <p:nvSpPr>
          <p:cNvPr id="17" name="Text 15"/>
          <p:cNvSpPr/>
          <p:nvPr/>
        </p:nvSpPr>
        <p:spPr>
          <a:xfrm>
            <a:off x="7886295" y="2487168"/>
            <a:ext cx="1729258"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0.25</a:t>
            </a:r>
            <a:endParaRPr lang="en-US" sz="1150" dirty="0"/>
          </a:p>
        </p:txBody>
      </p:sp>
      <p:sp>
        <p:nvSpPr>
          <p:cNvPr id="18" name="Text 16"/>
          <p:cNvSpPr/>
          <p:nvPr/>
        </p:nvSpPr>
        <p:spPr>
          <a:xfrm>
            <a:off x="9706993" y="2487168"/>
            <a:ext cx="1869311"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a:t>
            </a:r>
            <a:endParaRPr lang="en-US" sz="1150" dirty="0"/>
          </a:p>
        </p:txBody>
      </p:sp>
      <p:sp>
        <p:nvSpPr>
          <p:cNvPr id="19" name="Shape 17"/>
          <p:cNvSpPr/>
          <p:nvPr/>
        </p:nvSpPr>
        <p:spPr>
          <a:xfrm>
            <a:off x="548640" y="2926080"/>
            <a:ext cx="11064240" cy="438912"/>
          </a:xfrm>
          <a:prstGeom prst="rect">
            <a:avLst/>
          </a:prstGeom>
          <a:solidFill>
            <a:srgbClr val="FFFFFF"/>
          </a:solidFill>
          <a:ln/>
        </p:spPr>
      </p:sp>
      <p:sp>
        <p:nvSpPr>
          <p:cNvPr id="20" name="Text 18"/>
          <p:cNvSpPr/>
          <p:nvPr/>
        </p:nvSpPr>
        <p:spPr>
          <a:xfrm>
            <a:off x="603504" y="2926080"/>
            <a:ext cx="2289472" cy="438912"/>
          </a:xfrm>
          <a:prstGeom prst="rect">
            <a:avLst/>
          </a:prstGeom>
          <a:noFill/>
          <a:ln/>
        </p:spPr>
        <p:txBody>
          <a:bodyPr wrap="square" lIns="0" tIns="0" rIns="0" bIns="0" rtlCol="0" anchor="ctr"/>
          <a:lstStyle/>
          <a:p>
            <a:pPr marL="0" indent="0" algn="l">
              <a:buNone/>
            </a:pPr>
            <a:r>
              <a:rPr lang="en-US" sz="1150" dirty="0">
                <a:solidFill>
                  <a:srgbClr val="1B3A4B"/>
                </a:solidFill>
                <a:latin typeface="Courier New" pitchFamily="34" charset="0"/>
                <a:ea typeface="Courier New" pitchFamily="34" charset="-122"/>
                <a:cs typeface="Courier New" pitchFamily="34" charset="-120"/>
              </a:rPr>
              <a:t>SO_BANADIR</a:t>
            </a:r>
            <a:endParaRPr lang="en-US" sz="1150" dirty="0"/>
          </a:p>
        </p:txBody>
      </p:sp>
      <p:sp>
        <p:nvSpPr>
          <p:cNvPr id="21" name="Text 19"/>
          <p:cNvSpPr/>
          <p:nvPr/>
        </p:nvSpPr>
        <p:spPr>
          <a:xfrm>
            <a:off x="2984416" y="2926080"/>
            <a:ext cx="1309097"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202402</a:t>
            </a:r>
            <a:endParaRPr lang="en-US" sz="1150" dirty="0"/>
          </a:p>
        </p:txBody>
      </p:sp>
      <p:sp>
        <p:nvSpPr>
          <p:cNvPr id="22" name="Text 20"/>
          <p:cNvSpPr/>
          <p:nvPr/>
        </p:nvSpPr>
        <p:spPr>
          <a:xfrm>
            <a:off x="4384953" y="2926080"/>
            <a:ext cx="2009365"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40</a:t>
            </a:r>
            <a:endParaRPr lang="en-US" sz="1150" dirty="0"/>
          </a:p>
        </p:txBody>
      </p:sp>
      <p:sp>
        <p:nvSpPr>
          <p:cNvPr id="23" name="Text 21"/>
          <p:cNvSpPr/>
          <p:nvPr/>
        </p:nvSpPr>
        <p:spPr>
          <a:xfrm>
            <a:off x="6485758" y="2926080"/>
            <a:ext cx="1309097"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46</a:t>
            </a:r>
            <a:endParaRPr lang="en-US" sz="1150" dirty="0"/>
          </a:p>
        </p:txBody>
      </p:sp>
      <p:sp>
        <p:nvSpPr>
          <p:cNvPr id="24" name="Text 22"/>
          <p:cNvSpPr/>
          <p:nvPr/>
        </p:nvSpPr>
        <p:spPr>
          <a:xfrm>
            <a:off x="7886295" y="2926080"/>
            <a:ext cx="1729258"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0.19</a:t>
            </a:r>
            <a:endParaRPr lang="en-US" sz="1150" dirty="0"/>
          </a:p>
        </p:txBody>
      </p:sp>
      <p:sp>
        <p:nvSpPr>
          <p:cNvPr id="25" name="Text 23"/>
          <p:cNvSpPr/>
          <p:nvPr/>
        </p:nvSpPr>
        <p:spPr>
          <a:xfrm>
            <a:off x="9706993" y="2926080"/>
            <a:ext cx="1869311" cy="438912"/>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-24.5</a:t>
            </a:r>
            <a:endParaRPr lang="en-US" sz="1150" dirty="0"/>
          </a:p>
        </p:txBody>
      </p:sp>
      <p:sp>
        <p:nvSpPr>
          <p:cNvPr id="26" name="Text 24"/>
          <p:cNvSpPr/>
          <p:nvPr/>
        </p:nvSpPr>
        <p:spPr>
          <a:xfrm>
            <a:off x="548640" y="3867912"/>
            <a:ext cx="5486400" cy="32004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fact_climate</a:t>
            </a:r>
            <a:endParaRPr lang="en-US" sz="1500" dirty="0"/>
          </a:p>
        </p:txBody>
      </p:sp>
      <p:sp>
        <p:nvSpPr>
          <p:cNvPr id="27" name="Shape 25"/>
          <p:cNvSpPr/>
          <p:nvPr/>
        </p:nvSpPr>
        <p:spPr>
          <a:xfrm>
            <a:off x="548640" y="4233672"/>
            <a:ext cx="8412480" cy="384048"/>
          </a:xfrm>
          <a:prstGeom prst="rect">
            <a:avLst/>
          </a:prstGeom>
          <a:solidFill>
            <a:srgbClr val="1B3A4B"/>
          </a:solidFill>
          <a:ln/>
        </p:spPr>
      </p:sp>
      <p:sp>
        <p:nvSpPr>
          <p:cNvPr id="28" name="Text 26"/>
          <p:cNvSpPr/>
          <p:nvPr/>
        </p:nvSpPr>
        <p:spPr>
          <a:xfrm>
            <a:off x="603504" y="4233672"/>
            <a:ext cx="2108747" cy="38404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location_id</a:t>
            </a:r>
            <a:endParaRPr lang="en-US" sz="1100" dirty="0"/>
          </a:p>
        </p:txBody>
      </p:sp>
      <p:sp>
        <p:nvSpPr>
          <p:cNvPr id="29" name="Text 27"/>
          <p:cNvSpPr/>
          <p:nvPr/>
        </p:nvSpPr>
        <p:spPr>
          <a:xfrm>
            <a:off x="2803691" y="4233672"/>
            <a:ext cx="120278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time_id</a:t>
            </a:r>
            <a:endParaRPr lang="en-US" sz="1100" dirty="0"/>
          </a:p>
        </p:txBody>
      </p:sp>
      <p:sp>
        <p:nvSpPr>
          <p:cNvPr id="30" name="Text 28"/>
          <p:cNvSpPr/>
          <p:nvPr/>
        </p:nvSpPr>
        <p:spPr>
          <a:xfrm>
            <a:off x="4097919" y="4233672"/>
            <a:ext cx="1979324"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rainfall_mean_mm</a:t>
            </a:r>
            <a:endParaRPr lang="en-US" sz="1100" dirty="0"/>
          </a:p>
        </p:txBody>
      </p:sp>
      <p:sp>
        <p:nvSpPr>
          <p:cNvPr id="31" name="Text 29"/>
          <p:cNvSpPr/>
          <p:nvPr/>
        </p:nvSpPr>
        <p:spPr>
          <a:xfrm>
            <a:off x="6168683" y="4233672"/>
            <a:ext cx="2755861"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vegetation_health_index_mean</a:t>
            </a:r>
            <a:endParaRPr lang="en-US" sz="1100" dirty="0"/>
          </a:p>
        </p:txBody>
      </p:sp>
      <p:sp>
        <p:nvSpPr>
          <p:cNvPr id="32" name="Shape 30"/>
          <p:cNvSpPr/>
          <p:nvPr/>
        </p:nvSpPr>
        <p:spPr>
          <a:xfrm>
            <a:off x="548640" y="4617720"/>
            <a:ext cx="8412480" cy="420624"/>
          </a:xfrm>
          <a:prstGeom prst="rect">
            <a:avLst/>
          </a:prstGeom>
          <a:solidFill>
            <a:srgbClr val="F1E9DC"/>
          </a:solidFill>
          <a:ln/>
        </p:spPr>
      </p:sp>
      <p:sp>
        <p:nvSpPr>
          <p:cNvPr id="33" name="Text 31"/>
          <p:cNvSpPr/>
          <p:nvPr/>
        </p:nvSpPr>
        <p:spPr>
          <a:xfrm>
            <a:off x="603504" y="4617720"/>
            <a:ext cx="2108747" cy="420624"/>
          </a:xfrm>
          <a:prstGeom prst="rect">
            <a:avLst/>
          </a:prstGeom>
          <a:noFill/>
          <a:ln/>
        </p:spPr>
        <p:txBody>
          <a:bodyPr wrap="square" lIns="0" tIns="0" rIns="0" bIns="0" rtlCol="0" anchor="ctr"/>
          <a:lstStyle/>
          <a:p>
            <a:pPr marL="0" indent="0" algn="l">
              <a:buNone/>
            </a:pPr>
            <a:r>
              <a:rPr lang="en-US" sz="1150" dirty="0">
                <a:solidFill>
                  <a:srgbClr val="1B3A4B"/>
                </a:solidFill>
                <a:latin typeface="Courier New" pitchFamily="34" charset="0"/>
                <a:ea typeface="Courier New" pitchFamily="34" charset="-122"/>
                <a:cs typeface="Courier New" pitchFamily="34" charset="-120"/>
              </a:rPr>
              <a:t>SO_AADAN</a:t>
            </a:r>
            <a:endParaRPr lang="en-US" sz="1150" dirty="0"/>
          </a:p>
        </p:txBody>
      </p:sp>
      <p:sp>
        <p:nvSpPr>
          <p:cNvPr id="34" name="Text 32"/>
          <p:cNvSpPr/>
          <p:nvPr/>
        </p:nvSpPr>
        <p:spPr>
          <a:xfrm>
            <a:off x="2803691" y="4617720"/>
            <a:ext cx="1202788" cy="420624"/>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202401</a:t>
            </a:r>
            <a:endParaRPr lang="en-US" sz="1150" dirty="0"/>
          </a:p>
        </p:txBody>
      </p:sp>
      <p:sp>
        <p:nvSpPr>
          <p:cNvPr id="35" name="Text 33"/>
          <p:cNvSpPr/>
          <p:nvPr/>
        </p:nvSpPr>
        <p:spPr>
          <a:xfrm>
            <a:off x="4097919" y="4617720"/>
            <a:ext cx="1979324" cy="420624"/>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2.44</a:t>
            </a:r>
            <a:endParaRPr lang="en-US" sz="1150" dirty="0"/>
          </a:p>
        </p:txBody>
      </p:sp>
      <p:sp>
        <p:nvSpPr>
          <p:cNvPr id="36" name="Text 34"/>
          <p:cNvSpPr/>
          <p:nvPr/>
        </p:nvSpPr>
        <p:spPr>
          <a:xfrm>
            <a:off x="6168683" y="4617720"/>
            <a:ext cx="2755861" cy="420624"/>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45.98</a:t>
            </a:r>
            <a:endParaRPr lang="en-US" sz="1150" dirty="0"/>
          </a:p>
        </p:txBody>
      </p:sp>
      <p:sp>
        <p:nvSpPr>
          <p:cNvPr id="37" name="Shape 35"/>
          <p:cNvSpPr/>
          <p:nvPr/>
        </p:nvSpPr>
        <p:spPr>
          <a:xfrm>
            <a:off x="548640" y="5038344"/>
            <a:ext cx="8412480" cy="420624"/>
          </a:xfrm>
          <a:prstGeom prst="rect">
            <a:avLst/>
          </a:prstGeom>
          <a:solidFill>
            <a:srgbClr val="FFFFFF"/>
          </a:solidFill>
          <a:ln/>
        </p:spPr>
      </p:sp>
      <p:sp>
        <p:nvSpPr>
          <p:cNvPr id="38" name="Text 36"/>
          <p:cNvSpPr/>
          <p:nvPr/>
        </p:nvSpPr>
        <p:spPr>
          <a:xfrm>
            <a:off x="603504" y="5038344"/>
            <a:ext cx="2108747" cy="420624"/>
          </a:xfrm>
          <a:prstGeom prst="rect">
            <a:avLst/>
          </a:prstGeom>
          <a:noFill/>
          <a:ln/>
        </p:spPr>
        <p:txBody>
          <a:bodyPr wrap="square" lIns="0" tIns="0" rIns="0" bIns="0" rtlCol="0" anchor="ctr"/>
          <a:lstStyle/>
          <a:p>
            <a:pPr marL="0" indent="0" algn="l">
              <a:buNone/>
            </a:pPr>
            <a:r>
              <a:rPr lang="en-US" sz="1150" dirty="0">
                <a:solidFill>
                  <a:srgbClr val="1B3A4B"/>
                </a:solidFill>
                <a:latin typeface="Courier New" pitchFamily="34" charset="0"/>
                <a:ea typeface="Courier New" pitchFamily="34" charset="-122"/>
                <a:cs typeface="Courier New" pitchFamily="34" charset="-120"/>
              </a:rPr>
              <a:t>SO_AADAN</a:t>
            </a:r>
            <a:endParaRPr lang="en-US" sz="1150" dirty="0"/>
          </a:p>
        </p:txBody>
      </p:sp>
      <p:sp>
        <p:nvSpPr>
          <p:cNvPr id="39" name="Text 37"/>
          <p:cNvSpPr/>
          <p:nvPr/>
        </p:nvSpPr>
        <p:spPr>
          <a:xfrm>
            <a:off x="2803691" y="5038344"/>
            <a:ext cx="1202788" cy="420624"/>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202402</a:t>
            </a:r>
            <a:endParaRPr lang="en-US" sz="1150" dirty="0"/>
          </a:p>
        </p:txBody>
      </p:sp>
      <p:sp>
        <p:nvSpPr>
          <p:cNvPr id="40" name="Text 38"/>
          <p:cNvSpPr/>
          <p:nvPr/>
        </p:nvSpPr>
        <p:spPr>
          <a:xfrm>
            <a:off x="4097919" y="5038344"/>
            <a:ext cx="1979324" cy="420624"/>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1.38</a:t>
            </a:r>
            <a:endParaRPr lang="en-US" sz="1150" dirty="0"/>
          </a:p>
        </p:txBody>
      </p:sp>
      <p:sp>
        <p:nvSpPr>
          <p:cNvPr id="41" name="Text 39"/>
          <p:cNvSpPr/>
          <p:nvPr/>
        </p:nvSpPr>
        <p:spPr>
          <a:xfrm>
            <a:off x="6168683" y="5038344"/>
            <a:ext cx="2755861" cy="420624"/>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45.47</a:t>
            </a:r>
            <a:endParaRPr lang="en-US" sz="1150" dirty="0"/>
          </a:p>
        </p:txBody>
      </p:sp>
      <p:sp>
        <p:nvSpPr>
          <p:cNvPr id="42" name="Shape 40"/>
          <p:cNvSpPr/>
          <p:nvPr/>
        </p:nvSpPr>
        <p:spPr>
          <a:xfrm>
            <a:off x="548640" y="5458968"/>
            <a:ext cx="8412480" cy="420624"/>
          </a:xfrm>
          <a:prstGeom prst="rect">
            <a:avLst/>
          </a:prstGeom>
          <a:solidFill>
            <a:srgbClr val="F1E9DC"/>
          </a:solidFill>
          <a:ln/>
        </p:spPr>
      </p:sp>
      <p:sp>
        <p:nvSpPr>
          <p:cNvPr id="43" name="Text 41"/>
          <p:cNvSpPr/>
          <p:nvPr/>
        </p:nvSpPr>
        <p:spPr>
          <a:xfrm>
            <a:off x="603504" y="5458968"/>
            <a:ext cx="2108747" cy="420624"/>
          </a:xfrm>
          <a:prstGeom prst="rect">
            <a:avLst/>
          </a:prstGeom>
          <a:noFill/>
          <a:ln/>
        </p:spPr>
        <p:txBody>
          <a:bodyPr wrap="square" lIns="0" tIns="0" rIns="0" bIns="0" rtlCol="0" anchor="ctr"/>
          <a:lstStyle/>
          <a:p>
            <a:pPr marL="0" indent="0" algn="l">
              <a:buNone/>
            </a:pPr>
            <a:r>
              <a:rPr lang="en-US" sz="1150" dirty="0">
                <a:solidFill>
                  <a:srgbClr val="1B3A4B"/>
                </a:solidFill>
                <a:latin typeface="Courier New" pitchFamily="34" charset="0"/>
                <a:ea typeface="Courier New" pitchFamily="34" charset="-122"/>
                <a:cs typeface="Courier New" pitchFamily="34" charset="-120"/>
              </a:rPr>
              <a:t>SO_AFGOOYE</a:t>
            </a:r>
            <a:endParaRPr lang="en-US" sz="1150" dirty="0"/>
          </a:p>
        </p:txBody>
      </p:sp>
      <p:sp>
        <p:nvSpPr>
          <p:cNvPr id="44" name="Text 42"/>
          <p:cNvSpPr/>
          <p:nvPr/>
        </p:nvSpPr>
        <p:spPr>
          <a:xfrm>
            <a:off x="2803691" y="5458968"/>
            <a:ext cx="1202788" cy="420624"/>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202401</a:t>
            </a:r>
            <a:endParaRPr lang="en-US" sz="1150" dirty="0"/>
          </a:p>
        </p:txBody>
      </p:sp>
      <p:sp>
        <p:nvSpPr>
          <p:cNvPr id="45" name="Text 43"/>
          <p:cNvSpPr/>
          <p:nvPr/>
        </p:nvSpPr>
        <p:spPr>
          <a:xfrm>
            <a:off x="4097919" y="5458968"/>
            <a:ext cx="1979324" cy="420624"/>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1.26</a:t>
            </a:r>
            <a:endParaRPr lang="en-US" sz="1150" dirty="0"/>
          </a:p>
        </p:txBody>
      </p:sp>
      <p:sp>
        <p:nvSpPr>
          <p:cNvPr id="46" name="Text 44"/>
          <p:cNvSpPr/>
          <p:nvPr/>
        </p:nvSpPr>
        <p:spPr>
          <a:xfrm>
            <a:off x="6168683" y="5458968"/>
            <a:ext cx="2755861" cy="420624"/>
          </a:xfrm>
          <a:prstGeom prst="rect">
            <a:avLst/>
          </a:prstGeom>
          <a:noFill/>
          <a:ln/>
        </p:spPr>
        <p:txBody>
          <a:bodyPr wrap="square" lIns="0" tIns="0" rIns="0" bIns="0" rtlCol="0" anchor="ctr"/>
          <a:lstStyle/>
          <a:p>
            <a:pPr marL="0" indent="0" algn="ctr">
              <a:buNone/>
            </a:pPr>
            <a:r>
              <a:rPr lang="en-US" sz="1150" dirty="0">
                <a:solidFill>
                  <a:srgbClr val="1B3A4B"/>
                </a:solidFill>
                <a:latin typeface="Calibri" pitchFamily="34" charset="0"/>
                <a:ea typeface="Calibri" pitchFamily="34" charset="-122"/>
                <a:cs typeface="Calibri" pitchFamily="34" charset="-120"/>
              </a:rPr>
              <a:t>44.16</a:t>
            </a:r>
            <a:endParaRPr lang="en-US" sz="1150" dirty="0"/>
          </a:p>
        </p:txBody>
      </p:sp>
      <p:sp>
        <p:nvSpPr>
          <p:cNvPr id="47" name="Text 45"/>
          <p:cNvSpPr/>
          <p:nvPr/>
        </p:nvSpPr>
        <p:spPr>
          <a:xfrm>
            <a:off x="548640" y="6263640"/>
            <a:ext cx="10972800" cy="365760"/>
          </a:xfrm>
          <a:prstGeom prst="rect">
            <a:avLst/>
          </a:prstGeom>
          <a:noFill/>
          <a:ln/>
        </p:spPr>
        <p:txBody>
          <a:bodyPr wrap="square" lIns="0" tIns="0" rIns="0" bIns="0" rtlCol="0" anchor="ctr"/>
          <a:lstStyle/>
          <a:p>
            <a:pPr marL="0" indent="0">
              <a:buNone/>
            </a:pPr>
            <a:r>
              <a:rPr lang="en-US" sz="1000" i="1" dirty="0">
                <a:solidFill>
                  <a:srgbClr val="5B6B73"/>
                </a:solidFill>
                <a:latin typeface="Calibri" pitchFamily="34" charset="0"/>
                <a:ea typeface="Calibri" pitchFamily="34" charset="-122"/>
                <a:cs typeface="Calibri" pitchFamily="34" charset="-120"/>
              </a:rPr>
              <a:t>Values shown are real output from the executed pipeline, not illustrative placeholders.</a:t>
            </a:r>
            <a:endParaRPr lang="en-US" sz="1000" dirty="0"/>
          </a:p>
        </p:txBody>
      </p:sp>
      <p:sp>
        <p:nvSpPr>
          <p:cNvPr id="48" name="Text 46"/>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What the tables actually look like (3/3)</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Market and reporting — the two mechanisms with real coverage gaps</a:t>
            </a:r>
            <a:endParaRPr lang="en-US" sz="1350" dirty="0"/>
          </a:p>
        </p:txBody>
      </p:sp>
      <p:sp>
        <p:nvSpPr>
          <p:cNvPr id="4" name="Text 2"/>
          <p:cNvSpPr/>
          <p:nvPr/>
        </p:nvSpPr>
        <p:spPr>
          <a:xfrm>
            <a:off x="548640" y="1737360"/>
            <a:ext cx="8229600" cy="32004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fact_market  (2 of 4 commodities shown, for space)</a:t>
            </a:r>
            <a:endParaRPr lang="en-US" sz="1500" dirty="0"/>
          </a:p>
        </p:txBody>
      </p:sp>
      <p:sp>
        <p:nvSpPr>
          <p:cNvPr id="5" name="Shape 3"/>
          <p:cNvSpPr/>
          <p:nvPr/>
        </p:nvSpPr>
        <p:spPr>
          <a:xfrm>
            <a:off x="548640" y="2103120"/>
            <a:ext cx="11064240" cy="384048"/>
          </a:xfrm>
          <a:prstGeom prst="rect">
            <a:avLst/>
          </a:prstGeom>
          <a:solidFill>
            <a:srgbClr val="1B3A4B"/>
          </a:solidFill>
          <a:ln/>
        </p:spPr>
      </p:sp>
      <p:sp>
        <p:nvSpPr>
          <p:cNvPr id="6" name="Text 4"/>
          <p:cNvSpPr/>
          <p:nvPr/>
        </p:nvSpPr>
        <p:spPr>
          <a:xfrm>
            <a:off x="603504" y="2103120"/>
            <a:ext cx="1888477" cy="384048"/>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location_id</a:t>
            </a:r>
            <a:endParaRPr lang="en-US" sz="1050" dirty="0"/>
          </a:p>
        </p:txBody>
      </p:sp>
      <p:sp>
        <p:nvSpPr>
          <p:cNvPr id="7" name="Text 5"/>
          <p:cNvSpPr/>
          <p:nvPr/>
        </p:nvSpPr>
        <p:spPr>
          <a:xfrm>
            <a:off x="2583421" y="2103120"/>
            <a:ext cx="1073217"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time_id</a:t>
            </a:r>
            <a:endParaRPr lang="en-US" sz="1050" dirty="0"/>
          </a:p>
        </p:txBody>
      </p:sp>
      <p:sp>
        <p:nvSpPr>
          <p:cNvPr id="8" name="Text 6"/>
          <p:cNvSpPr/>
          <p:nvPr/>
        </p:nvSpPr>
        <p:spPr>
          <a:xfrm>
            <a:off x="3748077" y="2103120"/>
            <a:ext cx="212140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wheatflour_price_usd</a:t>
            </a:r>
            <a:endParaRPr lang="en-US" sz="1050" dirty="0"/>
          </a:p>
        </p:txBody>
      </p:sp>
      <p:sp>
        <p:nvSpPr>
          <p:cNvPr id="9" name="Text 7"/>
          <p:cNvSpPr/>
          <p:nvPr/>
        </p:nvSpPr>
        <p:spPr>
          <a:xfrm>
            <a:off x="5960925" y="2103120"/>
            <a:ext cx="1888477"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wheatflour_pewi_score</a:t>
            </a:r>
            <a:endParaRPr lang="en-US" sz="1050" dirty="0"/>
          </a:p>
        </p:txBody>
      </p:sp>
      <p:sp>
        <p:nvSpPr>
          <p:cNvPr id="10" name="Text 8"/>
          <p:cNvSpPr/>
          <p:nvPr/>
        </p:nvSpPr>
        <p:spPr>
          <a:xfrm>
            <a:off x="7940842" y="2103120"/>
            <a:ext cx="1772011"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rice_price_usd</a:t>
            </a:r>
            <a:endParaRPr lang="en-US" sz="1050" dirty="0"/>
          </a:p>
        </p:txBody>
      </p:sp>
      <p:sp>
        <p:nvSpPr>
          <p:cNvPr id="11" name="Text 9"/>
          <p:cNvSpPr/>
          <p:nvPr/>
        </p:nvSpPr>
        <p:spPr>
          <a:xfrm>
            <a:off x="9804293" y="2103120"/>
            <a:ext cx="1772011"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rice_pewi_score</a:t>
            </a:r>
            <a:endParaRPr lang="en-US" sz="1050" dirty="0"/>
          </a:p>
        </p:txBody>
      </p:sp>
      <p:sp>
        <p:nvSpPr>
          <p:cNvPr id="12" name="Shape 10"/>
          <p:cNvSpPr/>
          <p:nvPr/>
        </p:nvSpPr>
        <p:spPr>
          <a:xfrm>
            <a:off x="548640" y="2487168"/>
            <a:ext cx="11064240" cy="438912"/>
          </a:xfrm>
          <a:prstGeom prst="rect">
            <a:avLst/>
          </a:prstGeom>
          <a:solidFill>
            <a:srgbClr val="F1E9DC"/>
          </a:solidFill>
          <a:ln/>
        </p:spPr>
      </p:sp>
      <p:sp>
        <p:nvSpPr>
          <p:cNvPr id="13" name="Text 11"/>
          <p:cNvSpPr/>
          <p:nvPr/>
        </p:nvSpPr>
        <p:spPr>
          <a:xfrm>
            <a:off x="603504" y="2487168"/>
            <a:ext cx="1888477" cy="438912"/>
          </a:xfrm>
          <a:prstGeom prst="rect">
            <a:avLst/>
          </a:prstGeom>
          <a:noFill/>
          <a:ln/>
        </p:spPr>
        <p:txBody>
          <a:bodyPr wrap="square" lIns="0" tIns="0" rIns="0" bIns="0" rtlCol="0" anchor="ctr"/>
          <a:lstStyle/>
          <a:p>
            <a:pPr marL="0" indent="0" algn="l">
              <a:buNone/>
            </a:pPr>
            <a:r>
              <a:rPr lang="en-US" sz="1100" dirty="0">
                <a:solidFill>
                  <a:srgbClr val="1B3A4B"/>
                </a:solidFill>
                <a:latin typeface="Courier New" pitchFamily="34" charset="0"/>
                <a:ea typeface="Courier New" pitchFamily="34" charset="-122"/>
                <a:cs typeface="Courier New" pitchFamily="34" charset="-120"/>
              </a:rPr>
              <a:t>SO_AFMADOW</a:t>
            </a:r>
            <a:endParaRPr lang="en-US" sz="1100" dirty="0"/>
          </a:p>
        </p:txBody>
      </p:sp>
      <p:sp>
        <p:nvSpPr>
          <p:cNvPr id="14" name="Text 12"/>
          <p:cNvSpPr/>
          <p:nvPr/>
        </p:nvSpPr>
        <p:spPr>
          <a:xfrm>
            <a:off x="2583421" y="2487168"/>
            <a:ext cx="1073217"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202401</a:t>
            </a:r>
            <a:endParaRPr lang="en-US" sz="1100" dirty="0"/>
          </a:p>
        </p:txBody>
      </p:sp>
      <p:sp>
        <p:nvSpPr>
          <p:cNvPr id="15" name="Text 13"/>
          <p:cNvSpPr/>
          <p:nvPr/>
        </p:nvSpPr>
        <p:spPr>
          <a:xfrm>
            <a:off x="3748077" y="2487168"/>
            <a:ext cx="2121408"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0.61</a:t>
            </a:r>
            <a:endParaRPr lang="en-US" sz="1100" dirty="0"/>
          </a:p>
        </p:txBody>
      </p:sp>
      <p:sp>
        <p:nvSpPr>
          <p:cNvPr id="16" name="Text 14"/>
          <p:cNvSpPr/>
          <p:nvPr/>
        </p:nvSpPr>
        <p:spPr>
          <a:xfrm>
            <a:off x="5960925" y="2487168"/>
            <a:ext cx="1888477"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–0.30</a:t>
            </a:r>
            <a:endParaRPr lang="en-US" sz="1100" dirty="0"/>
          </a:p>
        </p:txBody>
      </p:sp>
      <p:sp>
        <p:nvSpPr>
          <p:cNvPr id="17" name="Text 15"/>
          <p:cNvSpPr/>
          <p:nvPr/>
        </p:nvSpPr>
        <p:spPr>
          <a:xfrm>
            <a:off x="7940842" y="2487168"/>
            <a:ext cx="1772011"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0.55</a:t>
            </a:r>
            <a:endParaRPr lang="en-US" sz="1100" dirty="0"/>
          </a:p>
        </p:txBody>
      </p:sp>
      <p:sp>
        <p:nvSpPr>
          <p:cNvPr id="18" name="Text 16"/>
          <p:cNvSpPr/>
          <p:nvPr/>
        </p:nvSpPr>
        <p:spPr>
          <a:xfrm>
            <a:off x="9804293" y="2487168"/>
            <a:ext cx="1772011"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0.42</a:t>
            </a:r>
            <a:endParaRPr lang="en-US" sz="1100" dirty="0"/>
          </a:p>
        </p:txBody>
      </p:sp>
      <p:sp>
        <p:nvSpPr>
          <p:cNvPr id="19" name="Shape 17"/>
          <p:cNvSpPr/>
          <p:nvPr/>
        </p:nvSpPr>
        <p:spPr>
          <a:xfrm>
            <a:off x="548640" y="2926080"/>
            <a:ext cx="11064240" cy="438912"/>
          </a:xfrm>
          <a:prstGeom prst="rect">
            <a:avLst/>
          </a:prstGeom>
          <a:solidFill>
            <a:srgbClr val="FFFFFF"/>
          </a:solidFill>
          <a:ln/>
        </p:spPr>
      </p:sp>
      <p:sp>
        <p:nvSpPr>
          <p:cNvPr id="20" name="Text 18"/>
          <p:cNvSpPr/>
          <p:nvPr/>
        </p:nvSpPr>
        <p:spPr>
          <a:xfrm>
            <a:off x="603504" y="2926080"/>
            <a:ext cx="1888477" cy="438912"/>
          </a:xfrm>
          <a:prstGeom prst="rect">
            <a:avLst/>
          </a:prstGeom>
          <a:noFill/>
          <a:ln/>
        </p:spPr>
        <p:txBody>
          <a:bodyPr wrap="square" lIns="0" tIns="0" rIns="0" bIns="0" rtlCol="0" anchor="ctr"/>
          <a:lstStyle/>
          <a:p>
            <a:pPr marL="0" indent="0" algn="l">
              <a:buNone/>
            </a:pPr>
            <a:r>
              <a:rPr lang="en-US" sz="1100" dirty="0">
                <a:solidFill>
                  <a:srgbClr val="1B3A4B"/>
                </a:solidFill>
                <a:latin typeface="Courier New" pitchFamily="34" charset="0"/>
                <a:ea typeface="Courier New" pitchFamily="34" charset="-122"/>
                <a:cs typeface="Courier New" pitchFamily="34" charset="-120"/>
              </a:rPr>
              <a:t>SO_AFMADOW</a:t>
            </a:r>
            <a:endParaRPr lang="en-US" sz="1100" dirty="0"/>
          </a:p>
        </p:txBody>
      </p:sp>
      <p:sp>
        <p:nvSpPr>
          <p:cNvPr id="21" name="Text 19"/>
          <p:cNvSpPr/>
          <p:nvPr/>
        </p:nvSpPr>
        <p:spPr>
          <a:xfrm>
            <a:off x="2583421" y="2926080"/>
            <a:ext cx="1073217"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202402</a:t>
            </a:r>
            <a:endParaRPr lang="en-US" sz="1100" dirty="0"/>
          </a:p>
        </p:txBody>
      </p:sp>
      <p:sp>
        <p:nvSpPr>
          <p:cNvPr id="22" name="Text 20"/>
          <p:cNvSpPr/>
          <p:nvPr/>
        </p:nvSpPr>
        <p:spPr>
          <a:xfrm>
            <a:off x="3748077" y="2926080"/>
            <a:ext cx="2121408"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0.58</a:t>
            </a:r>
            <a:endParaRPr lang="en-US" sz="1100" dirty="0"/>
          </a:p>
        </p:txBody>
      </p:sp>
      <p:sp>
        <p:nvSpPr>
          <p:cNvPr id="23" name="Text 21"/>
          <p:cNvSpPr/>
          <p:nvPr/>
        </p:nvSpPr>
        <p:spPr>
          <a:xfrm>
            <a:off x="5960925" y="2926080"/>
            <a:ext cx="1888477"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–0.10</a:t>
            </a:r>
            <a:endParaRPr lang="en-US" sz="1100" dirty="0"/>
          </a:p>
        </p:txBody>
      </p:sp>
      <p:sp>
        <p:nvSpPr>
          <p:cNvPr id="24" name="Text 22"/>
          <p:cNvSpPr/>
          <p:nvPr/>
        </p:nvSpPr>
        <p:spPr>
          <a:xfrm>
            <a:off x="7940842" y="2926080"/>
            <a:ext cx="1772011"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0.57</a:t>
            </a:r>
            <a:endParaRPr lang="en-US" sz="1100" dirty="0"/>
          </a:p>
        </p:txBody>
      </p:sp>
      <p:sp>
        <p:nvSpPr>
          <p:cNvPr id="25" name="Text 23"/>
          <p:cNvSpPr/>
          <p:nvPr/>
        </p:nvSpPr>
        <p:spPr>
          <a:xfrm>
            <a:off x="9804293" y="2926080"/>
            <a:ext cx="1772011"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0.51</a:t>
            </a:r>
            <a:endParaRPr lang="en-US" sz="1100" dirty="0"/>
          </a:p>
        </p:txBody>
      </p:sp>
      <p:sp>
        <p:nvSpPr>
          <p:cNvPr id="26" name="Shape 24"/>
          <p:cNvSpPr/>
          <p:nvPr/>
        </p:nvSpPr>
        <p:spPr>
          <a:xfrm>
            <a:off x="548640" y="3364992"/>
            <a:ext cx="11064240" cy="438912"/>
          </a:xfrm>
          <a:prstGeom prst="rect">
            <a:avLst/>
          </a:prstGeom>
          <a:solidFill>
            <a:srgbClr val="F1E9DC"/>
          </a:solidFill>
          <a:ln/>
        </p:spPr>
      </p:sp>
      <p:sp>
        <p:nvSpPr>
          <p:cNvPr id="27" name="Text 25"/>
          <p:cNvSpPr/>
          <p:nvPr/>
        </p:nvSpPr>
        <p:spPr>
          <a:xfrm>
            <a:off x="603504" y="3364992"/>
            <a:ext cx="1888477" cy="438912"/>
          </a:xfrm>
          <a:prstGeom prst="rect">
            <a:avLst/>
          </a:prstGeom>
          <a:noFill/>
          <a:ln/>
        </p:spPr>
        <p:txBody>
          <a:bodyPr wrap="square" lIns="0" tIns="0" rIns="0" bIns="0" rtlCol="0" anchor="ctr"/>
          <a:lstStyle/>
          <a:p>
            <a:pPr marL="0" indent="0" algn="l">
              <a:buNone/>
            </a:pPr>
            <a:r>
              <a:rPr lang="en-US" sz="1100" dirty="0">
                <a:solidFill>
                  <a:srgbClr val="1B3A4B"/>
                </a:solidFill>
                <a:latin typeface="Courier New" pitchFamily="34" charset="0"/>
                <a:ea typeface="Courier New" pitchFamily="34" charset="-122"/>
                <a:cs typeface="Courier New" pitchFamily="34" charset="-120"/>
              </a:rPr>
              <a:t>SO_BANADIR</a:t>
            </a:r>
            <a:endParaRPr lang="en-US" sz="1100" dirty="0"/>
          </a:p>
        </p:txBody>
      </p:sp>
      <p:sp>
        <p:nvSpPr>
          <p:cNvPr id="28" name="Text 26"/>
          <p:cNvSpPr/>
          <p:nvPr/>
        </p:nvSpPr>
        <p:spPr>
          <a:xfrm>
            <a:off x="2583421" y="3364992"/>
            <a:ext cx="1073217"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202401</a:t>
            </a:r>
            <a:endParaRPr lang="en-US" sz="1100" dirty="0"/>
          </a:p>
        </p:txBody>
      </p:sp>
      <p:sp>
        <p:nvSpPr>
          <p:cNvPr id="29" name="Text 27"/>
          <p:cNvSpPr/>
          <p:nvPr/>
        </p:nvSpPr>
        <p:spPr>
          <a:xfrm>
            <a:off x="3748077" y="3364992"/>
            <a:ext cx="2121408"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a:t>
            </a:r>
            <a:endParaRPr lang="en-US" sz="1100" dirty="0"/>
          </a:p>
        </p:txBody>
      </p:sp>
      <p:sp>
        <p:nvSpPr>
          <p:cNvPr id="30" name="Text 28"/>
          <p:cNvSpPr/>
          <p:nvPr/>
        </p:nvSpPr>
        <p:spPr>
          <a:xfrm>
            <a:off x="5960925" y="3364992"/>
            <a:ext cx="1888477"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a:t>
            </a:r>
            <a:endParaRPr lang="en-US" sz="1100" dirty="0"/>
          </a:p>
        </p:txBody>
      </p:sp>
      <p:sp>
        <p:nvSpPr>
          <p:cNvPr id="31" name="Text 29"/>
          <p:cNvSpPr/>
          <p:nvPr/>
        </p:nvSpPr>
        <p:spPr>
          <a:xfrm>
            <a:off x="7940842" y="3364992"/>
            <a:ext cx="1772011"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a:t>
            </a:r>
            <a:endParaRPr lang="en-US" sz="1100" dirty="0"/>
          </a:p>
        </p:txBody>
      </p:sp>
      <p:sp>
        <p:nvSpPr>
          <p:cNvPr id="32" name="Text 30"/>
          <p:cNvSpPr/>
          <p:nvPr/>
        </p:nvSpPr>
        <p:spPr>
          <a:xfrm>
            <a:off x="9804293" y="3364992"/>
            <a:ext cx="1772011" cy="438912"/>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a:t>
            </a:r>
            <a:endParaRPr lang="en-US" sz="1100" dirty="0"/>
          </a:p>
        </p:txBody>
      </p:sp>
      <p:sp>
        <p:nvSpPr>
          <p:cNvPr id="34" name="Text 32"/>
          <p:cNvSpPr/>
          <p:nvPr/>
        </p:nvSpPr>
        <p:spPr>
          <a:xfrm>
            <a:off x="548640" y="4306824"/>
            <a:ext cx="5486400" cy="320040"/>
          </a:xfrm>
          <a:prstGeom prst="rect">
            <a:avLst/>
          </a:prstGeom>
          <a:noFill/>
          <a:ln/>
        </p:spPr>
        <p:txBody>
          <a:bodyPr wrap="square" lIns="0" tIns="0" rIns="0" bIns="0" rtlCol="0" anchor="ctr"/>
          <a:lstStyle/>
          <a:p>
            <a:pPr marL="0" indent="0">
              <a:buNone/>
            </a:pPr>
            <a:r>
              <a:rPr lang="en-US" sz="1500" b="1" dirty="0">
                <a:solidFill>
                  <a:srgbClr val="1B3A4B"/>
                </a:solidFill>
                <a:latin typeface="Cambria" pitchFamily="34" charset="0"/>
                <a:ea typeface="Cambria" pitchFamily="34" charset="-122"/>
                <a:cs typeface="Cambria" pitchFamily="34" charset="-120"/>
              </a:rPr>
              <a:t>fact_reporting</a:t>
            </a:r>
            <a:endParaRPr lang="en-US" sz="1500" dirty="0"/>
          </a:p>
        </p:txBody>
      </p:sp>
      <p:sp>
        <p:nvSpPr>
          <p:cNvPr id="35" name="Shape 33"/>
          <p:cNvSpPr/>
          <p:nvPr/>
        </p:nvSpPr>
        <p:spPr>
          <a:xfrm>
            <a:off x="548640" y="4672584"/>
            <a:ext cx="9875520" cy="384048"/>
          </a:xfrm>
          <a:prstGeom prst="rect">
            <a:avLst/>
          </a:prstGeom>
          <a:solidFill>
            <a:srgbClr val="1B3A4B"/>
          </a:solidFill>
          <a:ln/>
        </p:spPr>
      </p:sp>
      <p:sp>
        <p:nvSpPr>
          <p:cNvPr id="36" name="Text 34"/>
          <p:cNvSpPr/>
          <p:nvPr/>
        </p:nvSpPr>
        <p:spPr>
          <a:xfrm>
            <a:off x="603504" y="4672584"/>
            <a:ext cx="1794895" cy="384048"/>
          </a:xfrm>
          <a:prstGeom prst="rect">
            <a:avLst/>
          </a:prstGeom>
          <a:noFill/>
          <a:ln/>
        </p:spPr>
        <p:txBody>
          <a:bodyPr wrap="square" lIns="0" tIns="0" rIns="0" bIns="0" rtlCol="0" anchor="ctr"/>
          <a:lstStyle/>
          <a:p>
            <a:pPr marL="0" indent="0" algn="l">
              <a:buNone/>
            </a:pPr>
            <a:r>
              <a:rPr lang="en-US" sz="1050" b="1" dirty="0">
                <a:solidFill>
                  <a:srgbClr val="FFFFFF"/>
                </a:solidFill>
                <a:latin typeface="Calibri" pitchFamily="34" charset="0"/>
                <a:ea typeface="Calibri" pitchFamily="34" charset="-122"/>
                <a:cs typeface="Calibri" pitchFamily="34" charset="-120"/>
              </a:rPr>
              <a:t>location_id</a:t>
            </a:r>
            <a:endParaRPr lang="en-US" sz="1050" dirty="0"/>
          </a:p>
        </p:txBody>
      </p:sp>
      <p:sp>
        <p:nvSpPr>
          <p:cNvPr id="37" name="Text 35"/>
          <p:cNvSpPr/>
          <p:nvPr/>
        </p:nvSpPr>
        <p:spPr>
          <a:xfrm>
            <a:off x="2489839" y="4672584"/>
            <a:ext cx="1018169"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time_id</a:t>
            </a:r>
            <a:endParaRPr lang="en-US" sz="1050" dirty="0"/>
          </a:p>
        </p:txBody>
      </p:sp>
      <p:sp>
        <p:nvSpPr>
          <p:cNvPr id="38" name="Text 36"/>
          <p:cNvSpPr/>
          <p:nvPr/>
        </p:nvSpPr>
        <p:spPr>
          <a:xfrm>
            <a:off x="3599448" y="4672584"/>
            <a:ext cx="2793543"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reports_mentioning_district_count</a:t>
            </a:r>
            <a:endParaRPr lang="en-US" sz="1050" dirty="0"/>
          </a:p>
        </p:txBody>
      </p:sp>
      <p:sp>
        <p:nvSpPr>
          <p:cNvPr id="39" name="Text 37"/>
          <p:cNvSpPr/>
          <p:nvPr/>
        </p:nvSpPr>
        <p:spPr>
          <a:xfrm>
            <a:off x="6484432" y="4672584"/>
            <a:ext cx="2127778"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food_nutrition_report_count</a:t>
            </a:r>
            <a:endParaRPr lang="en-US" sz="1050" dirty="0"/>
          </a:p>
        </p:txBody>
      </p:sp>
      <p:sp>
        <p:nvSpPr>
          <p:cNvPr id="40" name="Text 38"/>
          <p:cNvSpPr/>
          <p:nvPr/>
        </p:nvSpPr>
        <p:spPr>
          <a:xfrm>
            <a:off x="8703650" y="4672584"/>
            <a:ext cx="1683934" cy="38404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wash_report_count</a:t>
            </a:r>
            <a:endParaRPr lang="en-US" sz="1050" dirty="0"/>
          </a:p>
        </p:txBody>
      </p:sp>
      <p:sp>
        <p:nvSpPr>
          <p:cNvPr id="41" name="Shape 39"/>
          <p:cNvSpPr/>
          <p:nvPr/>
        </p:nvSpPr>
        <p:spPr>
          <a:xfrm>
            <a:off x="548640" y="5056632"/>
            <a:ext cx="9875520" cy="420624"/>
          </a:xfrm>
          <a:prstGeom prst="rect">
            <a:avLst/>
          </a:prstGeom>
          <a:solidFill>
            <a:srgbClr val="F1E9DC"/>
          </a:solidFill>
          <a:ln/>
        </p:spPr>
      </p:sp>
      <p:sp>
        <p:nvSpPr>
          <p:cNvPr id="42" name="Text 40"/>
          <p:cNvSpPr/>
          <p:nvPr/>
        </p:nvSpPr>
        <p:spPr>
          <a:xfrm>
            <a:off x="603504" y="5056632"/>
            <a:ext cx="1794895" cy="420624"/>
          </a:xfrm>
          <a:prstGeom prst="rect">
            <a:avLst/>
          </a:prstGeom>
          <a:noFill/>
          <a:ln/>
        </p:spPr>
        <p:txBody>
          <a:bodyPr wrap="square" lIns="0" tIns="0" rIns="0" bIns="0" rtlCol="0" anchor="ctr"/>
          <a:lstStyle/>
          <a:p>
            <a:pPr marL="0" indent="0" algn="l">
              <a:buNone/>
            </a:pPr>
            <a:r>
              <a:rPr lang="en-US" sz="1100" dirty="0">
                <a:solidFill>
                  <a:srgbClr val="1B3A4B"/>
                </a:solidFill>
                <a:latin typeface="Courier New" pitchFamily="34" charset="0"/>
                <a:ea typeface="Courier New" pitchFamily="34" charset="-122"/>
                <a:cs typeface="Courier New" pitchFamily="34" charset="-120"/>
              </a:rPr>
              <a:t>SO_AFMADOW</a:t>
            </a:r>
            <a:endParaRPr lang="en-US" sz="1100" dirty="0"/>
          </a:p>
        </p:txBody>
      </p:sp>
      <p:sp>
        <p:nvSpPr>
          <p:cNvPr id="43" name="Text 41"/>
          <p:cNvSpPr/>
          <p:nvPr/>
        </p:nvSpPr>
        <p:spPr>
          <a:xfrm>
            <a:off x="2489839" y="5056632"/>
            <a:ext cx="1018169" cy="420624"/>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202401</a:t>
            </a:r>
            <a:endParaRPr lang="en-US" sz="1100" dirty="0"/>
          </a:p>
        </p:txBody>
      </p:sp>
      <p:sp>
        <p:nvSpPr>
          <p:cNvPr id="44" name="Text 42"/>
          <p:cNvSpPr/>
          <p:nvPr/>
        </p:nvSpPr>
        <p:spPr>
          <a:xfrm>
            <a:off x="3599448" y="5056632"/>
            <a:ext cx="2793543" cy="420624"/>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9</a:t>
            </a:r>
            <a:endParaRPr lang="en-US" sz="1100" dirty="0"/>
          </a:p>
        </p:txBody>
      </p:sp>
      <p:sp>
        <p:nvSpPr>
          <p:cNvPr id="45" name="Text 43"/>
          <p:cNvSpPr/>
          <p:nvPr/>
        </p:nvSpPr>
        <p:spPr>
          <a:xfrm>
            <a:off x="6484432" y="5056632"/>
            <a:ext cx="2127778" cy="420624"/>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2</a:t>
            </a:r>
            <a:endParaRPr lang="en-US" sz="1100" dirty="0"/>
          </a:p>
        </p:txBody>
      </p:sp>
      <p:sp>
        <p:nvSpPr>
          <p:cNvPr id="46" name="Text 44"/>
          <p:cNvSpPr/>
          <p:nvPr/>
        </p:nvSpPr>
        <p:spPr>
          <a:xfrm>
            <a:off x="8703650" y="5056632"/>
            <a:ext cx="1683934" cy="420624"/>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1</a:t>
            </a:r>
            <a:endParaRPr lang="en-US" sz="1100" dirty="0"/>
          </a:p>
        </p:txBody>
      </p:sp>
      <p:sp>
        <p:nvSpPr>
          <p:cNvPr id="47" name="Shape 45"/>
          <p:cNvSpPr/>
          <p:nvPr/>
        </p:nvSpPr>
        <p:spPr>
          <a:xfrm>
            <a:off x="548640" y="5477256"/>
            <a:ext cx="9875520" cy="420624"/>
          </a:xfrm>
          <a:prstGeom prst="rect">
            <a:avLst/>
          </a:prstGeom>
          <a:solidFill>
            <a:srgbClr val="FFFFFF"/>
          </a:solidFill>
          <a:ln/>
        </p:spPr>
      </p:sp>
      <p:sp>
        <p:nvSpPr>
          <p:cNvPr id="48" name="Text 46"/>
          <p:cNvSpPr/>
          <p:nvPr/>
        </p:nvSpPr>
        <p:spPr>
          <a:xfrm>
            <a:off x="603504" y="5477256"/>
            <a:ext cx="1794895" cy="420624"/>
          </a:xfrm>
          <a:prstGeom prst="rect">
            <a:avLst/>
          </a:prstGeom>
          <a:noFill/>
          <a:ln/>
        </p:spPr>
        <p:txBody>
          <a:bodyPr wrap="square" lIns="0" tIns="0" rIns="0" bIns="0" rtlCol="0" anchor="ctr"/>
          <a:lstStyle/>
          <a:p>
            <a:pPr marL="0" indent="0" algn="l">
              <a:buNone/>
            </a:pPr>
            <a:r>
              <a:rPr lang="en-US" sz="1100" dirty="0">
                <a:solidFill>
                  <a:srgbClr val="1B3A4B"/>
                </a:solidFill>
                <a:latin typeface="Courier New" pitchFamily="34" charset="0"/>
                <a:ea typeface="Courier New" pitchFamily="34" charset="-122"/>
                <a:cs typeface="Courier New" pitchFamily="34" charset="-120"/>
              </a:rPr>
              <a:t>SO_AFMADOW</a:t>
            </a:r>
            <a:endParaRPr lang="en-US" sz="1100" dirty="0"/>
          </a:p>
        </p:txBody>
      </p:sp>
      <p:sp>
        <p:nvSpPr>
          <p:cNvPr id="49" name="Text 47"/>
          <p:cNvSpPr/>
          <p:nvPr/>
        </p:nvSpPr>
        <p:spPr>
          <a:xfrm>
            <a:off x="2489839" y="5477256"/>
            <a:ext cx="1018169" cy="420624"/>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202402</a:t>
            </a:r>
            <a:endParaRPr lang="en-US" sz="1100" dirty="0"/>
          </a:p>
        </p:txBody>
      </p:sp>
      <p:sp>
        <p:nvSpPr>
          <p:cNvPr id="50" name="Text 48"/>
          <p:cNvSpPr/>
          <p:nvPr/>
        </p:nvSpPr>
        <p:spPr>
          <a:xfrm>
            <a:off x="3599448" y="5477256"/>
            <a:ext cx="2793543" cy="420624"/>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3</a:t>
            </a:r>
            <a:endParaRPr lang="en-US" sz="1100" dirty="0"/>
          </a:p>
        </p:txBody>
      </p:sp>
      <p:sp>
        <p:nvSpPr>
          <p:cNvPr id="51" name="Text 49"/>
          <p:cNvSpPr/>
          <p:nvPr/>
        </p:nvSpPr>
        <p:spPr>
          <a:xfrm>
            <a:off x="6484432" y="5477256"/>
            <a:ext cx="2127778" cy="420624"/>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1</a:t>
            </a:r>
            <a:endParaRPr lang="en-US" sz="1100" dirty="0"/>
          </a:p>
        </p:txBody>
      </p:sp>
      <p:sp>
        <p:nvSpPr>
          <p:cNvPr id="52" name="Text 50"/>
          <p:cNvSpPr/>
          <p:nvPr/>
        </p:nvSpPr>
        <p:spPr>
          <a:xfrm>
            <a:off x="8703650" y="5477256"/>
            <a:ext cx="1683934" cy="420624"/>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0</a:t>
            </a:r>
            <a:endParaRPr lang="en-US" sz="1100" dirty="0"/>
          </a:p>
        </p:txBody>
      </p:sp>
      <p:sp>
        <p:nvSpPr>
          <p:cNvPr id="53" name="Shape 51"/>
          <p:cNvSpPr/>
          <p:nvPr/>
        </p:nvSpPr>
        <p:spPr>
          <a:xfrm>
            <a:off x="548640" y="5897880"/>
            <a:ext cx="9875520" cy="420624"/>
          </a:xfrm>
          <a:prstGeom prst="rect">
            <a:avLst/>
          </a:prstGeom>
          <a:solidFill>
            <a:srgbClr val="F1E9DC"/>
          </a:solidFill>
          <a:ln/>
        </p:spPr>
      </p:sp>
      <p:sp>
        <p:nvSpPr>
          <p:cNvPr id="54" name="Text 52"/>
          <p:cNvSpPr/>
          <p:nvPr/>
        </p:nvSpPr>
        <p:spPr>
          <a:xfrm>
            <a:off x="603504" y="5897880"/>
            <a:ext cx="1794895" cy="420624"/>
          </a:xfrm>
          <a:prstGeom prst="rect">
            <a:avLst/>
          </a:prstGeom>
          <a:noFill/>
          <a:ln/>
        </p:spPr>
        <p:txBody>
          <a:bodyPr wrap="square" lIns="0" tIns="0" rIns="0" bIns="0" rtlCol="0" anchor="ctr"/>
          <a:lstStyle/>
          <a:p>
            <a:pPr marL="0" indent="0" algn="l">
              <a:buNone/>
            </a:pPr>
            <a:r>
              <a:rPr lang="en-US" sz="1100" dirty="0">
                <a:solidFill>
                  <a:srgbClr val="1B3A4B"/>
                </a:solidFill>
                <a:latin typeface="Courier New" pitchFamily="34" charset="0"/>
                <a:ea typeface="Courier New" pitchFamily="34" charset="-122"/>
                <a:cs typeface="Courier New" pitchFamily="34" charset="-120"/>
              </a:rPr>
              <a:t>SO_BANADIR</a:t>
            </a:r>
            <a:endParaRPr lang="en-US" sz="1100" dirty="0"/>
          </a:p>
        </p:txBody>
      </p:sp>
      <p:sp>
        <p:nvSpPr>
          <p:cNvPr id="55" name="Text 53"/>
          <p:cNvSpPr/>
          <p:nvPr/>
        </p:nvSpPr>
        <p:spPr>
          <a:xfrm>
            <a:off x="2489839" y="5897880"/>
            <a:ext cx="1018169" cy="420624"/>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202401</a:t>
            </a:r>
            <a:endParaRPr lang="en-US" sz="1100" dirty="0"/>
          </a:p>
        </p:txBody>
      </p:sp>
      <p:sp>
        <p:nvSpPr>
          <p:cNvPr id="56" name="Text 54"/>
          <p:cNvSpPr/>
          <p:nvPr/>
        </p:nvSpPr>
        <p:spPr>
          <a:xfrm>
            <a:off x="3599448" y="5897880"/>
            <a:ext cx="2793543" cy="420624"/>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33</a:t>
            </a:r>
            <a:endParaRPr lang="en-US" sz="1100" dirty="0"/>
          </a:p>
        </p:txBody>
      </p:sp>
      <p:sp>
        <p:nvSpPr>
          <p:cNvPr id="57" name="Text 55"/>
          <p:cNvSpPr/>
          <p:nvPr/>
        </p:nvSpPr>
        <p:spPr>
          <a:xfrm>
            <a:off x="6484432" y="5897880"/>
            <a:ext cx="2127778" cy="420624"/>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7</a:t>
            </a:r>
            <a:endParaRPr lang="en-US" sz="1100" dirty="0"/>
          </a:p>
        </p:txBody>
      </p:sp>
      <p:sp>
        <p:nvSpPr>
          <p:cNvPr id="58" name="Text 56"/>
          <p:cNvSpPr/>
          <p:nvPr/>
        </p:nvSpPr>
        <p:spPr>
          <a:xfrm>
            <a:off x="8703650" y="5897880"/>
            <a:ext cx="1683934" cy="420624"/>
          </a:xfrm>
          <a:prstGeom prst="rect">
            <a:avLst/>
          </a:prstGeom>
          <a:noFill/>
          <a:ln/>
        </p:spPr>
        <p:txBody>
          <a:bodyPr wrap="square" lIns="0" tIns="0" rIns="0" bIns="0" rtlCol="0" anchor="ctr"/>
          <a:lstStyle/>
          <a:p>
            <a:pPr marL="0" indent="0" algn="ctr">
              <a:buNone/>
            </a:pPr>
            <a:r>
              <a:rPr lang="en-US" sz="1100" dirty="0">
                <a:solidFill>
                  <a:srgbClr val="1B3A4B"/>
                </a:solidFill>
                <a:latin typeface="Calibri" pitchFamily="34" charset="0"/>
                <a:ea typeface="Calibri" pitchFamily="34" charset="-122"/>
                <a:cs typeface="Calibri" pitchFamily="34" charset="-120"/>
              </a:rPr>
              <a:t>5</a:t>
            </a:r>
            <a:endParaRPr lang="en-US" sz="1100" dirty="0"/>
          </a:p>
        </p:txBody>
      </p:sp>
      <p:sp>
        <p:nvSpPr>
          <p:cNvPr id="59" name="Text 57"/>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Pilot analysis 1: does market coverage track conflict?</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For testing purposes only — two months of data cannot support firm conclusions</a:t>
            </a:r>
            <a:endParaRPr lang="en-US" sz="1350" dirty="0"/>
          </a:p>
        </p:txBody>
      </p:sp>
      <p:sp>
        <p:nvSpPr>
          <p:cNvPr id="4" name="Shape 2"/>
          <p:cNvSpPr/>
          <p:nvPr/>
        </p:nvSpPr>
        <p:spPr>
          <a:xfrm>
            <a:off x="548640" y="1847088"/>
            <a:ext cx="128016" cy="128016"/>
          </a:xfrm>
          <a:prstGeom prst="ellipse">
            <a:avLst/>
          </a:prstGeom>
          <a:solidFill>
            <a:srgbClr val="C1502F"/>
          </a:solidFill>
          <a:ln/>
        </p:spPr>
      </p:sp>
      <p:sp>
        <p:nvSpPr>
          <p:cNvPr id="5" name="Text 3"/>
          <p:cNvSpPr/>
          <p:nvPr/>
        </p:nvSpPr>
        <p:spPr>
          <a:xfrm>
            <a:off x="822960" y="1828800"/>
            <a:ext cx="2011680" cy="1188720"/>
          </a:xfrm>
          <a:prstGeom prst="rect">
            <a:avLst/>
          </a:prstGeom>
          <a:noFill/>
          <a:ln/>
        </p:spPr>
        <p:txBody>
          <a:bodyPr wrap="square" lIns="0" tIns="0" rIns="0" bIns="0" rtlCol="0" anchor="t"/>
          <a:lstStyle/>
          <a:p>
            <a:pPr marL="0" indent="0">
              <a:buNone/>
            </a:pPr>
            <a:r>
              <a:rPr lang="en-US" sz="1200" b="1" kern="0" spc="100" dirty="0">
                <a:solidFill>
                  <a:srgbClr val="C1502F"/>
                </a:solidFill>
                <a:latin typeface="Calibri" pitchFamily="34" charset="0"/>
                <a:ea typeface="Calibri" pitchFamily="34" charset="-122"/>
                <a:cs typeface="Calibri" pitchFamily="34" charset="-120"/>
              </a:rPr>
              <a:t>BACKGROUND</a:t>
            </a:r>
            <a:endParaRPr lang="en-US" sz="1200" dirty="0"/>
          </a:p>
        </p:txBody>
      </p:sp>
      <p:sp>
        <p:nvSpPr>
          <p:cNvPr id="6" name="Text 4"/>
          <p:cNvSpPr/>
          <p:nvPr/>
        </p:nvSpPr>
        <p:spPr>
          <a:xfrm>
            <a:off x="3017520" y="1828800"/>
            <a:ext cx="8503920" cy="1188720"/>
          </a:xfrm>
          <a:prstGeom prst="rect">
            <a:avLst/>
          </a:prstGeom>
          <a:noFill/>
          <a:ln/>
        </p:spPr>
        <p:txBody>
          <a:bodyPr wrap="square" lIns="0" tIns="0" rIns="0" bIns="0" rtlCol="0" anchor="t"/>
          <a:lstStyle/>
          <a:p>
            <a:pPr marL="0" indent="0">
              <a:lnSpc>
                <a:spcPct val="125000"/>
              </a:lnSpc>
              <a:buNone/>
            </a:pPr>
            <a:r>
              <a:rPr lang="en-US" sz="1300" dirty="0">
                <a:solidFill>
                  <a:srgbClr val="5B6B73"/>
                </a:solidFill>
                <a:latin typeface="Calibri" pitchFamily="34" charset="0"/>
                <a:ea typeface="Calibri" pitchFamily="34" charset="-122"/>
                <a:cs typeface="Calibri" pitchFamily="34" charset="-120"/>
              </a:rPr>
              <a:t>35 of Somalia's 74 districts have a WFP-monitored market. The other 39 have no price data at all — not a collection error, but a genuine absence of market infrastructure to monitor.</a:t>
            </a:r>
            <a:endParaRPr lang="en-US" sz="1300" dirty="0"/>
          </a:p>
        </p:txBody>
      </p:sp>
      <p:sp>
        <p:nvSpPr>
          <p:cNvPr id="7" name="Shape 5"/>
          <p:cNvSpPr/>
          <p:nvPr/>
        </p:nvSpPr>
        <p:spPr>
          <a:xfrm>
            <a:off x="548640" y="3264408"/>
            <a:ext cx="128016" cy="128016"/>
          </a:xfrm>
          <a:prstGeom prst="ellipse">
            <a:avLst/>
          </a:prstGeom>
          <a:solidFill>
            <a:srgbClr val="C1502F"/>
          </a:solidFill>
          <a:ln/>
        </p:spPr>
      </p:sp>
      <p:sp>
        <p:nvSpPr>
          <p:cNvPr id="8" name="Text 6"/>
          <p:cNvSpPr/>
          <p:nvPr/>
        </p:nvSpPr>
        <p:spPr>
          <a:xfrm>
            <a:off x="822960" y="3246120"/>
            <a:ext cx="2011680" cy="1188720"/>
          </a:xfrm>
          <a:prstGeom prst="rect">
            <a:avLst/>
          </a:prstGeom>
          <a:noFill/>
          <a:ln/>
        </p:spPr>
        <p:txBody>
          <a:bodyPr wrap="square" lIns="0" tIns="0" rIns="0" bIns="0" rtlCol="0" anchor="t"/>
          <a:lstStyle/>
          <a:p>
            <a:pPr marL="0" indent="0">
              <a:buNone/>
            </a:pPr>
            <a:r>
              <a:rPr lang="en-US" sz="1200" b="1" kern="0" spc="100" dirty="0">
                <a:solidFill>
                  <a:srgbClr val="C1502F"/>
                </a:solidFill>
                <a:latin typeface="Calibri" pitchFamily="34" charset="0"/>
                <a:ea typeface="Calibri" pitchFamily="34" charset="-122"/>
                <a:cs typeface="Calibri" pitchFamily="34" charset="-120"/>
              </a:rPr>
              <a:t>QUESTION</a:t>
            </a:r>
            <a:endParaRPr lang="en-US" sz="1200" dirty="0"/>
          </a:p>
        </p:txBody>
      </p:sp>
      <p:sp>
        <p:nvSpPr>
          <p:cNvPr id="9" name="Text 7"/>
          <p:cNvSpPr/>
          <p:nvPr/>
        </p:nvSpPr>
        <p:spPr>
          <a:xfrm>
            <a:off x="3017520" y="3246120"/>
            <a:ext cx="8503920" cy="1188720"/>
          </a:xfrm>
          <a:prstGeom prst="rect">
            <a:avLst/>
          </a:prstGeom>
          <a:noFill/>
          <a:ln/>
        </p:spPr>
        <p:txBody>
          <a:bodyPr wrap="square" lIns="0" tIns="0" rIns="0" bIns="0" rtlCol="0" anchor="t"/>
          <a:lstStyle/>
          <a:p>
            <a:pPr marL="0" indent="0">
              <a:lnSpc>
                <a:spcPct val="125000"/>
              </a:lnSpc>
              <a:buNone/>
            </a:pPr>
            <a:r>
              <a:rPr lang="en-US" sz="1300" dirty="0">
                <a:solidFill>
                  <a:srgbClr val="5B6B73"/>
                </a:solidFill>
                <a:latin typeface="Calibri" pitchFamily="34" charset="0"/>
                <a:ea typeface="Calibri" pitchFamily="34" charset="-122"/>
                <a:cs typeface="Calibri" pitchFamily="34" charset="-120"/>
              </a:rPr>
              <a:t>Are districts without a market simply random, or systematically more conflict-affected? If the latter, the market data would be missing in a biased way — quietly excluding the places most likely to be struggling.</a:t>
            </a:r>
            <a:endParaRPr lang="en-US" sz="1300" dirty="0"/>
          </a:p>
        </p:txBody>
      </p:sp>
      <p:sp>
        <p:nvSpPr>
          <p:cNvPr id="10" name="Shape 8"/>
          <p:cNvSpPr/>
          <p:nvPr/>
        </p:nvSpPr>
        <p:spPr>
          <a:xfrm>
            <a:off x="548640" y="4681728"/>
            <a:ext cx="128016" cy="128016"/>
          </a:xfrm>
          <a:prstGeom prst="ellipse">
            <a:avLst/>
          </a:prstGeom>
          <a:solidFill>
            <a:srgbClr val="C1502F"/>
          </a:solidFill>
          <a:ln/>
        </p:spPr>
      </p:sp>
      <p:sp>
        <p:nvSpPr>
          <p:cNvPr id="11" name="Text 9"/>
          <p:cNvSpPr/>
          <p:nvPr/>
        </p:nvSpPr>
        <p:spPr>
          <a:xfrm>
            <a:off x="822960" y="4663440"/>
            <a:ext cx="2011680" cy="1188720"/>
          </a:xfrm>
          <a:prstGeom prst="rect">
            <a:avLst/>
          </a:prstGeom>
          <a:noFill/>
          <a:ln/>
        </p:spPr>
        <p:txBody>
          <a:bodyPr wrap="square" lIns="0" tIns="0" rIns="0" bIns="0" rtlCol="0" anchor="t"/>
          <a:lstStyle/>
          <a:p>
            <a:pPr marL="0" indent="0">
              <a:buNone/>
            </a:pPr>
            <a:r>
              <a:rPr lang="en-US" sz="1200" b="1" kern="0" spc="100" dirty="0">
                <a:solidFill>
                  <a:srgbClr val="C1502F"/>
                </a:solidFill>
                <a:latin typeface="Calibri" pitchFamily="34" charset="0"/>
                <a:ea typeface="Calibri" pitchFamily="34" charset="-122"/>
                <a:cs typeface="Calibri" pitchFamily="34" charset="-120"/>
              </a:rPr>
              <a:t>METHOD</a:t>
            </a:r>
            <a:endParaRPr lang="en-US" sz="1200" dirty="0"/>
          </a:p>
        </p:txBody>
      </p:sp>
      <p:sp>
        <p:nvSpPr>
          <p:cNvPr id="12" name="Text 10"/>
          <p:cNvSpPr/>
          <p:nvPr/>
        </p:nvSpPr>
        <p:spPr>
          <a:xfrm>
            <a:off x="3017520" y="4663440"/>
            <a:ext cx="8503920" cy="1188720"/>
          </a:xfrm>
          <a:prstGeom prst="rect">
            <a:avLst/>
          </a:prstGeom>
          <a:noFill/>
          <a:ln/>
        </p:spPr>
        <p:txBody>
          <a:bodyPr wrap="square" lIns="0" tIns="0" rIns="0" bIns="0" rtlCol="0" anchor="t"/>
          <a:lstStyle/>
          <a:p>
            <a:pPr marL="0" indent="0">
              <a:lnSpc>
                <a:spcPct val="125000"/>
              </a:lnSpc>
              <a:buNone/>
            </a:pPr>
            <a:r>
              <a:rPr lang="en-US" sz="1300" dirty="0">
                <a:solidFill>
                  <a:srgbClr val="5B6B73"/>
                </a:solidFill>
                <a:latin typeface="Calibri" pitchFamily="34" charset="0"/>
                <a:ea typeface="Calibri" pitchFamily="34" charset="-122"/>
                <a:cs typeface="Calibri" pitchFamily="34" charset="-120"/>
              </a:rPr>
              <a:t>The 74 districts were split by market coverage, and three conflict measures compared between the groups using the Mann-Whitney U test — chosen because conflict data is highly skewed (most districts have very few events, a handful have many), which this test handles better than one assuming a symmetric distribution.</a:t>
            </a:r>
            <a:endParaRPr lang="en-US" sz="1300" dirty="0"/>
          </a:p>
        </p:txBody>
      </p:sp>
      <p:sp>
        <p:nvSpPr>
          <p:cNvPr id="13" name="Text 11"/>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Pilot analysis 1: result &amp; conclusion</a:t>
            </a:r>
            <a:endParaRPr lang="en-US" sz="2800" dirty="0"/>
          </a:p>
        </p:txBody>
      </p:sp>
      <p:sp>
        <p:nvSpPr>
          <p:cNvPr id="3" name="Shape 1"/>
          <p:cNvSpPr/>
          <p:nvPr/>
        </p:nvSpPr>
        <p:spPr>
          <a:xfrm>
            <a:off x="548640" y="1783080"/>
            <a:ext cx="11064240" cy="457200"/>
          </a:xfrm>
          <a:prstGeom prst="rect">
            <a:avLst/>
          </a:prstGeom>
          <a:solidFill>
            <a:srgbClr val="1B3A4B"/>
          </a:solidFill>
          <a:ln/>
        </p:spPr>
      </p:sp>
      <p:sp>
        <p:nvSpPr>
          <p:cNvPr id="4" name="Text 2"/>
          <p:cNvSpPr/>
          <p:nvPr/>
        </p:nvSpPr>
        <p:spPr>
          <a:xfrm>
            <a:off x="548640" y="1783080"/>
            <a:ext cx="3291840" cy="457200"/>
          </a:xfrm>
          <a:prstGeom prst="rect">
            <a:avLst/>
          </a:prstGeom>
          <a:noFill/>
          <a:ln/>
        </p:spPr>
        <p:txBody>
          <a:bodyPr wrap="square" lIns="0" tIns="1905" rIns="0" bIns="0" rtlCol="0" anchor="ctr"/>
          <a:lstStyle/>
          <a:p>
            <a:pPr marL="0" indent="0" algn="l">
              <a:buNone/>
            </a:pPr>
            <a:r>
              <a:rPr lang="en-US" sz="1250" b="1" dirty="0">
                <a:solidFill>
                  <a:srgbClr val="FFFFFF"/>
                </a:solidFill>
                <a:latin typeface="Calibri" pitchFamily="34" charset="0"/>
                <a:ea typeface="Calibri" pitchFamily="34" charset="-122"/>
                <a:cs typeface="Calibri" pitchFamily="34" charset="-120"/>
              </a:rPr>
              <a:t>Measure</a:t>
            </a:r>
            <a:endParaRPr lang="en-US" sz="1250" dirty="0"/>
          </a:p>
        </p:txBody>
      </p:sp>
      <p:sp>
        <p:nvSpPr>
          <p:cNvPr id="5" name="Text 3"/>
          <p:cNvSpPr/>
          <p:nvPr/>
        </p:nvSpPr>
        <p:spPr>
          <a:xfrm>
            <a:off x="3840480" y="1783080"/>
            <a:ext cx="274320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Avg — with market</a:t>
            </a:r>
            <a:endParaRPr lang="en-US" sz="1250" dirty="0"/>
          </a:p>
        </p:txBody>
      </p:sp>
      <p:sp>
        <p:nvSpPr>
          <p:cNvPr id="6" name="Text 4"/>
          <p:cNvSpPr/>
          <p:nvPr/>
        </p:nvSpPr>
        <p:spPr>
          <a:xfrm>
            <a:off x="6583680" y="1783080"/>
            <a:ext cx="274320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Avg — without market</a:t>
            </a:r>
            <a:endParaRPr lang="en-US" sz="1250" dirty="0"/>
          </a:p>
        </p:txBody>
      </p:sp>
      <p:sp>
        <p:nvSpPr>
          <p:cNvPr id="7" name="Text 5"/>
          <p:cNvSpPr/>
          <p:nvPr/>
        </p:nvSpPr>
        <p:spPr>
          <a:xfrm>
            <a:off x="9326880" y="1783080"/>
            <a:ext cx="228600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p-value</a:t>
            </a:r>
            <a:endParaRPr lang="en-US" sz="1250" dirty="0"/>
          </a:p>
        </p:txBody>
      </p:sp>
      <p:sp>
        <p:nvSpPr>
          <p:cNvPr id="8" name="Shape 6"/>
          <p:cNvSpPr/>
          <p:nvPr/>
        </p:nvSpPr>
        <p:spPr>
          <a:xfrm>
            <a:off x="548640" y="2240280"/>
            <a:ext cx="11064240" cy="502920"/>
          </a:xfrm>
          <a:prstGeom prst="rect">
            <a:avLst/>
          </a:prstGeom>
          <a:solidFill>
            <a:srgbClr val="F1E9DC"/>
          </a:solidFill>
          <a:ln/>
        </p:spPr>
      </p:sp>
      <p:sp>
        <p:nvSpPr>
          <p:cNvPr id="9" name="Text 7"/>
          <p:cNvSpPr/>
          <p:nvPr/>
        </p:nvSpPr>
        <p:spPr>
          <a:xfrm>
            <a:off x="548640" y="2240280"/>
            <a:ext cx="3291840" cy="502920"/>
          </a:xfrm>
          <a:prstGeom prst="rect">
            <a:avLst/>
          </a:prstGeom>
          <a:noFill/>
          <a:ln/>
        </p:spPr>
        <p:txBody>
          <a:bodyPr wrap="square" lIns="0" tIns="1905" rIns="0" bIns="0" rtlCol="0" anchor="ctr"/>
          <a:lstStyle/>
          <a:p>
            <a:pPr marL="0" indent="0" algn="l">
              <a:buNone/>
            </a:pPr>
            <a:r>
              <a:rPr lang="en-US" sz="1300" dirty="0">
                <a:solidFill>
                  <a:srgbClr val="1B3A4B"/>
                </a:solidFill>
                <a:latin typeface="Calibri" pitchFamily="34" charset="0"/>
                <a:ea typeface="Calibri" pitchFamily="34" charset="-122"/>
                <a:cs typeface="Calibri" pitchFamily="34" charset="-120"/>
              </a:rPr>
              <a:t>Conflict event count</a:t>
            </a:r>
            <a:endParaRPr lang="en-US" sz="1300" dirty="0"/>
          </a:p>
        </p:txBody>
      </p:sp>
      <p:sp>
        <p:nvSpPr>
          <p:cNvPr id="10" name="Text 8"/>
          <p:cNvSpPr/>
          <p:nvPr/>
        </p:nvSpPr>
        <p:spPr>
          <a:xfrm>
            <a:off x="3840480" y="2240280"/>
            <a:ext cx="2743200" cy="502920"/>
          </a:xfrm>
          <a:prstGeom prst="rect">
            <a:avLst/>
          </a:prstGeom>
          <a:noFill/>
          <a:ln/>
        </p:spPr>
        <p:txBody>
          <a:bodyPr wrap="square" lIns="0" tIns="0" rIns="0" bIns="0" rtlCol="0" anchor="ctr"/>
          <a:lstStyle/>
          <a:p>
            <a:pPr marL="0" indent="0" algn="ctr">
              <a:buNone/>
            </a:pPr>
            <a:r>
              <a:rPr lang="en-US" sz="1300" dirty="0">
                <a:solidFill>
                  <a:srgbClr val="1B3A4B"/>
                </a:solidFill>
                <a:latin typeface="Calibri" pitchFamily="34" charset="0"/>
                <a:ea typeface="Calibri" pitchFamily="34" charset="-122"/>
                <a:cs typeface="Calibri" pitchFamily="34" charset="-120"/>
              </a:rPr>
              <a:t>4.57</a:t>
            </a:r>
            <a:endParaRPr lang="en-US" sz="1300" dirty="0"/>
          </a:p>
        </p:txBody>
      </p:sp>
      <p:sp>
        <p:nvSpPr>
          <p:cNvPr id="11" name="Text 9"/>
          <p:cNvSpPr/>
          <p:nvPr/>
        </p:nvSpPr>
        <p:spPr>
          <a:xfrm>
            <a:off x="6583680" y="2240280"/>
            <a:ext cx="2743200" cy="502920"/>
          </a:xfrm>
          <a:prstGeom prst="rect">
            <a:avLst/>
          </a:prstGeom>
          <a:noFill/>
          <a:ln/>
        </p:spPr>
        <p:txBody>
          <a:bodyPr wrap="square" lIns="0" tIns="0" rIns="0" bIns="0" rtlCol="0" anchor="ctr"/>
          <a:lstStyle/>
          <a:p>
            <a:pPr marL="0" indent="0" algn="ctr">
              <a:buNone/>
            </a:pPr>
            <a:r>
              <a:rPr lang="en-US" sz="1300" dirty="0">
                <a:solidFill>
                  <a:srgbClr val="1B3A4B"/>
                </a:solidFill>
                <a:latin typeface="Calibri" pitchFamily="34" charset="0"/>
                <a:ea typeface="Calibri" pitchFamily="34" charset="-122"/>
                <a:cs typeface="Calibri" pitchFamily="34" charset="-120"/>
              </a:rPr>
              <a:t>3.24</a:t>
            </a:r>
            <a:endParaRPr lang="en-US" sz="1300" dirty="0"/>
          </a:p>
        </p:txBody>
      </p:sp>
      <p:sp>
        <p:nvSpPr>
          <p:cNvPr id="12" name="Text 10"/>
          <p:cNvSpPr/>
          <p:nvPr/>
        </p:nvSpPr>
        <p:spPr>
          <a:xfrm>
            <a:off x="9326880" y="2240280"/>
            <a:ext cx="2286000" cy="502920"/>
          </a:xfrm>
          <a:prstGeom prst="rect">
            <a:avLst/>
          </a:prstGeom>
          <a:noFill/>
          <a:ln/>
        </p:spPr>
        <p:txBody>
          <a:bodyPr wrap="square" lIns="0" tIns="0" rIns="0" bIns="0" rtlCol="0" anchor="ctr"/>
          <a:lstStyle/>
          <a:p>
            <a:pPr marL="0" indent="0" algn="ctr">
              <a:buNone/>
            </a:pPr>
            <a:r>
              <a:rPr lang="en-US" sz="1300" b="1" dirty="0">
                <a:solidFill>
                  <a:srgbClr val="C1502F"/>
                </a:solidFill>
                <a:latin typeface="Calibri" pitchFamily="34" charset="0"/>
                <a:ea typeface="Calibri" pitchFamily="34" charset="-122"/>
                <a:cs typeface="Calibri" pitchFamily="34" charset="-120"/>
              </a:rPr>
              <a:t>0.18</a:t>
            </a:r>
            <a:endParaRPr lang="en-US" sz="1300" dirty="0"/>
          </a:p>
        </p:txBody>
      </p:sp>
      <p:sp>
        <p:nvSpPr>
          <p:cNvPr id="13" name="Shape 11"/>
          <p:cNvSpPr/>
          <p:nvPr/>
        </p:nvSpPr>
        <p:spPr>
          <a:xfrm>
            <a:off x="548640" y="2743200"/>
            <a:ext cx="11064240" cy="502920"/>
          </a:xfrm>
          <a:prstGeom prst="rect">
            <a:avLst/>
          </a:prstGeom>
          <a:solidFill>
            <a:srgbClr val="FFFFFF"/>
          </a:solidFill>
          <a:ln/>
        </p:spPr>
      </p:sp>
      <p:sp>
        <p:nvSpPr>
          <p:cNvPr id="14" name="Text 12"/>
          <p:cNvSpPr/>
          <p:nvPr/>
        </p:nvSpPr>
        <p:spPr>
          <a:xfrm>
            <a:off x="548640" y="2743200"/>
            <a:ext cx="3291840" cy="502920"/>
          </a:xfrm>
          <a:prstGeom prst="rect">
            <a:avLst/>
          </a:prstGeom>
          <a:noFill/>
          <a:ln/>
        </p:spPr>
        <p:txBody>
          <a:bodyPr wrap="square" lIns="0" tIns="1905" rIns="0" bIns="0" rtlCol="0" anchor="ctr"/>
          <a:lstStyle/>
          <a:p>
            <a:pPr marL="0" indent="0" algn="l">
              <a:buNone/>
            </a:pPr>
            <a:r>
              <a:rPr lang="en-US" sz="1300" dirty="0">
                <a:solidFill>
                  <a:srgbClr val="1B3A4B"/>
                </a:solidFill>
                <a:latin typeface="Calibri" pitchFamily="34" charset="0"/>
                <a:ea typeface="Calibri" pitchFamily="34" charset="-122"/>
                <a:cs typeface="Calibri" pitchFamily="34" charset="-120"/>
              </a:rPr>
              <a:t>Fatalities</a:t>
            </a:r>
            <a:endParaRPr lang="en-US" sz="1300" dirty="0"/>
          </a:p>
        </p:txBody>
      </p:sp>
      <p:sp>
        <p:nvSpPr>
          <p:cNvPr id="15" name="Text 13"/>
          <p:cNvSpPr/>
          <p:nvPr/>
        </p:nvSpPr>
        <p:spPr>
          <a:xfrm>
            <a:off x="3840480" y="2743200"/>
            <a:ext cx="2743200" cy="502920"/>
          </a:xfrm>
          <a:prstGeom prst="rect">
            <a:avLst/>
          </a:prstGeom>
          <a:noFill/>
          <a:ln/>
        </p:spPr>
        <p:txBody>
          <a:bodyPr wrap="square" lIns="0" tIns="0" rIns="0" bIns="0" rtlCol="0" anchor="ctr"/>
          <a:lstStyle/>
          <a:p>
            <a:pPr marL="0" indent="0" algn="ctr">
              <a:buNone/>
            </a:pPr>
            <a:r>
              <a:rPr lang="en-US" sz="1300" dirty="0">
                <a:solidFill>
                  <a:srgbClr val="1B3A4B"/>
                </a:solidFill>
                <a:latin typeface="Calibri" pitchFamily="34" charset="0"/>
                <a:ea typeface="Calibri" pitchFamily="34" charset="-122"/>
                <a:cs typeface="Calibri" pitchFamily="34" charset="-120"/>
              </a:rPr>
              <a:t>4.61</a:t>
            </a:r>
            <a:endParaRPr lang="en-US" sz="1300" dirty="0"/>
          </a:p>
        </p:txBody>
      </p:sp>
      <p:sp>
        <p:nvSpPr>
          <p:cNvPr id="16" name="Text 14"/>
          <p:cNvSpPr/>
          <p:nvPr/>
        </p:nvSpPr>
        <p:spPr>
          <a:xfrm>
            <a:off x="6583680" y="2743200"/>
            <a:ext cx="2743200" cy="502920"/>
          </a:xfrm>
          <a:prstGeom prst="rect">
            <a:avLst/>
          </a:prstGeom>
          <a:noFill/>
          <a:ln/>
        </p:spPr>
        <p:txBody>
          <a:bodyPr wrap="square" lIns="0" tIns="0" rIns="0" bIns="0" rtlCol="0" anchor="ctr"/>
          <a:lstStyle/>
          <a:p>
            <a:pPr marL="0" indent="0" algn="ctr">
              <a:buNone/>
            </a:pPr>
            <a:r>
              <a:rPr lang="en-US" sz="1300" dirty="0">
                <a:solidFill>
                  <a:srgbClr val="1B3A4B"/>
                </a:solidFill>
                <a:latin typeface="Calibri" pitchFamily="34" charset="0"/>
                <a:ea typeface="Calibri" pitchFamily="34" charset="-122"/>
                <a:cs typeface="Calibri" pitchFamily="34" charset="-120"/>
              </a:rPr>
              <a:t>7.37</a:t>
            </a:r>
            <a:endParaRPr lang="en-US" sz="1300" dirty="0"/>
          </a:p>
        </p:txBody>
      </p:sp>
      <p:sp>
        <p:nvSpPr>
          <p:cNvPr id="17" name="Text 15"/>
          <p:cNvSpPr/>
          <p:nvPr/>
        </p:nvSpPr>
        <p:spPr>
          <a:xfrm>
            <a:off x="9326880" y="2743200"/>
            <a:ext cx="2286000" cy="502920"/>
          </a:xfrm>
          <a:prstGeom prst="rect">
            <a:avLst/>
          </a:prstGeom>
          <a:noFill/>
          <a:ln/>
        </p:spPr>
        <p:txBody>
          <a:bodyPr wrap="square" lIns="0" tIns="0" rIns="0" bIns="0" rtlCol="0" anchor="ctr"/>
          <a:lstStyle/>
          <a:p>
            <a:pPr marL="0" indent="0" algn="ctr">
              <a:buNone/>
            </a:pPr>
            <a:r>
              <a:rPr lang="en-US" sz="1300" b="1" dirty="0">
                <a:solidFill>
                  <a:srgbClr val="C1502F"/>
                </a:solidFill>
                <a:latin typeface="Calibri" pitchFamily="34" charset="0"/>
                <a:ea typeface="Calibri" pitchFamily="34" charset="-122"/>
                <a:cs typeface="Calibri" pitchFamily="34" charset="-120"/>
              </a:rPr>
              <a:t>0.47</a:t>
            </a:r>
            <a:endParaRPr lang="en-US" sz="1300" dirty="0"/>
          </a:p>
        </p:txBody>
      </p:sp>
      <p:sp>
        <p:nvSpPr>
          <p:cNvPr id="18" name="Shape 16"/>
          <p:cNvSpPr/>
          <p:nvPr/>
        </p:nvSpPr>
        <p:spPr>
          <a:xfrm>
            <a:off x="548640" y="3246120"/>
            <a:ext cx="11064240" cy="502920"/>
          </a:xfrm>
          <a:prstGeom prst="rect">
            <a:avLst/>
          </a:prstGeom>
          <a:solidFill>
            <a:srgbClr val="F1E9DC"/>
          </a:solidFill>
          <a:ln/>
        </p:spPr>
      </p:sp>
      <p:sp>
        <p:nvSpPr>
          <p:cNvPr id="19" name="Text 17"/>
          <p:cNvSpPr/>
          <p:nvPr/>
        </p:nvSpPr>
        <p:spPr>
          <a:xfrm>
            <a:off x="548640" y="3246120"/>
            <a:ext cx="3291840" cy="502920"/>
          </a:xfrm>
          <a:prstGeom prst="rect">
            <a:avLst/>
          </a:prstGeom>
          <a:noFill/>
          <a:ln/>
        </p:spPr>
        <p:txBody>
          <a:bodyPr wrap="square" lIns="0" tIns="1905" rIns="0" bIns="0" rtlCol="0" anchor="ctr"/>
          <a:lstStyle/>
          <a:p>
            <a:pPr marL="0" indent="0" algn="l">
              <a:buNone/>
            </a:pPr>
            <a:r>
              <a:rPr lang="en-US" sz="1300" dirty="0">
                <a:solidFill>
                  <a:srgbClr val="1B3A4B"/>
                </a:solidFill>
                <a:latin typeface="Calibri" pitchFamily="34" charset="0"/>
                <a:ea typeface="Calibri" pitchFamily="34" charset="-122"/>
                <a:cs typeface="Calibri" pitchFamily="34" charset="-120"/>
              </a:rPr>
              <a:t>Conflict density</a:t>
            </a:r>
            <a:endParaRPr lang="en-US" sz="1300" dirty="0"/>
          </a:p>
        </p:txBody>
      </p:sp>
      <p:sp>
        <p:nvSpPr>
          <p:cNvPr id="20" name="Text 18"/>
          <p:cNvSpPr/>
          <p:nvPr/>
        </p:nvSpPr>
        <p:spPr>
          <a:xfrm>
            <a:off x="3840480" y="3246120"/>
            <a:ext cx="2743200" cy="502920"/>
          </a:xfrm>
          <a:prstGeom prst="rect">
            <a:avLst/>
          </a:prstGeom>
          <a:noFill/>
          <a:ln/>
        </p:spPr>
        <p:txBody>
          <a:bodyPr wrap="square" lIns="0" tIns="0" rIns="0" bIns="0" rtlCol="0" anchor="ctr"/>
          <a:lstStyle/>
          <a:p>
            <a:pPr marL="0" indent="0" algn="ctr">
              <a:buNone/>
            </a:pPr>
            <a:r>
              <a:rPr lang="en-US" sz="1300" dirty="0">
                <a:solidFill>
                  <a:srgbClr val="1B3A4B"/>
                </a:solidFill>
                <a:latin typeface="Calibri" pitchFamily="34" charset="0"/>
                <a:ea typeface="Calibri" pitchFamily="34" charset="-122"/>
                <a:cs typeface="Calibri" pitchFamily="34" charset="-120"/>
              </a:rPr>
              <a:t>0.0067</a:t>
            </a:r>
            <a:endParaRPr lang="en-US" sz="1300" dirty="0"/>
          </a:p>
        </p:txBody>
      </p:sp>
      <p:sp>
        <p:nvSpPr>
          <p:cNvPr id="21" name="Text 19"/>
          <p:cNvSpPr/>
          <p:nvPr/>
        </p:nvSpPr>
        <p:spPr>
          <a:xfrm>
            <a:off x="6583680" y="3246120"/>
            <a:ext cx="2743200" cy="502920"/>
          </a:xfrm>
          <a:prstGeom prst="rect">
            <a:avLst/>
          </a:prstGeom>
          <a:noFill/>
          <a:ln/>
        </p:spPr>
        <p:txBody>
          <a:bodyPr wrap="square" lIns="0" tIns="0" rIns="0" bIns="0" rtlCol="0" anchor="ctr"/>
          <a:lstStyle/>
          <a:p>
            <a:pPr marL="0" indent="0" algn="ctr">
              <a:buNone/>
            </a:pPr>
            <a:r>
              <a:rPr lang="en-US" sz="1300" dirty="0">
                <a:solidFill>
                  <a:srgbClr val="1B3A4B"/>
                </a:solidFill>
                <a:latin typeface="Calibri" pitchFamily="34" charset="0"/>
                <a:ea typeface="Calibri" pitchFamily="34" charset="-122"/>
                <a:cs typeface="Calibri" pitchFamily="34" charset="-120"/>
              </a:rPr>
              <a:t>0.0012</a:t>
            </a:r>
            <a:endParaRPr lang="en-US" sz="1300" dirty="0"/>
          </a:p>
        </p:txBody>
      </p:sp>
      <p:sp>
        <p:nvSpPr>
          <p:cNvPr id="22" name="Text 20"/>
          <p:cNvSpPr/>
          <p:nvPr/>
        </p:nvSpPr>
        <p:spPr>
          <a:xfrm>
            <a:off x="9326880" y="3246120"/>
            <a:ext cx="2286000" cy="502920"/>
          </a:xfrm>
          <a:prstGeom prst="rect">
            <a:avLst/>
          </a:prstGeom>
          <a:noFill/>
          <a:ln/>
        </p:spPr>
        <p:txBody>
          <a:bodyPr wrap="square" lIns="0" tIns="0" rIns="0" bIns="0" rtlCol="0" anchor="ctr"/>
          <a:lstStyle/>
          <a:p>
            <a:pPr marL="0" indent="0" algn="ctr">
              <a:buNone/>
            </a:pPr>
            <a:r>
              <a:rPr lang="en-US" sz="1300" b="1" dirty="0">
                <a:solidFill>
                  <a:srgbClr val="C1502F"/>
                </a:solidFill>
                <a:latin typeface="Calibri" pitchFamily="34" charset="0"/>
                <a:ea typeface="Calibri" pitchFamily="34" charset="-122"/>
                <a:cs typeface="Calibri" pitchFamily="34" charset="-120"/>
              </a:rPr>
              <a:t>0.36</a:t>
            </a:r>
            <a:endParaRPr lang="en-US" sz="1300" dirty="0"/>
          </a:p>
        </p:txBody>
      </p:sp>
      <p:sp>
        <p:nvSpPr>
          <p:cNvPr id="23" name="Shape 21"/>
          <p:cNvSpPr/>
          <p:nvPr/>
        </p:nvSpPr>
        <p:spPr>
          <a:xfrm>
            <a:off x="548640" y="4023360"/>
            <a:ext cx="11064240" cy="1051560"/>
          </a:xfrm>
          <a:prstGeom prst="roundRect">
            <a:avLst>
              <a:gd name="adj" fmla="val 5217"/>
            </a:avLst>
          </a:prstGeom>
          <a:solidFill>
            <a:srgbClr val="F1E9DC"/>
          </a:solidFill>
          <a:ln/>
        </p:spPr>
      </p:sp>
      <p:sp>
        <p:nvSpPr>
          <p:cNvPr id="24" name="Text 22"/>
          <p:cNvSpPr/>
          <p:nvPr/>
        </p:nvSpPr>
        <p:spPr>
          <a:xfrm>
            <a:off x="822960" y="4133088"/>
            <a:ext cx="1828800" cy="274320"/>
          </a:xfrm>
          <a:prstGeom prst="rect">
            <a:avLst/>
          </a:prstGeom>
          <a:noFill/>
          <a:ln/>
        </p:spPr>
        <p:txBody>
          <a:bodyPr wrap="square" lIns="0" tIns="0" rIns="0" bIns="0" rtlCol="0" anchor="ctr"/>
          <a:lstStyle/>
          <a:p>
            <a:pPr marL="0" indent="0">
              <a:buNone/>
            </a:pPr>
            <a:r>
              <a:rPr lang="en-US" sz="1050" b="1" kern="0" spc="100" dirty="0">
                <a:solidFill>
                  <a:srgbClr val="C1502F"/>
                </a:solidFill>
                <a:latin typeface="Calibri" pitchFamily="34" charset="0"/>
                <a:ea typeface="Calibri" pitchFamily="34" charset="-122"/>
                <a:cs typeface="Calibri" pitchFamily="34" charset="-120"/>
              </a:rPr>
              <a:t>RESULT</a:t>
            </a:r>
            <a:endParaRPr lang="en-US" sz="1050" dirty="0"/>
          </a:p>
        </p:txBody>
      </p:sp>
      <p:sp>
        <p:nvSpPr>
          <p:cNvPr id="25" name="Text 23"/>
          <p:cNvSpPr/>
          <p:nvPr/>
        </p:nvSpPr>
        <p:spPr>
          <a:xfrm>
            <a:off x="822960" y="4370832"/>
            <a:ext cx="10332720" cy="594360"/>
          </a:xfrm>
          <a:prstGeom prst="rect">
            <a:avLst/>
          </a:prstGeom>
          <a:noFill/>
          <a:ln/>
        </p:spPr>
        <p:txBody>
          <a:bodyPr wrap="square" lIns="0" tIns="0" rIns="0" bIns="0" rtlCol="0" anchor="ctr"/>
          <a:lstStyle/>
          <a:p>
            <a:pPr marL="0" indent="0">
              <a:lnSpc>
                <a:spcPct val="120000"/>
              </a:lnSpc>
              <a:buNone/>
            </a:pPr>
            <a:r>
              <a:rPr lang="en-US" sz="1250" dirty="0">
                <a:solidFill>
                  <a:srgbClr val="5B6B73"/>
                </a:solidFill>
                <a:latin typeface="Calibri" pitchFamily="34" charset="0"/>
                <a:ea typeface="Calibri" pitchFamily="34" charset="-122"/>
                <a:cs typeface="Calibri" pitchFamily="34" charset="-120"/>
              </a:rPr>
              <a:t>No significant difference on any measure (all p &gt; 0.1). The direction wasn’t even consistent — a pattern more typical of noise than a systematic bias.</a:t>
            </a:r>
            <a:endParaRPr lang="en-US" sz="1250" dirty="0"/>
          </a:p>
        </p:txBody>
      </p:sp>
      <p:sp>
        <p:nvSpPr>
          <p:cNvPr id="26" name="Shape 24"/>
          <p:cNvSpPr/>
          <p:nvPr/>
        </p:nvSpPr>
        <p:spPr>
          <a:xfrm>
            <a:off x="548640" y="5212080"/>
            <a:ext cx="11064240" cy="1051560"/>
          </a:xfrm>
          <a:prstGeom prst="roundRect">
            <a:avLst>
              <a:gd name="adj" fmla="val 5217"/>
            </a:avLst>
          </a:prstGeom>
          <a:solidFill>
            <a:srgbClr val="1B3A4B"/>
          </a:solidFill>
          <a:ln/>
        </p:spPr>
      </p:sp>
      <p:sp>
        <p:nvSpPr>
          <p:cNvPr id="27" name="Text 25"/>
          <p:cNvSpPr/>
          <p:nvPr/>
        </p:nvSpPr>
        <p:spPr>
          <a:xfrm>
            <a:off x="822960" y="5321808"/>
            <a:ext cx="1828800" cy="274320"/>
          </a:xfrm>
          <a:prstGeom prst="rect">
            <a:avLst/>
          </a:prstGeom>
          <a:noFill/>
          <a:ln/>
        </p:spPr>
        <p:txBody>
          <a:bodyPr wrap="square" lIns="0" tIns="0" rIns="0" bIns="0" rtlCol="0" anchor="ctr"/>
          <a:lstStyle/>
          <a:p>
            <a:pPr marL="0" indent="0">
              <a:buNone/>
            </a:pPr>
            <a:r>
              <a:rPr lang="en-US" sz="1050" b="1" kern="0" spc="100" dirty="0">
                <a:solidFill>
                  <a:srgbClr val="E0876A"/>
                </a:solidFill>
                <a:latin typeface="Calibri" pitchFamily="34" charset="0"/>
                <a:ea typeface="Calibri" pitchFamily="34" charset="-122"/>
                <a:cs typeface="Calibri" pitchFamily="34" charset="-120"/>
              </a:rPr>
              <a:t>CONCLUSION</a:t>
            </a:r>
            <a:endParaRPr lang="en-US" sz="1050" dirty="0"/>
          </a:p>
        </p:txBody>
      </p:sp>
      <p:sp>
        <p:nvSpPr>
          <p:cNvPr id="28" name="Text 26"/>
          <p:cNvSpPr/>
          <p:nvPr/>
        </p:nvSpPr>
        <p:spPr>
          <a:xfrm>
            <a:off x="822960" y="5559552"/>
            <a:ext cx="10332720" cy="594360"/>
          </a:xfrm>
          <a:prstGeom prst="rect">
            <a:avLst/>
          </a:prstGeom>
          <a:noFill/>
          <a:ln/>
        </p:spPr>
        <p:txBody>
          <a:bodyPr wrap="square" lIns="0" tIns="0" rIns="0" bIns="0" rtlCol="0" anchor="ctr"/>
          <a:lstStyle/>
          <a:p>
            <a:pPr marL="0" indent="0">
              <a:lnSpc>
                <a:spcPct val="120000"/>
              </a:lnSpc>
              <a:buNone/>
            </a:pPr>
            <a:r>
              <a:rPr lang="en-US" sz="1250" dirty="0">
                <a:solidFill>
                  <a:srgbClr val="F1E9DC"/>
                </a:solidFill>
                <a:latin typeface="Calibri" pitchFamily="34" charset="0"/>
                <a:ea typeface="Calibri" pitchFamily="34" charset="-122"/>
                <a:cs typeface="Calibri" pitchFamily="34" charset="-120"/>
              </a:rPr>
              <a:t>No evidence that WFP's market coverage is systematically biased toward less conflict-affected districts. Reassuring, but modest — with only 74 districts and 2 months, the test could still miss a smaller effect.</a:t>
            </a:r>
            <a:endParaRPr lang="en-US" sz="1250" dirty="0"/>
          </a:p>
        </p:txBody>
      </p:sp>
      <p:sp>
        <p:nvSpPr>
          <p:cNvPr id="29" name="Text 27"/>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Pilot analysis 2: does reporting attention follow conflict?</a:t>
            </a:r>
            <a:endParaRPr lang="en-US" sz="2800" dirty="0"/>
          </a:p>
        </p:txBody>
      </p:sp>
      <p:sp>
        <p:nvSpPr>
          <p:cNvPr id="3" name="Text 1"/>
          <p:cNvSpPr/>
          <p:nvPr/>
        </p:nvSpPr>
        <p:spPr>
          <a:xfrm>
            <a:off x="548640" y="969264"/>
            <a:ext cx="11091672" cy="36576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Testing whether the geoparsed reporting feature reflects something real</a:t>
            </a:r>
            <a:endParaRPr lang="en-US" sz="1350" dirty="0"/>
          </a:p>
        </p:txBody>
      </p:sp>
      <p:sp>
        <p:nvSpPr>
          <p:cNvPr id="4" name="Shape 2"/>
          <p:cNvSpPr/>
          <p:nvPr/>
        </p:nvSpPr>
        <p:spPr>
          <a:xfrm>
            <a:off x="548640" y="1847088"/>
            <a:ext cx="128016" cy="128016"/>
          </a:xfrm>
          <a:prstGeom prst="ellipse">
            <a:avLst/>
          </a:prstGeom>
          <a:solidFill>
            <a:srgbClr val="C1502F"/>
          </a:solidFill>
          <a:ln/>
        </p:spPr>
      </p:sp>
      <p:sp>
        <p:nvSpPr>
          <p:cNvPr id="5" name="Text 3"/>
          <p:cNvSpPr/>
          <p:nvPr/>
        </p:nvSpPr>
        <p:spPr>
          <a:xfrm>
            <a:off x="822960" y="1828800"/>
            <a:ext cx="2011680" cy="1188720"/>
          </a:xfrm>
          <a:prstGeom prst="rect">
            <a:avLst/>
          </a:prstGeom>
          <a:noFill/>
          <a:ln/>
        </p:spPr>
        <p:txBody>
          <a:bodyPr wrap="square" lIns="0" tIns="0" rIns="0" bIns="0" rtlCol="0" anchor="t"/>
          <a:lstStyle/>
          <a:p>
            <a:pPr marL="0" indent="0">
              <a:buNone/>
            </a:pPr>
            <a:r>
              <a:rPr lang="en-US" sz="1200" b="1" kern="0" spc="100" dirty="0">
                <a:solidFill>
                  <a:srgbClr val="C1502F"/>
                </a:solidFill>
                <a:latin typeface="Calibri" pitchFamily="34" charset="0"/>
                <a:ea typeface="Calibri" pitchFamily="34" charset="-122"/>
                <a:cs typeface="Calibri" pitchFamily="34" charset="-120"/>
              </a:rPr>
              <a:t>BACKGROUND</a:t>
            </a:r>
            <a:endParaRPr lang="en-US" sz="1200" dirty="0"/>
          </a:p>
        </p:txBody>
      </p:sp>
      <p:sp>
        <p:nvSpPr>
          <p:cNvPr id="6" name="Text 4"/>
          <p:cNvSpPr/>
          <p:nvPr/>
        </p:nvSpPr>
        <p:spPr>
          <a:xfrm>
            <a:off x="3017520" y="1828800"/>
            <a:ext cx="8503920" cy="1188720"/>
          </a:xfrm>
          <a:prstGeom prst="rect">
            <a:avLst/>
          </a:prstGeom>
          <a:noFill/>
          <a:ln/>
        </p:spPr>
        <p:txBody>
          <a:bodyPr wrap="square" lIns="0" tIns="0" rIns="0" bIns="0" rtlCol="0" anchor="t"/>
          <a:lstStyle/>
          <a:p>
            <a:pPr marL="0" indent="0">
              <a:lnSpc>
                <a:spcPct val="125000"/>
              </a:lnSpc>
              <a:buNone/>
            </a:pPr>
            <a:r>
              <a:rPr lang="en-US" sz="1300" dirty="0">
                <a:solidFill>
                  <a:srgbClr val="5B6B73"/>
                </a:solidFill>
                <a:latin typeface="Calibri" pitchFamily="34" charset="0"/>
                <a:ea typeface="Calibri" pitchFamily="34" charset="-122"/>
                <a:cs typeface="Calibri" pitchFamily="34" charset="-120"/>
              </a:rPr>
              <a:t>A feature counts how many humanitarian reports mention each district by name, built via geoparsing. Since this now sits in the same table as conflict data, the two can be tested against each other.</a:t>
            </a:r>
            <a:endParaRPr lang="en-US" sz="1300" dirty="0"/>
          </a:p>
        </p:txBody>
      </p:sp>
      <p:sp>
        <p:nvSpPr>
          <p:cNvPr id="7" name="Shape 5"/>
          <p:cNvSpPr/>
          <p:nvPr/>
        </p:nvSpPr>
        <p:spPr>
          <a:xfrm>
            <a:off x="548640" y="3264408"/>
            <a:ext cx="128016" cy="128016"/>
          </a:xfrm>
          <a:prstGeom prst="ellipse">
            <a:avLst/>
          </a:prstGeom>
          <a:solidFill>
            <a:srgbClr val="C1502F"/>
          </a:solidFill>
          <a:ln/>
        </p:spPr>
      </p:sp>
      <p:sp>
        <p:nvSpPr>
          <p:cNvPr id="8" name="Text 6"/>
          <p:cNvSpPr/>
          <p:nvPr/>
        </p:nvSpPr>
        <p:spPr>
          <a:xfrm>
            <a:off x="822960" y="3246120"/>
            <a:ext cx="2011680" cy="1188720"/>
          </a:xfrm>
          <a:prstGeom prst="rect">
            <a:avLst/>
          </a:prstGeom>
          <a:noFill/>
          <a:ln/>
        </p:spPr>
        <p:txBody>
          <a:bodyPr wrap="square" lIns="0" tIns="0" rIns="0" bIns="0" rtlCol="0" anchor="t"/>
          <a:lstStyle/>
          <a:p>
            <a:pPr marL="0" indent="0">
              <a:buNone/>
            </a:pPr>
            <a:r>
              <a:rPr lang="en-US" sz="1200" b="1" kern="0" spc="100" dirty="0">
                <a:solidFill>
                  <a:srgbClr val="C1502F"/>
                </a:solidFill>
                <a:latin typeface="Calibri" pitchFamily="34" charset="0"/>
                <a:ea typeface="Calibri" pitchFamily="34" charset="-122"/>
                <a:cs typeface="Calibri" pitchFamily="34" charset="-120"/>
              </a:rPr>
              <a:t>QUESTION</a:t>
            </a:r>
            <a:endParaRPr lang="en-US" sz="1200" dirty="0"/>
          </a:p>
        </p:txBody>
      </p:sp>
      <p:sp>
        <p:nvSpPr>
          <p:cNvPr id="9" name="Text 7"/>
          <p:cNvSpPr/>
          <p:nvPr/>
        </p:nvSpPr>
        <p:spPr>
          <a:xfrm>
            <a:off x="3017520" y="3246120"/>
            <a:ext cx="8503920" cy="1188720"/>
          </a:xfrm>
          <a:prstGeom prst="rect">
            <a:avLst/>
          </a:prstGeom>
          <a:noFill/>
          <a:ln/>
        </p:spPr>
        <p:txBody>
          <a:bodyPr wrap="square" lIns="0" tIns="0" rIns="0" bIns="0" rtlCol="0" anchor="t"/>
          <a:lstStyle/>
          <a:p>
            <a:pPr marL="0" indent="0">
              <a:lnSpc>
                <a:spcPct val="125000"/>
              </a:lnSpc>
              <a:buNone/>
            </a:pPr>
            <a:r>
              <a:rPr lang="en-US" sz="1300" dirty="0">
                <a:solidFill>
                  <a:srgbClr val="5B6B73"/>
                </a:solidFill>
                <a:latin typeface="Calibri" pitchFamily="34" charset="0"/>
                <a:ea typeface="Calibri" pitchFamily="34" charset="-122"/>
                <a:cs typeface="Calibri" pitchFamily="34" charset="-120"/>
              </a:rPr>
              <a:t>Do districts with more recorded conflict also receive more humanitarian reporting attention? A positive relationship would help validate that the district-matching approach captures something real, not noise.</a:t>
            </a:r>
            <a:endParaRPr lang="en-US" sz="1300" dirty="0"/>
          </a:p>
        </p:txBody>
      </p:sp>
      <p:sp>
        <p:nvSpPr>
          <p:cNvPr id="10" name="Shape 8"/>
          <p:cNvSpPr/>
          <p:nvPr/>
        </p:nvSpPr>
        <p:spPr>
          <a:xfrm>
            <a:off x="548640" y="4681728"/>
            <a:ext cx="128016" cy="128016"/>
          </a:xfrm>
          <a:prstGeom prst="ellipse">
            <a:avLst/>
          </a:prstGeom>
          <a:solidFill>
            <a:srgbClr val="C1502F"/>
          </a:solidFill>
          <a:ln/>
        </p:spPr>
      </p:sp>
      <p:sp>
        <p:nvSpPr>
          <p:cNvPr id="11" name="Text 9"/>
          <p:cNvSpPr/>
          <p:nvPr/>
        </p:nvSpPr>
        <p:spPr>
          <a:xfrm>
            <a:off x="822960" y="4663440"/>
            <a:ext cx="2011680" cy="1188720"/>
          </a:xfrm>
          <a:prstGeom prst="rect">
            <a:avLst/>
          </a:prstGeom>
          <a:noFill/>
          <a:ln/>
        </p:spPr>
        <p:txBody>
          <a:bodyPr wrap="square" lIns="0" tIns="0" rIns="0" bIns="0" rtlCol="0" anchor="t"/>
          <a:lstStyle/>
          <a:p>
            <a:pPr marL="0" indent="0">
              <a:buNone/>
            </a:pPr>
            <a:r>
              <a:rPr lang="en-US" sz="1200" b="1" kern="0" spc="100" dirty="0">
                <a:solidFill>
                  <a:srgbClr val="C1502F"/>
                </a:solidFill>
                <a:latin typeface="Calibri" pitchFamily="34" charset="0"/>
                <a:ea typeface="Calibri" pitchFamily="34" charset="-122"/>
                <a:cs typeface="Calibri" pitchFamily="34" charset="-120"/>
              </a:rPr>
              <a:t>METHOD</a:t>
            </a:r>
            <a:endParaRPr lang="en-US" sz="1200" dirty="0"/>
          </a:p>
        </p:txBody>
      </p:sp>
      <p:sp>
        <p:nvSpPr>
          <p:cNvPr id="12" name="Text 10"/>
          <p:cNvSpPr/>
          <p:nvPr/>
        </p:nvSpPr>
        <p:spPr>
          <a:xfrm>
            <a:off x="3017520" y="4663440"/>
            <a:ext cx="8503920" cy="1188720"/>
          </a:xfrm>
          <a:prstGeom prst="rect">
            <a:avLst/>
          </a:prstGeom>
          <a:noFill/>
          <a:ln/>
        </p:spPr>
        <p:txBody>
          <a:bodyPr wrap="square" lIns="0" tIns="0" rIns="0" bIns="0" rtlCol="0" anchor="t"/>
          <a:lstStyle/>
          <a:p>
            <a:pPr marL="0" indent="0">
              <a:lnSpc>
                <a:spcPct val="125000"/>
              </a:lnSpc>
              <a:buNone/>
            </a:pPr>
            <a:r>
              <a:rPr lang="en-US" sz="1300" dirty="0">
                <a:solidFill>
                  <a:srgbClr val="5B6B73"/>
                </a:solidFill>
                <a:latin typeface="Calibri" pitchFamily="34" charset="0"/>
                <a:ea typeface="Calibri" pitchFamily="34" charset="-122"/>
                <a:cs typeface="Calibri" pitchFamily="34" charset="-120"/>
              </a:rPr>
              <a:t>Spearman correlation between conflict_event_count and reports_mentioning_district_count, checked for robustness three ways: excluding the capital (Banadir), splitting by month, and testing a one-month lag between conflict and reporting.</a:t>
            </a:r>
            <a:endParaRPr lang="en-US" sz="1300" dirty="0"/>
          </a:p>
        </p:txBody>
      </p:sp>
      <p:sp>
        <p:nvSpPr>
          <p:cNvPr id="13" name="Text 11"/>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marL="0" indent="0">
              <a:buNone/>
            </a:pPr>
            <a:r>
              <a:rPr lang="en-US" sz="2800" b="1" dirty="0">
                <a:solidFill>
                  <a:srgbClr val="1B3A4B"/>
                </a:solidFill>
                <a:latin typeface="Cambria" pitchFamily="34" charset="0"/>
                <a:ea typeface="Cambria" pitchFamily="34" charset="-122"/>
                <a:cs typeface="Cambria" pitchFamily="34" charset="-120"/>
              </a:rPr>
              <a:t>Pilot analysis 2: result &amp; conclusion</a:t>
            </a:r>
            <a:endParaRPr lang="en-US" sz="2800" dirty="0"/>
          </a:p>
        </p:txBody>
      </p:sp>
      <p:graphicFrame>
        <p:nvGraphicFramePr>
          <p:cNvPr id="3" name="Chart 0"/>
          <p:cNvGraphicFramePr/>
          <p:nvPr/>
        </p:nvGraphicFramePr>
        <p:xfrm>
          <a:off x="548640" y="1737360"/>
          <a:ext cx="66751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406640" y="1783080"/>
            <a:ext cx="4206240" cy="3520440"/>
          </a:xfrm>
          <a:prstGeom prst="rect">
            <a:avLst/>
          </a:prstGeom>
          <a:solidFill>
            <a:srgbClr val="F1E9DC"/>
          </a:solidFill>
          <a:ln/>
        </p:spPr>
      </p:sp>
      <p:sp>
        <p:nvSpPr>
          <p:cNvPr id="5" name="Text 2"/>
          <p:cNvSpPr/>
          <p:nvPr/>
        </p:nvSpPr>
        <p:spPr>
          <a:xfrm>
            <a:off x="7589520" y="1920240"/>
            <a:ext cx="3840480" cy="3291840"/>
          </a:xfrm>
          <a:prstGeom prst="rect">
            <a:avLst/>
          </a:prstGeom>
          <a:noFill/>
          <a:ln/>
        </p:spPr>
        <p:txBody>
          <a:bodyPr wrap="square" lIns="0" tIns="0" rIns="0" bIns="0" rtlCol="0" anchor="ctr"/>
          <a:lstStyle/>
          <a:p>
            <a:pPr marL="0" indent="0">
              <a:lnSpc>
                <a:spcPct val="125000"/>
              </a:lnSpc>
              <a:buNone/>
            </a:pPr>
            <a:r>
              <a:rPr lang="en-US" sz="1050" b="1" kern="0" spc="100" dirty="0">
                <a:solidFill>
                  <a:srgbClr val="C1502F"/>
                </a:solidFill>
                <a:latin typeface="Calibri" pitchFamily="34" charset="0"/>
                <a:ea typeface="Calibri" pitchFamily="34" charset="-122"/>
                <a:cs typeface="Calibri" pitchFamily="34" charset="-120"/>
              </a:rPr>
              <a:t>RESULT
</a:t>
            </a:r>
            <a:r>
              <a:rPr lang="en-US" sz="1200" dirty="0">
                <a:solidFill>
                  <a:srgbClr val="5B6B73"/>
                </a:solidFill>
                <a:latin typeface="Calibri" pitchFamily="34" charset="0"/>
                <a:ea typeface="Calibri" pitchFamily="34" charset="-122"/>
                <a:cs typeface="Calibri" pitchFamily="34" charset="-120"/>
              </a:rPr>
              <a:t>Significant overall (r=0.32, p&lt;0.001), not driven by Banadir (r=0.29), unstable month-to-month alone (Jan 0.48 vs Feb 0.14) — but a one-month lag (r=0.38) explains why: reporting trails conflict, it doesn't ignore it.
</a:t>
            </a:r>
            <a:endParaRPr lang="en-US" sz="1050" dirty="0"/>
          </a:p>
        </p:txBody>
      </p:sp>
      <p:sp>
        <p:nvSpPr>
          <p:cNvPr id="6" name="Shape 3"/>
          <p:cNvSpPr/>
          <p:nvPr/>
        </p:nvSpPr>
        <p:spPr>
          <a:xfrm>
            <a:off x="548640" y="5486400"/>
            <a:ext cx="11064240" cy="960120"/>
          </a:xfrm>
          <a:prstGeom prst="roundRect">
            <a:avLst>
              <a:gd name="adj" fmla="val 5714"/>
            </a:avLst>
          </a:prstGeom>
          <a:solidFill>
            <a:srgbClr val="1B3A4B"/>
          </a:solidFill>
          <a:ln/>
        </p:spPr>
      </p:sp>
      <p:sp>
        <p:nvSpPr>
          <p:cNvPr id="7" name="Text 4"/>
          <p:cNvSpPr/>
          <p:nvPr/>
        </p:nvSpPr>
        <p:spPr>
          <a:xfrm>
            <a:off x="822960" y="5596128"/>
            <a:ext cx="1828800" cy="274320"/>
          </a:xfrm>
          <a:prstGeom prst="rect">
            <a:avLst/>
          </a:prstGeom>
          <a:noFill/>
          <a:ln/>
        </p:spPr>
        <p:txBody>
          <a:bodyPr wrap="square" lIns="0" tIns="0" rIns="0" bIns="0" rtlCol="0" anchor="ctr"/>
          <a:lstStyle/>
          <a:p>
            <a:pPr marL="0" indent="0">
              <a:buNone/>
            </a:pPr>
            <a:r>
              <a:rPr lang="en-US" sz="1050" b="1" kern="0" spc="100" dirty="0">
                <a:solidFill>
                  <a:srgbClr val="E0876A"/>
                </a:solidFill>
                <a:latin typeface="Calibri" pitchFamily="34" charset="0"/>
                <a:ea typeface="Calibri" pitchFamily="34" charset="-122"/>
                <a:cs typeface="Calibri" pitchFamily="34" charset="-120"/>
              </a:rPr>
              <a:t>CONCLUSION</a:t>
            </a:r>
            <a:endParaRPr lang="en-US" sz="1050" dirty="0"/>
          </a:p>
        </p:txBody>
      </p:sp>
      <p:sp>
        <p:nvSpPr>
          <p:cNvPr id="8" name="Text 5"/>
          <p:cNvSpPr/>
          <p:nvPr/>
        </p:nvSpPr>
        <p:spPr>
          <a:xfrm>
            <a:off x="822960" y="5833872"/>
            <a:ext cx="10332720" cy="548640"/>
          </a:xfrm>
          <a:prstGeom prst="rect">
            <a:avLst/>
          </a:prstGeom>
          <a:noFill/>
          <a:ln/>
        </p:spPr>
        <p:txBody>
          <a:bodyPr wrap="square" lIns="0" tIns="0" rIns="0" bIns="0" rtlCol="0" anchor="ctr"/>
          <a:lstStyle/>
          <a:p>
            <a:pPr marL="0" indent="0">
              <a:lnSpc>
                <a:spcPct val="120000"/>
              </a:lnSpc>
              <a:buNone/>
            </a:pPr>
            <a:r>
              <a:rPr lang="en-US" sz="1200" dirty="0">
                <a:solidFill>
                  <a:srgbClr val="F1E9DC"/>
                </a:solidFill>
                <a:latin typeface="Calibri" pitchFamily="34" charset="0"/>
                <a:ea typeface="Calibri" pitchFamily="34" charset="-122"/>
                <a:cs typeface="Calibri" pitchFamily="34" charset="-120"/>
              </a:rPr>
              <a:t>A genuine relationship, not a coincidence — and one that could only be found by combining conflict and reporting data in the same table; neither source alone would reveal it.</a:t>
            </a:r>
            <a:endParaRPr lang="en-US" sz="1200" dirty="0"/>
          </a:p>
        </p:txBody>
      </p:sp>
      <p:sp>
        <p:nvSpPr>
          <p:cNvPr id="9" name="Text 6"/>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5B6B73"/>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3A4B"/>
        </a:solidFill>
        <a:effectLst/>
      </p:bgPr>
    </p:bg>
    <p:spTree>
      <p:nvGrpSpPr>
        <p:cNvPr id="1" name=""/>
        <p:cNvGrpSpPr/>
        <p:nvPr/>
      </p:nvGrpSpPr>
      <p:grpSpPr>
        <a:xfrm>
          <a:off x="0" y="0"/>
          <a:ext cx="0" cy="0"/>
          <a:chOff x="0" y="0"/>
          <a:chExt cx="0" cy="0"/>
        </a:xfrm>
      </p:grpSpPr>
      <p:sp>
        <p:nvSpPr>
          <p:cNvPr id="2" name="Text 0"/>
          <p:cNvSpPr/>
          <p:nvPr/>
        </p:nvSpPr>
        <p:spPr>
          <a:xfrm>
            <a:off x="822960" y="685800"/>
            <a:ext cx="10058400" cy="365760"/>
          </a:xfrm>
          <a:prstGeom prst="rect">
            <a:avLst/>
          </a:prstGeom>
          <a:noFill/>
          <a:ln/>
        </p:spPr>
        <p:txBody>
          <a:bodyPr wrap="square" lIns="0" tIns="0" rIns="0" bIns="0" rtlCol="0" anchor="ctr"/>
          <a:lstStyle/>
          <a:p>
            <a:pPr marL="0" indent="0">
              <a:buNone/>
            </a:pPr>
            <a:r>
              <a:rPr lang="en-US" sz="1300" b="1" kern="0" spc="200" dirty="0">
                <a:solidFill>
                  <a:srgbClr val="E0876A"/>
                </a:solidFill>
                <a:latin typeface="Calibri" pitchFamily="34" charset="0"/>
                <a:ea typeface="Calibri" pitchFamily="34" charset="-122"/>
                <a:cs typeface="Calibri" pitchFamily="34" charset="-120"/>
              </a:rPr>
              <a:t>WHERE THIS LEAVES THE PROJECT</a:t>
            </a:r>
            <a:endParaRPr lang="en-US" sz="1300" dirty="0"/>
          </a:p>
        </p:txBody>
      </p:sp>
      <p:sp>
        <p:nvSpPr>
          <p:cNvPr id="3" name="Text 1"/>
          <p:cNvSpPr/>
          <p:nvPr/>
        </p:nvSpPr>
        <p:spPr>
          <a:xfrm>
            <a:off x="822960" y="1097280"/>
            <a:ext cx="105156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This is the first step, not the finished dataset</a:t>
            </a:r>
            <a:endParaRPr lang="en-US" sz="3000" dirty="0"/>
          </a:p>
        </p:txBody>
      </p:sp>
      <p:sp>
        <p:nvSpPr>
          <p:cNvPr id="4" name="Text 2"/>
          <p:cNvSpPr/>
          <p:nvPr/>
        </p:nvSpPr>
        <p:spPr>
          <a:xfrm>
            <a:off x="822960" y="1828800"/>
            <a:ext cx="9875520" cy="457200"/>
          </a:xfrm>
          <a:prstGeom prst="rect">
            <a:avLst/>
          </a:prstGeom>
          <a:noFill/>
          <a:ln/>
        </p:spPr>
        <p:txBody>
          <a:bodyPr wrap="square" lIns="0" tIns="0" rIns="0" bIns="0" rtlCol="0" anchor="ctr"/>
          <a:lstStyle/>
          <a:p>
            <a:pPr marL="0" indent="0">
              <a:buNone/>
            </a:pPr>
            <a:r>
              <a:rPr lang="en-US" sz="1500" i="1" dirty="0">
                <a:solidFill>
                  <a:srgbClr val="9FB4C0"/>
                </a:solidFill>
                <a:latin typeface="Calibri" pitchFamily="34" charset="0"/>
                <a:ea typeface="Calibri" pitchFamily="34" charset="-122"/>
                <a:cs typeface="Calibri" pitchFamily="34" charset="-120"/>
              </a:rPr>
              <a:t>The pipeline is validated. The next step is to make the prototype more robust, not to declare it finished.</a:t>
            </a:r>
            <a:endParaRPr lang="en-US" sz="1500" dirty="0"/>
          </a:p>
        </p:txBody>
      </p:sp>
      <p:sp>
        <p:nvSpPr>
          <p:cNvPr id="5" name="Shape 3"/>
          <p:cNvSpPr/>
          <p:nvPr/>
        </p:nvSpPr>
        <p:spPr>
          <a:xfrm>
            <a:off x="1005840" y="2651760"/>
            <a:ext cx="1737360" cy="1737360"/>
          </a:xfrm>
          <a:prstGeom prst="ellipse">
            <a:avLst/>
          </a:prstGeom>
          <a:solidFill>
            <a:srgbClr val="C1502F"/>
          </a:solidFill>
          <a:ln/>
        </p:spPr>
      </p:sp>
      <p:sp>
        <p:nvSpPr>
          <p:cNvPr id="6" name="Text 4"/>
          <p:cNvSpPr/>
          <p:nvPr/>
        </p:nvSpPr>
        <p:spPr>
          <a:xfrm>
            <a:off x="1005840" y="2651760"/>
            <a:ext cx="1737360" cy="1077163"/>
          </a:xfrm>
          <a:prstGeom prst="rect">
            <a:avLst/>
          </a:prstGeom>
          <a:noFill/>
          <a:ln/>
        </p:spPr>
        <p:txBody>
          <a:bodyPr wrap="square" lIns="0" tIns="0" rIns="0" bIns="0" rtlCol="0" anchor="b"/>
          <a:lstStyle/>
          <a:p>
            <a:pPr marL="0" indent="0" algn="ctr">
              <a:buNone/>
            </a:pPr>
            <a:r>
              <a:rPr lang="en-US" sz="3000" b="1" dirty="0">
                <a:solidFill>
                  <a:srgbClr val="FFFFFF"/>
                </a:solidFill>
                <a:latin typeface="Cambria" pitchFamily="34" charset="0"/>
                <a:ea typeface="Cambria" pitchFamily="34" charset="-122"/>
                <a:cs typeface="Cambria" pitchFamily="34" charset="-120"/>
              </a:rPr>
              <a:t>148</a:t>
            </a:r>
            <a:endParaRPr lang="en-US" sz="3000" dirty="0"/>
          </a:p>
        </p:txBody>
      </p:sp>
      <p:sp>
        <p:nvSpPr>
          <p:cNvPr id="7" name="Text 5"/>
          <p:cNvSpPr/>
          <p:nvPr/>
        </p:nvSpPr>
        <p:spPr>
          <a:xfrm>
            <a:off x="731520" y="4443984"/>
            <a:ext cx="2286000" cy="457200"/>
          </a:xfrm>
          <a:prstGeom prst="rect">
            <a:avLst/>
          </a:prstGeom>
          <a:noFill/>
          <a:ln/>
        </p:spPr>
        <p:txBody>
          <a:bodyPr wrap="square" lIns="0" tIns="0" rIns="0" bIns="0" rtlCol="0" anchor="t"/>
          <a:lstStyle/>
          <a:p>
            <a:pPr marL="0" indent="0" algn="ctr">
              <a:buNone/>
            </a:pPr>
            <a:r>
              <a:rPr lang="en-US" sz="1200" dirty="0">
                <a:solidFill>
                  <a:srgbClr val="9FB4C0"/>
                </a:solidFill>
                <a:latin typeface="Calibri" pitchFamily="34" charset="0"/>
                <a:ea typeface="Calibri" pitchFamily="34" charset="-122"/>
                <a:cs typeface="Calibri" pitchFamily="34" charset="-120"/>
              </a:rPr>
              <a:t>Admin2 × Month</a:t>
            </a:r>
            <a:endParaRPr lang="en-US" sz="1200" dirty="0"/>
          </a:p>
          <a:p>
            <a:pPr marL="0" indent="0" algn="ctr">
              <a:buNone/>
            </a:pPr>
            <a:r>
              <a:rPr lang="en-US" sz="1200" dirty="0">
                <a:solidFill>
                  <a:srgbClr val="9FB4C0"/>
                </a:solidFill>
                <a:latin typeface="Calibri" pitchFamily="34" charset="0"/>
                <a:ea typeface="Calibri" pitchFamily="34" charset="-122"/>
                <a:cs typeface="Calibri" pitchFamily="34" charset="-120"/>
              </a:rPr>
              <a:t>rows integrated so far</a:t>
            </a:r>
            <a:endParaRPr lang="en-US" sz="1200" dirty="0"/>
          </a:p>
        </p:txBody>
      </p:sp>
      <p:sp>
        <p:nvSpPr>
          <p:cNvPr id="8" name="Shape 6"/>
          <p:cNvSpPr/>
          <p:nvPr/>
        </p:nvSpPr>
        <p:spPr>
          <a:xfrm>
            <a:off x="3520440" y="2651760"/>
            <a:ext cx="1737360" cy="1737360"/>
          </a:xfrm>
          <a:prstGeom prst="ellipse">
            <a:avLst/>
          </a:prstGeom>
          <a:solidFill>
            <a:srgbClr val="26485C"/>
          </a:solidFill>
          <a:ln/>
        </p:spPr>
      </p:sp>
      <p:sp>
        <p:nvSpPr>
          <p:cNvPr id="9" name="Text 7"/>
          <p:cNvSpPr/>
          <p:nvPr/>
        </p:nvSpPr>
        <p:spPr>
          <a:xfrm>
            <a:off x="3520440" y="2651760"/>
            <a:ext cx="1737360" cy="1077163"/>
          </a:xfrm>
          <a:prstGeom prst="rect">
            <a:avLst/>
          </a:prstGeom>
          <a:noFill/>
          <a:ln/>
        </p:spPr>
        <p:txBody>
          <a:bodyPr wrap="square" lIns="0" tIns="0" rIns="0" bIns="0" rtlCol="0" anchor="b"/>
          <a:lstStyle/>
          <a:p>
            <a:pPr marL="0" indent="0" algn="ctr">
              <a:buNone/>
            </a:pPr>
            <a:r>
              <a:rPr lang="en-US" sz="3000" b="1" dirty="0">
                <a:solidFill>
                  <a:srgbClr val="E0876A"/>
                </a:solidFill>
                <a:latin typeface="Cambria" pitchFamily="34" charset="0"/>
                <a:ea typeface="Cambria" pitchFamily="34" charset="-122"/>
                <a:cs typeface="Cambria" pitchFamily="34" charset="-120"/>
              </a:rPr>
              <a:t>4→4</a:t>
            </a:r>
            <a:endParaRPr lang="en-US" sz="3000" dirty="0"/>
          </a:p>
        </p:txBody>
      </p:sp>
      <p:sp>
        <p:nvSpPr>
          <p:cNvPr id="10" name="Text 8"/>
          <p:cNvSpPr/>
          <p:nvPr/>
        </p:nvSpPr>
        <p:spPr>
          <a:xfrm>
            <a:off x="3246120" y="4443984"/>
            <a:ext cx="2286000" cy="457200"/>
          </a:xfrm>
          <a:prstGeom prst="rect">
            <a:avLst/>
          </a:prstGeom>
          <a:noFill/>
          <a:ln/>
        </p:spPr>
        <p:txBody>
          <a:bodyPr wrap="square" lIns="0" tIns="0" rIns="0" bIns="0" rtlCol="0" anchor="t"/>
          <a:lstStyle/>
          <a:p>
            <a:pPr marL="0" indent="0" algn="ctr">
              <a:buNone/>
            </a:pPr>
            <a:r>
              <a:rPr lang="en-US" sz="1200" dirty="0">
                <a:solidFill>
                  <a:srgbClr val="9FB4C0"/>
                </a:solidFill>
                <a:latin typeface="Calibri" pitchFamily="34" charset="0"/>
                <a:ea typeface="Calibri" pitchFamily="34" charset="-122"/>
                <a:cs typeface="Calibri" pitchFamily="34" charset="-120"/>
              </a:rPr>
              <a:t>sources unified into</a:t>
            </a:r>
            <a:endParaRPr lang="en-US" sz="1200" dirty="0"/>
          </a:p>
          <a:p>
            <a:pPr marL="0" indent="0" algn="ctr">
              <a:buNone/>
            </a:pPr>
            <a:r>
              <a:rPr lang="en-US" sz="1200" dirty="0">
                <a:solidFill>
                  <a:srgbClr val="9FB4C0"/>
                </a:solidFill>
                <a:latin typeface="Calibri" pitchFamily="34" charset="0"/>
                <a:ea typeface="Calibri" pitchFamily="34" charset="-122"/>
                <a:cs typeface="Calibri" pitchFamily="34" charset="-120"/>
              </a:rPr>
              <a:t>one common grid</a:t>
            </a:r>
            <a:endParaRPr lang="en-US" sz="1200" dirty="0"/>
          </a:p>
        </p:txBody>
      </p:sp>
      <p:sp>
        <p:nvSpPr>
          <p:cNvPr id="11" name="Shape 9"/>
          <p:cNvSpPr/>
          <p:nvPr/>
        </p:nvSpPr>
        <p:spPr>
          <a:xfrm>
            <a:off x="6035040" y="2651760"/>
            <a:ext cx="1737360" cy="1737360"/>
          </a:xfrm>
          <a:prstGeom prst="ellipse">
            <a:avLst/>
          </a:prstGeom>
          <a:solidFill>
            <a:srgbClr val="C1502F"/>
          </a:solidFill>
          <a:ln/>
        </p:spPr>
      </p:sp>
      <p:sp>
        <p:nvSpPr>
          <p:cNvPr id="12" name="Text 10"/>
          <p:cNvSpPr/>
          <p:nvPr/>
        </p:nvSpPr>
        <p:spPr>
          <a:xfrm>
            <a:off x="6035040" y="2651760"/>
            <a:ext cx="1737360" cy="1077163"/>
          </a:xfrm>
          <a:prstGeom prst="rect">
            <a:avLst/>
          </a:prstGeom>
          <a:noFill/>
          <a:ln/>
        </p:spPr>
        <p:txBody>
          <a:bodyPr wrap="square" lIns="0" tIns="0" rIns="0" bIns="0" rtlCol="0" anchor="b"/>
          <a:lstStyle/>
          <a:p>
            <a:pPr marL="0" indent="0" algn="ctr">
              <a:buNone/>
            </a:pPr>
            <a:r>
              <a:rPr lang="en-US" sz="3000" b="1" dirty="0">
                <a:solidFill>
                  <a:srgbClr val="FFFFFF"/>
                </a:solidFill>
                <a:latin typeface="Cambria" pitchFamily="34" charset="0"/>
                <a:ea typeface="Cambria" pitchFamily="34" charset="-122"/>
                <a:cs typeface="Cambria" pitchFamily="34" charset="-120"/>
              </a:rPr>
              <a:t>47–60%</a:t>
            </a:r>
            <a:endParaRPr lang="en-US" sz="3000" dirty="0"/>
          </a:p>
        </p:txBody>
      </p:sp>
      <p:sp>
        <p:nvSpPr>
          <p:cNvPr id="13" name="Text 11"/>
          <p:cNvSpPr/>
          <p:nvPr/>
        </p:nvSpPr>
        <p:spPr>
          <a:xfrm>
            <a:off x="5760720" y="4443984"/>
            <a:ext cx="2286000" cy="457200"/>
          </a:xfrm>
          <a:prstGeom prst="rect">
            <a:avLst/>
          </a:prstGeom>
          <a:noFill/>
          <a:ln/>
        </p:spPr>
        <p:txBody>
          <a:bodyPr wrap="square" lIns="0" tIns="0" rIns="0" bIns="0" rtlCol="0" anchor="t"/>
          <a:lstStyle/>
          <a:p>
            <a:pPr marL="0" indent="0" algn="ctr">
              <a:buNone/>
            </a:pPr>
            <a:r>
              <a:rPr lang="en-US" sz="1200" dirty="0">
                <a:solidFill>
                  <a:srgbClr val="9FB4C0"/>
                </a:solidFill>
                <a:latin typeface="Calibri" pitchFamily="34" charset="0"/>
                <a:ea typeface="Calibri" pitchFamily="34" charset="-122"/>
                <a:cs typeface="Calibri" pitchFamily="34" charset="-120"/>
              </a:rPr>
              <a:t>coverage gap revealed</a:t>
            </a:r>
            <a:endParaRPr lang="en-US" sz="1200" dirty="0"/>
          </a:p>
          <a:p>
            <a:pPr marL="0" indent="0" algn="ctr">
              <a:buNone/>
            </a:pPr>
            <a:r>
              <a:rPr lang="en-US" sz="1200" dirty="0">
                <a:solidFill>
                  <a:srgbClr val="9FB4C0"/>
                </a:solidFill>
                <a:latin typeface="Calibri" pitchFamily="34" charset="0"/>
                <a:ea typeface="Calibri" pitchFamily="34" charset="-122"/>
                <a:cs typeface="Calibri" pitchFamily="34" charset="-120"/>
              </a:rPr>
              <a:t>by integration</a:t>
            </a:r>
            <a:endParaRPr lang="en-US" sz="1200" dirty="0"/>
          </a:p>
        </p:txBody>
      </p:sp>
      <p:sp>
        <p:nvSpPr>
          <p:cNvPr id="14" name="Shape 12"/>
          <p:cNvSpPr/>
          <p:nvPr/>
        </p:nvSpPr>
        <p:spPr>
          <a:xfrm>
            <a:off x="8549640" y="2651760"/>
            <a:ext cx="1737360" cy="1737360"/>
          </a:xfrm>
          <a:prstGeom prst="ellipse">
            <a:avLst/>
          </a:prstGeom>
          <a:solidFill>
            <a:srgbClr val="26485C"/>
          </a:solidFill>
          <a:ln/>
        </p:spPr>
      </p:sp>
      <p:sp>
        <p:nvSpPr>
          <p:cNvPr id="15" name="Text 13"/>
          <p:cNvSpPr/>
          <p:nvPr/>
        </p:nvSpPr>
        <p:spPr>
          <a:xfrm>
            <a:off x="8549640" y="2651760"/>
            <a:ext cx="1737360" cy="1077163"/>
          </a:xfrm>
          <a:prstGeom prst="rect">
            <a:avLst/>
          </a:prstGeom>
          <a:noFill/>
          <a:ln/>
        </p:spPr>
        <p:txBody>
          <a:bodyPr wrap="square" lIns="0" tIns="0" rIns="0" bIns="0" rtlCol="0" anchor="b"/>
          <a:lstStyle/>
          <a:p>
            <a:pPr marL="0" indent="0" algn="ctr">
              <a:buNone/>
            </a:pPr>
            <a:r>
              <a:rPr lang="en-US" sz="3000" b="1" dirty="0">
                <a:solidFill>
                  <a:srgbClr val="E0876A"/>
                </a:solidFill>
                <a:latin typeface="Cambria" pitchFamily="34" charset="0"/>
                <a:ea typeface="Cambria" pitchFamily="34" charset="-122"/>
                <a:cs typeface="Cambria" pitchFamily="34" charset="-120"/>
              </a:rPr>
              <a:t>+ months</a:t>
            </a:r>
            <a:endParaRPr lang="en-US" sz="3000" dirty="0"/>
          </a:p>
        </p:txBody>
      </p:sp>
      <p:sp>
        <p:nvSpPr>
          <p:cNvPr id="16" name="Text 14"/>
          <p:cNvSpPr/>
          <p:nvPr/>
        </p:nvSpPr>
        <p:spPr>
          <a:xfrm>
            <a:off x="8275320" y="4443984"/>
            <a:ext cx="2286000" cy="457200"/>
          </a:xfrm>
          <a:prstGeom prst="rect">
            <a:avLst/>
          </a:prstGeom>
          <a:noFill/>
          <a:ln/>
        </p:spPr>
        <p:txBody>
          <a:bodyPr wrap="square" lIns="0" tIns="0" rIns="0" bIns="0" rtlCol="0" anchor="t"/>
          <a:lstStyle/>
          <a:p>
            <a:pPr marL="0" indent="0" algn="ctr">
              <a:buNone/>
            </a:pPr>
            <a:r>
              <a:rPr lang="en-US" sz="1200" dirty="0">
                <a:solidFill>
                  <a:srgbClr val="9FB4C0"/>
                </a:solidFill>
                <a:latin typeface="Calibri" pitchFamily="34" charset="0"/>
                <a:ea typeface="Calibri" pitchFamily="34" charset="-122"/>
                <a:cs typeface="Calibri" pitchFamily="34" charset="-120"/>
              </a:rPr>
              <a:t>next: extend the</a:t>
            </a:r>
            <a:endParaRPr lang="en-US" sz="1200" dirty="0"/>
          </a:p>
          <a:p>
            <a:pPr marL="0" indent="0" algn="ctr">
              <a:buNone/>
            </a:pPr>
            <a:r>
              <a:rPr lang="en-US" sz="1200" dirty="0">
                <a:solidFill>
                  <a:srgbClr val="9FB4C0"/>
                </a:solidFill>
                <a:latin typeface="Calibri" pitchFamily="34" charset="0"/>
                <a:ea typeface="Calibri" pitchFamily="34" charset="-122"/>
                <a:cs typeface="Calibri" pitchFamily="34" charset="-120"/>
              </a:rPr>
              <a:t>window beyond 2</a:t>
            </a:r>
            <a:endParaRPr lang="en-US" sz="1200" dirty="0"/>
          </a:p>
        </p:txBody>
      </p:sp>
      <p:sp>
        <p:nvSpPr>
          <p:cNvPr id="17" name="Shape 15"/>
          <p:cNvSpPr/>
          <p:nvPr/>
        </p:nvSpPr>
        <p:spPr>
          <a:xfrm>
            <a:off x="822960" y="5166360"/>
            <a:ext cx="10515600" cy="0"/>
          </a:xfrm>
          <a:prstGeom prst="line">
            <a:avLst/>
          </a:prstGeom>
          <a:noFill/>
          <a:ln w="12700">
            <a:solidFill>
              <a:srgbClr val="3E5C6C"/>
            </a:solidFill>
            <a:prstDash val="solid"/>
          </a:ln>
        </p:spPr>
      </p:sp>
      <p:sp>
        <p:nvSpPr>
          <p:cNvPr id="18" name="Text 16"/>
          <p:cNvSpPr/>
          <p:nvPr/>
        </p:nvSpPr>
        <p:spPr>
          <a:xfrm>
            <a:off x="822960" y="5394960"/>
            <a:ext cx="10515600" cy="822960"/>
          </a:xfrm>
          <a:prstGeom prst="rect">
            <a:avLst/>
          </a:prstGeom>
          <a:noFill/>
          <a:ln/>
        </p:spPr>
        <p:txBody>
          <a:bodyPr wrap="square" lIns="0" tIns="0" rIns="0" bIns="0" rtlCol="0" anchor="ctr"/>
          <a:lstStyle/>
          <a:p>
            <a:pPr marL="0" indent="0">
              <a:lnSpc>
                <a:spcPct val="130000"/>
              </a:lnSpc>
              <a:buNone/>
            </a:pPr>
            <a:r>
              <a:rPr lang="en-US" sz="1350" b="1" dirty="0">
                <a:solidFill>
                  <a:srgbClr val="FFFFFF"/>
                </a:solidFill>
                <a:latin typeface="Calibri" pitchFamily="34" charset="0"/>
                <a:ea typeface="Calibri" pitchFamily="34" charset="-122"/>
                <a:cs typeface="Calibri" pitchFamily="34" charset="-120"/>
              </a:rPr>
              <a:t>Next step: </a:t>
            </a:r>
            <a:r>
              <a:rPr lang="en-US" sz="1350" dirty="0">
                <a:solidFill>
                  <a:srgbClr val="F1E9DC"/>
                </a:solidFill>
                <a:latin typeface="Calibri" pitchFamily="34" charset="0"/>
                <a:ea typeface="Calibri" pitchFamily="34" charset="-122"/>
                <a:cs typeface="Calibri" pitchFamily="34" charset="-120"/>
              </a:rPr>
              <a:t>add more months of data to increase statistical power, re-test both pilot findings on a larger sample, and look for further meaningful extractions the current 2-month window is too short to surface — before scaling to the full 2015–2024, four-country study.</a:t>
            </a:r>
            <a:endParaRPr lang="en-US" sz="1350" dirty="0"/>
          </a:p>
        </p:txBody>
      </p:sp>
      <p:sp>
        <p:nvSpPr>
          <p:cNvPr id="19" name="Text 17"/>
          <p:cNvSpPr/>
          <p:nvPr/>
        </p:nvSpPr>
        <p:spPr>
          <a:xfrm>
            <a:off x="11548872" y="6400800"/>
            <a:ext cx="365760" cy="274320"/>
          </a:xfrm>
          <a:prstGeom prst="rect">
            <a:avLst/>
          </a:prstGeom>
          <a:noFill/>
          <a:ln/>
        </p:spPr>
        <p:txBody>
          <a:bodyPr wrap="square" lIns="0" tIns="0" rIns="0" bIns="0" rtlCol="0" anchor="ctr"/>
          <a:lstStyle/>
          <a:p>
            <a:pPr marL="0" indent="0" algn="r">
              <a:buNone/>
            </a:pPr>
            <a:r>
              <a:rPr lang="en-US" sz="1000" dirty="0">
                <a:solidFill>
                  <a:srgbClr val="9FB4C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2447</Words>
  <Application>Microsoft Office PowerPoint</Application>
  <PresentationFormat>Widescreen</PresentationFormat>
  <Paragraphs>405</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samuel aracena</cp:lastModifiedBy>
  <cp:revision>2</cp:revision>
  <dcterms:created xsi:type="dcterms:W3CDTF">2026-08-05T20:44:26Z</dcterms:created>
  <dcterms:modified xsi:type="dcterms:W3CDTF">2026-08-05T21:15:40Z</dcterms:modified>
</cp:coreProperties>
</file>