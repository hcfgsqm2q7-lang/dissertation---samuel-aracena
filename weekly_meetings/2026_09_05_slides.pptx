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2523"/>
        </a:solidFill>
      </p:bgPr>
    </p:bg>
    <p:spTree>
      <p:nvGrpSpPr>
        <p:cNvPr id="1" name=""/>
        <p:cNvGrpSpPr/>
        <p:nvPr/>
      </p:nvGrpSpPr>
      <p:grpSpPr>
        <a:xfrm>
          <a:off x="0" y="0"/>
          <a:ext cx="0" cy="0"/>
          <a:chOff x="0" y="0"/>
          <a:chExt cx="0" cy="0"/>
        </a:xfrm>
      </p:grpSpPr>
      <p:sp>
        <p:nvSpPr>
          <p:cNvPr id="2" name="Shape 0"/>
          <p:cNvSpPr/>
          <p:nvPr/>
        </p:nvSpPr>
        <p:spPr>
          <a:xfrm>
            <a:off x="9509760" y="-1371600"/>
            <a:ext cx="4754880" cy="4754880"/>
          </a:xfrm>
          <a:prstGeom prst="ellipse">
            <a:avLst/>
          </a:prstGeom>
          <a:solidFill>
            <a:srgbClr val="B85042"/>
          </a:solidFill>
          <a:ln/>
        </p:spPr>
      </p:sp>
      <p:sp>
        <p:nvSpPr>
          <p:cNvPr id="3" name="Shape 1"/>
          <p:cNvSpPr/>
          <p:nvPr/>
        </p:nvSpPr>
        <p:spPr>
          <a:xfrm>
            <a:off x="10607040" y="4023360"/>
            <a:ext cx="3108960" cy="3108960"/>
          </a:xfrm>
          <a:prstGeom prst="ellipse">
            <a:avLst/>
          </a:prstGeom>
          <a:solidFill>
            <a:srgbClr val="A7BEAE"/>
          </a:solidFill>
          <a:ln/>
        </p:spPr>
      </p:sp>
      <p:sp>
        <p:nvSpPr>
          <p:cNvPr id="4" name="Text 2"/>
          <p:cNvSpPr/>
          <p:nvPr/>
        </p:nvSpPr>
        <p:spPr>
          <a:xfrm>
            <a:off x="566928" y="1600200"/>
            <a:ext cx="9144000" cy="310896"/>
          </a:xfrm>
          <a:prstGeom prst="rect">
            <a:avLst/>
          </a:prstGeom>
          <a:noFill/>
          <a:ln/>
        </p:spPr>
        <p:txBody>
          <a:bodyPr wrap="square" lIns="0" tIns="0" rIns="0" bIns="0" rtlCol="0" anchor="ctr"/>
          <a:lstStyle/>
          <a:p>
            <a:pPr indent="0" marL="0">
              <a:buNone/>
            </a:pPr>
            <a:r>
              <a:rPr lang="en-US" sz="1300" b="1" spc="250" kern="0" dirty="0">
                <a:solidFill>
                  <a:srgbClr val="A7BEAE"/>
                </a:solidFill>
                <a:latin typeface="Calibri" pitchFamily="34" charset="0"/>
                <a:ea typeface="Calibri" pitchFamily="34" charset="-122"/>
                <a:cs typeface="Calibri" pitchFamily="34" charset="-120"/>
              </a:rPr>
              <a:t>RESPONDING TO THE 2026-09-02 FEEDBACK</a:t>
            </a:r>
            <a:endParaRPr lang="en-US" sz="1300" dirty="0"/>
          </a:p>
        </p:txBody>
      </p:sp>
      <p:sp>
        <p:nvSpPr>
          <p:cNvPr id="5" name="Text 3"/>
          <p:cNvSpPr/>
          <p:nvPr/>
        </p:nvSpPr>
        <p:spPr>
          <a:xfrm>
            <a:off x="566928" y="2057400"/>
            <a:ext cx="9509760" cy="1737360"/>
          </a:xfrm>
          <a:prstGeom prst="rect">
            <a:avLst/>
          </a:prstGeom>
          <a:noFill/>
          <a:ln/>
        </p:spPr>
        <p:txBody>
          <a:bodyPr wrap="square" lIns="0" tIns="0" rIns="0" bIns="0" rtlCol="0" anchor="ctr"/>
          <a:lstStyle/>
          <a:p>
            <a:pPr indent="0" marL="0">
              <a:lnSpc>
                <a:spcPts val="4200"/>
              </a:lnSpc>
              <a:buNone/>
            </a:pPr>
            <a:r>
              <a:rPr lang="en-US" sz="3600" b="1" dirty="0">
                <a:solidFill>
                  <a:srgbClr val="FFFFFF"/>
                </a:solidFill>
                <a:latin typeface="Cambria" pitchFamily="34" charset="0"/>
                <a:ea typeface="Cambria" pitchFamily="34" charset="-122"/>
                <a:cs typeface="Cambria" pitchFamily="34" charset="-120"/>
              </a:rPr>
              <a:t>Two final checks,</a:t>
            </a:r>
            <a:endParaRPr lang="en-US" sz="3600" dirty="0"/>
          </a:p>
          <a:p>
            <a:pPr indent="0" marL="0">
              <a:lnSpc>
                <a:spcPts val="4200"/>
              </a:lnSpc>
              <a:buNone/>
            </a:pPr>
            <a:r>
              <a:rPr lang="en-US" sz="3600" b="1" dirty="0">
                <a:solidFill>
                  <a:srgbClr val="FFFFFF"/>
                </a:solidFill>
                <a:latin typeface="Cambria" pitchFamily="34" charset="0"/>
                <a:ea typeface="Cambria" pitchFamily="34" charset="-122"/>
                <a:cs typeface="Cambria" pitchFamily="34" charset="-120"/>
              </a:rPr>
              <a:t>both run to completion</a:t>
            </a:r>
            <a:endParaRPr lang="en-US" sz="3600" dirty="0"/>
          </a:p>
        </p:txBody>
      </p:sp>
      <p:sp>
        <p:nvSpPr>
          <p:cNvPr id="6" name="Text 4"/>
          <p:cNvSpPr/>
          <p:nvPr/>
        </p:nvSpPr>
        <p:spPr>
          <a:xfrm>
            <a:off x="566928" y="3931920"/>
            <a:ext cx="8778240" cy="822960"/>
          </a:xfrm>
          <a:prstGeom prst="rect">
            <a:avLst/>
          </a:prstGeom>
          <a:noFill/>
          <a:ln/>
        </p:spPr>
        <p:txBody>
          <a:bodyPr wrap="square" lIns="0" tIns="0" rIns="0" bIns="0" rtlCol="0" anchor="ctr"/>
          <a:lstStyle/>
          <a:p>
            <a:pPr indent="0" marL="0">
              <a:lnSpc>
                <a:spcPts val="1900"/>
              </a:lnSpc>
              <a:buNone/>
            </a:pPr>
            <a:r>
              <a:rPr lang="en-US" sz="1400" dirty="0">
                <a:solidFill>
                  <a:srgbClr val="E7E8D1"/>
                </a:solidFill>
                <a:latin typeface="Calibri" pitchFamily="34" charset="0"/>
                <a:ea typeface="Calibri" pitchFamily="34" charset="-122"/>
                <a:cs typeface="Calibri" pitchFamily="34" charset="-120"/>
              </a:rPr>
              <a:t>Your first priority (district fixed effects) and second priority (attachment-content bias by topic), both run exactly as specified, on the data already in hand.</a:t>
            </a:r>
            <a:endParaRPr lang="en-US" sz="1400" dirty="0"/>
          </a:p>
        </p:txBody>
      </p:sp>
      <p:sp>
        <p:nvSpPr>
          <p:cNvPr id="7" name="Text 5"/>
          <p:cNvSpPr/>
          <p:nvPr/>
        </p:nvSpPr>
        <p:spPr>
          <a:xfrm>
            <a:off x="566928" y="5943600"/>
            <a:ext cx="8229600" cy="310896"/>
          </a:xfrm>
          <a:prstGeom prst="rect">
            <a:avLst/>
          </a:prstGeom>
          <a:noFill/>
          <a:ln/>
        </p:spPr>
        <p:txBody>
          <a:bodyPr wrap="square" lIns="0" tIns="0" rIns="0" bIns="0" rtlCol="0" anchor="ctr"/>
          <a:lstStyle/>
          <a:p>
            <a:pPr indent="0" marL="0">
              <a:buNone/>
            </a:pPr>
            <a:r>
              <a:rPr lang="en-US" sz="1150" dirty="0">
                <a:solidFill>
                  <a:srgbClr val="7A6E68"/>
                </a:solidFill>
                <a:latin typeface="Calibri" pitchFamily="34" charset="0"/>
                <a:ea typeface="Calibri" pitchFamily="34" charset="-122"/>
                <a:cs typeface="Calibri" pitchFamily="34" charset="-120"/>
              </a:rPr>
              <a:t>Samuel Aracena   ·   MSc Dissertation   ·   Somalia, Admin2 × Month</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2B2523"/>
        </a:solidFill>
      </p:bgPr>
    </p:bg>
    <p:spTree>
      <p:nvGrpSpPr>
        <p:cNvPr id="1" name=""/>
        <p:cNvGrpSpPr/>
        <p:nvPr/>
      </p:nvGrpSpPr>
      <p:grpSpPr>
        <a:xfrm>
          <a:off x="0" y="0"/>
          <a:ext cx="0" cy="0"/>
          <a:chOff x="0" y="0"/>
          <a:chExt cx="0" cy="0"/>
        </a:xfrm>
      </p:grpSpPr>
      <p:sp>
        <p:nvSpPr>
          <p:cNvPr id="2" name="Shape 0"/>
          <p:cNvSpPr/>
          <p:nvPr/>
        </p:nvSpPr>
        <p:spPr>
          <a:xfrm>
            <a:off x="9235440" y="-1554480"/>
            <a:ext cx="4937760" cy="4937760"/>
          </a:xfrm>
          <a:prstGeom prst="ellipse">
            <a:avLst/>
          </a:prstGeom>
          <a:solidFill>
            <a:srgbClr val="B85042"/>
          </a:solidFill>
          <a:ln/>
        </p:spPr>
      </p:sp>
      <p:sp>
        <p:nvSpPr>
          <p:cNvPr id="3" name="Shape 1"/>
          <p:cNvSpPr/>
          <p:nvPr/>
        </p:nvSpPr>
        <p:spPr>
          <a:xfrm>
            <a:off x="-1280160" y="4206240"/>
            <a:ext cx="3291840" cy="3291840"/>
          </a:xfrm>
          <a:prstGeom prst="ellipse">
            <a:avLst/>
          </a:prstGeom>
          <a:solidFill>
            <a:srgbClr val="A7BEAE"/>
          </a:solidFill>
          <a:ln/>
        </p:spPr>
      </p:sp>
      <p:sp>
        <p:nvSpPr>
          <p:cNvPr id="4" name="Text 2"/>
          <p:cNvSpPr/>
          <p:nvPr/>
        </p:nvSpPr>
        <p:spPr>
          <a:xfrm>
            <a:off x="566928" y="2331720"/>
            <a:ext cx="9144000" cy="310896"/>
          </a:xfrm>
          <a:prstGeom prst="rect">
            <a:avLst/>
          </a:prstGeom>
          <a:noFill/>
          <a:ln/>
        </p:spPr>
        <p:txBody>
          <a:bodyPr wrap="square" lIns="0" tIns="0" rIns="0" bIns="0" rtlCol="0" anchor="ctr"/>
          <a:lstStyle/>
          <a:p>
            <a:pPr indent="0" marL="0">
              <a:buNone/>
            </a:pPr>
            <a:r>
              <a:rPr lang="en-US" sz="1300" b="1" spc="300" kern="0" dirty="0">
                <a:solidFill>
                  <a:srgbClr val="A7BEAE"/>
                </a:solidFill>
                <a:latin typeface="Calibri" pitchFamily="34" charset="0"/>
                <a:ea typeface="Calibri" pitchFamily="34" charset="-122"/>
                <a:cs typeface="Calibri" pitchFamily="34" charset="-120"/>
              </a:rPr>
              <a:t>CHECK 1 · FIRST PRIORITY</a:t>
            </a:r>
            <a:endParaRPr lang="en-US" sz="1300" dirty="0"/>
          </a:p>
        </p:txBody>
      </p:sp>
      <p:sp>
        <p:nvSpPr>
          <p:cNvPr id="5" name="Text 3"/>
          <p:cNvSpPr/>
          <p:nvPr/>
        </p:nvSpPr>
        <p:spPr>
          <a:xfrm>
            <a:off x="566928" y="2743200"/>
            <a:ext cx="10241280" cy="1371600"/>
          </a:xfrm>
          <a:prstGeom prst="rect">
            <a:avLst/>
          </a:prstGeom>
          <a:noFill/>
          <a:ln/>
        </p:spPr>
        <p:txBody>
          <a:bodyPr wrap="square" lIns="0" tIns="0" rIns="0" bIns="0" rtlCol="0" anchor="ctr"/>
          <a:lstStyle/>
          <a:p>
            <a:pPr indent="0" marL="0">
              <a:lnSpc>
                <a:spcPts val="3600"/>
              </a:lnSpc>
              <a:buNone/>
            </a:pPr>
            <a:r>
              <a:rPr lang="en-US" sz="3000" b="1" dirty="0">
                <a:solidFill>
                  <a:srgbClr val="FFFFFF"/>
                </a:solidFill>
                <a:latin typeface="Cambria" pitchFamily="34" charset="0"/>
                <a:ea typeface="Cambria" pitchFamily="34" charset="-122"/>
                <a:cs typeface="Cambria" pitchFamily="34" charset="-120"/>
              </a:rPr>
              <a:t>The district fixed-effects</a:t>
            </a:r>
            <a:endParaRPr lang="en-US" sz="3000" dirty="0"/>
          </a:p>
          <a:p>
            <a:pPr indent="0" marL="0">
              <a:lnSpc>
                <a:spcPts val="3600"/>
              </a:lnSpc>
              <a:buNone/>
            </a:pPr>
            <a:r>
              <a:rPr lang="en-US" sz="3000" b="1" dirty="0">
                <a:solidFill>
                  <a:srgbClr val="FFFFFF"/>
                </a:solidFill>
                <a:latin typeface="Cambria" pitchFamily="34" charset="0"/>
                <a:ea typeface="Cambria" pitchFamily="34" charset="-122"/>
                <a:cs typeface="Cambria" pitchFamily="34" charset="-120"/>
              </a:rPr>
              <a:t>robustness model</a:t>
            </a:r>
            <a:endParaRPr lang="en-US" sz="3000" dirty="0"/>
          </a:p>
        </p:txBody>
      </p:sp>
      <p:sp>
        <p:nvSpPr>
          <p:cNvPr id="6" name="Text 4"/>
          <p:cNvSpPr/>
          <p:nvPr/>
        </p:nvSpPr>
        <p:spPr>
          <a:xfrm>
            <a:off x="566928" y="4023360"/>
            <a:ext cx="8961120" cy="1097280"/>
          </a:xfrm>
          <a:prstGeom prst="rect">
            <a:avLst/>
          </a:prstGeom>
          <a:noFill/>
          <a:ln/>
        </p:spPr>
        <p:txBody>
          <a:bodyPr wrap="square" lIns="0" tIns="0" rIns="0" bIns="0" rtlCol="0" anchor="ctr"/>
          <a:lstStyle/>
          <a:p>
            <a:pPr indent="0" marL="0">
              <a:lnSpc>
                <a:spcPts val="1800"/>
              </a:lnSpc>
              <a:buNone/>
            </a:pPr>
            <a:r>
              <a:rPr lang="en-US" sz="1350" dirty="0">
                <a:solidFill>
                  <a:srgbClr val="E7E8D1"/>
                </a:solidFill>
                <a:latin typeface="Calibri" pitchFamily="34" charset="0"/>
                <a:ea typeface="Calibri" pitchFamily="34" charset="-122"/>
                <a:cs typeface="Calibri" pitchFamily="34" charset="-120"/>
              </a:rPr>
              <a:t>Does the conflict-versus-vegetation-stress result survive once every persistent, unmeasured trait of a district (accessibility, population, NGO presence, political importance) is held fixed by design?</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27664" cy="502920"/>
          </a:xfrm>
          <a:prstGeom prst="rect">
            <a:avLst/>
          </a:prstGeom>
          <a:noFill/>
          <a:ln/>
        </p:spPr>
        <p:txBody>
          <a:bodyPr wrap="square" lIns="0" tIns="0" rIns="0" bIns="0" rtlCol="0" anchor="ctr"/>
          <a:lstStyle/>
          <a:p>
            <a:pPr indent="0" marL="0">
              <a:buNone/>
            </a:pPr>
            <a:r>
              <a:rPr lang="en-US" sz="2400" b="1" dirty="0">
                <a:solidFill>
                  <a:srgbClr val="2B2523"/>
                </a:solidFill>
                <a:latin typeface="Cambria" pitchFamily="34" charset="0"/>
                <a:ea typeface="Cambria" pitchFamily="34" charset="-122"/>
                <a:cs typeface="Cambria" pitchFamily="34" charset="-120"/>
              </a:rPr>
              <a:t>What district fixed effects add on top of Task 13</a:t>
            </a:r>
            <a:endParaRPr lang="en-US" sz="2400" dirty="0"/>
          </a:p>
        </p:txBody>
      </p:sp>
      <p:sp>
        <p:nvSpPr>
          <p:cNvPr id="3" name="Text 1"/>
          <p:cNvSpPr/>
          <p:nvPr/>
        </p:nvSpPr>
        <p:spPr>
          <a:xfrm>
            <a:off x="566928" y="969264"/>
            <a:ext cx="11027664" cy="310896"/>
          </a:xfrm>
          <a:prstGeom prst="rect">
            <a:avLst/>
          </a:prstGeom>
          <a:noFill/>
          <a:ln/>
        </p:spPr>
        <p:txBody>
          <a:bodyPr wrap="square" lIns="0" tIns="0" rIns="0" bIns="0" rtlCol="0" anchor="ctr"/>
          <a:lstStyle/>
          <a:p>
            <a:pPr indent="0" marL="0">
              <a:buNone/>
            </a:pPr>
            <a:r>
              <a:rPr lang="en-US" sz="1200" i="1" dirty="0">
                <a:solidFill>
                  <a:srgbClr val="7A6E68"/>
                </a:solidFill>
                <a:latin typeface="Calibri" pitchFamily="34" charset="0"/>
                <a:ea typeface="Calibri" pitchFamily="34" charset="-122"/>
                <a:cs typeface="Calibri" pitchFamily="34" charset="-120"/>
              </a:rPr>
              <a:t>Comparing each district only to itself across the year, instead of comparing districts to each other</a:t>
            </a:r>
            <a:endParaRPr lang="en-US" sz="1200" dirty="0"/>
          </a:p>
        </p:txBody>
      </p:sp>
      <p:sp>
        <p:nvSpPr>
          <p:cNvPr id="4" name="Shape 2"/>
          <p:cNvSpPr/>
          <p:nvPr/>
        </p:nvSpPr>
        <p:spPr>
          <a:xfrm>
            <a:off x="566928" y="1371600"/>
            <a:ext cx="11027664" cy="1417320"/>
          </a:xfrm>
          <a:prstGeom prst="roundRect">
            <a:avLst>
              <a:gd name="adj" fmla="val 3871"/>
            </a:avLst>
          </a:prstGeom>
          <a:solidFill>
            <a:srgbClr val="F7F5F1"/>
          </a:solidFill>
          <a:ln/>
          <a:effectLst>
            <a:outerShdw sx="100000" sy="100000" kx="0" ky="0" algn="bl" rotWithShape="0" blurRad="76200" dist="381" dir="5400000">
              <a:srgbClr val="000000">
                <a:alpha val="8000"/>
              </a:srgbClr>
            </a:outerShdw>
          </a:effectLst>
        </p:spPr>
      </p:sp>
      <p:sp>
        <p:nvSpPr>
          <p:cNvPr id="5" name="Text 3"/>
          <p:cNvSpPr/>
          <p:nvPr/>
        </p:nvSpPr>
        <p:spPr>
          <a:xfrm>
            <a:off x="786384" y="1517904"/>
            <a:ext cx="9144000" cy="274320"/>
          </a:xfrm>
          <a:prstGeom prst="rect">
            <a:avLst/>
          </a:prstGeom>
          <a:noFill/>
          <a:ln/>
        </p:spPr>
        <p:txBody>
          <a:bodyPr wrap="square" lIns="0" tIns="0" rIns="0" bIns="0" rtlCol="0" anchor="ctr"/>
          <a:lstStyle/>
          <a:p>
            <a:pPr indent="0" marL="0">
              <a:buNone/>
            </a:pPr>
            <a:r>
              <a:rPr lang="en-US" sz="1350" b="1" dirty="0">
                <a:solidFill>
                  <a:srgbClr val="B85042"/>
                </a:solidFill>
                <a:latin typeface="Cambria" pitchFamily="34" charset="0"/>
                <a:ea typeface="Cambria" pitchFamily="34" charset="-122"/>
                <a:cs typeface="Cambria" pitchFamily="34" charset="-120"/>
              </a:rPr>
              <a:t>Why cluster-robust SEs are not enough on their own</a:t>
            </a:r>
            <a:endParaRPr lang="en-US" sz="1350" dirty="0"/>
          </a:p>
        </p:txBody>
      </p:sp>
      <p:sp>
        <p:nvSpPr>
          <p:cNvPr id="6" name="Text 4"/>
          <p:cNvSpPr/>
          <p:nvPr/>
        </p:nvSpPr>
        <p:spPr>
          <a:xfrm>
            <a:off x="786384" y="1810512"/>
            <a:ext cx="10588752" cy="914400"/>
          </a:xfrm>
          <a:prstGeom prst="rect">
            <a:avLst/>
          </a:prstGeom>
          <a:noFill/>
          <a:ln/>
        </p:spPr>
        <p:txBody>
          <a:bodyPr wrap="square" lIns="0" tIns="0" rIns="0" bIns="0" rtlCol="0" anchor="ctr"/>
          <a:lstStyle/>
          <a:p>
            <a:pPr indent="0" marL="0">
              <a:lnSpc>
                <a:spcPts val="1450"/>
              </a:lnSpc>
              <a:buNone/>
            </a:pPr>
            <a:r>
              <a:rPr lang="en-US" sz="1100" dirty="0">
                <a:solidFill>
                  <a:srgbClr val="7A6E68"/>
                </a:solidFill>
                <a:latin typeface="Calibri" pitchFamily="34" charset="0"/>
                <a:ea typeface="Calibri" pitchFamily="34" charset="-122"/>
                <a:cs typeface="Calibri" pitchFamily="34" charset="-120"/>
              </a:rPr>
              <a:t>Task 13's clustered standard errors correct for 12 correlated monthly rows per district being counted as if independent. They do not remove a persistent trait of a district itself (how accessible it is, its population, whether NGOs are already based there) that could drive both its conflict level and its reporting level, with no real causal link between the two. Fixed effects remove exactly that: any trait that does not change month to month, measured or not, is automatically controlled for.</a:t>
            </a:r>
            <a:endParaRPr lang="en-US" sz="1100" dirty="0"/>
          </a:p>
        </p:txBody>
      </p:sp>
      <p:sp>
        <p:nvSpPr>
          <p:cNvPr id="7" name="Shape 5"/>
          <p:cNvSpPr/>
          <p:nvPr/>
        </p:nvSpPr>
        <p:spPr>
          <a:xfrm>
            <a:off x="566928" y="2926080"/>
            <a:ext cx="11027664" cy="960120"/>
          </a:xfrm>
          <a:prstGeom prst="roundRect">
            <a:avLst>
              <a:gd name="adj" fmla="val 5714"/>
            </a:avLst>
          </a:prstGeom>
          <a:solidFill>
            <a:srgbClr val="2B2523"/>
          </a:solidFill>
          <a:ln/>
          <a:effectLst>
            <a:outerShdw sx="100000" sy="100000" kx="0" ky="0" algn="bl" rotWithShape="0" blurRad="76200" dist="381" dir="5400000">
              <a:srgbClr val="000000">
                <a:alpha val="8000"/>
              </a:srgbClr>
            </a:outerShdw>
          </a:effectLst>
        </p:spPr>
      </p:sp>
      <p:sp>
        <p:nvSpPr>
          <p:cNvPr id="8" name="Text 6"/>
          <p:cNvSpPr/>
          <p:nvPr/>
        </p:nvSpPr>
        <p:spPr>
          <a:xfrm>
            <a:off x="786384" y="3072384"/>
            <a:ext cx="9144000" cy="365760"/>
          </a:xfrm>
          <a:prstGeom prst="rect">
            <a:avLst/>
          </a:prstGeom>
          <a:noFill/>
          <a:ln/>
        </p:spPr>
        <p:txBody>
          <a:bodyPr wrap="square" lIns="0" tIns="0" rIns="0" bIns="0" rtlCol="0" anchor="ctr"/>
          <a:lstStyle/>
          <a:p>
            <a:pPr indent="0" marL="0">
              <a:buNone/>
            </a:pPr>
            <a:r>
              <a:rPr lang="en-US" sz="1450" b="1" dirty="0">
                <a:solidFill>
                  <a:srgbClr val="FFFFFF"/>
                </a:solidFill>
                <a:latin typeface="Courier New" pitchFamily="34" charset="0"/>
                <a:ea typeface="Courier New" pitchFamily="34" charset="-122"/>
                <a:cs typeface="Courier New" pitchFamily="34" charset="-120"/>
              </a:rPr>
              <a:t>reports ~ conflict_z + vhi_stress_z + C(month) + C(district)</a:t>
            </a:r>
            <a:endParaRPr lang="en-US" sz="1450" dirty="0"/>
          </a:p>
        </p:txBody>
      </p:sp>
      <p:sp>
        <p:nvSpPr>
          <p:cNvPr id="9" name="Text 7"/>
          <p:cNvSpPr/>
          <p:nvPr/>
        </p:nvSpPr>
        <p:spPr>
          <a:xfrm>
            <a:off x="786384" y="3493008"/>
            <a:ext cx="10588752" cy="365760"/>
          </a:xfrm>
          <a:prstGeom prst="rect">
            <a:avLst/>
          </a:prstGeom>
          <a:noFill/>
          <a:ln/>
        </p:spPr>
        <p:txBody>
          <a:bodyPr wrap="square" lIns="0" tIns="0" rIns="0" bIns="0" rtlCol="0" anchor="ctr"/>
          <a:lstStyle/>
          <a:p>
            <a:pPr indent="0" marL="0">
              <a:lnSpc>
                <a:spcPts val="1350"/>
              </a:lnSpc>
              <a:buNone/>
            </a:pPr>
            <a:r>
              <a:rPr lang="en-US" sz="1050" dirty="0">
                <a:solidFill>
                  <a:srgbClr val="E7E8D1"/>
                </a:solidFill>
                <a:latin typeface="Calibri" pitchFamily="34" charset="0"/>
                <a:ea typeface="Calibri" pitchFamily="34" charset="-122"/>
                <a:cs typeface="Calibri" pitchFamily="34" charset="-120"/>
              </a:rPr>
              <a:t>Identical to Task 13 in every other respect: same standardised predictors, same Banadir exclusion (876 rows, 73 districts), same cluster-robust SEs on top of the fixed effects. Only C(district) is new.</a:t>
            </a:r>
            <a:endParaRPr lang="en-US" sz="10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66928" y="4069080"/>
          <a:ext cx="11027664" cy="914400"/>
        </p:xfrm>
        <a:graphic>
          <a:graphicData uri="http://schemas.openxmlformats.org/drawingml/2006/table">
            <a:tbl>
              <a:tblPr/>
              <a:tblGrid>
                <a:gridCol w="3017520"/>
                <a:gridCol w="4005072"/>
                <a:gridCol w="4005072"/>
              </a:tblGrid>
              <a:tr h="438912">
                <a:tc>
                  <a:txBody>
                    <a:bodyPr/>
                    <a:lstStyle/>
                    <a:p>
                      <a:pPr indent="0" marL="0">
                        <a:buNone/>
                      </a:pPr>
                      <a:endParaRPr lang="en-US" sz="11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Task 13 (cluster-robust only)</a:t>
                      </a:r>
                      <a:endParaRPr lang="en-US" sz="11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This check (district fixed effects)</a:t>
                      </a:r>
                      <a:endParaRPr lang="en-US" sz="11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r>
              <a:tr h="438912">
                <a:tc>
                  <a:txBody>
                    <a:bodyPr/>
                    <a:lstStyle/>
                    <a:p>
                      <a:pPr indent="0" marL="0">
                        <a:buNone/>
                      </a:pPr>
                      <a:r>
                        <a:rPr lang="en-US" sz="1150" dirty="0">
                          <a:solidFill>
                            <a:srgbClr val="2B2523"/>
                          </a:solidFill>
                          <a:latin typeface="Calibri" pitchFamily="34" charset="0"/>
                          <a:ea typeface="Calibri" pitchFamily="34" charset="-122"/>
                          <a:cs typeface="Calibri" pitchFamily="34" charset="-120"/>
                        </a:rPr>
                        <a:t>Conflict IRR</a:t>
                      </a:r>
                      <a:endParaRPr lang="en-US" sz="11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150" dirty="0">
                          <a:solidFill>
                            <a:srgbClr val="2B2523"/>
                          </a:solidFill>
                          <a:latin typeface="Calibri" pitchFamily="34" charset="0"/>
                          <a:ea typeface="Calibri" pitchFamily="34" charset="-122"/>
                          <a:cs typeface="Calibri" pitchFamily="34" charset="-120"/>
                        </a:rPr>
                        <a:t>1.69, 95% CI [1.42, 2.01], p &lt; 0.0001</a:t>
                      </a:r>
                      <a:endParaRPr lang="en-US" sz="11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150" b="1" dirty="0">
                          <a:solidFill>
                            <a:srgbClr val="B85042"/>
                          </a:solidFill>
                          <a:latin typeface="Calibri" pitchFamily="34" charset="0"/>
                          <a:ea typeface="Calibri" pitchFamily="34" charset="-122"/>
                          <a:cs typeface="Calibri" pitchFamily="34" charset="-120"/>
                        </a:rPr>
                        <a:t>1.02, 95% CI [0.95, 1.10], p = 0.61</a:t>
                      </a:r>
                      <a:endParaRPr lang="en-US" sz="11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r>
              <a:tr h="438912">
                <a:tc>
                  <a:txBody>
                    <a:bodyPr/>
                    <a:lstStyle/>
                    <a:p>
                      <a:pPr indent="0" marL="0">
                        <a:buNone/>
                      </a:pPr>
                      <a:r>
                        <a:rPr lang="en-US" sz="1150" dirty="0">
                          <a:solidFill>
                            <a:srgbClr val="2B2523"/>
                          </a:solidFill>
                          <a:latin typeface="Calibri" pitchFamily="34" charset="0"/>
                          <a:ea typeface="Calibri" pitchFamily="34" charset="-122"/>
                          <a:cs typeface="Calibri" pitchFamily="34" charset="-120"/>
                        </a:rPr>
                        <a:t>Vegetation-stress IRR</a:t>
                      </a:r>
                      <a:endParaRPr lang="en-US" sz="11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150" dirty="0">
                          <a:solidFill>
                            <a:srgbClr val="2B2523"/>
                          </a:solidFill>
                          <a:latin typeface="Calibri" pitchFamily="34" charset="0"/>
                          <a:ea typeface="Calibri" pitchFamily="34" charset="-122"/>
                          <a:cs typeface="Calibri" pitchFamily="34" charset="-120"/>
                        </a:rPr>
                        <a:t>1.00, not significant</a:t>
                      </a:r>
                      <a:endParaRPr lang="en-US" sz="11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150" dirty="0">
                          <a:solidFill>
                            <a:srgbClr val="2B2523"/>
                          </a:solidFill>
                          <a:latin typeface="Calibri" pitchFamily="34" charset="0"/>
                          <a:ea typeface="Calibri" pitchFamily="34" charset="-122"/>
                          <a:cs typeface="Calibri" pitchFamily="34" charset="-120"/>
                        </a:rPr>
                        <a:t>1.08, 95% CI [0.97, 1.20], p = 0.16</a:t>
                      </a:r>
                      <a:endParaRPr lang="en-US" sz="11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r>
              <a:tr h="438912">
                <a:tc>
                  <a:txBody>
                    <a:bodyPr/>
                    <a:lstStyle/>
                    <a:p>
                      <a:pPr indent="0" marL="0">
                        <a:buNone/>
                      </a:pPr>
                      <a:r>
                        <a:rPr lang="en-US" sz="1150" dirty="0">
                          <a:solidFill>
                            <a:srgbClr val="2B2523"/>
                          </a:solidFill>
                          <a:latin typeface="Calibri" pitchFamily="34" charset="0"/>
                          <a:ea typeface="Calibri" pitchFamily="34" charset="-122"/>
                          <a:cs typeface="Calibri" pitchFamily="34" charset="-120"/>
                        </a:rPr>
                        <a:t>Effect-size comparison (Wald)</a:t>
                      </a:r>
                      <a:endParaRPr lang="en-US" sz="11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150" dirty="0">
                          <a:solidFill>
                            <a:srgbClr val="2B2523"/>
                          </a:solidFill>
                          <a:latin typeface="Calibri" pitchFamily="34" charset="0"/>
                          <a:ea typeface="Calibri" pitchFamily="34" charset="-122"/>
                          <a:cs typeface="Calibri" pitchFamily="34" charset="-120"/>
                        </a:rPr>
                        <a:t>chi2 = 9.04, p = 0.0026</a:t>
                      </a:r>
                      <a:endParaRPr lang="en-US" sz="11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150" b="1" dirty="0">
                          <a:solidFill>
                            <a:srgbClr val="B85042"/>
                          </a:solidFill>
                          <a:latin typeface="Calibri" pitchFamily="34" charset="0"/>
                          <a:ea typeface="Calibri" pitchFamily="34" charset="-122"/>
                          <a:cs typeface="Calibri" pitchFamily="34" charset="-120"/>
                        </a:rPr>
                        <a:t>chi2 = 0.81, p = 0.37</a:t>
                      </a:r>
                      <a:endParaRPr lang="en-US" sz="11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r>
            </a:tbl>
          </a:graphicData>
        </a:graphic>
      </p:graphicFrame>
      <p:sp>
        <p:nvSpPr>
          <p:cNvPr id="11" name="Text 8"/>
          <p:cNvSpPr/>
          <p:nvPr/>
        </p:nvSpPr>
        <p:spPr>
          <a:xfrm>
            <a:off x="566928" y="6016752"/>
            <a:ext cx="11027664" cy="365760"/>
          </a:xfrm>
          <a:prstGeom prst="rect">
            <a:avLst/>
          </a:prstGeom>
          <a:noFill/>
          <a:ln/>
        </p:spPr>
        <p:txBody>
          <a:bodyPr wrap="square" lIns="0" tIns="0" rIns="0" bIns="0" rtlCol="0" anchor="ctr"/>
          <a:lstStyle/>
          <a:p>
            <a:pPr indent="0" marL="0">
              <a:lnSpc>
                <a:spcPts val="1250"/>
              </a:lnSpc>
              <a:buNone/>
            </a:pPr>
            <a:r>
              <a:rPr lang="en-US" sz="1000" i="1" dirty="0">
                <a:solidFill>
                  <a:srgbClr val="7A6E68"/>
                </a:solidFill>
                <a:latin typeface="Calibri" pitchFamily="34" charset="0"/>
                <a:ea typeface="Calibri" pitchFamily="34" charset="-122"/>
                <a:cs typeface="Calibri" pitchFamily="34" charset="-120"/>
              </a:rPr>
              <a:t>Fitting 73 extra district dummies required a different optimiser (L-BFGS) than the one used elsewhere in this notebook; confirmed stable by reaching the identical answer from three separate optimisers.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27664" cy="502920"/>
          </a:xfrm>
          <a:prstGeom prst="rect">
            <a:avLst/>
          </a:prstGeom>
          <a:noFill/>
          <a:ln/>
        </p:spPr>
        <p:txBody>
          <a:bodyPr wrap="square" lIns="0" tIns="0" rIns="0" bIns="0" rtlCol="0" anchor="ctr"/>
          <a:lstStyle/>
          <a:p>
            <a:pPr indent="0" marL="0">
              <a:buNone/>
            </a:pPr>
            <a:r>
              <a:rPr lang="en-US" sz="2400" b="1" dirty="0">
                <a:solidFill>
                  <a:srgbClr val="2B2523"/>
                </a:solidFill>
                <a:latin typeface="Cambria" pitchFamily="34" charset="0"/>
                <a:ea typeface="Cambria" pitchFamily="34" charset="-122"/>
                <a:cs typeface="Cambria" pitchFamily="34" charset="-120"/>
              </a:rPr>
              <a:t>Why the conflict effect shrank, and what that does and does not mean</a:t>
            </a:r>
            <a:endParaRPr lang="en-US" sz="2400" dirty="0"/>
          </a:p>
        </p:txBody>
      </p:sp>
      <p:sp>
        <p:nvSpPr>
          <p:cNvPr id="3" name="Shape 1"/>
          <p:cNvSpPr/>
          <p:nvPr/>
        </p:nvSpPr>
        <p:spPr>
          <a:xfrm>
            <a:off x="566928" y="1371600"/>
            <a:ext cx="11027664" cy="1920240"/>
          </a:xfrm>
          <a:prstGeom prst="roundRect">
            <a:avLst>
              <a:gd name="adj" fmla="val 2857"/>
            </a:avLst>
          </a:prstGeom>
          <a:solidFill>
            <a:srgbClr val="F7F5F1"/>
          </a:solidFill>
          <a:ln/>
          <a:effectLst>
            <a:outerShdw sx="100000" sy="100000" kx="0" ky="0" algn="bl" rotWithShape="0" blurRad="76200" dist="381" dir="5400000">
              <a:srgbClr val="000000">
                <a:alpha val="8000"/>
              </a:srgbClr>
            </a:outerShdw>
          </a:effectLst>
        </p:spPr>
      </p:sp>
      <p:sp>
        <p:nvSpPr>
          <p:cNvPr id="4" name="Text 2"/>
          <p:cNvSpPr/>
          <p:nvPr/>
        </p:nvSpPr>
        <p:spPr>
          <a:xfrm>
            <a:off x="786384" y="1517904"/>
            <a:ext cx="9144000" cy="274320"/>
          </a:xfrm>
          <a:prstGeom prst="rect">
            <a:avLst/>
          </a:prstGeom>
          <a:noFill/>
          <a:ln/>
        </p:spPr>
        <p:txBody>
          <a:bodyPr wrap="square" lIns="0" tIns="0" rIns="0" bIns="0" rtlCol="0" anchor="ctr"/>
          <a:lstStyle/>
          <a:p>
            <a:pPr indent="0" marL="0">
              <a:buNone/>
            </a:pPr>
            <a:r>
              <a:rPr lang="en-US" sz="1350" b="1" dirty="0">
                <a:solidFill>
                  <a:srgbClr val="B85042"/>
                </a:solidFill>
                <a:latin typeface="Cambria" pitchFamily="34" charset="0"/>
                <a:ea typeface="Cambria" pitchFamily="34" charset="-122"/>
                <a:cs typeface="Cambria" pitchFamily="34" charset="-120"/>
              </a:rPr>
              <a:t>The mechanical reason: conflict barely moves within a district</a:t>
            </a:r>
            <a:endParaRPr lang="en-US" sz="1350" dirty="0"/>
          </a:p>
        </p:txBody>
      </p:sp>
      <p:sp>
        <p:nvSpPr>
          <p:cNvPr id="5" name="Shape 3"/>
          <p:cNvSpPr/>
          <p:nvPr/>
        </p:nvSpPr>
        <p:spPr>
          <a:xfrm>
            <a:off x="786384" y="1828800"/>
            <a:ext cx="5120640" cy="1325880"/>
          </a:xfrm>
          <a:prstGeom prst="roundRect">
            <a:avLst>
              <a:gd name="adj" fmla="val 4138"/>
            </a:avLst>
          </a:prstGeom>
          <a:solidFill>
            <a:srgbClr val="F7F5F1"/>
          </a:solidFill>
          <a:ln/>
          <a:effectLst>
            <a:outerShdw sx="100000" sy="100000" kx="0" ky="0" algn="bl" rotWithShape="0" blurRad="76200" dist="381" dir="5400000">
              <a:srgbClr val="000000">
                <a:alpha val="8000"/>
              </a:srgbClr>
            </a:outerShdw>
          </a:effectLst>
        </p:spPr>
      </p:sp>
      <p:sp>
        <p:nvSpPr>
          <p:cNvPr id="6" name="Text 4"/>
          <p:cNvSpPr/>
          <p:nvPr/>
        </p:nvSpPr>
        <p:spPr>
          <a:xfrm>
            <a:off x="987552" y="1938528"/>
            <a:ext cx="4718304" cy="662940"/>
          </a:xfrm>
          <a:prstGeom prst="rect">
            <a:avLst/>
          </a:prstGeom>
          <a:noFill/>
          <a:ln/>
        </p:spPr>
        <p:txBody>
          <a:bodyPr wrap="square" lIns="0" tIns="0" rIns="0" bIns="0" rtlCol="0" anchor="ctr"/>
          <a:lstStyle/>
          <a:p>
            <a:pPr indent="0" marL="0">
              <a:buNone/>
            </a:pPr>
            <a:r>
              <a:rPr lang="en-US" sz="2700" b="1" dirty="0">
                <a:solidFill>
                  <a:srgbClr val="B85042"/>
                </a:solidFill>
                <a:latin typeface="Cambria" pitchFamily="34" charset="0"/>
                <a:ea typeface="Cambria" pitchFamily="34" charset="-122"/>
                <a:cs typeface="Cambria" pitchFamily="34" charset="-120"/>
              </a:rPr>
              <a:t>70.4%</a:t>
            </a:r>
            <a:endParaRPr lang="en-US" sz="2700" dirty="0"/>
          </a:p>
        </p:txBody>
      </p:sp>
      <p:sp>
        <p:nvSpPr>
          <p:cNvPr id="7" name="Text 5"/>
          <p:cNvSpPr/>
          <p:nvPr/>
        </p:nvSpPr>
        <p:spPr>
          <a:xfrm>
            <a:off x="987552" y="2544775"/>
            <a:ext cx="4718304" cy="556870"/>
          </a:xfrm>
          <a:prstGeom prst="rect">
            <a:avLst/>
          </a:prstGeom>
          <a:noFill/>
          <a:ln/>
        </p:spPr>
        <p:txBody>
          <a:bodyPr wrap="square" lIns="0" tIns="0" rIns="0" bIns="0" rtlCol="0" anchor="ctr"/>
          <a:lstStyle/>
          <a:p>
            <a:pPr indent="0" marL="0">
              <a:lnSpc>
                <a:spcPts val="1250"/>
              </a:lnSpc>
              <a:buNone/>
            </a:pPr>
            <a:r>
              <a:rPr lang="en-US" sz="1030" dirty="0">
                <a:solidFill>
                  <a:srgbClr val="7A6E68"/>
                </a:solidFill>
                <a:latin typeface="Calibri" pitchFamily="34" charset="0"/>
                <a:ea typeface="Calibri" pitchFamily="34" charset="-122"/>
                <a:cs typeface="Calibri" pitchFamily="34" charset="-120"/>
              </a:rPr>
              <a:t>of conflict's variation is between districts (a stable, permanent fact about a place)</a:t>
            </a:r>
            <a:endParaRPr lang="en-US" sz="1030" dirty="0"/>
          </a:p>
        </p:txBody>
      </p:sp>
      <p:sp>
        <p:nvSpPr>
          <p:cNvPr id="8" name="Shape 6"/>
          <p:cNvSpPr/>
          <p:nvPr/>
        </p:nvSpPr>
        <p:spPr>
          <a:xfrm>
            <a:off x="6135624" y="1828800"/>
            <a:ext cx="5120640" cy="1325880"/>
          </a:xfrm>
          <a:prstGeom prst="roundRect">
            <a:avLst>
              <a:gd name="adj" fmla="val 4138"/>
            </a:avLst>
          </a:prstGeom>
          <a:solidFill>
            <a:srgbClr val="F7F5F1"/>
          </a:solidFill>
          <a:ln/>
          <a:effectLst>
            <a:outerShdw sx="100000" sy="100000" kx="0" ky="0" algn="bl" rotWithShape="0" blurRad="76200" dist="381" dir="5400000">
              <a:srgbClr val="000000">
                <a:alpha val="8000"/>
              </a:srgbClr>
            </a:outerShdw>
          </a:effectLst>
        </p:spPr>
      </p:sp>
      <p:sp>
        <p:nvSpPr>
          <p:cNvPr id="9" name="Text 7"/>
          <p:cNvSpPr/>
          <p:nvPr/>
        </p:nvSpPr>
        <p:spPr>
          <a:xfrm>
            <a:off x="6336792" y="1938528"/>
            <a:ext cx="4718304" cy="662940"/>
          </a:xfrm>
          <a:prstGeom prst="rect">
            <a:avLst/>
          </a:prstGeom>
          <a:noFill/>
          <a:ln/>
        </p:spPr>
        <p:txBody>
          <a:bodyPr wrap="square" lIns="0" tIns="0" rIns="0" bIns="0" rtlCol="0" anchor="ctr"/>
          <a:lstStyle/>
          <a:p>
            <a:pPr indent="0" marL="0">
              <a:buNone/>
            </a:pPr>
            <a:r>
              <a:rPr lang="en-US" sz="2700" b="1" dirty="0">
                <a:solidFill>
                  <a:srgbClr val="B85042"/>
                </a:solidFill>
                <a:latin typeface="Cambria" pitchFamily="34" charset="0"/>
                <a:ea typeface="Cambria" pitchFamily="34" charset="-122"/>
                <a:cs typeface="Cambria" pitchFamily="34" charset="-120"/>
              </a:rPr>
              <a:t>29.6%</a:t>
            </a:r>
            <a:endParaRPr lang="en-US" sz="2700" dirty="0"/>
          </a:p>
        </p:txBody>
      </p:sp>
      <p:sp>
        <p:nvSpPr>
          <p:cNvPr id="10" name="Text 8"/>
          <p:cNvSpPr/>
          <p:nvPr/>
        </p:nvSpPr>
        <p:spPr>
          <a:xfrm>
            <a:off x="6336792" y="2544775"/>
            <a:ext cx="4718304" cy="556870"/>
          </a:xfrm>
          <a:prstGeom prst="rect">
            <a:avLst/>
          </a:prstGeom>
          <a:noFill/>
          <a:ln/>
        </p:spPr>
        <p:txBody>
          <a:bodyPr wrap="square" lIns="0" tIns="0" rIns="0" bIns="0" rtlCol="0" anchor="ctr"/>
          <a:lstStyle/>
          <a:p>
            <a:pPr indent="0" marL="0">
              <a:lnSpc>
                <a:spcPts val="1250"/>
              </a:lnSpc>
              <a:buNone/>
            </a:pPr>
            <a:r>
              <a:rPr lang="en-US" sz="1030" dirty="0">
                <a:solidFill>
                  <a:srgbClr val="7A6E68"/>
                </a:solidFill>
                <a:latin typeface="Calibri" pitchFamily="34" charset="0"/>
                <a:ea typeface="Calibri" pitchFamily="34" charset="-122"/>
                <a:cs typeface="Calibri" pitchFamily="34" charset="-120"/>
              </a:rPr>
              <a:t>is within a district over the year (its own month-to-month ups and downs)</a:t>
            </a:r>
            <a:endParaRPr lang="en-US" sz="1030" dirty="0"/>
          </a:p>
        </p:txBody>
      </p:sp>
      <p:sp>
        <p:nvSpPr>
          <p:cNvPr id="11" name="Shape 9"/>
          <p:cNvSpPr/>
          <p:nvPr/>
        </p:nvSpPr>
        <p:spPr>
          <a:xfrm>
            <a:off x="566928" y="3429000"/>
            <a:ext cx="11027664" cy="1234440"/>
          </a:xfrm>
          <a:prstGeom prst="roundRect">
            <a:avLst>
              <a:gd name="adj" fmla="val 4444"/>
            </a:avLst>
          </a:prstGeom>
          <a:solidFill>
            <a:srgbClr val="2B2523"/>
          </a:solidFill>
          <a:ln/>
          <a:effectLst>
            <a:outerShdw sx="100000" sy="100000" kx="0" ky="0" algn="bl" rotWithShape="0" blurRad="76200" dist="381" dir="5400000">
              <a:srgbClr val="000000">
                <a:alpha val="8000"/>
              </a:srgbClr>
            </a:outerShdw>
          </a:effectLst>
        </p:spPr>
      </p:sp>
      <p:sp>
        <p:nvSpPr>
          <p:cNvPr id="12" name="Text 10"/>
          <p:cNvSpPr/>
          <p:nvPr/>
        </p:nvSpPr>
        <p:spPr>
          <a:xfrm>
            <a:off x="786384" y="3566160"/>
            <a:ext cx="10588752" cy="960120"/>
          </a:xfrm>
          <a:prstGeom prst="rect">
            <a:avLst/>
          </a:prstGeom>
          <a:noFill/>
          <a:ln/>
        </p:spPr>
        <p:txBody>
          <a:bodyPr wrap="square" lIns="0" tIns="0" rIns="0" bIns="0" rtlCol="0" anchor="ctr"/>
          <a:lstStyle/>
          <a:p>
            <a:pPr indent="0" marL="0">
              <a:lnSpc>
                <a:spcPts val="1450"/>
              </a:lnSpc>
              <a:buNone/>
            </a:pPr>
            <a:r>
              <a:rPr lang="en-US" sz="1100" dirty="0">
                <a:solidFill>
                  <a:srgbClr val="E7E8D1"/>
                </a:solidFill>
                <a:latin typeface="Calibri" pitchFamily="34" charset="0"/>
                <a:ea typeface="Calibri" pitchFamily="34" charset="-122"/>
                <a:cs typeface="Calibri" pitchFamily="34" charset="-120"/>
              </a:rPr>
              <a:t>Fixed effects remove all between-district comparison by design, so they can only ever detect the within-district share of a predictor's variation. Conflict has comparatively little of that to work with; vegetation stress is the mirror image (78.9% within, 21.1% between), which is why its estimate barely moved.</a:t>
            </a:r>
            <a:endParaRPr lang="en-US" sz="1100" dirty="0"/>
          </a:p>
        </p:txBody>
      </p:sp>
      <p:sp>
        <p:nvSpPr>
          <p:cNvPr id="13" name="Shape 11"/>
          <p:cNvSpPr/>
          <p:nvPr/>
        </p:nvSpPr>
        <p:spPr>
          <a:xfrm>
            <a:off x="566928" y="4800600"/>
            <a:ext cx="11027664" cy="1143000"/>
          </a:xfrm>
          <a:prstGeom prst="roundRect">
            <a:avLst>
              <a:gd name="adj" fmla="val 4800"/>
            </a:avLst>
          </a:prstGeom>
          <a:solidFill>
            <a:srgbClr val="E7E8D1"/>
          </a:solidFill>
          <a:ln/>
          <a:effectLst>
            <a:outerShdw sx="100000" sy="100000" kx="0" ky="0" algn="bl" rotWithShape="0" blurRad="76200" dist="381" dir="5400000">
              <a:srgbClr val="000000">
                <a:alpha val="8000"/>
              </a:srgbClr>
            </a:outerShdw>
          </a:effectLst>
        </p:spPr>
      </p:sp>
      <p:sp>
        <p:nvSpPr>
          <p:cNvPr id="14" name="Text 12"/>
          <p:cNvSpPr/>
          <p:nvPr/>
        </p:nvSpPr>
        <p:spPr>
          <a:xfrm>
            <a:off x="786384" y="4919472"/>
            <a:ext cx="10588752" cy="960120"/>
          </a:xfrm>
          <a:prstGeom prst="rect">
            <a:avLst/>
          </a:prstGeom>
          <a:noFill/>
          <a:ln/>
        </p:spPr>
        <p:txBody>
          <a:bodyPr wrap="square" lIns="0" tIns="0" rIns="0" bIns="0" rtlCol="0" anchor="ctr"/>
          <a:lstStyle/>
          <a:p>
            <a:pPr indent="0" marL="0">
              <a:lnSpc>
                <a:spcPts val="1350"/>
              </a:lnSpc>
              <a:buNone/>
            </a:pPr>
            <a:r>
              <a:rPr lang="en-US" sz="1050" dirty="0">
                <a:solidFill>
                  <a:srgbClr val="B85042"/>
                </a:solidFill>
                <a:latin typeface="Calibri" pitchFamily="34" charset="0"/>
                <a:ea typeface="Calibri" pitchFamily="34" charset="-122"/>
                <a:cs typeface="Calibri" pitchFamily="34" charset="-120"/>
              </a:rPr>
              <a:t>This does not show Task 13's result was wrong. It shows it was substantially, perhaps mostly, a between-district association, exactly the kind persistent unmeasured district traits could also explain. The within-district evidence that a district's own conflict spikes drive its own reporting spikes is weak and not significant, though the confidence interval (0.95 to 1.10) is also consistent with a real effect this design lacks the power to detect from only 12 months per district.</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B2523"/>
        </a:solidFill>
      </p:bgPr>
    </p:bg>
    <p:spTree>
      <p:nvGrpSpPr>
        <p:cNvPr id="1" name=""/>
        <p:cNvGrpSpPr/>
        <p:nvPr/>
      </p:nvGrpSpPr>
      <p:grpSpPr>
        <a:xfrm>
          <a:off x="0" y="0"/>
          <a:ext cx="0" cy="0"/>
          <a:chOff x="0" y="0"/>
          <a:chExt cx="0" cy="0"/>
        </a:xfrm>
      </p:grpSpPr>
      <p:sp>
        <p:nvSpPr>
          <p:cNvPr id="2" name="Shape 0"/>
          <p:cNvSpPr/>
          <p:nvPr/>
        </p:nvSpPr>
        <p:spPr>
          <a:xfrm>
            <a:off x="9235440" y="-1554480"/>
            <a:ext cx="4937760" cy="4937760"/>
          </a:xfrm>
          <a:prstGeom prst="ellipse">
            <a:avLst/>
          </a:prstGeom>
          <a:solidFill>
            <a:srgbClr val="A7BEAE"/>
          </a:solidFill>
          <a:ln/>
        </p:spPr>
      </p:sp>
      <p:sp>
        <p:nvSpPr>
          <p:cNvPr id="3" name="Shape 1"/>
          <p:cNvSpPr/>
          <p:nvPr/>
        </p:nvSpPr>
        <p:spPr>
          <a:xfrm>
            <a:off x="-1280160" y="4206240"/>
            <a:ext cx="3291840" cy="3291840"/>
          </a:xfrm>
          <a:prstGeom prst="ellipse">
            <a:avLst/>
          </a:prstGeom>
          <a:solidFill>
            <a:srgbClr val="A7BEAE"/>
          </a:solidFill>
          <a:ln/>
        </p:spPr>
      </p:sp>
      <p:sp>
        <p:nvSpPr>
          <p:cNvPr id="4" name="Text 2"/>
          <p:cNvSpPr/>
          <p:nvPr/>
        </p:nvSpPr>
        <p:spPr>
          <a:xfrm>
            <a:off x="566928" y="2331720"/>
            <a:ext cx="9144000" cy="310896"/>
          </a:xfrm>
          <a:prstGeom prst="rect">
            <a:avLst/>
          </a:prstGeom>
          <a:noFill/>
          <a:ln/>
        </p:spPr>
        <p:txBody>
          <a:bodyPr wrap="square" lIns="0" tIns="0" rIns="0" bIns="0" rtlCol="0" anchor="ctr"/>
          <a:lstStyle/>
          <a:p>
            <a:pPr indent="0" marL="0">
              <a:buNone/>
            </a:pPr>
            <a:r>
              <a:rPr lang="en-US" sz="1300" b="1" spc="300" kern="0" dirty="0">
                <a:solidFill>
                  <a:srgbClr val="A7BEAE"/>
                </a:solidFill>
                <a:latin typeface="Calibri" pitchFamily="34" charset="0"/>
                <a:ea typeface="Calibri" pitchFamily="34" charset="-122"/>
                <a:cs typeface="Calibri" pitchFamily="34" charset="-120"/>
              </a:rPr>
              <a:t>CHECK 2 · SECOND PRIORITY</a:t>
            </a:r>
            <a:endParaRPr lang="en-US" sz="1300" dirty="0"/>
          </a:p>
        </p:txBody>
      </p:sp>
      <p:sp>
        <p:nvSpPr>
          <p:cNvPr id="5" name="Text 3"/>
          <p:cNvSpPr/>
          <p:nvPr/>
        </p:nvSpPr>
        <p:spPr>
          <a:xfrm>
            <a:off x="566928" y="2743200"/>
            <a:ext cx="10241280" cy="1371600"/>
          </a:xfrm>
          <a:prstGeom prst="rect">
            <a:avLst/>
          </a:prstGeom>
          <a:noFill/>
          <a:ln/>
        </p:spPr>
        <p:txBody>
          <a:bodyPr wrap="square" lIns="0" tIns="0" rIns="0" bIns="0" rtlCol="0" anchor="ctr"/>
          <a:lstStyle/>
          <a:p>
            <a:pPr indent="0" marL="0">
              <a:lnSpc>
                <a:spcPts val="3600"/>
              </a:lnSpc>
              <a:buNone/>
            </a:pPr>
            <a:r>
              <a:rPr lang="en-US" sz="3000" b="1" dirty="0">
                <a:solidFill>
                  <a:srgbClr val="FFFFFF"/>
                </a:solidFill>
                <a:latin typeface="Cambria" pitchFamily="34" charset="0"/>
                <a:ea typeface="Cambria" pitchFamily="34" charset="-122"/>
                <a:cs typeface="Cambria" pitchFamily="34" charset="-120"/>
              </a:rPr>
              <a:t>Attachment-content bias</a:t>
            </a:r>
            <a:endParaRPr lang="en-US" sz="3000" dirty="0"/>
          </a:p>
          <a:p>
            <a:pPr indent="0" marL="0">
              <a:lnSpc>
                <a:spcPts val="3600"/>
              </a:lnSpc>
              <a:buNone/>
            </a:pPr>
            <a:r>
              <a:rPr lang="en-US" sz="3000" b="1" dirty="0">
                <a:solidFill>
                  <a:srgbClr val="FFFFFF"/>
                </a:solidFill>
                <a:latin typeface="Cambria" pitchFamily="34" charset="0"/>
                <a:ea typeface="Cambria" pitchFamily="34" charset="-122"/>
                <a:cs typeface="Cambria" pitchFamily="34" charset="-120"/>
              </a:rPr>
              <a:t>by report topic</a:t>
            </a:r>
            <a:endParaRPr lang="en-US" sz="3000" dirty="0"/>
          </a:p>
        </p:txBody>
      </p:sp>
      <p:sp>
        <p:nvSpPr>
          <p:cNvPr id="6" name="Text 4"/>
          <p:cNvSpPr/>
          <p:nvPr/>
        </p:nvSpPr>
        <p:spPr>
          <a:xfrm>
            <a:off x="566928" y="4023360"/>
            <a:ext cx="8961120" cy="1097280"/>
          </a:xfrm>
          <a:prstGeom prst="rect">
            <a:avLst/>
          </a:prstGeom>
          <a:noFill/>
          <a:ln/>
        </p:spPr>
        <p:txBody>
          <a:bodyPr wrap="square" lIns="0" tIns="0" rIns="0" bIns="0" rtlCol="0" anchor="ctr"/>
          <a:lstStyle/>
          <a:p>
            <a:pPr indent="0" marL="0">
              <a:lnSpc>
                <a:spcPts val="1800"/>
              </a:lnSpc>
              <a:buNone/>
            </a:pPr>
            <a:r>
              <a:rPr lang="en-US" sz="1350" dirty="0">
                <a:solidFill>
                  <a:srgbClr val="E7E8D1"/>
                </a:solidFill>
                <a:latin typeface="Calibri" pitchFamily="34" charset="0"/>
                <a:ea typeface="Calibri" pitchFamily="34" charset="-122"/>
                <a:cs typeface="Calibri" pitchFamily="34" charset="-120"/>
              </a:rPr>
              <a:t>Is attachment-trapped geographic detail, already known to be the main reason for low pair-level geoparser recall, more common in one kind of report than another?</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27664" cy="502920"/>
          </a:xfrm>
          <a:prstGeom prst="rect">
            <a:avLst/>
          </a:prstGeom>
          <a:noFill/>
          <a:ln/>
        </p:spPr>
        <p:txBody>
          <a:bodyPr wrap="square" lIns="0" tIns="0" rIns="0" bIns="0" rtlCol="0" anchor="ctr"/>
          <a:lstStyle/>
          <a:p>
            <a:pPr indent="0" marL="0">
              <a:buNone/>
            </a:pPr>
            <a:r>
              <a:rPr lang="en-US" sz="2400" b="1" dirty="0">
                <a:solidFill>
                  <a:srgbClr val="2B2523"/>
                </a:solidFill>
                <a:latin typeface="Cambria" pitchFamily="34" charset="0"/>
                <a:ea typeface="Cambria" pitchFamily="34" charset="-122"/>
                <a:cs typeface="Cambria" pitchFamily="34" charset="-120"/>
              </a:rPr>
              <a:t>Does geography hide in attachments more for one topic than another?</a:t>
            </a:r>
            <a:endParaRPr lang="en-US" sz="2400" dirty="0"/>
          </a:p>
        </p:txBody>
      </p:sp>
      <p:sp>
        <p:nvSpPr>
          <p:cNvPr id="3" name="Text 1"/>
          <p:cNvSpPr/>
          <p:nvPr/>
        </p:nvSpPr>
        <p:spPr>
          <a:xfrm>
            <a:off x="566928" y="969264"/>
            <a:ext cx="11027664" cy="310896"/>
          </a:xfrm>
          <a:prstGeom prst="rect">
            <a:avLst/>
          </a:prstGeom>
          <a:noFill/>
          <a:ln/>
        </p:spPr>
        <p:txBody>
          <a:bodyPr wrap="square" lIns="0" tIns="0" rIns="0" bIns="0" rtlCol="0" anchor="ctr"/>
          <a:lstStyle/>
          <a:p>
            <a:pPr indent="0" marL="0">
              <a:buNone/>
            </a:pPr>
            <a:r>
              <a:rPr lang="en-US" sz="1200" i="1" dirty="0">
                <a:solidFill>
                  <a:srgbClr val="7A6E68"/>
                </a:solidFill>
                <a:latin typeface="Calibri" pitchFamily="34" charset="0"/>
                <a:ea typeface="Calibri" pitchFamily="34" charset="-122"/>
                <a:cs typeface="Calibri" pitchFamily="34" charset="-120"/>
              </a:rPr>
              <a:t>Using the same 100-report manual validation sample built for Task 17, with no new labelling needed</a:t>
            </a:r>
            <a:endParaRPr lang="en-US" sz="1200" dirty="0"/>
          </a:p>
        </p:txBody>
      </p:sp>
      <p:sp>
        <p:nvSpPr>
          <p:cNvPr id="4" name="Shape 2"/>
          <p:cNvSpPr/>
          <p:nvPr/>
        </p:nvSpPr>
        <p:spPr>
          <a:xfrm>
            <a:off x="566928" y="1371600"/>
            <a:ext cx="11027664" cy="1691640"/>
          </a:xfrm>
          <a:prstGeom prst="roundRect">
            <a:avLst>
              <a:gd name="adj" fmla="val 3243"/>
            </a:avLst>
          </a:prstGeom>
          <a:solidFill>
            <a:srgbClr val="F7F5F1"/>
          </a:solidFill>
          <a:ln/>
          <a:effectLst>
            <a:outerShdw sx="100000" sy="100000" kx="0" ky="0" algn="bl" rotWithShape="0" blurRad="76200" dist="381" dir="5400000">
              <a:srgbClr val="000000">
                <a:alpha val="8000"/>
              </a:srgbClr>
            </a:outerShdw>
          </a:effectLst>
        </p:spPr>
      </p:sp>
      <p:sp>
        <p:nvSpPr>
          <p:cNvPr id="5" name="Text 3"/>
          <p:cNvSpPr/>
          <p:nvPr/>
        </p:nvSpPr>
        <p:spPr>
          <a:xfrm>
            <a:off x="786384" y="1517904"/>
            <a:ext cx="9144000" cy="274320"/>
          </a:xfrm>
          <a:prstGeom prst="rect">
            <a:avLst/>
          </a:prstGeom>
          <a:noFill/>
          <a:ln/>
        </p:spPr>
        <p:txBody>
          <a:bodyPr wrap="square" lIns="0" tIns="0" rIns="0" bIns="0" rtlCol="0" anchor="ctr"/>
          <a:lstStyle/>
          <a:p>
            <a:pPr indent="0" marL="0">
              <a:buNone/>
            </a:pPr>
            <a:r>
              <a:rPr lang="en-US" sz="1350" b="1" dirty="0">
                <a:solidFill>
                  <a:srgbClr val="B85042"/>
                </a:solidFill>
                <a:latin typeface="Cambria" pitchFamily="34" charset="0"/>
                <a:ea typeface="Cambria" pitchFamily="34" charset="-122"/>
                <a:cs typeface="Cambria" pitchFamily="34" charset="-120"/>
              </a:rPr>
              <a:t>The question this could answer either way</a:t>
            </a:r>
            <a:endParaRPr lang="en-US" sz="1350" dirty="0"/>
          </a:p>
        </p:txBody>
      </p:sp>
      <p:sp>
        <p:nvSpPr>
          <p:cNvPr id="6" name="Text 4"/>
          <p:cNvSpPr/>
          <p:nvPr/>
        </p:nvSpPr>
        <p:spPr>
          <a:xfrm>
            <a:off x="786384" y="1810512"/>
            <a:ext cx="10588752" cy="868680"/>
          </a:xfrm>
          <a:prstGeom prst="rect">
            <a:avLst/>
          </a:prstGeom>
          <a:noFill/>
          <a:ln/>
        </p:spPr>
        <p:txBody>
          <a:bodyPr wrap="square" lIns="0" tIns="0" rIns="0" bIns="0" rtlCol="0" anchor="ctr"/>
          <a:lstStyle/>
          <a:p>
            <a:pPr indent="0" marL="0">
              <a:lnSpc>
                <a:spcPts val="1450"/>
              </a:lnSpc>
              <a:buNone/>
            </a:pPr>
            <a:r>
              <a:rPr lang="en-US" sz="1100" dirty="0">
                <a:solidFill>
                  <a:srgbClr val="7A6E68"/>
                </a:solidFill>
                <a:latin typeface="Calibri" pitchFamily="34" charset="0"/>
                <a:ea typeface="Calibri" pitchFamily="34" charset="-122"/>
                <a:cs typeface="Calibri" pitchFamily="34" charset="-120"/>
              </a:rPr>
              <a:t>If climate or food-related reports trap their geography in attachments more often than conflict reports, that would offer an alternative, non-attention-based explanation for part of Tasks 13-15's finding: vegetation stress might attract just as much genuine attention, with more of it simply invisible to a text-only geoparser. If the two topics trap geography at similar rates, that possibility is ruled out.</a:t>
            </a:r>
            <a:endParaRPr lang="en-US" sz="1100" dirty="0"/>
          </a:p>
        </p:txBody>
      </p:sp>
      <p:sp>
        <p:nvSpPr>
          <p:cNvPr id="7" name="Text 5"/>
          <p:cNvSpPr/>
          <p:nvPr/>
        </p:nvSpPr>
        <p:spPr>
          <a:xfrm>
            <a:off x="786384" y="2606040"/>
            <a:ext cx="10588752" cy="411480"/>
          </a:xfrm>
          <a:prstGeom prst="rect">
            <a:avLst/>
          </a:prstGeom>
          <a:noFill/>
          <a:ln/>
        </p:spPr>
        <p:txBody>
          <a:bodyPr wrap="square" lIns="0" tIns="0" rIns="0" bIns="0" rtlCol="0" anchor="ctr"/>
          <a:lstStyle/>
          <a:p>
            <a:pPr indent="0" marL="0">
              <a:lnSpc>
                <a:spcPts val="1250"/>
              </a:lnSpc>
              <a:buNone/>
            </a:pPr>
            <a:r>
              <a:rPr lang="en-US" sz="970" i="1" dirty="0">
                <a:solidFill>
                  <a:srgbClr val="7A6E68"/>
                </a:solidFill>
                <a:latin typeface="Calibri" pitchFamily="34" charset="0"/>
                <a:ea typeface="Calibri" pitchFamily="34" charset="-122"/>
                <a:cs typeface="Calibri" pitchFamily="34" charset="-120"/>
              </a:rPr>
              <a:t>Method: for each report, check whether each genuinely-covered district's name appears anywhere in the literal exported text; classify each report as conflict-related or climate/food-related using ReliefWeb's own theme tags (no dedicated "Conflict" theme exists, so Protection and Human Rights / Safety and Security / Peacekeeping and Peacebuilding stand in for it).</a:t>
            </a:r>
            <a:endParaRPr lang="en-US" sz="97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66928" y="3246120"/>
          <a:ext cx="11027664" cy="914400"/>
        </p:xfrm>
        <a:graphic>
          <a:graphicData uri="http://schemas.openxmlformats.org/drawingml/2006/table">
            <a:tbl>
              <a:tblPr/>
              <a:tblGrid>
                <a:gridCol w="2926080"/>
                <a:gridCol w="1188720"/>
                <a:gridCol w="4114800"/>
                <a:gridCol w="2798064"/>
              </a:tblGrid>
              <a:tr h="402336">
                <a:tc>
                  <a:txBody>
                    <a:bodyPr/>
                    <a:lstStyle/>
                    <a:p>
                      <a:pPr indent="0" marL="0">
                        <a:buNone/>
                      </a:pPr>
                      <a:endParaRPr lang="en-US" sz="11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n</a:t>
                      </a:r>
                      <a:endParaRPr lang="en-US" sz="11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Mean per-report attachment-only rate</a:t>
                      </a:r>
                      <a:endParaRPr lang="en-US" sz="11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Pooled</a:t>
                      </a:r>
                      <a:endParaRPr lang="en-US" sz="11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r>
              <a:tr h="402336">
                <a:tc>
                  <a:txBody>
                    <a:bodyPr/>
                    <a:lstStyle/>
                    <a:p>
                      <a:pPr indent="0" marL="0">
                        <a:buNone/>
                      </a:pPr>
                      <a:r>
                        <a:rPr lang="en-US" sz="1150" dirty="0">
                          <a:solidFill>
                            <a:srgbClr val="2B2523"/>
                          </a:solidFill>
                          <a:latin typeface="Calibri" pitchFamily="34" charset="0"/>
                          <a:ea typeface="Calibri" pitchFamily="34" charset="-122"/>
                          <a:cs typeface="Calibri" pitchFamily="34" charset="-120"/>
                        </a:rPr>
                        <a:t>Conflict-related</a:t>
                      </a:r>
                      <a:endParaRPr lang="en-US" sz="11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150" dirty="0">
                          <a:solidFill>
                            <a:srgbClr val="2B2523"/>
                          </a:solidFill>
                          <a:latin typeface="Calibri" pitchFamily="34" charset="0"/>
                          <a:ea typeface="Calibri" pitchFamily="34" charset="-122"/>
                          <a:cs typeface="Calibri" pitchFamily="34" charset="-120"/>
                        </a:rPr>
                        <a:t>16</a:t>
                      </a:r>
                      <a:endParaRPr lang="en-US" sz="11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150" dirty="0">
                          <a:solidFill>
                            <a:srgbClr val="2B2523"/>
                          </a:solidFill>
                          <a:latin typeface="Calibri" pitchFamily="34" charset="0"/>
                          <a:ea typeface="Calibri" pitchFamily="34" charset="-122"/>
                          <a:cs typeface="Calibri" pitchFamily="34" charset="-120"/>
                        </a:rPr>
                        <a:t>58.2%</a:t>
                      </a:r>
                      <a:endParaRPr lang="en-US" sz="11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150" dirty="0">
                          <a:solidFill>
                            <a:srgbClr val="2B2523"/>
                          </a:solidFill>
                          <a:latin typeface="Calibri" pitchFamily="34" charset="0"/>
                          <a:ea typeface="Calibri" pitchFamily="34" charset="-122"/>
                          <a:cs typeface="Calibri" pitchFamily="34" charset="-120"/>
                        </a:rPr>
                        <a:t>109 / 129 (84.5%)</a:t>
                      </a:r>
                      <a:endParaRPr lang="en-US" sz="11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r>
              <a:tr h="402336">
                <a:tc>
                  <a:txBody>
                    <a:bodyPr/>
                    <a:lstStyle/>
                    <a:p>
                      <a:pPr indent="0" marL="0">
                        <a:buNone/>
                      </a:pPr>
                      <a:r>
                        <a:rPr lang="en-US" sz="1150" dirty="0">
                          <a:solidFill>
                            <a:srgbClr val="2B2523"/>
                          </a:solidFill>
                          <a:latin typeface="Calibri" pitchFamily="34" charset="0"/>
                          <a:ea typeface="Calibri" pitchFamily="34" charset="-122"/>
                          <a:cs typeface="Calibri" pitchFamily="34" charset="-120"/>
                        </a:rPr>
                        <a:t>Climate/food-related</a:t>
                      </a:r>
                      <a:endParaRPr lang="en-US" sz="11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150" dirty="0">
                          <a:solidFill>
                            <a:srgbClr val="2B2523"/>
                          </a:solidFill>
                          <a:latin typeface="Calibri" pitchFamily="34" charset="0"/>
                          <a:ea typeface="Calibri" pitchFamily="34" charset="-122"/>
                          <a:cs typeface="Calibri" pitchFamily="34" charset="-120"/>
                        </a:rPr>
                        <a:t>17</a:t>
                      </a:r>
                      <a:endParaRPr lang="en-US" sz="11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150" dirty="0">
                          <a:solidFill>
                            <a:srgbClr val="2B2523"/>
                          </a:solidFill>
                          <a:latin typeface="Calibri" pitchFamily="34" charset="0"/>
                          <a:ea typeface="Calibri" pitchFamily="34" charset="-122"/>
                          <a:cs typeface="Calibri" pitchFamily="34" charset="-120"/>
                        </a:rPr>
                        <a:t>60.6%</a:t>
                      </a:r>
                      <a:endParaRPr lang="en-US" sz="11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150" dirty="0">
                          <a:solidFill>
                            <a:srgbClr val="2B2523"/>
                          </a:solidFill>
                          <a:latin typeface="Calibri" pitchFamily="34" charset="0"/>
                          <a:ea typeface="Calibri" pitchFamily="34" charset="-122"/>
                          <a:cs typeface="Calibri" pitchFamily="34" charset="-120"/>
                        </a:rPr>
                        <a:t>222 / 289 (76.8%)</a:t>
                      </a:r>
                      <a:endParaRPr lang="en-US" sz="11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r>
            </a:tbl>
          </a:graphicData>
        </a:graphic>
      </p:graphicFrame>
      <p:sp>
        <p:nvSpPr>
          <p:cNvPr id="9" name="Shape 6"/>
          <p:cNvSpPr/>
          <p:nvPr/>
        </p:nvSpPr>
        <p:spPr>
          <a:xfrm>
            <a:off x="566928" y="4434840"/>
            <a:ext cx="5394960" cy="1234440"/>
          </a:xfrm>
          <a:prstGeom prst="roundRect">
            <a:avLst>
              <a:gd name="adj" fmla="val 4444"/>
            </a:avLst>
          </a:prstGeom>
          <a:solidFill>
            <a:srgbClr val="F7F5F1"/>
          </a:solidFill>
          <a:ln/>
          <a:effectLst>
            <a:outerShdw sx="100000" sy="100000" kx="0" ky="0" algn="bl" rotWithShape="0" blurRad="76200" dist="381" dir="5400000">
              <a:srgbClr val="000000">
                <a:alpha val="8000"/>
              </a:srgbClr>
            </a:outerShdw>
          </a:effectLst>
        </p:spPr>
      </p:sp>
      <p:sp>
        <p:nvSpPr>
          <p:cNvPr id="10" name="Text 7"/>
          <p:cNvSpPr/>
          <p:nvPr/>
        </p:nvSpPr>
        <p:spPr>
          <a:xfrm>
            <a:off x="768096" y="4544568"/>
            <a:ext cx="4992624" cy="617220"/>
          </a:xfrm>
          <a:prstGeom prst="rect">
            <a:avLst/>
          </a:prstGeom>
          <a:noFill/>
          <a:ln/>
        </p:spPr>
        <p:txBody>
          <a:bodyPr wrap="square" lIns="0" tIns="0" rIns="0" bIns="0" rtlCol="0" anchor="ctr"/>
          <a:lstStyle/>
          <a:p>
            <a:pPr indent="0" marL="0">
              <a:buNone/>
            </a:pPr>
            <a:r>
              <a:rPr lang="en-US" sz="2700" b="1" dirty="0">
                <a:solidFill>
                  <a:srgbClr val="A7BEAE"/>
                </a:solidFill>
                <a:latin typeface="Cambria" pitchFamily="34" charset="0"/>
                <a:ea typeface="Cambria" pitchFamily="34" charset="-122"/>
                <a:cs typeface="Cambria" pitchFamily="34" charset="-120"/>
              </a:rPr>
              <a:t>p = 0.85</a:t>
            </a:r>
            <a:endParaRPr lang="en-US" sz="2700" dirty="0"/>
          </a:p>
        </p:txBody>
      </p:sp>
      <p:sp>
        <p:nvSpPr>
          <p:cNvPr id="11" name="Text 8"/>
          <p:cNvSpPr/>
          <p:nvPr/>
        </p:nvSpPr>
        <p:spPr>
          <a:xfrm>
            <a:off x="768096" y="5101438"/>
            <a:ext cx="4992624" cy="518465"/>
          </a:xfrm>
          <a:prstGeom prst="rect">
            <a:avLst/>
          </a:prstGeom>
          <a:noFill/>
          <a:ln/>
        </p:spPr>
        <p:txBody>
          <a:bodyPr wrap="square" lIns="0" tIns="0" rIns="0" bIns="0" rtlCol="0" anchor="ctr"/>
          <a:lstStyle/>
          <a:p>
            <a:pPr indent="0" marL="0">
              <a:lnSpc>
                <a:spcPts val="1250"/>
              </a:lnSpc>
              <a:buNone/>
            </a:pPr>
            <a:r>
              <a:rPr lang="en-US" sz="1030" dirty="0">
                <a:solidFill>
                  <a:srgbClr val="7A6E68"/>
                </a:solidFill>
                <a:latin typeface="Calibri" pitchFamily="34" charset="0"/>
                <a:ea typeface="Calibri" pitchFamily="34" charset="-122"/>
                <a:cs typeface="Calibri" pitchFamily="34" charset="-120"/>
              </a:rPr>
              <a:t>Mann-Whitney U, per-report attachment-only rate</a:t>
            </a:r>
            <a:endParaRPr lang="en-US" sz="1030" dirty="0"/>
          </a:p>
        </p:txBody>
      </p:sp>
      <p:sp>
        <p:nvSpPr>
          <p:cNvPr id="12" name="Shape 9"/>
          <p:cNvSpPr/>
          <p:nvPr/>
        </p:nvSpPr>
        <p:spPr>
          <a:xfrm>
            <a:off x="6144768" y="4434840"/>
            <a:ext cx="5394960" cy="1234440"/>
          </a:xfrm>
          <a:prstGeom prst="roundRect">
            <a:avLst>
              <a:gd name="adj" fmla="val 4444"/>
            </a:avLst>
          </a:prstGeom>
          <a:solidFill>
            <a:srgbClr val="F7F5F1"/>
          </a:solidFill>
          <a:ln/>
          <a:effectLst>
            <a:outerShdw sx="100000" sy="100000" kx="0" ky="0" algn="bl" rotWithShape="0" blurRad="76200" dist="381" dir="5400000">
              <a:srgbClr val="000000">
                <a:alpha val="8000"/>
              </a:srgbClr>
            </a:outerShdw>
          </a:effectLst>
        </p:spPr>
      </p:sp>
      <p:sp>
        <p:nvSpPr>
          <p:cNvPr id="13" name="Text 10"/>
          <p:cNvSpPr/>
          <p:nvPr/>
        </p:nvSpPr>
        <p:spPr>
          <a:xfrm>
            <a:off x="6345936" y="4544568"/>
            <a:ext cx="4992624" cy="617220"/>
          </a:xfrm>
          <a:prstGeom prst="rect">
            <a:avLst/>
          </a:prstGeom>
          <a:noFill/>
          <a:ln/>
        </p:spPr>
        <p:txBody>
          <a:bodyPr wrap="square" lIns="0" tIns="0" rIns="0" bIns="0" rtlCol="0" anchor="ctr"/>
          <a:lstStyle/>
          <a:p>
            <a:pPr indent="0" marL="0">
              <a:buNone/>
            </a:pPr>
            <a:r>
              <a:rPr lang="en-US" sz="2700" b="1" dirty="0">
                <a:solidFill>
                  <a:srgbClr val="A7BEAE"/>
                </a:solidFill>
                <a:latin typeface="Cambria" pitchFamily="34" charset="0"/>
                <a:ea typeface="Cambria" pitchFamily="34" charset="-122"/>
                <a:cs typeface="Cambria" pitchFamily="34" charset="-120"/>
              </a:rPr>
              <a:t>p = 0.71</a:t>
            </a:r>
            <a:endParaRPr lang="en-US" sz="2700" dirty="0"/>
          </a:p>
        </p:txBody>
      </p:sp>
      <p:sp>
        <p:nvSpPr>
          <p:cNvPr id="14" name="Text 11"/>
          <p:cNvSpPr/>
          <p:nvPr/>
        </p:nvSpPr>
        <p:spPr>
          <a:xfrm>
            <a:off x="6345936" y="5101438"/>
            <a:ext cx="4992624" cy="518465"/>
          </a:xfrm>
          <a:prstGeom prst="rect">
            <a:avLst/>
          </a:prstGeom>
          <a:noFill/>
          <a:ln/>
        </p:spPr>
        <p:txBody>
          <a:bodyPr wrap="square" lIns="0" tIns="0" rIns="0" bIns="0" rtlCol="0" anchor="ctr"/>
          <a:lstStyle/>
          <a:p>
            <a:pPr indent="0" marL="0">
              <a:lnSpc>
                <a:spcPts val="1250"/>
              </a:lnSpc>
              <a:buNone/>
            </a:pPr>
            <a:r>
              <a:rPr lang="en-US" sz="1030" dirty="0">
                <a:solidFill>
                  <a:srgbClr val="7A6E68"/>
                </a:solidFill>
                <a:latin typeface="Calibri" pitchFamily="34" charset="0"/>
                <a:ea typeface="Calibri" pitchFamily="34" charset="-122"/>
                <a:cs typeface="Calibri" pitchFamily="34" charset="-120"/>
              </a:rPr>
              <a:t>Fisher's exact, has any attachment-only info (OR 1.48)</a:t>
            </a:r>
            <a:endParaRPr lang="en-US" sz="1030" dirty="0"/>
          </a:p>
        </p:txBody>
      </p:sp>
      <p:sp>
        <p:nvSpPr>
          <p:cNvPr id="15" name="Text 12"/>
          <p:cNvSpPr/>
          <p:nvPr/>
        </p:nvSpPr>
        <p:spPr>
          <a:xfrm>
            <a:off x="566928" y="6016752"/>
            <a:ext cx="11027664" cy="365760"/>
          </a:xfrm>
          <a:prstGeom prst="rect">
            <a:avLst/>
          </a:prstGeom>
          <a:noFill/>
          <a:ln/>
        </p:spPr>
        <p:txBody>
          <a:bodyPr wrap="square" lIns="0" tIns="0" rIns="0" bIns="0" rtlCol="0" anchor="ctr"/>
          <a:lstStyle/>
          <a:p>
            <a:pPr indent="0" marL="0">
              <a:lnSpc>
                <a:spcPts val="1250"/>
              </a:lnSpc>
              <a:buNone/>
            </a:pPr>
            <a:r>
              <a:rPr lang="en-US" sz="1000" i="1" dirty="0">
                <a:solidFill>
                  <a:srgbClr val="7A6E68"/>
                </a:solidFill>
                <a:latin typeface="Calibri" pitchFamily="34" charset="0"/>
                <a:ea typeface="Calibri" pitchFamily="34" charset="-122"/>
                <a:cs typeface="Calibri" pitchFamily="34" charset="-120"/>
              </a:rPr>
              <a:t>13 of the 100 reports carry both kinds of theme at once and 19 carry neither, so the comparison uses the 33 reports (16 + 17) that fall cleanly into one group.</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27664" cy="502920"/>
          </a:xfrm>
          <a:prstGeom prst="rect">
            <a:avLst/>
          </a:prstGeom>
          <a:noFill/>
          <a:ln/>
        </p:spPr>
        <p:txBody>
          <a:bodyPr wrap="square" lIns="0" tIns="0" rIns="0" bIns="0" rtlCol="0" anchor="ctr"/>
          <a:lstStyle/>
          <a:p>
            <a:pPr indent="0" marL="0">
              <a:buNone/>
            </a:pPr>
            <a:r>
              <a:rPr lang="en-US" sz="2400" b="1" dirty="0">
                <a:solidFill>
                  <a:srgbClr val="2B2523"/>
                </a:solidFill>
                <a:latin typeface="Cambria" pitchFamily="34" charset="0"/>
                <a:ea typeface="Cambria" pitchFamily="34" charset="-122"/>
                <a:cs typeface="Cambria" pitchFamily="34" charset="-120"/>
              </a:rPr>
              <a:t>No significant difference, and the sample is too small to rule much out</a:t>
            </a:r>
            <a:endParaRPr lang="en-US" sz="2400" dirty="0"/>
          </a:p>
        </p:txBody>
      </p:sp>
      <p:sp>
        <p:nvSpPr>
          <p:cNvPr id="3" name="Shape 1"/>
          <p:cNvSpPr/>
          <p:nvPr/>
        </p:nvSpPr>
        <p:spPr>
          <a:xfrm>
            <a:off x="566928" y="1371600"/>
            <a:ext cx="11027664" cy="1737360"/>
          </a:xfrm>
          <a:prstGeom prst="roundRect">
            <a:avLst>
              <a:gd name="adj" fmla="val 3158"/>
            </a:avLst>
          </a:prstGeom>
          <a:solidFill>
            <a:srgbClr val="2B2523"/>
          </a:solidFill>
          <a:ln/>
          <a:effectLst>
            <a:outerShdw sx="100000" sy="100000" kx="0" ky="0" algn="bl" rotWithShape="0" blurRad="76200" dist="381" dir="5400000">
              <a:srgbClr val="000000">
                <a:alpha val="8000"/>
              </a:srgbClr>
            </a:outerShdw>
          </a:effectLst>
        </p:spPr>
      </p:sp>
      <p:sp>
        <p:nvSpPr>
          <p:cNvPr id="4" name="Text 2"/>
          <p:cNvSpPr/>
          <p:nvPr/>
        </p:nvSpPr>
        <p:spPr>
          <a:xfrm>
            <a:off x="786384" y="1517904"/>
            <a:ext cx="9144000" cy="274320"/>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What this does not do</a:t>
            </a:r>
            <a:endParaRPr lang="en-US" sz="1350" dirty="0"/>
          </a:p>
        </p:txBody>
      </p:sp>
      <p:sp>
        <p:nvSpPr>
          <p:cNvPr id="5" name="Text 3"/>
          <p:cNvSpPr/>
          <p:nvPr/>
        </p:nvSpPr>
        <p:spPr>
          <a:xfrm>
            <a:off x="786384" y="1810512"/>
            <a:ext cx="10588752" cy="1234440"/>
          </a:xfrm>
          <a:prstGeom prst="rect">
            <a:avLst/>
          </a:prstGeom>
          <a:noFill/>
          <a:ln/>
        </p:spPr>
        <p:txBody>
          <a:bodyPr wrap="square" lIns="0" tIns="0" rIns="0" bIns="0" rtlCol="0" anchor="ctr"/>
          <a:lstStyle/>
          <a:p>
            <a:pPr indent="0" marL="0">
              <a:lnSpc>
                <a:spcPts val="1450"/>
              </a:lnSpc>
              <a:buNone/>
            </a:pPr>
            <a:r>
              <a:rPr lang="en-US" sz="1100" dirty="0">
                <a:solidFill>
                  <a:srgbClr val="E7E8D1"/>
                </a:solidFill>
                <a:latin typeface="Calibri" pitchFamily="34" charset="0"/>
                <a:ea typeface="Calibri" pitchFamily="34" charset="-122"/>
                <a:cs typeface="Calibri" pitchFamily="34" charset="-120"/>
              </a:rPr>
              <a:t>It does not strengthen the attention-based explanation, since it does not show attachment-trapping is a conflict-specific problem the way Tasks 13-15's finding would need it to be. But it also does not support the alternative, format-mediated explanation this check was built to catch: if anything, climate/food reports trap slightly more of their geography in attachments than conflict reports do, the opposite direction from what would be needed to explain the reporting-attention asymmetry away as a text-extraction artefact.</a:t>
            </a:r>
            <a:endParaRPr lang="en-US" sz="1100" dirty="0"/>
          </a:p>
        </p:txBody>
      </p:sp>
      <p:sp>
        <p:nvSpPr>
          <p:cNvPr id="6" name="Shape 4"/>
          <p:cNvSpPr/>
          <p:nvPr/>
        </p:nvSpPr>
        <p:spPr>
          <a:xfrm>
            <a:off x="566928" y="3291840"/>
            <a:ext cx="11027664" cy="1051560"/>
          </a:xfrm>
          <a:prstGeom prst="roundRect">
            <a:avLst>
              <a:gd name="adj" fmla="val 5217"/>
            </a:avLst>
          </a:prstGeom>
          <a:solidFill>
            <a:srgbClr val="E7E8D1"/>
          </a:solidFill>
          <a:ln/>
          <a:effectLst>
            <a:outerShdw sx="100000" sy="100000" kx="0" ky="0" algn="bl" rotWithShape="0" blurRad="76200" dist="381" dir="5400000">
              <a:srgbClr val="000000">
                <a:alpha val="8000"/>
              </a:srgbClr>
            </a:outerShdw>
          </a:effectLst>
        </p:spPr>
      </p:sp>
      <p:sp>
        <p:nvSpPr>
          <p:cNvPr id="7" name="Text 5"/>
          <p:cNvSpPr/>
          <p:nvPr/>
        </p:nvSpPr>
        <p:spPr>
          <a:xfrm>
            <a:off x="786384" y="3419856"/>
            <a:ext cx="10588752" cy="822960"/>
          </a:xfrm>
          <a:prstGeom prst="rect">
            <a:avLst/>
          </a:prstGeom>
          <a:noFill/>
          <a:ln/>
        </p:spPr>
        <p:txBody>
          <a:bodyPr wrap="square" lIns="0" tIns="0" rIns="0" bIns="0" rtlCol="0" anchor="ctr"/>
          <a:lstStyle/>
          <a:p>
            <a:pPr indent="0" marL="0">
              <a:lnSpc>
                <a:spcPts val="1450"/>
              </a:lnSpc>
              <a:buNone/>
            </a:pPr>
            <a:r>
              <a:rPr lang="en-US" sz="1100" b="1" dirty="0">
                <a:solidFill>
                  <a:srgbClr val="B85042"/>
                </a:solidFill>
                <a:latin typeface="Calibri" pitchFamily="34" charset="0"/>
                <a:ea typeface="Calibri" pitchFamily="34" charset="-122"/>
                <a:cs typeface="Calibri" pitchFamily="34" charset="-120"/>
              </a:rPr>
              <a:t>With only 16 and 17 reports in the two groups, this comparison has limited power to detect a real difference of moderate size. The honest reading: this specific alternative explanation finds no support in the available evidence, not that it has been conclusively ruled out.</a:t>
            </a:r>
            <a:endParaRPr lang="en-US" sz="1100" dirty="0"/>
          </a:p>
        </p:txBody>
      </p:sp>
      <p:sp>
        <p:nvSpPr>
          <p:cNvPr id="8" name="Shape 6"/>
          <p:cNvSpPr/>
          <p:nvPr/>
        </p:nvSpPr>
        <p:spPr>
          <a:xfrm>
            <a:off x="566928" y="4526280"/>
            <a:ext cx="11027664" cy="1143000"/>
          </a:xfrm>
          <a:prstGeom prst="roundRect">
            <a:avLst>
              <a:gd name="adj" fmla="val 4800"/>
            </a:avLst>
          </a:prstGeom>
          <a:solidFill>
            <a:srgbClr val="F7F5F1"/>
          </a:solidFill>
          <a:ln/>
          <a:effectLst>
            <a:outerShdw sx="100000" sy="100000" kx="0" ky="0" algn="bl" rotWithShape="0" blurRad="76200" dist="381" dir="5400000">
              <a:srgbClr val="000000">
                <a:alpha val="8000"/>
              </a:srgbClr>
            </a:outerShdw>
          </a:effectLst>
        </p:spPr>
      </p:sp>
      <p:sp>
        <p:nvSpPr>
          <p:cNvPr id="9" name="Text 7"/>
          <p:cNvSpPr/>
          <p:nvPr/>
        </p:nvSpPr>
        <p:spPr>
          <a:xfrm>
            <a:off x="786384" y="4663440"/>
            <a:ext cx="9144000" cy="274320"/>
          </a:xfrm>
          <a:prstGeom prst="rect">
            <a:avLst/>
          </a:prstGeom>
          <a:noFill/>
          <a:ln/>
        </p:spPr>
        <p:txBody>
          <a:bodyPr wrap="square" lIns="0" tIns="0" rIns="0" bIns="0" rtlCol="0" anchor="ctr"/>
          <a:lstStyle/>
          <a:p>
            <a:pPr indent="0" marL="0">
              <a:buNone/>
            </a:pPr>
            <a:r>
              <a:rPr lang="en-US" sz="1350" b="1" dirty="0">
                <a:solidFill>
                  <a:srgbClr val="B85042"/>
                </a:solidFill>
                <a:latin typeface="Cambria" pitchFamily="34" charset="0"/>
                <a:ea typeface="Cambria" pitchFamily="34" charset="-122"/>
                <a:cs typeface="Cambria" pitchFamily="34" charset="-120"/>
              </a:rPr>
              <a:t>A genuine, if small, side finding</a:t>
            </a:r>
            <a:endParaRPr lang="en-US" sz="1350" dirty="0"/>
          </a:p>
        </p:txBody>
      </p:sp>
      <p:sp>
        <p:nvSpPr>
          <p:cNvPr id="10" name="Text 8"/>
          <p:cNvSpPr/>
          <p:nvPr/>
        </p:nvSpPr>
        <p:spPr>
          <a:xfrm>
            <a:off x="786384" y="4937760"/>
            <a:ext cx="10588752" cy="685800"/>
          </a:xfrm>
          <a:prstGeom prst="rect">
            <a:avLst/>
          </a:prstGeom>
          <a:noFill/>
          <a:ln/>
        </p:spPr>
        <p:txBody>
          <a:bodyPr wrap="square" lIns="0" tIns="0" rIns="0" bIns="0" rtlCol="0" anchor="ctr"/>
          <a:lstStyle/>
          <a:p>
            <a:pPr indent="0" marL="0">
              <a:lnSpc>
                <a:spcPts val="1380"/>
              </a:lnSpc>
              <a:buNone/>
            </a:pPr>
            <a:r>
              <a:rPr lang="en-US" sz="1070" dirty="0">
                <a:solidFill>
                  <a:srgbClr val="2B2523"/>
                </a:solidFill>
                <a:latin typeface="Calibri" pitchFamily="34" charset="0"/>
                <a:ea typeface="Calibri" pitchFamily="34" charset="-122"/>
                <a:cs typeface="Calibri" pitchFamily="34" charset="-120"/>
              </a:rPr>
              <a:t>Attachment-trapping is common across both topics, 76 to 85% of genuine district mentions either way. That reinforces Task 17's original point on its own terms: reading attachments, not refining alias matching, is where a future recall improvement would have to come from, regardless of which crisis type a report concerns.</a:t>
            </a:r>
            <a:endParaRPr lang="en-US" sz="107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B2523"/>
        </a:solidFill>
      </p:bgPr>
    </p:bg>
    <p:spTree>
      <p:nvGrpSpPr>
        <p:cNvPr id="1" name=""/>
        <p:cNvGrpSpPr/>
        <p:nvPr/>
      </p:nvGrpSpPr>
      <p:grpSpPr>
        <a:xfrm>
          <a:off x="0" y="0"/>
          <a:ext cx="0" cy="0"/>
          <a:chOff x="0" y="0"/>
          <a:chExt cx="0" cy="0"/>
        </a:xfrm>
      </p:grpSpPr>
      <p:sp>
        <p:nvSpPr>
          <p:cNvPr id="2" name="Shape 0"/>
          <p:cNvSpPr/>
          <p:nvPr/>
        </p:nvSpPr>
        <p:spPr>
          <a:xfrm>
            <a:off x="-1463040" y="3108960"/>
            <a:ext cx="5120640" cy="5120640"/>
          </a:xfrm>
          <a:prstGeom prst="ellipse">
            <a:avLst/>
          </a:prstGeom>
          <a:solidFill>
            <a:srgbClr val="B85042"/>
          </a:solidFill>
          <a:ln/>
        </p:spPr>
      </p:sp>
      <p:sp>
        <p:nvSpPr>
          <p:cNvPr id="3" name="Text 1"/>
          <p:cNvSpPr/>
          <p:nvPr/>
        </p:nvSpPr>
        <p:spPr>
          <a:xfrm>
            <a:off x="566928" y="1097280"/>
            <a:ext cx="7315200" cy="310896"/>
          </a:xfrm>
          <a:prstGeom prst="rect">
            <a:avLst/>
          </a:prstGeom>
          <a:noFill/>
          <a:ln/>
        </p:spPr>
        <p:txBody>
          <a:bodyPr wrap="square" lIns="0" tIns="0" rIns="0" bIns="0" rtlCol="0" anchor="ctr"/>
          <a:lstStyle/>
          <a:p>
            <a:pPr indent="0" marL="0">
              <a:buNone/>
            </a:pPr>
            <a:r>
              <a:rPr lang="en-US" sz="1300" b="1" spc="300" kern="0" dirty="0">
                <a:solidFill>
                  <a:srgbClr val="A7BEAE"/>
                </a:solidFill>
                <a:latin typeface="Calibri" pitchFamily="34" charset="0"/>
                <a:ea typeface="Calibri" pitchFamily="34" charset="-122"/>
                <a:cs typeface="Calibri" pitchFamily="34" charset="-120"/>
              </a:rPr>
              <a:t>BOTTOM LINE</a:t>
            </a:r>
            <a:endParaRPr lang="en-US" sz="1300" dirty="0"/>
          </a:p>
        </p:txBody>
      </p:sp>
      <p:sp>
        <p:nvSpPr>
          <p:cNvPr id="4" name="Text 2"/>
          <p:cNvSpPr/>
          <p:nvPr/>
        </p:nvSpPr>
        <p:spPr>
          <a:xfrm>
            <a:off x="566928" y="1508760"/>
            <a:ext cx="9692640" cy="1371600"/>
          </a:xfrm>
          <a:prstGeom prst="rect">
            <a:avLst/>
          </a:prstGeom>
          <a:noFill/>
          <a:ln/>
        </p:spPr>
        <p:txBody>
          <a:bodyPr wrap="square" lIns="0" tIns="0" rIns="0" bIns="0" rtlCol="0" anchor="ctr"/>
          <a:lstStyle/>
          <a:p>
            <a:pPr indent="0" marL="0">
              <a:lnSpc>
                <a:spcPts val="3600"/>
              </a:lnSpc>
              <a:buNone/>
            </a:pPr>
            <a:r>
              <a:rPr lang="en-US" sz="3000" b="1" dirty="0">
                <a:solidFill>
                  <a:srgbClr val="FFFFFF"/>
                </a:solidFill>
                <a:latin typeface="Cambria" pitchFamily="34" charset="0"/>
                <a:ea typeface="Cambria" pitchFamily="34" charset="-122"/>
                <a:cs typeface="Cambria" pitchFamily="34" charset="-120"/>
              </a:rPr>
              <a:t>The core finding survives,</a:t>
            </a:r>
            <a:endParaRPr lang="en-US" sz="3000" dirty="0"/>
          </a:p>
          <a:p>
            <a:pPr indent="0" marL="0">
              <a:lnSpc>
                <a:spcPts val="3600"/>
              </a:lnSpc>
              <a:buNone/>
            </a:pPr>
            <a:r>
              <a:rPr lang="en-US" sz="3000" b="1" dirty="0">
                <a:solidFill>
                  <a:srgbClr val="FFFFFF"/>
                </a:solidFill>
                <a:latin typeface="Cambria" pitchFamily="34" charset="0"/>
                <a:ea typeface="Cambria" pitchFamily="34" charset="-122"/>
                <a:cs typeface="Cambria" pitchFamily="34" charset="-120"/>
              </a:rPr>
              <a:t>with an honest caveat attached</a:t>
            </a:r>
            <a:endParaRPr lang="en-US" sz="3000" dirty="0"/>
          </a:p>
        </p:txBody>
      </p:sp>
      <p:sp>
        <p:nvSpPr>
          <p:cNvPr id="5" name="Shape 3"/>
          <p:cNvSpPr/>
          <p:nvPr/>
        </p:nvSpPr>
        <p:spPr>
          <a:xfrm>
            <a:off x="566928" y="3017520"/>
            <a:ext cx="11027664" cy="1234440"/>
          </a:xfrm>
          <a:prstGeom prst="roundRect">
            <a:avLst>
              <a:gd name="adj" fmla="val 4444"/>
            </a:avLst>
          </a:prstGeom>
          <a:solidFill>
            <a:srgbClr val="3A3330"/>
          </a:solidFill>
          <a:ln/>
        </p:spPr>
      </p:sp>
      <p:sp>
        <p:nvSpPr>
          <p:cNvPr id="6" name="Text 4"/>
          <p:cNvSpPr/>
          <p:nvPr/>
        </p:nvSpPr>
        <p:spPr>
          <a:xfrm>
            <a:off x="841248" y="3145536"/>
            <a:ext cx="2011680" cy="256032"/>
          </a:xfrm>
          <a:prstGeom prst="rect">
            <a:avLst/>
          </a:prstGeom>
          <a:noFill/>
          <a:ln/>
        </p:spPr>
        <p:txBody>
          <a:bodyPr wrap="square" lIns="0" tIns="0" rIns="0" bIns="0" rtlCol="0" anchor="ctr"/>
          <a:lstStyle/>
          <a:p>
            <a:pPr indent="0" marL="0">
              <a:buNone/>
            </a:pPr>
            <a:r>
              <a:rPr lang="en-US" sz="1100" b="1" spc="120" kern="0" dirty="0">
                <a:solidFill>
                  <a:srgbClr val="B85042"/>
                </a:solidFill>
                <a:latin typeface="Calibri" pitchFamily="34" charset="0"/>
                <a:ea typeface="Calibri" pitchFamily="34" charset="-122"/>
                <a:cs typeface="Calibri" pitchFamily="34" charset="-120"/>
              </a:rPr>
              <a:t>CHECK 1</a:t>
            </a:r>
            <a:endParaRPr lang="en-US" sz="1100" dirty="0"/>
          </a:p>
        </p:txBody>
      </p:sp>
      <p:sp>
        <p:nvSpPr>
          <p:cNvPr id="7" name="Text 5"/>
          <p:cNvSpPr/>
          <p:nvPr/>
        </p:nvSpPr>
        <p:spPr>
          <a:xfrm>
            <a:off x="841248" y="3401568"/>
            <a:ext cx="10479024" cy="804672"/>
          </a:xfrm>
          <a:prstGeom prst="rect">
            <a:avLst/>
          </a:prstGeom>
          <a:noFill/>
          <a:ln/>
        </p:spPr>
        <p:txBody>
          <a:bodyPr wrap="square" lIns="0" tIns="0" rIns="0" bIns="0" rtlCol="0" anchor="ctr"/>
          <a:lstStyle/>
          <a:p>
            <a:pPr indent="0" marL="0">
              <a:lnSpc>
                <a:spcPts val="1380"/>
              </a:lnSpc>
              <a:buNone/>
            </a:pPr>
            <a:r>
              <a:rPr lang="en-US" sz="1080" dirty="0">
                <a:solidFill>
                  <a:srgbClr val="E7E8D1"/>
                </a:solidFill>
                <a:latin typeface="Calibri" pitchFamily="34" charset="0"/>
                <a:ea typeface="Calibri" pitchFamily="34" charset="-122"/>
                <a:cs typeface="Calibri" pitchFamily="34" charset="-120"/>
              </a:rPr>
              <a:t>The conflict-versus-reporting association is substantially, perhaps mostly, a between-district effect: chronically visible districts, not necessarily a live reaction to a district's own worse months. Not a refutation of Tasks 13-15, but a real limit on how strongly the result can be interpreted causally.</a:t>
            </a:r>
            <a:endParaRPr lang="en-US" sz="1080" dirty="0"/>
          </a:p>
        </p:txBody>
      </p:sp>
      <p:sp>
        <p:nvSpPr>
          <p:cNvPr id="8" name="Shape 6"/>
          <p:cNvSpPr/>
          <p:nvPr/>
        </p:nvSpPr>
        <p:spPr>
          <a:xfrm>
            <a:off x="566928" y="4389120"/>
            <a:ext cx="11027664" cy="1234440"/>
          </a:xfrm>
          <a:prstGeom prst="roundRect">
            <a:avLst>
              <a:gd name="adj" fmla="val 4444"/>
            </a:avLst>
          </a:prstGeom>
          <a:solidFill>
            <a:srgbClr val="3A3330"/>
          </a:solidFill>
          <a:ln/>
        </p:spPr>
      </p:sp>
      <p:sp>
        <p:nvSpPr>
          <p:cNvPr id="9" name="Text 7"/>
          <p:cNvSpPr/>
          <p:nvPr/>
        </p:nvSpPr>
        <p:spPr>
          <a:xfrm>
            <a:off x="841248" y="4517136"/>
            <a:ext cx="2011680" cy="256032"/>
          </a:xfrm>
          <a:prstGeom prst="rect">
            <a:avLst/>
          </a:prstGeom>
          <a:noFill/>
          <a:ln/>
        </p:spPr>
        <p:txBody>
          <a:bodyPr wrap="square" lIns="0" tIns="0" rIns="0" bIns="0" rtlCol="0" anchor="ctr"/>
          <a:lstStyle/>
          <a:p>
            <a:pPr indent="0" marL="0">
              <a:buNone/>
            </a:pPr>
            <a:r>
              <a:rPr lang="en-US" sz="1100" b="1" spc="120" kern="0" dirty="0">
                <a:solidFill>
                  <a:srgbClr val="A7BEAE"/>
                </a:solidFill>
                <a:latin typeface="Calibri" pitchFamily="34" charset="0"/>
                <a:ea typeface="Calibri" pitchFamily="34" charset="-122"/>
                <a:cs typeface="Calibri" pitchFamily="34" charset="-120"/>
              </a:rPr>
              <a:t>CHECK 2</a:t>
            </a:r>
            <a:endParaRPr lang="en-US" sz="1100" dirty="0"/>
          </a:p>
        </p:txBody>
      </p:sp>
      <p:sp>
        <p:nvSpPr>
          <p:cNvPr id="10" name="Text 8"/>
          <p:cNvSpPr/>
          <p:nvPr/>
        </p:nvSpPr>
        <p:spPr>
          <a:xfrm>
            <a:off x="841248" y="4773168"/>
            <a:ext cx="10479024" cy="804672"/>
          </a:xfrm>
          <a:prstGeom prst="rect">
            <a:avLst/>
          </a:prstGeom>
          <a:noFill/>
          <a:ln/>
        </p:spPr>
        <p:txBody>
          <a:bodyPr wrap="square" lIns="0" tIns="0" rIns="0" bIns="0" rtlCol="0" anchor="ctr"/>
          <a:lstStyle/>
          <a:p>
            <a:pPr indent="0" marL="0">
              <a:lnSpc>
                <a:spcPts val="1380"/>
              </a:lnSpc>
              <a:buNone/>
            </a:pPr>
            <a:r>
              <a:rPr lang="en-US" sz="1080" dirty="0">
                <a:solidFill>
                  <a:srgbClr val="E7E8D1"/>
                </a:solidFill>
                <a:latin typeface="Calibri" pitchFamily="34" charset="0"/>
                <a:ea typeface="Calibri" pitchFamily="34" charset="-122"/>
                <a:cs typeface="Calibri" pitchFamily="34" charset="-120"/>
              </a:rPr>
              <a:t>That caveat is not a geoparser artefact: conflict and climate/food reports lose geographic detail to attachments at statistically indistinguishable rates, so this specific alternative explanation is not what is driving the asymmetry.</a:t>
            </a:r>
            <a:endParaRPr lang="en-US" sz="1080" dirty="0"/>
          </a:p>
        </p:txBody>
      </p:sp>
      <p:sp>
        <p:nvSpPr>
          <p:cNvPr id="11" name="Text 9"/>
          <p:cNvSpPr/>
          <p:nvPr/>
        </p:nvSpPr>
        <p:spPr>
          <a:xfrm>
            <a:off x="566928" y="5897880"/>
            <a:ext cx="11027664" cy="411480"/>
          </a:xfrm>
          <a:prstGeom prst="rect">
            <a:avLst/>
          </a:prstGeom>
          <a:noFill/>
          <a:ln/>
        </p:spPr>
        <p:txBody>
          <a:bodyPr wrap="square" lIns="0" tIns="0" rIns="0" bIns="0" rtlCol="0" anchor="ctr"/>
          <a:lstStyle/>
          <a:p>
            <a:pPr indent="0" marL="0">
              <a:lnSpc>
                <a:spcPts val="1300"/>
              </a:lnSpc>
              <a:buNone/>
            </a:pPr>
            <a:r>
              <a:rPr lang="en-US" sz="1050" i="1" dirty="0">
                <a:solidFill>
                  <a:srgbClr val="7A6E68"/>
                </a:solidFill>
                <a:latin typeface="Calibri" pitchFamily="34" charset="0"/>
                <a:ea typeface="Calibri" pitchFamily="34" charset="-122"/>
                <a:cs typeface="Calibri" pitchFamily="34" charset="-120"/>
              </a:rPr>
              <a:t>Recommended framing for the dissertation: the district-level, cross-sectional association between conflict and reporting attention is robust and well documented; the within-district, month-to-month reactive story is the part that now needs qualifying.</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Two final checks, per 2026-09-02 feedback</dc:title>
  <dc:subject>PptxGenJS Presentation</dc:subject>
  <dc:creator>Samuel Aracena</dc:creator>
  <cp:lastModifiedBy>Samuel Aracena</cp:lastModifiedBy>
  <cp:revision>1</cp:revision>
  <dcterms:created xsi:type="dcterms:W3CDTF">2026-09-05T16:15:04Z</dcterms:created>
  <dcterms:modified xsi:type="dcterms:W3CDTF">2026-09-05T16:15:04Z</dcterms:modified>
</cp:coreProperties>
</file>