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59" r:id="rId5"/>
    <p:sldId id="260" r:id="rId6"/>
    <p:sldId id="261" r:id="rId7"/>
    <p:sldId id="264" r:id="rId8"/>
    <p:sldId id="271" r:id="rId9"/>
    <p:sldId id="270"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06" autoAdjust="0"/>
    <p:restoredTop sz="94660"/>
  </p:normalViewPr>
  <p:slideViewPr>
    <p:cSldViewPr snapToGrid="0">
      <p:cViewPr>
        <p:scale>
          <a:sx n="73" d="100"/>
          <a:sy n="73" d="100"/>
        </p:scale>
        <p:origin x="702"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A33E-97A7-4E8F-6082-416535633C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3E18B4-E7D1-112F-D4EA-F0B05005D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FD4EA3-A9B0-797C-ABF7-F2EF67530C1F}"/>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5" name="Footer Placeholder 4">
            <a:extLst>
              <a:ext uri="{FF2B5EF4-FFF2-40B4-BE49-F238E27FC236}">
                <a16:creationId xmlns:a16="http://schemas.microsoft.com/office/drawing/2014/main" id="{146F4FA2-A960-5104-44EE-5DFCE99C7B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A870E-D17E-C890-EF6C-7E3E4C054EE2}"/>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2622441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E150-17AA-4D7E-B323-9DBA001E86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F1B71B-B2AB-2639-75A4-9F4AE353F1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AA000-C51C-8A1B-F555-6A39BBB72570}"/>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5" name="Footer Placeholder 4">
            <a:extLst>
              <a:ext uri="{FF2B5EF4-FFF2-40B4-BE49-F238E27FC236}">
                <a16:creationId xmlns:a16="http://schemas.microsoft.com/office/drawing/2014/main" id="{87A2141B-5008-94DE-E310-79932A796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3FFBE9-5549-79E8-5320-C5450F466884}"/>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4221541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E891-E229-1A99-5DB3-4B07C80251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8220F8-8711-45A1-8E94-89E74BB40D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5D4E0E-2913-B57F-D5FC-991D96304616}"/>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5" name="Footer Placeholder 4">
            <a:extLst>
              <a:ext uri="{FF2B5EF4-FFF2-40B4-BE49-F238E27FC236}">
                <a16:creationId xmlns:a16="http://schemas.microsoft.com/office/drawing/2014/main" id="{07892A76-7670-A0EC-6B78-81E60EC27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B6C15-7C94-01BA-68F6-542C8F9149FF}"/>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1310294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EE526-C8F7-8977-A42B-1EEE277505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93A2DC-CFF9-E2C8-C7AA-8C3B817849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64BCCD-1B91-6F80-60FC-AC230EDE60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1BE77B-B57D-BCE6-2AE3-EE8CD83B0A6B}"/>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6" name="Footer Placeholder 5">
            <a:extLst>
              <a:ext uri="{FF2B5EF4-FFF2-40B4-BE49-F238E27FC236}">
                <a16:creationId xmlns:a16="http://schemas.microsoft.com/office/drawing/2014/main" id="{34C8B1E2-285A-6766-6E40-F53F6AE670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1309B5-ABB1-1ED1-E7A3-9FA331800997}"/>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2223780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E4BF7-D812-D45C-CB1F-3E4A24B4C9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D5381B-0E2A-5250-510C-0CB4EEAA54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A88106-0E7A-FD94-1585-A7436046D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F3ABBB-57DE-B295-1C81-C3E4FDF364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EE36B7-4B0E-F999-E4A1-432B25AF1E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6F7BD5-184C-9C16-9EC7-7EA930CCC250}"/>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8" name="Footer Placeholder 7">
            <a:extLst>
              <a:ext uri="{FF2B5EF4-FFF2-40B4-BE49-F238E27FC236}">
                <a16:creationId xmlns:a16="http://schemas.microsoft.com/office/drawing/2014/main" id="{67625D77-E2BD-2501-3F62-9508C1E944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06EA03-95C4-B9E2-7492-E0878310F531}"/>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2627356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77D61-4009-6E15-CD16-27C4C0709E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0C9906-3801-5997-F574-19B6C04B4D3F}"/>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4" name="Footer Placeholder 3">
            <a:extLst>
              <a:ext uri="{FF2B5EF4-FFF2-40B4-BE49-F238E27FC236}">
                <a16:creationId xmlns:a16="http://schemas.microsoft.com/office/drawing/2014/main" id="{D737D2FD-4927-4440-2AD4-1B86D5458C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E09412-B1AD-90BA-1FEF-81DEC074EE19}"/>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4188876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5219E-E931-A855-005B-DF7BDB13BE74}"/>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3" name="Footer Placeholder 2">
            <a:extLst>
              <a:ext uri="{FF2B5EF4-FFF2-40B4-BE49-F238E27FC236}">
                <a16:creationId xmlns:a16="http://schemas.microsoft.com/office/drawing/2014/main" id="{BF507B35-5549-BA00-B9AC-E19FBF2572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921EFF-BC31-EEA5-62C4-82201F1396F0}"/>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1929113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9998-80C4-C75D-09A1-050A65C086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96945B-8442-023A-BFA9-21DD75DA0D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5D2C48-9B81-72B0-17A1-5EBE62E2C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46C890-F2E9-1FDE-AEDD-EEE54E3C7A32}"/>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6" name="Footer Placeholder 5">
            <a:extLst>
              <a:ext uri="{FF2B5EF4-FFF2-40B4-BE49-F238E27FC236}">
                <a16:creationId xmlns:a16="http://schemas.microsoft.com/office/drawing/2014/main" id="{D91BADB5-07DE-5D52-0330-E3507A2E2E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CF2830-5593-10D9-710A-1B5916306B36}"/>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2034022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3ADE-4EF5-BCB4-C19E-3E9F78B62D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4B9483-3C1E-7E25-84AD-0E6CCFD4B0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AB5030-7033-9D7F-126F-3F3F8B4B5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2D00ED-7112-804D-EB90-03340E9F8B60}"/>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6" name="Footer Placeholder 5">
            <a:extLst>
              <a:ext uri="{FF2B5EF4-FFF2-40B4-BE49-F238E27FC236}">
                <a16:creationId xmlns:a16="http://schemas.microsoft.com/office/drawing/2014/main" id="{424C64B5-DDF0-6CC9-AE1C-30F3FE6520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B36C0B-5D96-20DB-F599-C0445E934750}"/>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3731599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2DCB6-65C7-F1D5-2C77-2B1976F402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0810AC-2558-E857-56FE-BF99C28231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0B9BC-8160-CBDA-12FF-7E0E04F987D4}"/>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5" name="Footer Placeholder 4">
            <a:extLst>
              <a:ext uri="{FF2B5EF4-FFF2-40B4-BE49-F238E27FC236}">
                <a16:creationId xmlns:a16="http://schemas.microsoft.com/office/drawing/2014/main" id="{053BA076-6634-BAF3-5FBD-F571230D30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AC488-F55C-016C-8FF2-B02CF0A76735}"/>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3376036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84E1B1-EF0D-8DDD-1CCC-9B476E39AC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584008-E587-D847-C494-FF887C6BA3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364E67-989B-C5AB-F7BD-B720FD40C21F}"/>
              </a:ext>
            </a:extLst>
          </p:cNvPr>
          <p:cNvSpPr>
            <a:spLocks noGrp="1"/>
          </p:cNvSpPr>
          <p:nvPr>
            <p:ph type="dt" sz="half" idx="10"/>
          </p:nvPr>
        </p:nvSpPr>
        <p:spPr/>
        <p:txBody>
          <a:bodyPr/>
          <a:lstStyle/>
          <a:p>
            <a:fld id="{DF0A3189-A639-4EC8-98E2-746E879A7984}" type="datetimeFigureOut">
              <a:rPr lang="en-US" smtClean="0"/>
              <a:t>7/22/2026</a:t>
            </a:fld>
            <a:endParaRPr lang="en-US"/>
          </a:p>
        </p:txBody>
      </p:sp>
      <p:sp>
        <p:nvSpPr>
          <p:cNvPr id="5" name="Footer Placeholder 4">
            <a:extLst>
              <a:ext uri="{FF2B5EF4-FFF2-40B4-BE49-F238E27FC236}">
                <a16:creationId xmlns:a16="http://schemas.microsoft.com/office/drawing/2014/main" id="{2F69C887-B151-54E4-9F6C-F82198414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25883-E5BC-4BFE-3C11-C0270A840C21}"/>
              </a:ext>
            </a:extLst>
          </p:cNvPr>
          <p:cNvSpPr>
            <a:spLocks noGrp="1"/>
          </p:cNvSpPr>
          <p:nvPr>
            <p:ph type="sldNum" sz="quarter" idx="12"/>
          </p:nvPr>
        </p:nvSpPr>
        <p:spPr/>
        <p:txBody>
          <a:bodyPr/>
          <a:lstStyle/>
          <a:p>
            <a:fld id="{2EF0387C-FACA-4F84-AB69-D5380B2F38A9}" type="slidenum">
              <a:rPr lang="en-US" smtClean="0"/>
              <a:t>‹#›</a:t>
            </a:fld>
            <a:endParaRPr lang="en-US"/>
          </a:p>
        </p:txBody>
      </p:sp>
    </p:spTree>
    <p:extLst>
      <p:ext uri="{BB962C8B-B14F-4D97-AF65-F5344CB8AC3E}">
        <p14:creationId xmlns:p14="http://schemas.microsoft.com/office/powerpoint/2010/main" val="3679424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1E731-7178-2A06-36DC-37D527445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661B24-34BA-ADDC-31E5-B99B0C94E9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7ADCC-633E-1074-250A-347D9EF83A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A3189-A639-4EC8-98E2-746E879A7984}" type="datetimeFigureOut">
              <a:rPr lang="en-US" smtClean="0"/>
              <a:t>7/22/2026</a:t>
            </a:fld>
            <a:endParaRPr lang="en-US"/>
          </a:p>
        </p:txBody>
      </p:sp>
      <p:sp>
        <p:nvSpPr>
          <p:cNvPr id="5" name="Footer Placeholder 4">
            <a:extLst>
              <a:ext uri="{FF2B5EF4-FFF2-40B4-BE49-F238E27FC236}">
                <a16:creationId xmlns:a16="http://schemas.microsoft.com/office/drawing/2014/main" id="{AD2F17CB-9B30-A741-E73F-C4AE4FB3D8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E0FAE8-2F6F-69BF-DF65-08CF85FDA7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0387C-FACA-4F84-AB69-D5380B2F38A9}" type="slidenum">
              <a:rPr lang="en-US" smtClean="0"/>
              <a:t>‹#›</a:t>
            </a:fld>
            <a:endParaRPr lang="en-US"/>
          </a:p>
        </p:txBody>
      </p:sp>
    </p:spTree>
    <p:extLst>
      <p:ext uri="{BB962C8B-B14F-4D97-AF65-F5344CB8AC3E}">
        <p14:creationId xmlns:p14="http://schemas.microsoft.com/office/powerpoint/2010/main" val="4024319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31520"/>
            <a:ext cx="2743200" cy="365760"/>
          </a:xfrm>
          <a:prstGeom prst="rect">
            <a:avLst/>
          </a:prstGeom>
          <a:noFill/>
        </p:spPr>
        <p:txBody>
          <a:bodyPr wrap="none">
            <a:spAutoFit/>
          </a:bodyPr>
          <a:lstStyle/>
          <a:p>
            <a:pPr>
              <a:defRPr sz="1200" b="1">
                <a:solidFill>
                  <a:srgbClr val="69D3D0"/>
                </a:solidFill>
                <a:latin typeface="Aptos"/>
              </a:defRPr>
            </a:pPr>
            <a:r>
              <a:t>DISSERTATION PROGRESS</a:t>
            </a:r>
          </a:p>
        </p:txBody>
      </p:sp>
      <p:sp>
        <p:nvSpPr>
          <p:cNvPr id="4" name="TextBox 3"/>
          <p:cNvSpPr txBox="1"/>
          <p:nvPr/>
        </p:nvSpPr>
        <p:spPr>
          <a:xfrm>
            <a:off x="731520" y="2315646"/>
            <a:ext cx="10424160" cy="1107996"/>
          </a:xfrm>
          <a:prstGeom prst="rect">
            <a:avLst/>
          </a:prstGeom>
          <a:noFill/>
        </p:spPr>
        <p:txBody>
          <a:bodyPr wrap="square">
            <a:spAutoFit/>
          </a:bodyPr>
          <a:lstStyle/>
          <a:p>
            <a:pPr>
              <a:defRPr sz="3600" b="1">
                <a:solidFill>
                  <a:srgbClr val="FFFFFF"/>
                </a:solidFill>
                <a:latin typeface="Aptos Display"/>
              </a:defRPr>
            </a:pPr>
            <a:r>
              <a:rPr lang="en-US" dirty="0"/>
              <a:t>Literature review &amp; Mechanisms definition</a:t>
            </a:r>
            <a:endParaRPr dirty="0"/>
          </a:p>
          <a:p>
            <a:pPr>
              <a:spcBef>
                <a:spcPts val="1200"/>
              </a:spcBef>
              <a:defRPr sz="2000">
                <a:solidFill>
                  <a:srgbClr val="D7E2EA"/>
                </a:solidFill>
                <a:latin typeface="Aptos"/>
              </a:defRPr>
            </a:pPr>
            <a:r>
              <a:rPr dirty="0"/>
              <a:t>Comparing humanitarian event, report, rainfall and market data across the Horn of Africa</a:t>
            </a:r>
          </a:p>
        </p:txBody>
      </p:sp>
      <p:sp>
        <p:nvSpPr>
          <p:cNvPr id="5" name="TextBox 4"/>
          <p:cNvSpPr txBox="1"/>
          <p:nvPr/>
        </p:nvSpPr>
        <p:spPr>
          <a:xfrm>
            <a:off x="749808" y="5166360"/>
            <a:ext cx="7315200" cy="731520"/>
          </a:xfrm>
          <a:prstGeom prst="rect">
            <a:avLst/>
          </a:prstGeom>
          <a:noFill/>
        </p:spPr>
        <p:txBody>
          <a:bodyPr wrap="none">
            <a:spAutoFit/>
          </a:bodyPr>
          <a:lstStyle/>
          <a:p>
            <a:pPr>
              <a:defRPr sz="1500">
                <a:solidFill>
                  <a:srgbClr val="FFFFFF"/>
                </a:solidFill>
                <a:latin typeface="Aptos"/>
              </a:defRPr>
            </a:pPr>
            <a:r>
              <a:t>Samuel Aracena  |  MSc Data Science  |  Middlesex University</a:t>
            </a:r>
          </a:p>
          <a:p>
            <a:pPr>
              <a:defRPr sz="1300">
                <a:solidFill>
                  <a:srgbClr val="BECDD8"/>
                </a:solidFill>
                <a:latin typeface="Aptos"/>
              </a:defRPr>
            </a:pPr>
            <a:r>
              <a:t>Study scope: Ethiopia, Somalia, South Sudan and Kenya · 2015–2024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B04F5A-4A97-EB9E-B65C-113AC191FC7A}"/>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Actions for this week</a:t>
            </a:r>
          </a:p>
        </p:txBody>
      </p:sp>
      <p:sp>
        <p:nvSpPr>
          <p:cNvPr id="3" name="Content Placeholder 2">
            <a:extLst>
              <a:ext uri="{FF2B5EF4-FFF2-40B4-BE49-F238E27FC236}">
                <a16:creationId xmlns:a16="http://schemas.microsoft.com/office/drawing/2014/main" id="{1C70080E-623E-498B-874E-345C0D918CCC}"/>
              </a:ext>
            </a:extLst>
          </p:cNvPr>
          <p:cNvSpPr>
            <a:spLocks noGrp="1"/>
          </p:cNvSpPr>
          <p:nvPr>
            <p:ph idx="1"/>
          </p:nvPr>
        </p:nvSpPr>
        <p:spPr>
          <a:xfrm>
            <a:off x="6503158" y="649480"/>
            <a:ext cx="4862447" cy="5546047"/>
          </a:xfrm>
        </p:spPr>
        <p:txBody>
          <a:bodyPr anchor="ctr">
            <a:normAutofit/>
          </a:bodyPr>
          <a:lstStyle/>
          <a:p>
            <a:r>
              <a:rPr lang="en-US" sz="2000"/>
              <a:t>Perform a broad literature review on humanitarian prediction (not only food insecurity).</a:t>
            </a:r>
          </a:p>
          <a:p>
            <a:r>
              <a:rPr lang="en-US" sz="2000"/>
              <a:t>Identify which features are commonly used by humanitarian researchers.</a:t>
            </a:r>
          </a:p>
          <a:p>
            <a:r>
              <a:rPr lang="en-US" sz="2000"/>
              <a:t>Define the final unit of analysis (e.g., one row = one ADM2 district × one month)</a:t>
            </a:r>
          </a:p>
          <a:p>
            <a:r>
              <a:rPr lang="en-US" sz="2000"/>
              <a:t>Choose the core datasets (e.g., IPC, ACLED, WFP Food Prices, ReliefWeb or GDELT, etc)</a:t>
            </a:r>
          </a:p>
          <a:p>
            <a:r>
              <a:rPr lang="en-US" sz="2000"/>
              <a:t>Define 5–6 humanitarian mechanisms and map each source to them.</a:t>
            </a:r>
          </a:p>
        </p:txBody>
      </p:sp>
    </p:spTree>
    <p:extLst>
      <p:ext uri="{BB962C8B-B14F-4D97-AF65-F5344CB8AC3E}">
        <p14:creationId xmlns:p14="http://schemas.microsoft.com/office/powerpoint/2010/main" val="3878916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C102C1-0168-7EE8-1117-BD227DD0E441}"/>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Literature review</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0B89A01-DAC6-140B-BB3F-4ADBF20C2CDA}"/>
              </a:ext>
            </a:extLst>
          </p:cNvPr>
          <p:cNvSpPr>
            <a:spLocks noGrp="1"/>
          </p:cNvSpPr>
          <p:nvPr>
            <p:ph type="subTitle" idx="1"/>
          </p:nvPr>
        </p:nvSpPr>
        <p:spPr>
          <a:xfrm>
            <a:off x="4285397" y="4960961"/>
            <a:ext cx="7055893" cy="1078054"/>
          </a:xfrm>
        </p:spPr>
        <p:txBody>
          <a:bodyPr>
            <a:normAutofit/>
          </a:bodyPr>
          <a:lstStyle/>
          <a:p>
            <a:pPr algn="l"/>
            <a:endParaRPr lang="en-US">
              <a:solidFill>
                <a:srgbClr val="FFFFFF"/>
              </a:solidFill>
            </a:endParaRPr>
          </a:p>
        </p:txBody>
      </p:sp>
    </p:spTree>
    <p:extLst>
      <p:ext uri="{BB962C8B-B14F-4D97-AF65-F5344CB8AC3E}">
        <p14:creationId xmlns:p14="http://schemas.microsoft.com/office/powerpoint/2010/main" val="4191742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7ED14-1779-9270-DAE2-98788E46257A}"/>
              </a:ext>
            </a:extLst>
          </p:cNvPr>
          <p:cNvSpPr>
            <a:spLocks noGrp="1"/>
          </p:cNvSpPr>
          <p:nvPr>
            <p:ph type="title"/>
          </p:nvPr>
        </p:nvSpPr>
        <p:spPr>
          <a:xfrm>
            <a:off x="761995" y="307447"/>
            <a:ext cx="10693884" cy="1109932"/>
          </a:xfrm>
        </p:spPr>
        <p:txBody>
          <a:bodyPr>
            <a:normAutofit/>
          </a:bodyPr>
          <a:lstStyle/>
          <a:p>
            <a:r>
              <a:rPr lang="en-US" sz="3400" dirty="0"/>
              <a:t>Paper Review: Pushing the Boundaries of Anticipatory Action Using Machine Learning (Kjærum &amp; Madsen, 2025)</a:t>
            </a:r>
          </a:p>
        </p:txBody>
      </p:sp>
      <p:sp>
        <p:nvSpPr>
          <p:cNvPr id="3" name="Content Placeholder 2">
            <a:extLst>
              <a:ext uri="{FF2B5EF4-FFF2-40B4-BE49-F238E27FC236}">
                <a16:creationId xmlns:a16="http://schemas.microsoft.com/office/drawing/2014/main" id="{5970C13C-2658-187F-E41A-447FA8302274}"/>
              </a:ext>
            </a:extLst>
          </p:cNvPr>
          <p:cNvSpPr>
            <a:spLocks noGrp="1"/>
          </p:cNvSpPr>
          <p:nvPr>
            <p:ph idx="1"/>
          </p:nvPr>
        </p:nvSpPr>
        <p:spPr>
          <a:xfrm>
            <a:off x="7190509" y="2357888"/>
            <a:ext cx="4265370" cy="3902635"/>
          </a:xfrm>
        </p:spPr>
        <p:txBody>
          <a:bodyPr anchor="ctr">
            <a:normAutofit/>
          </a:bodyPr>
          <a:lstStyle/>
          <a:p>
            <a:r>
              <a:rPr lang="en-US" sz="1800" dirty="0"/>
              <a:t>Kjærum and Madsen (2025) developed the </a:t>
            </a:r>
            <a:r>
              <a:rPr lang="en-US" sz="1800" b="1" dirty="0"/>
              <a:t>AHEAD model</a:t>
            </a:r>
            <a:r>
              <a:rPr lang="en-US" sz="1800" dirty="0"/>
              <a:t>, a machine learning model that predicts conflict-related displacement several months in advance. The model combines data from multiple humanitarian sources to help humanitarian </a:t>
            </a:r>
            <a:r>
              <a:rPr lang="en-US" sz="1800" dirty="0" err="1"/>
              <a:t>organisations</a:t>
            </a:r>
            <a:r>
              <a:rPr lang="en-US" sz="1800" dirty="0"/>
              <a:t> prepare for future crises. It uses a </a:t>
            </a:r>
            <a:r>
              <a:rPr lang="en-US" sz="1800" b="1" dirty="0"/>
              <a:t>Bayesian state-space model</a:t>
            </a:r>
            <a:r>
              <a:rPr lang="en-US" sz="1800" dirty="0"/>
              <a:t> to estimate changes in displaced populations over time and compares its performance with a national forecasting model based on ensemble machine learning techniques.</a:t>
            </a:r>
            <a:endParaRPr lang="en-US" sz="2400" dirty="0"/>
          </a:p>
        </p:txBody>
      </p:sp>
      <p:sp>
        <p:nvSpPr>
          <p:cNvPr id="4" name="Content Placeholder 2">
            <a:extLst>
              <a:ext uri="{FF2B5EF4-FFF2-40B4-BE49-F238E27FC236}">
                <a16:creationId xmlns:a16="http://schemas.microsoft.com/office/drawing/2014/main" id="{90E810D0-285C-037B-DDBC-8B11540D1CC3}"/>
              </a:ext>
            </a:extLst>
          </p:cNvPr>
          <p:cNvSpPr txBox="1">
            <a:spLocks/>
          </p:cNvSpPr>
          <p:nvPr/>
        </p:nvSpPr>
        <p:spPr>
          <a:xfrm>
            <a:off x="5905500" y="1983468"/>
            <a:ext cx="478971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graphicFrame>
        <p:nvGraphicFramePr>
          <p:cNvPr id="5" name="Table 4">
            <a:extLst>
              <a:ext uri="{FF2B5EF4-FFF2-40B4-BE49-F238E27FC236}">
                <a16:creationId xmlns:a16="http://schemas.microsoft.com/office/drawing/2014/main" id="{80728AB8-8ECE-4112-E1D7-A39703ACB8AA}"/>
              </a:ext>
            </a:extLst>
          </p:cNvPr>
          <p:cNvGraphicFramePr>
            <a:graphicFrameLocks noGrp="1"/>
          </p:cNvGraphicFramePr>
          <p:nvPr>
            <p:extLst>
              <p:ext uri="{D42A27DB-BD31-4B8C-83A1-F6EECF244321}">
                <p14:modId xmlns:p14="http://schemas.microsoft.com/office/powerpoint/2010/main" val="3685045031"/>
              </p:ext>
            </p:extLst>
          </p:nvPr>
        </p:nvGraphicFramePr>
        <p:xfrm>
          <a:off x="940740" y="2357888"/>
          <a:ext cx="5395720" cy="3775497"/>
        </p:xfrm>
        <a:graphic>
          <a:graphicData uri="http://schemas.openxmlformats.org/drawingml/2006/table">
            <a:tbl>
              <a:tblPr>
                <a:tableStyleId>{3B4B98B0-60AC-42C2-AFA5-B58CD77FA1E5}</a:tableStyleId>
              </a:tblPr>
              <a:tblGrid>
                <a:gridCol w="2697860">
                  <a:extLst>
                    <a:ext uri="{9D8B030D-6E8A-4147-A177-3AD203B41FA5}">
                      <a16:colId xmlns:a16="http://schemas.microsoft.com/office/drawing/2014/main" val="1234285167"/>
                    </a:ext>
                  </a:extLst>
                </a:gridCol>
                <a:gridCol w="2697860">
                  <a:extLst>
                    <a:ext uri="{9D8B030D-6E8A-4147-A177-3AD203B41FA5}">
                      <a16:colId xmlns:a16="http://schemas.microsoft.com/office/drawing/2014/main" val="2224788514"/>
                    </a:ext>
                  </a:extLst>
                </a:gridCol>
              </a:tblGrid>
              <a:tr h="304695">
                <a:tc>
                  <a:txBody>
                    <a:bodyPr/>
                    <a:lstStyle/>
                    <a:p>
                      <a:pPr fontAlgn="ctr"/>
                      <a:r>
                        <a:rPr lang="en-US" sz="1300" b="1">
                          <a:effectLst/>
                        </a:rPr>
                        <a:t>Humanitarian Mechanism</a:t>
                      </a:r>
                    </a:p>
                  </a:txBody>
                  <a:tcPr marL="70379" marR="70379" marT="35189" marB="35189" anchor="ctr">
                    <a:solidFill>
                      <a:schemeClr val="accent1">
                        <a:lumMod val="20000"/>
                        <a:lumOff val="80000"/>
                      </a:schemeClr>
                    </a:solidFill>
                  </a:tcPr>
                </a:tc>
                <a:tc>
                  <a:txBody>
                    <a:bodyPr/>
                    <a:lstStyle/>
                    <a:p>
                      <a:pPr fontAlgn="ctr"/>
                      <a:r>
                        <a:rPr lang="en-US" sz="1300" b="1" dirty="0">
                          <a:effectLst/>
                        </a:rPr>
                        <a:t>Features</a:t>
                      </a:r>
                    </a:p>
                  </a:txBody>
                  <a:tcPr marL="70379" marR="70379" marT="35189" marB="35189" anchor="ctr">
                    <a:solidFill>
                      <a:schemeClr val="accent1">
                        <a:lumMod val="20000"/>
                        <a:lumOff val="80000"/>
                      </a:schemeClr>
                    </a:solidFill>
                  </a:tcPr>
                </a:tc>
                <a:extLst>
                  <a:ext uri="{0D108BD9-81ED-4DB2-BD59-A6C34878D82A}">
                    <a16:rowId xmlns:a16="http://schemas.microsoft.com/office/drawing/2014/main" val="41950733"/>
                  </a:ext>
                </a:extLst>
              </a:tr>
              <a:tr h="920682">
                <a:tc>
                  <a:txBody>
                    <a:bodyPr/>
                    <a:lstStyle/>
                    <a:p>
                      <a:pPr fontAlgn="ctr"/>
                      <a:r>
                        <a:rPr lang="en-US" sz="1300" b="1">
                          <a:effectLst/>
                        </a:rPr>
                        <a:t>Conflict and Insecurity</a:t>
                      </a:r>
                      <a:endParaRPr lang="en-US" sz="1300">
                        <a:effectLst/>
                      </a:endParaRPr>
                    </a:p>
                  </a:txBody>
                  <a:tcPr marL="70379" marR="70379" marT="35189" marB="35189" anchor="ctr"/>
                </a:tc>
                <a:tc>
                  <a:txBody>
                    <a:bodyPr/>
                    <a:lstStyle/>
                    <a:p>
                      <a:pPr fontAlgn="ctr"/>
                      <a:r>
                        <a:rPr lang="en-US" sz="1300" dirty="0">
                          <a:effectLst/>
                        </a:rPr>
                        <a:t>Violent events, kidnappings, lootings, attacks by extremist groups, fatalities, violence against civilians</a:t>
                      </a:r>
                    </a:p>
                  </a:txBody>
                  <a:tcPr marL="70379" marR="70379" marT="35189" marB="35189" anchor="ctr"/>
                </a:tc>
                <a:extLst>
                  <a:ext uri="{0D108BD9-81ED-4DB2-BD59-A6C34878D82A}">
                    <a16:rowId xmlns:a16="http://schemas.microsoft.com/office/drawing/2014/main" val="3655143259"/>
                  </a:ext>
                </a:extLst>
              </a:tr>
              <a:tr h="715353">
                <a:tc>
                  <a:txBody>
                    <a:bodyPr/>
                    <a:lstStyle/>
                    <a:p>
                      <a:pPr fontAlgn="ctr"/>
                      <a:r>
                        <a:rPr lang="en-US" sz="1300" b="1" dirty="0">
                          <a:effectLst/>
                        </a:rPr>
                        <a:t>Food Security</a:t>
                      </a:r>
                      <a:endParaRPr lang="en-US" sz="1300" dirty="0">
                        <a:effectLst/>
                      </a:endParaRPr>
                    </a:p>
                  </a:txBody>
                  <a:tcPr marL="70379" marR="70379" marT="35189" marB="35189" anchor="ctr"/>
                </a:tc>
                <a:tc>
                  <a:txBody>
                    <a:bodyPr/>
                    <a:lstStyle/>
                    <a:p>
                      <a:pPr fontAlgn="ctr"/>
                      <a:r>
                        <a:rPr lang="en-US" sz="1300" dirty="0">
                          <a:effectLst/>
                        </a:rPr>
                        <a:t>Percentage of population in </a:t>
                      </a:r>
                      <a:r>
                        <a:rPr lang="en-US" sz="1300" b="1" dirty="0">
                          <a:effectLst/>
                        </a:rPr>
                        <a:t>Cadre </a:t>
                      </a:r>
                      <a:r>
                        <a:rPr lang="en-US" sz="1300" b="1" dirty="0" err="1">
                          <a:effectLst/>
                        </a:rPr>
                        <a:t>Harmonisé</a:t>
                      </a:r>
                      <a:r>
                        <a:rPr lang="en-US" sz="1300" b="1" dirty="0">
                          <a:effectLst/>
                        </a:rPr>
                        <a:t> Phase 3 or above</a:t>
                      </a:r>
                      <a:endParaRPr lang="en-US" sz="1300" dirty="0">
                        <a:effectLst/>
                      </a:endParaRPr>
                    </a:p>
                  </a:txBody>
                  <a:tcPr marL="70379" marR="70379" marT="35189" marB="35189" anchor="ctr"/>
                </a:tc>
                <a:extLst>
                  <a:ext uri="{0D108BD9-81ED-4DB2-BD59-A6C34878D82A}">
                    <a16:rowId xmlns:a16="http://schemas.microsoft.com/office/drawing/2014/main" val="5875357"/>
                  </a:ext>
                </a:extLst>
              </a:tr>
              <a:tr h="304695">
                <a:tc>
                  <a:txBody>
                    <a:bodyPr/>
                    <a:lstStyle/>
                    <a:p>
                      <a:pPr fontAlgn="ctr"/>
                      <a:r>
                        <a:rPr lang="en-US" sz="1300" b="1">
                          <a:effectLst/>
                        </a:rPr>
                        <a:t>Market Conditions</a:t>
                      </a:r>
                      <a:endParaRPr lang="en-US" sz="1300">
                        <a:effectLst/>
                      </a:endParaRPr>
                    </a:p>
                  </a:txBody>
                  <a:tcPr marL="70379" marR="70379" marT="35189" marB="35189" anchor="ctr"/>
                </a:tc>
                <a:tc>
                  <a:txBody>
                    <a:bodyPr/>
                    <a:lstStyle/>
                    <a:p>
                      <a:pPr fontAlgn="ctr"/>
                      <a:r>
                        <a:rPr lang="en-US" sz="1300" dirty="0">
                          <a:effectLst/>
                        </a:rPr>
                        <a:t>Food prices</a:t>
                      </a:r>
                    </a:p>
                  </a:txBody>
                  <a:tcPr marL="70379" marR="70379" marT="35189" marB="35189" anchor="ctr"/>
                </a:tc>
                <a:extLst>
                  <a:ext uri="{0D108BD9-81ED-4DB2-BD59-A6C34878D82A}">
                    <a16:rowId xmlns:a16="http://schemas.microsoft.com/office/drawing/2014/main" val="2674683764"/>
                  </a:ext>
                </a:extLst>
              </a:tr>
              <a:tr h="510024">
                <a:tc>
                  <a:txBody>
                    <a:bodyPr/>
                    <a:lstStyle/>
                    <a:p>
                      <a:pPr fontAlgn="ctr"/>
                      <a:r>
                        <a:rPr lang="en-US" sz="1300" b="1">
                          <a:effectLst/>
                        </a:rPr>
                        <a:t>Climate and Environmental Stress</a:t>
                      </a:r>
                      <a:endParaRPr lang="en-US" sz="1300">
                        <a:effectLst/>
                      </a:endParaRPr>
                    </a:p>
                  </a:txBody>
                  <a:tcPr marL="70379" marR="70379" marT="35189" marB="35189" anchor="ctr"/>
                </a:tc>
                <a:tc>
                  <a:txBody>
                    <a:bodyPr/>
                    <a:lstStyle/>
                    <a:p>
                      <a:pPr fontAlgn="ctr"/>
                      <a:r>
                        <a:rPr lang="en-US" sz="1300" dirty="0">
                          <a:effectLst/>
                        </a:rPr>
                        <a:t>Vegetation Health Index (VHI)</a:t>
                      </a:r>
                    </a:p>
                  </a:txBody>
                  <a:tcPr marL="70379" marR="70379" marT="35189" marB="35189" anchor="ctr"/>
                </a:tc>
                <a:extLst>
                  <a:ext uri="{0D108BD9-81ED-4DB2-BD59-A6C34878D82A}">
                    <a16:rowId xmlns:a16="http://schemas.microsoft.com/office/drawing/2014/main" val="1134540666"/>
                  </a:ext>
                </a:extLst>
              </a:tr>
              <a:tr h="304695">
                <a:tc>
                  <a:txBody>
                    <a:bodyPr/>
                    <a:lstStyle/>
                    <a:p>
                      <a:pPr fontAlgn="ctr"/>
                      <a:r>
                        <a:rPr lang="en-US" sz="1300" b="1">
                          <a:effectLst/>
                        </a:rPr>
                        <a:t>Development</a:t>
                      </a:r>
                      <a:endParaRPr lang="en-US" sz="1300">
                        <a:effectLst/>
                      </a:endParaRPr>
                    </a:p>
                  </a:txBody>
                  <a:tcPr marL="70379" marR="70379" marT="35189" marB="35189" anchor="ctr"/>
                </a:tc>
                <a:tc>
                  <a:txBody>
                    <a:bodyPr/>
                    <a:lstStyle/>
                    <a:p>
                      <a:pPr fontAlgn="ctr"/>
                      <a:r>
                        <a:rPr lang="en-US" sz="1300" dirty="0">
                          <a:effectLst/>
                        </a:rPr>
                        <a:t>Child mortality rate</a:t>
                      </a:r>
                    </a:p>
                  </a:txBody>
                  <a:tcPr marL="70379" marR="70379" marT="35189" marB="35189" anchor="ctr"/>
                </a:tc>
                <a:extLst>
                  <a:ext uri="{0D108BD9-81ED-4DB2-BD59-A6C34878D82A}">
                    <a16:rowId xmlns:a16="http://schemas.microsoft.com/office/drawing/2014/main" val="682615182"/>
                  </a:ext>
                </a:extLst>
              </a:tr>
              <a:tr h="715353">
                <a:tc>
                  <a:txBody>
                    <a:bodyPr/>
                    <a:lstStyle/>
                    <a:p>
                      <a:pPr fontAlgn="ctr"/>
                      <a:r>
                        <a:rPr lang="en-US" sz="1300" b="1">
                          <a:effectLst/>
                        </a:rPr>
                        <a:t>Protection</a:t>
                      </a:r>
                      <a:endParaRPr lang="en-US" sz="1300">
                        <a:effectLst/>
                      </a:endParaRPr>
                    </a:p>
                  </a:txBody>
                  <a:tcPr marL="70379" marR="70379" marT="35189" marB="35189" anchor="ctr"/>
                </a:tc>
                <a:tc>
                  <a:txBody>
                    <a:bodyPr/>
                    <a:lstStyle/>
                    <a:p>
                      <a:pPr fontAlgn="ctr"/>
                      <a:r>
                        <a:rPr lang="en-US" sz="1300" dirty="0">
                          <a:effectLst/>
                        </a:rPr>
                        <a:t>Community protection indicators (e.g., perceived safety, freedom of movement, access to services)</a:t>
                      </a:r>
                    </a:p>
                  </a:txBody>
                  <a:tcPr marL="70379" marR="70379" marT="35189" marB="35189" anchor="ctr"/>
                </a:tc>
                <a:extLst>
                  <a:ext uri="{0D108BD9-81ED-4DB2-BD59-A6C34878D82A}">
                    <a16:rowId xmlns:a16="http://schemas.microsoft.com/office/drawing/2014/main" val="446250339"/>
                  </a:ext>
                </a:extLst>
              </a:tr>
            </a:tbl>
          </a:graphicData>
        </a:graphic>
      </p:graphicFrame>
    </p:spTree>
    <p:extLst>
      <p:ext uri="{BB962C8B-B14F-4D97-AF65-F5344CB8AC3E}">
        <p14:creationId xmlns:p14="http://schemas.microsoft.com/office/powerpoint/2010/main" val="304256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7ED14-1779-9270-DAE2-98788E46257A}"/>
              </a:ext>
            </a:extLst>
          </p:cNvPr>
          <p:cNvSpPr>
            <a:spLocks noGrp="1"/>
          </p:cNvSpPr>
          <p:nvPr>
            <p:ph type="title"/>
          </p:nvPr>
        </p:nvSpPr>
        <p:spPr>
          <a:xfrm>
            <a:off x="761995" y="307447"/>
            <a:ext cx="10693884" cy="1109932"/>
          </a:xfrm>
        </p:spPr>
        <p:txBody>
          <a:bodyPr>
            <a:normAutofit/>
          </a:bodyPr>
          <a:lstStyle/>
          <a:p>
            <a:r>
              <a:rPr lang="en-US" sz="3400" dirty="0"/>
              <a:t>Paper Review: Paper Review: Forecasting Trends in Food Security with Real-Time Data</a:t>
            </a:r>
          </a:p>
        </p:txBody>
      </p:sp>
      <p:sp>
        <p:nvSpPr>
          <p:cNvPr id="3" name="Content Placeholder 2">
            <a:extLst>
              <a:ext uri="{FF2B5EF4-FFF2-40B4-BE49-F238E27FC236}">
                <a16:creationId xmlns:a16="http://schemas.microsoft.com/office/drawing/2014/main" id="{5970C13C-2658-187F-E41A-447FA8302274}"/>
              </a:ext>
            </a:extLst>
          </p:cNvPr>
          <p:cNvSpPr>
            <a:spLocks noGrp="1"/>
          </p:cNvSpPr>
          <p:nvPr>
            <p:ph idx="1"/>
          </p:nvPr>
        </p:nvSpPr>
        <p:spPr>
          <a:xfrm>
            <a:off x="7190509" y="2357888"/>
            <a:ext cx="4265370" cy="3902635"/>
          </a:xfrm>
        </p:spPr>
        <p:txBody>
          <a:bodyPr anchor="ctr">
            <a:normAutofit/>
          </a:bodyPr>
          <a:lstStyle/>
          <a:p>
            <a:r>
              <a:rPr lang="en-US" sz="1800" dirty="0"/>
              <a:t>This paper presents a machine learning framework for predicting short-term food insecurity using real-time humanitarian and socio-economic data. The authors compare several forecasting methods, including </a:t>
            </a:r>
            <a:r>
              <a:rPr lang="en-US" sz="1800" b="1" dirty="0"/>
              <a:t>ARIMA, </a:t>
            </a:r>
            <a:r>
              <a:rPr lang="en-US" sz="1800" b="1" dirty="0" err="1"/>
              <a:t>XGBoost</a:t>
            </a:r>
            <a:r>
              <a:rPr lang="en-US" sz="1800" b="1" dirty="0"/>
              <a:t>, LSTM, CNN </a:t>
            </a:r>
            <a:r>
              <a:rPr lang="en-US" sz="1800" dirty="0"/>
              <a:t>and </a:t>
            </a:r>
            <a:r>
              <a:rPr lang="en-US" sz="1800" b="1" dirty="0"/>
              <a:t>Reservoir Computing</a:t>
            </a:r>
            <a:r>
              <a:rPr lang="en-US" sz="1800" dirty="0"/>
              <a:t>. They found that machine learning models perform better than traditional statistical methods, with Reservoir being the best one.</a:t>
            </a:r>
          </a:p>
        </p:txBody>
      </p:sp>
      <p:sp>
        <p:nvSpPr>
          <p:cNvPr id="4" name="Content Placeholder 2">
            <a:extLst>
              <a:ext uri="{FF2B5EF4-FFF2-40B4-BE49-F238E27FC236}">
                <a16:creationId xmlns:a16="http://schemas.microsoft.com/office/drawing/2014/main" id="{90E810D0-285C-037B-DDBC-8B11540D1CC3}"/>
              </a:ext>
            </a:extLst>
          </p:cNvPr>
          <p:cNvSpPr txBox="1">
            <a:spLocks/>
          </p:cNvSpPr>
          <p:nvPr/>
        </p:nvSpPr>
        <p:spPr>
          <a:xfrm>
            <a:off x="5905500" y="1983468"/>
            <a:ext cx="478971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graphicFrame>
        <p:nvGraphicFramePr>
          <p:cNvPr id="5" name="Table 4">
            <a:extLst>
              <a:ext uri="{FF2B5EF4-FFF2-40B4-BE49-F238E27FC236}">
                <a16:creationId xmlns:a16="http://schemas.microsoft.com/office/drawing/2014/main" id="{80728AB8-8ECE-4112-E1D7-A39703ACB8AA}"/>
              </a:ext>
            </a:extLst>
          </p:cNvPr>
          <p:cNvGraphicFramePr>
            <a:graphicFrameLocks noGrp="1"/>
          </p:cNvGraphicFramePr>
          <p:nvPr>
            <p:extLst>
              <p:ext uri="{D42A27DB-BD31-4B8C-83A1-F6EECF244321}">
                <p14:modId xmlns:p14="http://schemas.microsoft.com/office/powerpoint/2010/main" val="1779702161"/>
              </p:ext>
            </p:extLst>
          </p:nvPr>
        </p:nvGraphicFramePr>
        <p:xfrm>
          <a:off x="940740" y="2210966"/>
          <a:ext cx="5395720" cy="4339587"/>
        </p:xfrm>
        <a:graphic>
          <a:graphicData uri="http://schemas.openxmlformats.org/drawingml/2006/table">
            <a:tbl>
              <a:tblPr>
                <a:tableStyleId>{3B4B98B0-60AC-42C2-AFA5-B58CD77FA1E5}</a:tableStyleId>
              </a:tblPr>
              <a:tblGrid>
                <a:gridCol w="2697860">
                  <a:extLst>
                    <a:ext uri="{9D8B030D-6E8A-4147-A177-3AD203B41FA5}">
                      <a16:colId xmlns:a16="http://schemas.microsoft.com/office/drawing/2014/main" val="1234285167"/>
                    </a:ext>
                  </a:extLst>
                </a:gridCol>
                <a:gridCol w="2697860">
                  <a:extLst>
                    <a:ext uri="{9D8B030D-6E8A-4147-A177-3AD203B41FA5}">
                      <a16:colId xmlns:a16="http://schemas.microsoft.com/office/drawing/2014/main" val="2224788514"/>
                    </a:ext>
                  </a:extLst>
                </a:gridCol>
              </a:tblGrid>
              <a:tr h="304695">
                <a:tc>
                  <a:txBody>
                    <a:bodyPr/>
                    <a:lstStyle/>
                    <a:p>
                      <a:pPr fontAlgn="ctr"/>
                      <a:r>
                        <a:rPr lang="en-US" sz="1300" b="1" dirty="0">
                          <a:effectLst/>
                        </a:rPr>
                        <a:t>Humanitarian Mechanism</a:t>
                      </a:r>
                    </a:p>
                  </a:txBody>
                  <a:tcPr anchor="ctr">
                    <a:solidFill>
                      <a:schemeClr val="accent1">
                        <a:lumMod val="20000"/>
                        <a:lumOff val="80000"/>
                      </a:schemeClr>
                    </a:solidFill>
                  </a:tcPr>
                </a:tc>
                <a:tc>
                  <a:txBody>
                    <a:bodyPr/>
                    <a:lstStyle/>
                    <a:p>
                      <a:pPr fontAlgn="ctr"/>
                      <a:r>
                        <a:rPr lang="en-US" sz="1300" b="1" dirty="0">
                          <a:effectLst/>
                        </a:rPr>
                        <a:t>Features Used</a:t>
                      </a:r>
                    </a:p>
                  </a:txBody>
                  <a:tcPr anchor="ctr">
                    <a:solidFill>
                      <a:schemeClr val="accent1">
                        <a:lumMod val="20000"/>
                        <a:lumOff val="80000"/>
                      </a:schemeClr>
                    </a:solidFill>
                  </a:tcPr>
                </a:tc>
                <a:extLst>
                  <a:ext uri="{0D108BD9-81ED-4DB2-BD59-A6C34878D82A}">
                    <a16:rowId xmlns:a16="http://schemas.microsoft.com/office/drawing/2014/main" val="41950733"/>
                  </a:ext>
                </a:extLst>
              </a:tr>
              <a:tr h="920682">
                <a:tc>
                  <a:txBody>
                    <a:bodyPr/>
                    <a:lstStyle/>
                    <a:p>
                      <a:pPr fontAlgn="ctr"/>
                      <a:r>
                        <a:rPr lang="en-US" sz="1300" b="1" dirty="0">
                          <a:effectLst/>
                        </a:rPr>
                        <a:t>Historical Food Security</a:t>
                      </a:r>
                      <a:endParaRPr lang="en-US" sz="1300" dirty="0">
                        <a:effectLst/>
                      </a:endParaRPr>
                    </a:p>
                  </a:txBody>
                  <a:tcPr anchor="ctr"/>
                </a:tc>
                <a:tc>
                  <a:txBody>
                    <a:bodyPr/>
                    <a:lstStyle/>
                    <a:p>
                      <a:pPr fontAlgn="ctr"/>
                      <a:r>
                        <a:rPr lang="en-US" sz="1300" dirty="0">
                          <a:effectLst/>
                        </a:rPr>
                        <a:t>Previous prevalence of insufficient food consumption, previous reduced Coping Strategy Index (</a:t>
                      </a:r>
                      <a:r>
                        <a:rPr lang="en-US" sz="1300" dirty="0" err="1">
                          <a:effectLst/>
                        </a:rPr>
                        <a:t>rCSI</a:t>
                      </a:r>
                      <a:r>
                        <a:rPr lang="en-US" sz="1300" dirty="0">
                          <a:effectLst/>
                        </a:rPr>
                        <a:t>), Food Consumption Score (FCS)</a:t>
                      </a:r>
                    </a:p>
                  </a:txBody>
                  <a:tcPr anchor="ctr"/>
                </a:tc>
                <a:extLst>
                  <a:ext uri="{0D108BD9-81ED-4DB2-BD59-A6C34878D82A}">
                    <a16:rowId xmlns:a16="http://schemas.microsoft.com/office/drawing/2014/main" val="3655143259"/>
                  </a:ext>
                </a:extLst>
              </a:tr>
              <a:tr h="715353">
                <a:tc>
                  <a:txBody>
                    <a:bodyPr/>
                    <a:lstStyle/>
                    <a:p>
                      <a:pPr fontAlgn="ctr"/>
                      <a:r>
                        <a:rPr lang="en-US" sz="1300" b="1">
                          <a:effectLst/>
                        </a:rPr>
                        <a:t>Conflict and Insecurity</a:t>
                      </a:r>
                      <a:endParaRPr lang="en-US" sz="1300">
                        <a:effectLst/>
                      </a:endParaRPr>
                    </a:p>
                  </a:txBody>
                  <a:tcPr anchor="ctr"/>
                </a:tc>
                <a:tc>
                  <a:txBody>
                    <a:bodyPr/>
                    <a:lstStyle/>
                    <a:p>
                      <a:pPr fontAlgn="ctr"/>
                      <a:r>
                        <a:rPr lang="en-US" sz="1300" dirty="0">
                          <a:effectLst/>
                        </a:rPr>
                        <a:t>Number of conflict events, political violence indicators, fatalities (ACLED)</a:t>
                      </a:r>
                    </a:p>
                  </a:txBody>
                  <a:tcPr anchor="ctr"/>
                </a:tc>
                <a:extLst>
                  <a:ext uri="{0D108BD9-81ED-4DB2-BD59-A6C34878D82A}">
                    <a16:rowId xmlns:a16="http://schemas.microsoft.com/office/drawing/2014/main" val="5875357"/>
                  </a:ext>
                </a:extLst>
              </a:tr>
              <a:tr h="304695">
                <a:tc>
                  <a:txBody>
                    <a:bodyPr/>
                    <a:lstStyle/>
                    <a:p>
                      <a:pPr fontAlgn="ctr"/>
                      <a:r>
                        <a:rPr lang="en-US" sz="1300" b="1">
                          <a:effectLst/>
                        </a:rPr>
                        <a:t>Climate and Environmental Conditions</a:t>
                      </a:r>
                      <a:endParaRPr lang="en-US" sz="1300">
                        <a:effectLst/>
                      </a:endParaRPr>
                    </a:p>
                  </a:txBody>
                  <a:tcPr anchor="ctr"/>
                </a:tc>
                <a:tc>
                  <a:txBody>
                    <a:bodyPr/>
                    <a:lstStyle/>
                    <a:p>
                      <a:pPr fontAlgn="ctr"/>
                      <a:r>
                        <a:rPr lang="en-US" sz="1300">
                          <a:effectLst/>
                        </a:rPr>
                        <a:t>Rainfall, Normalised Difference Vegetation Index (NDVI), drought and vegetation indicators</a:t>
                      </a:r>
                    </a:p>
                  </a:txBody>
                  <a:tcPr anchor="ctr"/>
                </a:tc>
                <a:extLst>
                  <a:ext uri="{0D108BD9-81ED-4DB2-BD59-A6C34878D82A}">
                    <a16:rowId xmlns:a16="http://schemas.microsoft.com/office/drawing/2014/main" val="2674683764"/>
                  </a:ext>
                </a:extLst>
              </a:tr>
              <a:tr h="510024">
                <a:tc>
                  <a:txBody>
                    <a:bodyPr/>
                    <a:lstStyle/>
                    <a:p>
                      <a:pPr fontAlgn="ctr"/>
                      <a:r>
                        <a:rPr lang="en-US" sz="1300" b="1">
                          <a:effectLst/>
                        </a:rPr>
                        <a:t>Market Conditions</a:t>
                      </a:r>
                      <a:endParaRPr lang="en-US" sz="1300">
                        <a:effectLst/>
                      </a:endParaRPr>
                    </a:p>
                  </a:txBody>
                  <a:tcPr anchor="ctr"/>
                </a:tc>
                <a:tc>
                  <a:txBody>
                    <a:bodyPr/>
                    <a:lstStyle/>
                    <a:p>
                      <a:pPr fontAlgn="ctr"/>
                      <a:r>
                        <a:rPr lang="en-US" sz="1300">
                          <a:effectLst/>
                        </a:rPr>
                        <a:t>Staple food prices, market prices, food price inflation</a:t>
                      </a:r>
                    </a:p>
                  </a:txBody>
                  <a:tcPr anchor="ctr"/>
                </a:tc>
                <a:extLst>
                  <a:ext uri="{0D108BD9-81ED-4DB2-BD59-A6C34878D82A}">
                    <a16:rowId xmlns:a16="http://schemas.microsoft.com/office/drawing/2014/main" val="1134540666"/>
                  </a:ext>
                </a:extLst>
              </a:tr>
              <a:tr h="304695">
                <a:tc>
                  <a:txBody>
                    <a:bodyPr/>
                    <a:lstStyle/>
                    <a:p>
                      <a:pPr fontAlgn="ctr"/>
                      <a:r>
                        <a:rPr lang="en-US" sz="1300" b="1">
                          <a:effectLst/>
                        </a:rPr>
                        <a:t>Population Movement</a:t>
                      </a:r>
                      <a:endParaRPr lang="en-US" sz="1300">
                        <a:effectLst/>
                      </a:endParaRPr>
                    </a:p>
                  </a:txBody>
                  <a:tcPr anchor="ctr"/>
                </a:tc>
                <a:tc>
                  <a:txBody>
                    <a:bodyPr/>
                    <a:lstStyle/>
                    <a:p>
                      <a:pPr fontAlgn="ctr"/>
                      <a:r>
                        <a:rPr lang="en-US" sz="1300" dirty="0">
                          <a:effectLst/>
                        </a:rPr>
                        <a:t>Displacement and migration indicators (where available)</a:t>
                      </a:r>
                    </a:p>
                  </a:txBody>
                  <a:tcPr anchor="ctr"/>
                </a:tc>
                <a:extLst>
                  <a:ext uri="{0D108BD9-81ED-4DB2-BD59-A6C34878D82A}">
                    <a16:rowId xmlns:a16="http://schemas.microsoft.com/office/drawing/2014/main" val="682615182"/>
                  </a:ext>
                </a:extLst>
              </a:tr>
              <a:tr h="715353">
                <a:tc>
                  <a:txBody>
                    <a:bodyPr/>
                    <a:lstStyle/>
                    <a:p>
                      <a:pPr fontAlgn="ctr"/>
                      <a:r>
                        <a:rPr lang="en-US" sz="1300" b="1">
                          <a:effectLst/>
                        </a:rPr>
                        <a:t>Seasonality</a:t>
                      </a:r>
                      <a:endParaRPr lang="en-US" sz="1300">
                        <a:effectLst/>
                      </a:endParaRPr>
                    </a:p>
                  </a:txBody>
                  <a:tcPr anchor="ctr"/>
                </a:tc>
                <a:tc>
                  <a:txBody>
                    <a:bodyPr/>
                    <a:lstStyle/>
                    <a:p>
                      <a:pPr fontAlgn="ctr"/>
                      <a:r>
                        <a:rPr lang="en-US" sz="1300" dirty="0">
                          <a:effectLst/>
                        </a:rPr>
                        <a:t>Month of the year and seasonal patterns</a:t>
                      </a:r>
                    </a:p>
                  </a:txBody>
                  <a:tcPr anchor="ctr"/>
                </a:tc>
                <a:extLst>
                  <a:ext uri="{0D108BD9-81ED-4DB2-BD59-A6C34878D82A}">
                    <a16:rowId xmlns:a16="http://schemas.microsoft.com/office/drawing/2014/main" val="446250339"/>
                  </a:ext>
                </a:extLst>
              </a:tr>
            </a:tbl>
          </a:graphicData>
        </a:graphic>
      </p:graphicFrame>
    </p:spTree>
    <p:extLst>
      <p:ext uri="{BB962C8B-B14F-4D97-AF65-F5344CB8AC3E}">
        <p14:creationId xmlns:p14="http://schemas.microsoft.com/office/powerpoint/2010/main" val="419341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7ED14-1779-9270-DAE2-98788E46257A}"/>
              </a:ext>
            </a:extLst>
          </p:cNvPr>
          <p:cNvSpPr>
            <a:spLocks noGrp="1"/>
          </p:cNvSpPr>
          <p:nvPr>
            <p:ph type="title"/>
          </p:nvPr>
        </p:nvSpPr>
        <p:spPr>
          <a:xfrm>
            <a:off x="761995" y="307447"/>
            <a:ext cx="10693884" cy="1109932"/>
          </a:xfrm>
        </p:spPr>
        <p:txBody>
          <a:bodyPr>
            <a:normAutofit/>
          </a:bodyPr>
          <a:lstStyle/>
          <a:p>
            <a:r>
              <a:rPr lang="en-US" sz="3400" dirty="0"/>
              <a:t>Paper Review: </a:t>
            </a:r>
            <a:r>
              <a:rPr lang="en-US" sz="3400" dirty="0" err="1"/>
              <a:t>ViEWS</a:t>
            </a:r>
            <a:r>
              <a:rPr lang="en-US" sz="3400" dirty="0"/>
              <a:t>: A Political Violence Early-Warning System (</a:t>
            </a:r>
            <a:r>
              <a:rPr lang="en-US" sz="3400" dirty="0" err="1"/>
              <a:t>Hegre</a:t>
            </a:r>
            <a:r>
              <a:rPr lang="en-US" sz="3400" dirty="0"/>
              <a:t> et al., 2019)</a:t>
            </a:r>
          </a:p>
        </p:txBody>
      </p:sp>
      <p:sp>
        <p:nvSpPr>
          <p:cNvPr id="3" name="Content Placeholder 2">
            <a:extLst>
              <a:ext uri="{FF2B5EF4-FFF2-40B4-BE49-F238E27FC236}">
                <a16:creationId xmlns:a16="http://schemas.microsoft.com/office/drawing/2014/main" id="{5970C13C-2658-187F-E41A-447FA8302274}"/>
              </a:ext>
            </a:extLst>
          </p:cNvPr>
          <p:cNvSpPr>
            <a:spLocks noGrp="1"/>
          </p:cNvSpPr>
          <p:nvPr>
            <p:ph idx="1"/>
          </p:nvPr>
        </p:nvSpPr>
        <p:spPr>
          <a:xfrm>
            <a:off x="7190509" y="2357888"/>
            <a:ext cx="4265370" cy="3902635"/>
          </a:xfrm>
        </p:spPr>
        <p:txBody>
          <a:bodyPr anchor="ctr">
            <a:normAutofit/>
          </a:bodyPr>
          <a:lstStyle/>
          <a:p>
            <a:r>
              <a:rPr lang="en-US" sz="1800" dirty="0" err="1"/>
              <a:t>Hegre</a:t>
            </a:r>
            <a:r>
              <a:rPr lang="en-US" sz="1800" dirty="0"/>
              <a:t> et al. (2019) developed the </a:t>
            </a:r>
            <a:r>
              <a:rPr lang="en-US" sz="1800" b="1" dirty="0"/>
              <a:t>Violence Early-Warning System (</a:t>
            </a:r>
            <a:r>
              <a:rPr lang="en-US" sz="1800" b="1" dirty="0" err="1"/>
              <a:t>ViEWS</a:t>
            </a:r>
            <a:r>
              <a:rPr lang="en-US" sz="1800" b="1" dirty="0"/>
              <a:t>)</a:t>
            </a:r>
            <a:r>
              <a:rPr lang="en-US" sz="1800" dirty="0"/>
              <a:t>, a machine learning framework that predicts the risk of </a:t>
            </a:r>
            <a:r>
              <a:rPr lang="en-US" sz="1800" dirty="0" err="1"/>
              <a:t>organised</a:t>
            </a:r>
            <a:r>
              <a:rPr lang="en-US" sz="1800" dirty="0"/>
              <a:t> political violence at national and subnational levels. The system combines several statistical and machine learning models into an </a:t>
            </a:r>
            <a:r>
              <a:rPr lang="en-US" sz="1800" b="1" dirty="0"/>
              <a:t>ensemble</a:t>
            </a:r>
            <a:r>
              <a:rPr lang="en-US" sz="1800" dirty="0"/>
              <a:t> to improve prediction accuracy. It generates monthly forecasts using information on historical conflict, political and socioeconomic conditions, environmental factors, and </a:t>
            </a:r>
            <a:r>
              <a:rPr lang="en-US" sz="1800" dirty="0" err="1"/>
              <a:t>neighbouring</a:t>
            </a:r>
            <a:r>
              <a:rPr lang="en-US" sz="1800" dirty="0"/>
              <a:t> regions. The model is designed to support early warning and humanitarian planning.</a:t>
            </a:r>
            <a:endParaRPr lang="en-US" sz="2400" dirty="0"/>
          </a:p>
        </p:txBody>
      </p:sp>
      <p:sp>
        <p:nvSpPr>
          <p:cNvPr id="4" name="Content Placeholder 2">
            <a:extLst>
              <a:ext uri="{FF2B5EF4-FFF2-40B4-BE49-F238E27FC236}">
                <a16:creationId xmlns:a16="http://schemas.microsoft.com/office/drawing/2014/main" id="{90E810D0-285C-037B-DDBC-8B11540D1CC3}"/>
              </a:ext>
            </a:extLst>
          </p:cNvPr>
          <p:cNvSpPr txBox="1">
            <a:spLocks/>
          </p:cNvSpPr>
          <p:nvPr/>
        </p:nvSpPr>
        <p:spPr>
          <a:xfrm>
            <a:off x="5905500" y="1983468"/>
            <a:ext cx="478971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graphicFrame>
        <p:nvGraphicFramePr>
          <p:cNvPr id="5" name="Table 4">
            <a:extLst>
              <a:ext uri="{FF2B5EF4-FFF2-40B4-BE49-F238E27FC236}">
                <a16:creationId xmlns:a16="http://schemas.microsoft.com/office/drawing/2014/main" id="{80728AB8-8ECE-4112-E1D7-A39703ACB8AA}"/>
              </a:ext>
            </a:extLst>
          </p:cNvPr>
          <p:cNvGraphicFramePr>
            <a:graphicFrameLocks noGrp="1"/>
          </p:cNvGraphicFramePr>
          <p:nvPr>
            <p:extLst>
              <p:ext uri="{D42A27DB-BD31-4B8C-83A1-F6EECF244321}">
                <p14:modId xmlns:p14="http://schemas.microsoft.com/office/powerpoint/2010/main" val="2394765957"/>
              </p:ext>
            </p:extLst>
          </p:nvPr>
        </p:nvGraphicFramePr>
        <p:xfrm>
          <a:off x="946183" y="2129288"/>
          <a:ext cx="5395720" cy="4515363"/>
        </p:xfrm>
        <a:graphic>
          <a:graphicData uri="http://schemas.openxmlformats.org/drawingml/2006/table">
            <a:tbl>
              <a:tblPr>
                <a:tableStyleId>{3B4B98B0-60AC-42C2-AFA5-B58CD77FA1E5}</a:tableStyleId>
              </a:tblPr>
              <a:tblGrid>
                <a:gridCol w="2697860">
                  <a:extLst>
                    <a:ext uri="{9D8B030D-6E8A-4147-A177-3AD203B41FA5}">
                      <a16:colId xmlns:a16="http://schemas.microsoft.com/office/drawing/2014/main" val="1234285167"/>
                    </a:ext>
                  </a:extLst>
                </a:gridCol>
                <a:gridCol w="2697860">
                  <a:extLst>
                    <a:ext uri="{9D8B030D-6E8A-4147-A177-3AD203B41FA5}">
                      <a16:colId xmlns:a16="http://schemas.microsoft.com/office/drawing/2014/main" val="2224788514"/>
                    </a:ext>
                  </a:extLst>
                </a:gridCol>
              </a:tblGrid>
              <a:tr h="304695">
                <a:tc>
                  <a:txBody>
                    <a:bodyPr/>
                    <a:lstStyle/>
                    <a:p>
                      <a:pPr fontAlgn="ctr"/>
                      <a:r>
                        <a:rPr lang="en-US" sz="1300" b="1">
                          <a:effectLst/>
                        </a:rPr>
                        <a:t>Humanitarian Mechanism</a:t>
                      </a:r>
                    </a:p>
                  </a:txBody>
                  <a:tcPr anchor="ctr">
                    <a:solidFill>
                      <a:schemeClr val="accent1">
                        <a:lumMod val="20000"/>
                        <a:lumOff val="80000"/>
                      </a:schemeClr>
                    </a:solidFill>
                  </a:tcPr>
                </a:tc>
                <a:tc>
                  <a:txBody>
                    <a:bodyPr/>
                    <a:lstStyle/>
                    <a:p>
                      <a:pPr fontAlgn="ctr"/>
                      <a:r>
                        <a:rPr lang="en-US" sz="1300" b="1" dirty="0">
                          <a:effectLst/>
                        </a:rPr>
                        <a:t>Features Used</a:t>
                      </a:r>
                    </a:p>
                  </a:txBody>
                  <a:tcPr anchor="ctr">
                    <a:solidFill>
                      <a:schemeClr val="accent1">
                        <a:lumMod val="20000"/>
                        <a:lumOff val="80000"/>
                      </a:schemeClr>
                    </a:solidFill>
                  </a:tcPr>
                </a:tc>
                <a:extLst>
                  <a:ext uri="{0D108BD9-81ED-4DB2-BD59-A6C34878D82A}">
                    <a16:rowId xmlns:a16="http://schemas.microsoft.com/office/drawing/2014/main" val="41950733"/>
                  </a:ext>
                </a:extLst>
              </a:tr>
              <a:tr h="920682">
                <a:tc>
                  <a:txBody>
                    <a:bodyPr/>
                    <a:lstStyle/>
                    <a:p>
                      <a:pPr fontAlgn="ctr"/>
                      <a:r>
                        <a:rPr lang="en-US" sz="1300" b="1">
                          <a:effectLst/>
                        </a:rPr>
                        <a:t>Historical Conflict</a:t>
                      </a:r>
                      <a:endParaRPr lang="en-US" sz="1300">
                        <a:effectLst/>
                      </a:endParaRPr>
                    </a:p>
                  </a:txBody>
                  <a:tcPr anchor="ctr"/>
                </a:tc>
                <a:tc>
                  <a:txBody>
                    <a:bodyPr/>
                    <a:lstStyle/>
                    <a:p>
                      <a:pPr fontAlgn="ctr"/>
                      <a:r>
                        <a:rPr lang="en-US" sz="1300" dirty="0">
                          <a:effectLst/>
                        </a:rPr>
                        <a:t>Previous conflict events, previous fatalities, conflict persistence, recent violence</a:t>
                      </a:r>
                    </a:p>
                  </a:txBody>
                  <a:tcPr anchor="ctr"/>
                </a:tc>
                <a:extLst>
                  <a:ext uri="{0D108BD9-81ED-4DB2-BD59-A6C34878D82A}">
                    <a16:rowId xmlns:a16="http://schemas.microsoft.com/office/drawing/2014/main" val="3655143259"/>
                  </a:ext>
                </a:extLst>
              </a:tr>
              <a:tr h="715353">
                <a:tc>
                  <a:txBody>
                    <a:bodyPr/>
                    <a:lstStyle/>
                    <a:p>
                      <a:pPr fontAlgn="ctr"/>
                      <a:r>
                        <a:rPr lang="en-US" sz="1300" b="1">
                          <a:effectLst/>
                        </a:rPr>
                        <a:t>Spatial Diffusion</a:t>
                      </a:r>
                      <a:endParaRPr lang="en-US" sz="1300">
                        <a:effectLst/>
                      </a:endParaRPr>
                    </a:p>
                  </a:txBody>
                  <a:tcPr anchor="ctr"/>
                </a:tc>
                <a:tc>
                  <a:txBody>
                    <a:bodyPr/>
                    <a:lstStyle/>
                    <a:p>
                      <a:pPr fontAlgn="ctr"/>
                      <a:r>
                        <a:rPr lang="en-US" sz="1300">
                          <a:effectLst/>
                        </a:rPr>
                        <a:t>Conflict activity in neighbouring administrative areas, regional conflict intensity</a:t>
                      </a:r>
                    </a:p>
                  </a:txBody>
                  <a:tcPr anchor="ctr"/>
                </a:tc>
                <a:extLst>
                  <a:ext uri="{0D108BD9-81ED-4DB2-BD59-A6C34878D82A}">
                    <a16:rowId xmlns:a16="http://schemas.microsoft.com/office/drawing/2014/main" val="5875357"/>
                  </a:ext>
                </a:extLst>
              </a:tr>
              <a:tr h="304695">
                <a:tc>
                  <a:txBody>
                    <a:bodyPr/>
                    <a:lstStyle/>
                    <a:p>
                      <a:pPr fontAlgn="ctr"/>
                      <a:r>
                        <a:rPr lang="en-US" sz="1300" b="1" dirty="0">
                          <a:effectLst/>
                        </a:rPr>
                        <a:t>Socio-economic factors </a:t>
                      </a:r>
                      <a:endParaRPr lang="en-US" sz="1300" dirty="0">
                        <a:effectLst/>
                      </a:endParaRPr>
                    </a:p>
                  </a:txBody>
                  <a:tcPr anchor="ctr"/>
                </a:tc>
                <a:tc>
                  <a:txBody>
                    <a:bodyPr/>
                    <a:lstStyle/>
                    <a:p>
                      <a:pPr fontAlgn="ctr"/>
                      <a:r>
                        <a:rPr lang="en-US" sz="1300">
                          <a:effectLst/>
                        </a:rPr>
                        <a:t>GDP per capita, demographic characteristics, education, long-term socioeconomic conditions</a:t>
                      </a:r>
                    </a:p>
                  </a:txBody>
                  <a:tcPr anchor="ctr"/>
                </a:tc>
                <a:extLst>
                  <a:ext uri="{0D108BD9-81ED-4DB2-BD59-A6C34878D82A}">
                    <a16:rowId xmlns:a16="http://schemas.microsoft.com/office/drawing/2014/main" val="2674683764"/>
                  </a:ext>
                </a:extLst>
              </a:tr>
              <a:tr h="510024">
                <a:tc>
                  <a:txBody>
                    <a:bodyPr/>
                    <a:lstStyle/>
                    <a:p>
                      <a:pPr fontAlgn="ctr"/>
                      <a:r>
                        <a:rPr lang="en-US" sz="1300" b="1">
                          <a:effectLst/>
                        </a:rPr>
                        <a:t>Political Context</a:t>
                      </a:r>
                      <a:endParaRPr lang="en-US" sz="1300">
                        <a:effectLst/>
                      </a:endParaRPr>
                    </a:p>
                  </a:txBody>
                  <a:tcPr anchor="ctr"/>
                </a:tc>
                <a:tc>
                  <a:txBody>
                    <a:bodyPr/>
                    <a:lstStyle/>
                    <a:p>
                      <a:pPr fontAlgn="ctr"/>
                      <a:r>
                        <a:rPr lang="en-US" sz="1300">
                          <a:effectLst/>
                        </a:rPr>
                        <a:t>Political institutions, elections, regime characteristics, political instability</a:t>
                      </a:r>
                    </a:p>
                  </a:txBody>
                  <a:tcPr anchor="ctr"/>
                </a:tc>
                <a:extLst>
                  <a:ext uri="{0D108BD9-81ED-4DB2-BD59-A6C34878D82A}">
                    <a16:rowId xmlns:a16="http://schemas.microsoft.com/office/drawing/2014/main" val="1134540666"/>
                  </a:ext>
                </a:extLst>
              </a:tr>
              <a:tr h="304695">
                <a:tc>
                  <a:txBody>
                    <a:bodyPr/>
                    <a:lstStyle/>
                    <a:p>
                      <a:pPr fontAlgn="ctr"/>
                      <a:r>
                        <a:rPr lang="en-US" sz="1300" b="1">
                          <a:effectLst/>
                        </a:rPr>
                        <a:t>Environmental Conditions</a:t>
                      </a:r>
                      <a:endParaRPr lang="en-US" sz="1300">
                        <a:effectLst/>
                      </a:endParaRPr>
                    </a:p>
                  </a:txBody>
                  <a:tcPr anchor="ctr"/>
                </a:tc>
                <a:tc>
                  <a:txBody>
                    <a:bodyPr/>
                    <a:lstStyle/>
                    <a:p>
                      <a:pPr fontAlgn="ctr"/>
                      <a:r>
                        <a:rPr lang="en-US" sz="1300">
                          <a:effectLst/>
                        </a:rPr>
                        <a:t>Rainfall variability, drought and selected climate indicators</a:t>
                      </a:r>
                    </a:p>
                  </a:txBody>
                  <a:tcPr anchor="ctr"/>
                </a:tc>
                <a:extLst>
                  <a:ext uri="{0D108BD9-81ED-4DB2-BD59-A6C34878D82A}">
                    <a16:rowId xmlns:a16="http://schemas.microsoft.com/office/drawing/2014/main" val="682615182"/>
                  </a:ext>
                </a:extLst>
              </a:tr>
              <a:tr h="715353">
                <a:tc>
                  <a:txBody>
                    <a:bodyPr/>
                    <a:lstStyle/>
                    <a:p>
                      <a:pPr fontAlgn="ctr"/>
                      <a:r>
                        <a:rPr lang="en-US" sz="1300" b="1">
                          <a:effectLst/>
                        </a:rPr>
                        <a:t>Temporal Dynamics</a:t>
                      </a:r>
                      <a:endParaRPr lang="en-US" sz="1300">
                        <a:effectLst/>
                      </a:endParaRPr>
                    </a:p>
                  </a:txBody>
                  <a:tcPr anchor="ctr"/>
                </a:tc>
                <a:tc>
                  <a:txBody>
                    <a:bodyPr/>
                    <a:lstStyle/>
                    <a:p>
                      <a:pPr fontAlgn="ctr"/>
                      <a:r>
                        <a:rPr lang="en-US" sz="1300" dirty="0">
                          <a:effectLst/>
                        </a:rPr>
                        <a:t>Lagged conflict variables, previous conflict trends</a:t>
                      </a:r>
                    </a:p>
                  </a:txBody>
                  <a:tcPr anchor="ctr"/>
                </a:tc>
                <a:extLst>
                  <a:ext uri="{0D108BD9-81ED-4DB2-BD59-A6C34878D82A}">
                    <a16:rowId xmlns:a16="http://schemas.microsoft.com/office/drawing/2014/main" val="446250339"/>
                  </a:ext>
                </a:extLst>
              </a:tr>
            </a:tbl>
          </a:graphicData>
        </a:graphic>
      </p:graphicFrame>
    </p:spTree>
    <p:extLst>
      <p:ext uri="{BB962C8B-B14F-4D97-AF65-F5344CB8AC3E}">
        <p14:creationId xmlns:p14="http://schemas.microsoft.com/office/powerpoint/2010/main" val="2843881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7ED14-1779-9270-DAE2-98788E46257A}"/>
              </a:ext>
            </a:extLst>
          </p:cNvPr>
          <p:cNvSpPr>
            <a:spLocks noGrp="1"/>
          </p:cNvSpPr>
          <p:nvPr>
            <p:ph type="title"/>
          </p:nvPr>
        </p:nvSpPr>
        <p:spPr>
          <a:xfrm>
            <a:off x="761995" y="307447"/>
            <a:ext cx="10693884" cy="1109932"/>
          </a:xfrm>
        </p:spPr>
        <p:txBody>
          <a:bodyPr>
            <a:normAutofit/>
          </a:bodyPr>
          <a:lstStyle/>
          <a:p>
            <a:r>
              <a:rPr lang="en-US" sz="3400" dirty="0"/>
              <a:t>Paper Review: A Review on Machine Learning Models for Drought Monitoring and Forecasting (Osman et al., 2025)</a:t>
            </a:r>
          </a:p>
        </p:txBody>
      </p:sp>
      <p:sp>
        <p:nvSpPr>
          <p:cNvPr id="3" name="Content Placeholder 2">
            <a:extLst>
              <a:ext uri="{FF2B5EF4-FFF2-40B4-BE49-F238E27FC236}">
                <a16:creationId xmlns:a16="http://schemas.microsoft.com/office/drawing/2014/main" id="{5970C13C-2658-187F-E41A-447FA8302274}"/>
              </a:ext>
            </a:extLst>
          </p:cNvPr>
          <p:cNvSpPr>
            <a:spLocks noGrp="1"/>
          </p:cNvSpPr>
          <p:nvPr>
            <p:ph idx="1"/>
          </p:nvPr>
        </p:nvSpPr>
        <p:spPr>
          <a:xfrm>
            <a:off x="7190509" y="2357888"/>
            <a:ext cx="4265370" cy="3902635"/>
          </a:xfrm>
        </p:spPr>
        <p:txBody>
          <a:bodyPr anchor="ctr">
            <a:normAutofit/>
          </a:bodyPr>
          <a:lstStyle/>
          <a:p>
            <a:r>
              <a:rPr lang="en-US" sz="1800" dirty="0"/>
              <a:t>Osman et al. (2025) provide a systematic review of machine learning methods used for drought monitoring and forecasting, rather than introducing a new prediction model. The review examines studies published between 2000 and 2025 covering meteorological, hydrological and agricultural drought. It highlights that many different machine learning models can successfully predict drought, but concludes that selecting the right input features is just as important as choosing the prediction model itself.</a:t>
            </a:r>
            <a:endParaRPr lang="en-US" sz="2400" dirty="0"/>
          </a:p>
        </p:txBody>
      </p:sp>
      <p:sp>
        <p:nvSpPr>
          <p:cNvPr id="4" name="Content Placeholder 2">
            <a:extLst>
              <a:ext uri="{FF2B5EF4-FFF2-40B4-BE49-F238E27FC236}">
                <a16:creationId xmlns:a16="http://schemas.microsoft.com/office/drawing/2014/main" id="{90E810D0-285C-037B-DDBC-8B11540D1CC3}"/>
              </a:ext>
            </a:extLst>
          </p:cNvPr>
          <p:cNvSpPr txBox="1">
            <a:spLocks/>
          </p:cNvSpPr>
          <p:nvPr/>
        </p:nvSpPr>
        <p:spPr>
          <a:xfrm>
            <a:off x="5905500" y="1983468"/>
            <a:ext cx="478971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graphicFrame>
        <p:nvGraphicFramePr>
          <p:cNvPr id="5" name="Table 4">
            <a:extLst>
              <a:ext uri="{FF2B5EF4-FFF2-40B4-BE49-F238E27FC236}">
                <a16:creationId xmlns:a16="http://schemas.microsoft.com/office/drawing/2014/main" id="{80728AB8-8ECE-4112-E1D7-A39703ACB8AA}"/>
              </a:ext>
            </a:extLst>
          </p:cNvPr>
          <p:cNvGraphicFramePr>
            <a:graphicFrameLocks noGrp="1"/>
          </p:cNvGraphicFramePr>
          <p:nvPr>
            <p:extLst>
              <p:ext uri="{D42A27DB-BD31-4B8C-83A1-F6EECF244321}">
                <p14:modId xmlns:p14="http://schemas.microsoft.com/office/powerpoint/2010/main" val="3472244412"/>
              </p:ext>
            </p:extLst>
          </p:nvPr>
        </p:nvGraphicFramePr>
        <p:xfrm>
          <a:off x="946183" y="2129288"/>
          <a:ext cx="5395720" cy="4141467"/>
        </p:xfrm>
        <a:graphic>
          <a:graphicData uri="http://schemas.openxmlformats.org/drawingml/2006/table">
            <a:tbl>
              <a:tblPr>
                <a:tableStyleId>{3B4B98B0-60AC-42C2-AFA5-B58CD77FA1E5}</a:tableStyleId>
              </a:tblPr>
              <a:tblGrid>
                <a:gridCol w="2697860">
                  <a:extLst>
                    <a:ext uri="{9D8B030D-6E8A-4147-A177-3AD203B41FA5}">
                      <a16:colId xmlns:a16="http://schemas.microsoft.com/office/drawing/2014/main" val="1234285167"/>
                    </a:ext>
                  </a:extLst>
                </a:gridCol>
                <a:gridCol w="2697860">
                  <a:extLst>
                    <a:ext uri="{9D8B030D-6E8A-4147-A177-3AD203B41FA5}">
                      <a16:colId xmlns:a16="http://schemas.microsoft.com/office/drawing/2014/main" val="2224788514"/>
                    </a:ext>
                  </a:extLst>
                </a:gridCol>
              </a:tblGrid>
              <a:tr h="304695">
                <a:tc>
                  <a:txBody>
                    <a:bodyPr/>
                    <a:lstStyle/>
                    <a:p>
                      <a:pPr fontAlgn="ctr"/>
                      <a:r>
                        <a:rPr lang="en-US" sz="1300" b="1">
                          <a:effectLst/>
                        </a:rPr>
                        <a:t>Humanitarian Mechanism</a:t>
                      </a:r>
                    </a:p>
                  </a:txBody>
                  <a:tcPr anchor="ctr">
                    <a:solidFill>
                      <a:schemeClr val="accent1">
                        <a:lumMod val="20000"/>
                        <a:lumOff val="80000"/>
                      </a:schemeClr>
                    </a:solidFill>
                  </a:tcPr>
                </a:tc>
                <a:tc>
                  <a:txBody>
                    <a:bodyPr/>
                    <a:lstStyle/>
                    <a:p>
                      <a:pPr fontAlgn="ctr"/>
                      <a:r>
                        <a:rPr lang="en-US" sz="1300" b="1" dirty="0">
                          <a:effectLst/>
                        </a:rPr>
                        <a:t>Common Features</a:t>
                      </a:r>
                    </a:p>
                  </a:txBody>
                  <a:tcPr anchor="ctr">
                    <a:solidFill>
                      <a:schemeClr val="accent1">
                        <a:lumMod val="20000"/>
                        <a:lumOff val="80000"/>
                      </a:schemeClr>
                    </a:solidFill>
                  </a:tcPr>
                </a:tc>
                <a:extLst>
                  <a:ext uri="{0D108BD9-81ED-4DB2-BD59-A6C34878D82A}">
                    <a16:rowId xmlns:a16="http://schemas.microsoft.com/office/drawing/2014/main" val="41950733"/>
                  </a:ext>
                </a:extLst>
              </a:tr>
              <a:tr h="920682">
                <a:tc>
                  <a:txBody>
                    <a:bodyPr/>
                    <a:lstStyle/>
                    <a:p>
                      <a:pPr fontAlgn="ctr"/>
                      <a:r>
                        <a:rPr lang="en-US" sz="1300" b="1" dirty="0">
                          <a:effectLst/>
                        </a:rPr>
                        <a:t>Precipitation</a:t>
                      </a:r>
                      <a:endParaRPr lang="en-US" sz="1300" dirty="0">
                        <a:effectLst/>
                      </a:endParaRPr>
                    </a:p>
                  </a:txBody>
                  <a:tcPr anchor="ctr"/>
                </a:tc>
                <a:tc>
                  <a:txBody>
                    <a:bodyPr/>
                    <a:lstStyle/>
                    <a:p>
                      <a:pPr fontAlgn="ctr"/>
                      <a:r>
                        <a:rPr lang="en-US" sz="1300" dirty="0">
                          <a:effectLst/>
                        </a:rPr>
                        <a:t>Monthly precipitation, rainfall anomalies</a:t>
                      </a:r>
                    </a:p>
                  </a:txBody>
                  <a:tcPr anchor="ctr"/>
                </a:tc>
                <a:extLst>
                  <a:ext uri="{0D108BD9-81ED-4DB2-BD59-A6C34878D82A}">
                    <a16:rowId xmlns:a16="http://schemas.microsoft.com/office/drawing/2014/main" val="3655143259"/>
                  </a:ext>
                </a:extLst>
              </a:tr>
              <a:tr h="715353">
                <a:tc>
                  <a:txBody>
                    <a:bodyPr/>
                    <a:lstStyle/>
                    <a:p>
                      <a:pPr fontAlgn="ctr"/>
                      <a:r>
                        <a:rPr lang="en-US" sz="1300" b="1">
                          <a:effectLst/>
                        </a:rPr>
                        <a:t>Temperature</a:t>
                      </a:r>
                      <a:endParaRPr lang="en-US" sz="1300">
                        <a:effectLst/>
                      </a:endParaRPr>
                    </a:p>
                  </a:txBody>
                  <a:tcPr anchor="ctr"/>
                </a:tc>
                <a:tc>
                  <a:txBody>
                    <a:bodyPr/>
                    <a:lstStyle/>
                    <a:p>
                      <a:pPr fontAlgn="ctr"/>
                      <a:r>
                        <a:rPr lang="en-US" sz="1300">
                          <a:effectLst/>
                        </a:rPr>
                        <a:t>Maximum, minimum and average temperature</a:t>
                      </a:r>
                    </a:p>
                  </a:txBody>
                  <a:tcPr anchor="ctr"/>
                </a:tc>
                <a:extLst>
                  <a:ext uri="{0D108BD9-81ED-4DB2-BD59-A6C34878D82A}">
                    <a16:rowId xmlns:a16="http://schemas.microsoft.com/office/drawing/2014/main" val="5875357"/>
                  </a:ext>
                </a:extLst>
              </a:tr>
              <a:tr h="304695">
                <a:tc>
                  <a:txBody>
                    <a:bodyPr/>
                    <a:lstStyle/>
                    <a:p>
                      <a:pPr fontAlgn="ctr"/>
                      <a:r>
                        <a:rPr lang="en-US" sz="1300" b="1">
                          <a:effectLst/>
                        </a:rPr>
                        <a:t>Atmospheric Conditions</a:t>
                      </a:r>
                      <a:endParaRPr lang="en-US" sz="1300">
                        <a:effectLst/>
                      </a:endParaRPr>
                    </a:p>
                  </a:txBody>
                  <a:tcPr anchor="ctr"/>
                </a:tc>
                <a:tc>
                  <a:txBody>
                    <a:bodyPr/>
                    <a:lstStyle/>
                    <a:p>
                      <a:pPr fontAlgn="ctr"/>
                      <a:r>
                        <a:rPr lang="en-US" sz="1300">
                          <a:effectLst/>
                        </a:rPr>
                        <a:t>Humidity, wind speed, evapotranspiration</a:t>
                      </a:r>
                    </a:p>
                  </a:txBody>
                  <a:tcPr anchor="ctr"/>
                </a:tc>
                <a:extLst>
                  <a:ext uri="{0D108BD9-81ED-4DB2-BD59-A6C34878D82A}">
                    <a16:rowId xmlns:a16="http://schemas.microsoft.com/office/drawing/2014/main" val="2674683764"/>
                  </a:ext>
                </a:extLst>
              </a:tr>
              <a:tr h="510024">
                <a:tc>
                  <a:txBody>
                    <a:bodyPr/>
                    <a:lstStyle/>
                    <a:p>
                      <a:pPr fontAlgn="ctr"/>
                      <a:r>
                        <a:rPr lang="en-US" sz="1300" b="1">
                          <a:effectLst/>
                        </a:rPr>
                        <a:t>Hydrological Conditions</a:t>
                      </a:r>
                      <a:endParaRPr lang="en-US" sz="1300">
                        <a:effectLst/>
                      </a:endParaRPr>
                    </a:p>
                  </a:txBody>
                  <a:tcPr anchor="ctr"/>
                </a:tc>
                <a:tc>
                  <a:txBody>
                    <a:bodyPr/>
                    <a:lstStyle/>
                    <a:p>
                      <a:pPr fontAlgn="ctr"/>
                      <a:r>
                        <a:rPr lang="en-US" sz="1300">
                          <a:effectLst/>
                        </a:rPr>
                        <a:t>Streamflow, river discharge, groundwater levels</a:t>
                      </a:r>
                    </a:p>
                  </a:txBody>
                  <a:tcPr anchor="ctr"/>
                </a:tc>
                <a:extLst>
                  <a:ext uri="{0D108BD9-81ED-4DB2-BD59-A6C34878D82A}">
                    <a16:rowId xmlns:a16="http://schemas.microsoft.com/office/drawing/2014/main" val="1134540666"/>
                  </a:ext>
                </a:extLst>
              </a:tr>
              <a:tr h="304695">
                <a:tc>
                  <a:txBody>
                    <a:bodyPr/>
                    <a:lstStyle/>
                    <a:p>
                      <a:pPr fontAlgn="ctr"/>
                      <a:r>
                        <a:rPr lang="en-US" sz="1300" b="1">
                          <a:effectLst/>
                        </a:rPr>
                        <a:t>Soil and Vegetation</a:t>
                      </a:r>
                      <a:endParaRPr lang="en-US" sz="1300">
                        <a:effectLst/>
                      </a:endParaRPr>
                    </a:p>
                  </a:txBody>
                  <a:tcPr anchor="ctr"/>
                </a:tc>
                <a:tc>
                  <a:txBody>
                    <a:bodyPr/>
                    <a:lstStyle/>
                    <a:p>
                      <a:pPr fontAlgn="ctr"/>
                      <a:r>
                        <a:rPr lang="fr-FR" sz="1300">
                          <a:effectLst/>
                        </a:rPr>
                        <a:t>Soil moisture, vegetation indices (NDVI), crop conditions</a:t>
                      </a:r>
                    </a:p>
                  </a:txBody>
                  <a:tcPr anchor="ctr"/>
                </a:tc>
                <a:extLst>
                  <a:ext uri="{0D108BD9-81ED-4DB2-BD59-A6C34878D82A}">
                    <a16:rowId xmlns:a16="http://schemas.microsoft.com/office/drawing/2014/main" val="682615182"/>
                  </a:ext>
                </a:extLst>
              </a:tr>
              <a:tr h="715353">
                <a:tc>
                  <a:txBody>
                    <a:bodyPr/>
                    <a:lstStyle/>
                    <a:p>
                      <a:pPr fontAlgn="ctr"/>
                      <a:r>
                        <a:rPr lang="en-US" sz="1300" b="1">
                          <a:effectLst/>
                        </a:rPr>
                        <a:t>Climate Indicators</a:t>
                      </a:r>
                      <a:endParaRPr lang="en-US" sz="1300">
                        <a:effectLst/>
                      </a:endParaRPr>
                    </a:p>
                  </a:txBody>
                  <a:tcPr anchor="ctr"/>
                </a:tc>
                <a:tc>
                  <a:txBody>
                    <a:bodyPr/>
                    <a:lstStyle/>
                    <a:p>
                      <a:pPr fontAlgn="ctr"/>
                      <a:r>
                        <a:rPr lang="en-US" sz="1300" dirty="0">
                          <a:effectLst/>
                        </a:rPr>
                        <a:t>SPI, SPEI, Palmer Drought Severity Index (PDSI), climate oscillation indices</a:t>
                      </a:r>
                    </a:p>
                  </a:txBody>
                  <a:tcPr anchor="ctr"/>
                </a:tc>
                <a:extLst>
                  <a:ext uri="{0D108BD9-81ED-4DB2-BD59-A6C34878D82A}">
                    <a16:rowId xmlns:a16="http://schemas.microsoft.com/office/drawing/2014/main" val="446250339"/>
                  </a:ext>
                </a:extLst>
              </a:tr>
            </a:tbl>
          </a:graphicData>
        </a:graphic>
      </p:graphicFrame>
    </p:spTree>
    <p:extLst>
      <p:ext uri="{BB962C8B-B14F-4D97-AF65-F5344CB8AC3E}">
        <p14:creationId xmlns:p14="http://schemas.microsoft.com/office/powerpoint/2010/main" val="283688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1C7ED14-1779-9270-DAE2-98788E46257A}"/>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Unit of analysis</a:t>
            </a:r>
            <a:endParaRPr lang="en-US" sz="4000" dirty="0">
              <a:solidFill>
                <a:srgbClr val="FFFFFF"/>
              </a:solidFill>
            </a:endParaRPr>
          </a:p>
        </p:txBody>
      </p:sp>
      <p:sp>
        <p:nvSpPr>
          <p:cNvPr id="3" name="Content Placeholder 2">
            <a:extLst>
              <a:ext uri="{FF2B5EF4-FFF2-40B4-BE49-F238E27FC236}">
                <a16:creationId xmlns:a16="http://schemas.microsoft.com/office/drawing/2014/main" id="{5970C13C-2658-187F-E41A-447FA8302274}"/>
              </a:ext>
            </a:extLst>
          </p:cNvPr>
          <p:cNvSpPr>
            <a:spLocks noGrp="1"/>
          </p:cNvSpPr>
          <p:nvPr>
            <p:ph idx="1"/>
          </p:nvPr>
        </p:nvSpPr>
        <p:spPr>
          <a:xfrm>
            <a:off x="6096000" y="649480"/>
            <a:ext cx="5269605" cy="5546047"/>
          </a:xfrm>
        </p:spPr>
        <p:txBody>
          <a:bodyPr anchor="ctr">
            <a:normAutofit/>
          </a:bodyPr>
          <a:lstStyle/>
          <a:p>
            <a:r>
              <a:rPr lang="en-US" sz="1900" dirty="0"/>
              <a:t>For this study, the proposed unit of analysis is:</a:t>
            </a:r>
          </a:p>
          <a:p>
            <a:endParaRPr lang="en-US" sz="1900" dirty="0"/>
          </a:p>
          <a:p>
            <a:pPr marL="0" indent="0" algn="ctr">
              <a:buNone/>
            </a:pPr>
            <a:r>
              <a:rPr lang="en-US" sz="1900" b="1" dirty="0"/>
              <a:t>One row = one Admin 2 district × one month</a:t>
            </a:r>
          </a:p>
          <a:p>
            <a:pPr marL="0" indent="0">
              <a:buNone/>
            </a:pPr>
            <a:endParaRPr lang="en-US" sz="1900" dirty="0"/>
          </a:p>
          <a:p>
            <a:pPr marL="0" indent="0">
              <a:buNone/>
            </a:pPr>
            <a:r>
              <a:rPr lang="en-US" sz="1900" dirty="0"/>
              <a:t>This means that each row in the final dataset will describe the humanitarian conditions in one district during one calendar month.</a:t>
            </a:r>
          </a:p>
          <a:p>
            <a:endParaRPr lang="en-US" sz="1900" dirty="0"/>
          </a:p>
          <a:p>
            <a:pPr marL="0" indent="0">
              <a:buNone/>
            </a:pPr>
            <a:r>
              <a:rPr lang="en-US" sz="1900" dirty="0"/>
              <a:t>Admin 2 was selected because it keeps more local detail than national or Admin 1 data. This is useful because </a:t>
            </a:r>
            <a:r>
              <a:rPr lang="en-US" sz="1900" dirty="0" err="1"/>
              <a:t>neighbouring</a:t>
            </a:r>
            <a:r>
              <a:rPr lang="en-US" sz="1900" dirty="0"/>
              <a:t> districts can experience very different levels of conflict, rainfall, food prices or humanitarian activity. Monthly aggregation was chosen because it provides enough temporal detail while still matching the frequency of most of the datasets.</a:t>
            </a:r>
          </a:p>
        </p:txBody>
      </p:sp>
      <p:sp>
        <p:nvSpPr>
          <p:cNvPr id="4" name="Content Placeholder 2">
            <a:extLst>
              <a:ext uri="{FF2B5EF4-FFF2-40B4-BE49-F238E27FC236}">
                <a16:creationId xmlns:a16="http://schemas.microsoft.com/office/drawing/2014/main" id="{90E810D0-285C-037B-DDBC-8B11540D1CC3}"/>
              </a:ext>
            </a:extLst>
          </p:cNvPr>
          <p:cNvSpPr txBox="1">
            <a:spLocks/>
          </p:cNvSpPr>
          <p:nvPr/>
        </p:nvSpPr>
        <p:spPr>
          <a:xfrm>
            <a:off x="5905500" y="1983468"/>
            <a:ext cx="478971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Tree>
    <p:extLst>
      <p:ext uri="{BB962C8B-B14F-4D97-AF65-F5344CB8AC3E}">
        <p14:creationId xmlns:p14="http://schemas.microsoft.com/office/powerpoint/2010/main" val="2809906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C102C1-0168-7EE8-1117-BD227DD0E441}"/>
              </a:ext>
            </a:extLst>
          </p:cNvPr>
          <p:cNvSpPr>
            <a:spLocks noGrp="1"/>
          </p:cNvSpPr>
          <p:nvPr>
            <p:ph type="ctrTitle"/>
          </p:nvPr>
        </p:nvSpPr>
        <p:spPr>
          <a:xfrm>
            <a:off x="1386865" y="818984"/>
            <a:ext cx="6596245" cy="3268520"/>
          </a:xfrm>
        </p:spPr>
        <p:txBody>
          <a:bodyPr>
            <a:normAutofit/>
          </a:bodyPr>
          <a:lstStyle/>
          <a:p>
            <a:pPr algn="r"/>
            <a:r>
              <a:rPr lang="en-US" sz="4800" dirty="0">
                <a:solidFill>
                  <a:srgbClr val="FFFFFF"/>
                </a:solidFill>
              </a:rPr>
              <a:t>Defining Mechanisms</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0B89A01-DAC6-140B-BB3F-4ADBF20C2CDA}"/>
              </a:ext>
            </a:extLst>
          </p:cNvPr>
          <p:cNvSpPr>
            <a:spLocks noGrp="1"/>
          </p:cNvSpPr>
          <p:nvPr>
            <p:ph type="subTitle" idx="1"/>
          </p:nvPr>
        </p:nvSpPr>
        <p:spPr>
          <a:xfrm>
            <a:off x="1931874" y="4797188"/>
            <a:ext cx="6051236" cy="1241828"/>
          </a:xfrm>
        </p:spPr>
        <p:txBody>
          <a:bodyPr>
            <a:normAutofit/>
          </a:bodyPr>
          <a:lstStyle/>
          <a:p>
            <a:pPr algn="r"/>
            <a:endParaRPr lang="en-US">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97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a:defRPr sz="2800"/>
            </a:pPr>
            <a:r>
              <a:rPr lang="en-US" sz="4000" kern="1200">
                <a:solidFill>
                  <a:srgbClr val="FFFFFF"/>
                </a:solidFill>
                <a:latin typeface="+mj-lt"/>
                <a:ea typeface="+mj-ea"/>
                <a:cs typeface="+mj-cs"/>
              </a:rPr>
              <a:t>Conflict and Insecurity</a:t>
            </a:r>
          </a:p>
        </p:txBody>
      </p:sp>
      <p:graphicFrame>
        <p:nvGraphicFramePr>
          <p:cNvPr id="3" name="Table 2"/>
          <p:cNvGraphicFramePr>
            <a:graphicFrameLocks noGrp="1"/>
          </p:cNvGraphicFramePr>
          <p:nvPr>
            <p:extLst>
              <p:ext uri="{D42A27DB-BD31-4B8C-83A1-F6EECF244321}">
                <p14:modId xmlns:p14="http://schemas.microsoft.com/office/powerpoint/2010/main" val="1150498117"/>
              </p:ext>
            </p:extLst>
          </p:nvPr>
        </p:nvGraphicFramePr>
        <p:xfrm>
          <a:off x="432225" y="2105133"/>
          <a:ext cx="11327550" cy="4174483"/>
        </p:xfrm>
        <a:graphic>
          <a:graphicData uri="http://schemas.openxmlformats.org/drawingml/2006/table">
            <a:tbl>
              <a:tblPr firstRow="1" bandRow="1">
                <a:tableStyleId>{5C22544A-7EE6-4342-B048-85BDC9FD1C3A}</a:tableStyleId>
              </a:tblPr>
              <a:tblGrid>
                <a:gridCol w="2874132">
                  <a:extLst>
                    <a:ext uri="{9D8B030D-6E8A-4147-A177-3AD203B41FA5}">
                      <a16:colId xmlns:a16="http://schemas.microsoft.com/office/drawing/2014/main" val="20000"/>
                    </a:ext>
                  </a:extLst>
                </a:gridCol>
                <a:gridCol w="8453418">
                  <a:extLst>
                    <a:ext uri="{9D8B030D-6E8A-4147-A177-3AD203B41FA5}">
                      <a16:colId xmlns:a16="http://schemas.microsoft.com/office/drawing/2014/main" val="20001"/>
                    </a:ext>
                  </a:extLst>
                </a:gridCol>
              </a:tblGrid>
              <a:tr h="499123">
                <a:tc>
                  <a:txBody>
                    <a:bodyPr/>
                    <a:lstStyle/>
                    <a:p>
                      <a:pPr algn="ctr">
                        <a:defRPr sz="1800" b="1"/>
                      </a:pPr>
                      <a:r>
                        <a:rPr sz="2200"/>
                        <a:t>Category</a:t>
                      </a:r>
                    </a:p>
                  </a:txBody>
                  <a:tcPr marL="113437" marR="113437" marT="56718" marB="56718"/>
                </a:tc>
                <a:tc>
                  <a:txBody>
                    <a:bodyPr/>
                    <a:lstStyle/>
                    <a:p>
                      <a:pPr algn="ctr">
                        <a:defRPr sz="1800" b="1"/>
                      </a:pPr>
                      <a:r>
                        <a:rPr sz="2200"/>
                        <a:t>Description</a:t>
                      </a:r>
                    </a:p>
                  </a:txBody>
                  <a:tcPr marL="113437" marR="113437" marT="56718" marB="56718"/>
                </a:tc>
                <a:extLst>
                  <a:ext uri="{0D108BD9-81ED-4DB2-BD59-A6C34878D82A}">
                    <a16:rowId xmlns:a16="http://schemas.microsoft.com/office/drawing/2014/main" val="10000"/>
                  </a:ext>
                </a:extLst>
              </a:tr>
              <a:tr h="461311">
                <a:tc>
                  <a:txBody>
                    <a:bodyPr/>
                    <a:lstStyle/>
                    <a:p>
                      <a:pPr>
                        <a:defRPr sz="1600" b="1"/>
                      </a:pPr>
                      <a:r>
                        <a:rPr sz="2000"/>
                        <a:t>Source Dataset(s)</a:t>
                      </a:r>
                    </a:p>
                  </a:txBody>
                  <a:tcPr marL="113437" marR="113437" marT="56718" marB="56718"/>
                </a:tc>
                <a:tc>
                  <a:txBody>
                    <a:bodyPr/>
                    <a:lstStyle/>
                    <a:p>
                      <a:pPr>
                        <a:defRPr sz="1600"/>
                      </a:pPr>
                      <a:r>
                        <a:rPr sz="2000"/>
                        <a:t>ACLED, GDELT and ICEWS</a:t>
                      </a:r>
                    </a:p>
                  </a:txBody>
                  <a:tcPr marL="113437" marR="113437" marT="56718" marB="56718"/>
                </a:tc>
                <a:extLst>
                  <a:ext uri="{0D108BD9-81ED-4DB2-BD59-A6C34878D82A}">
                    <a16:rowId xmlns:a16="http://schemas.microsoft.com/office/drawing/2014/main" val="10001"/>
                  </a:ext>
                </a:extLst>
              </a:tr>
              <a:tr h="461311">
                <a:tc>
                  <a:txBody>
                    <a:bodyPr/>
                    <a:lstStyle/>
                    <a:p>
                      <a:pPr>
                        <a:defRPr sz="1600" b="1"/>
                      </a:pPr>
                      <a:r>
                        <a:rPr sz="2000"/>
                        <a:t>Raw Variables</a:t>
                      </a:r>
                    </a:p>
                  </a:txBody>
                  <a:tcPr marL="113437" marR="113437" marT="56718" marB="56718"/>
                </a:tc>
                <a:tc>
                  <a:txBody>
                    <a:bodyPr/>
                    <a:lstStyle/>
                    <a:p>
                      <a:pPr>
                        <a:defRPr sz="1600"/>
                      </a:pPr>
                      <a:r>
                        <a:rPr sz="2000"/>
                        <a:t>Event date, location, event type and event category</a:t>
                      </a:r>
                    </a:p>
                  </a:txBody>
                  <a:tcPr marL="113437" marR="113437" marT="56718" marB="56718"/>
                </a:tc>
                <a:extLst>
                  <a:ext uri="{0D108BD9-81ED-4DB2-BD59-A6C34878D82A}">
                    <a16:rowId xmlns:a16="http://schemas.microsoft.com/office/drawing/2014/main" val="10002"/>
                  </a:ext>
                </a:extLst>
              </a:tr>
              <a:tr h="763809">
                <a:tc>
                  <a:txBody>
                    <a:bodyPr/>
                    <a:lstStyle/>
                    <a:p>
                      <a:pPr>
                        <a:defRPr sz="1600" b="1"/>
                      </a:pPr>
                      <a:r>
                        <a:rPr sz="2000"/>
                        <a:t>Transformation Rule</a:t>
                      </a:r>
                    </a:p>
                  </a:txBody>
                  <a:tcPr marL="113437" marR="113437" marT="56718" marB="56718"/>
                </a:tc>
                <a:tc>
                  <a:txBody>
                    <a:bodyPr/>
                    <a:lstStyle/>
                    <a:p>
                      <a:pPr>
                        <a:defRPr sz="1600"/>
                      </a:pPr>
                      <a:r>
                        <a:rPr sz="2000"/>
                        <a:t>Spatial join to Admin 2 districts, aggregate by month and calculate total event counts and counts by category for each dataset.</a:t>
                      </a:r>
                    </a:p>
                  </a:txBody>
                  <a:tcPr marL="113437" marR="113437" marT="56718" marB="56718"/>
                </a:tc>
                <a:extLst>
                  <a:ext uri="{0D108BD9-81ED-4DB2-BD59-A6C34878D82A}">
                    <a16:rowId xmlns:a16="http://schemas.microsoft.com/office/drawing/2014/main" val="10003"/>
                  </a:ext>
                </a:extLst>
              </a:tr>
              <a:tr h="461311">
                <a:tc>
                  <a:txBody>
                    <a:bodyPr/>
                    <a:lstStyle/>
                    <a:p>
                      <a:pPr>
                        <a:defRPr sz="1600" b="1"/>
                      </a:pPr>
                      <a:r>
                        <a:rPr sz="2000"/>
                        <a:t>Engineered Features</a:t>
                      </a:r>
                    </a:p>
                  </a:txBody>
                  <a:tcPr marL="113437" marR="113437" marT="56718" marB="56718"/>
                </a:tc>
                <a:tc>
                  <a:txBody>
                    <a:bodyPr/>
                    <a:lstStyle/>
                    <a:p>
                      <a:pPr>
                        <a:defRPr sz="1600"/>
                      </a:pPr>
                      <a:r>
                        <a:rPr sz="2000"/>
                        <a:t>Event count; Event counts by category</a:t>
                      </a:r>
                    </a:p>
                  </a:txBody>
                  <a:tcPr marL="113437" marR="113437" marT="56718" marB="56718"/>
                </a:tc>
                <a:extLst>
                  <a:ext uri="{0D108BD9-81ED-4DB2-BD59-A6C34878D82A}">
                    <a16:rowId xmlns:a16="http://schemas.microsoft.com/office/drawing/2014/main" val="10004"/>
                  </a:ext>
                </a:extLst>
              </a:tr>
              <a:tr h="763809">
                <a:tc>
                  <a:txBody>
                    <a:bodyPr/>
                    <a:lstStyle/>
                    <a:p>
                      <a:pPr>
                        <a:defRPr sz="1600" b="1"/>
                      </a:pPr>
                      <a:r>
                        <a:rPr sz="2000"/>
                        <a:t>Expected Relevance</a:t>
                      </a:r>
                    </a:p>
                  </a:txBody>
                  <a:tcPr marL="113437" marR="113437" marT="56718" marB="56718"/>
                </a:tc>
                <a:tc>
                  <a:txBody>
                    <a:bodyPr/>
                    <a:lstStyle/>
                    <a:p>
                      <a:pPr>
                        <a:defRPr sz="1600"/>
                      </a:pPr>
                      <a:r>
                        <a:rPr sz="2000"/>
                        <a:t>Measures conflict intensity affecting agriculture, livelihoods, markets and humanitarian access.</a:t>
                      </a:r>
                    </a:p>
                  </a:txBody>
                  <a:tcPr marL="113437" marR="113437" marT="56718" marB="56718"/>
                </a:tc>
                <a:extLst>
                  <a:ext uri="{0D108BD9-81ED-4DB2-BD59-A6C34878D82A}">
                    <a16:rowId xmlns:a16="http://schemas.microsoft.com/office/drawing/2014/main" val="10005"/>
                  </a:ext>
                </a:extLst>
              </a:tr>
              <a:tr h="763809">
                <a:tc>
                  <a:txBody>
                    <a:bodyPr/>
                    <a:lstStyle/>
                    <a:p>
                      <a:pPr>
                        <a:defRPr sz="1600" b="1"/>
                      </a:pPr>
                      <a:r>
                        <a:rPr sz="2000"/>
                        <a:t>Known Limitations</a:t>
                      </a:r>
                    </a:p>
                  </a:txBody>
                  <a:tcPr marL="113437" marR="113437" marT="56718" marB="56718"/>
                </a:tc>
                <a:tc>
                  <a:txBody>
                    <a:bodyPr/>
                    <a:lstStyle/>
                    <a:p>
                      <a:pPr>
                        <a:defRPr sz="1600"/>
                      </a:pPr>
                      <a:r>
                        <a:rPr sz="2000" dirty="0"/>
                        <a:t>Reporting bias,</a:t>
                      </a:r>
                      <a:r>
                        <a:rPr lang="en-US" sz="2000" dirty="0"/>
                        <a:t> difference in news coverage,</a:t>
                      </a:r>
                      <a:r>
                        <a:rPr sz="2000" dirty="0"/>
                        <a:t> different event taxonomies and varying geolocation accuracy.</a:t>
                      </a:r>
                    </a:p>
                  </a:txBody>
                  <a:tcPr marL="113437" marR="113437" marT="56718" marB="56718"/>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a:defRPr sz="2800"/>
            </a:pPr>
            <a:r>
              <a:rPr lang="en-US" sz="4000" kern="1200">
                <a:solidFill>
                  <a:srgbClr val="FFFFFF"/>
                </a:solidFill>
                <a:latin typeface="+mj-lt"/>
                <a:ea typeface="+mj-ea"/>
                <a:cs typeface="+mj-cs"/>
              </a:rPr>
              <a:t>Climate and Agricultural Stress</a:t>
            </a:r>
          </a:p>
        </p:txBody>
      </p:sp>
      <p:graphicFrame>
        <p:nvGraphicFramePr>
          <p:cNvPr id="3" name="Table 2"/>
          <p:cNvGraphicFramePr>
            <a:graphicFrameLocks noGrp="1"/>
          </p:cNvGraphicFramePr>
          <p:nvPr>
            <p:extLst>
              <p:ext uri="{D42A27DB-BD31-4B8C-83A1-F6EECF244321}">
                <p14:modId xmlns:p14="http://schemas.microsoft.com/office/powerpoint/2010/main" val="1887591438"/>
              </p:ext>
            </p:extLst>
          </p:nvPr>
        </p:nvGraphicFramePr>
        <p:xfrm>
          <a:off x="507065" y="1966293"/>
          <a:ext cx="11177870" cy="4718648"/>
        </p:xfrm>
        <a:graphic>
          <a:graphicData uri="http://schemas.openxmlformats.org/drawingml/2006/table">
            <a:tbl>
              <a:tblPr firstRow="1" bandRow="1">
                <a:tableStyleId>{5C22544A-7EE6-4342-B048-85BDC9FD1C3A}</a:tableStyleId>
              </a:tblPr>
              <a:tblGrid>
                <a:gridCol w="3065314">
                  <a:extLst>
                    <a:ext uri="{9D8B030D-6E8A-4147-A177-3AD203B41FA5}">
                      <a16:colId xmlns:a16="http://schemas.microsoft.com/office/drawing/2014/main" val="20000"/>
                    </a:ext>
                  </a:extLst>
                </a:gridCol>
                <a:gridCol w="8112556">
                  <a:extLst>
                    <a:ext uri="{9D8B030D-6E8A-4147-A177-3AD203B41FA5}">
                      <a16:colId xmlns:a16="http://schemas.microsoft.com/office/drawing/2014/main" val="20001"/>
                    </a:ext>
                  </a:extLst>
                </a:gridCol>
              </a:tblGrid>
              <a:tr h="532324">
                <a:tc>
                  <a:txBody>
                    <a:bodyPr/>
                    <a:lstStyle/>
                    <a:p>
                      <a:pPr algn="ctr">
                        <a:defRPr sz="1800" b="1"/>
                      </a:pPr>
                      <a:r>
                        <a:rPr sz="2400"/>
                        <a:t>Category</a:t>
                      </a:r>
                    </a:p>
                  </a:txBody>
                  <a:tcPr marL="120983" marR="120983" marT="60491" marB="60491"/>
                </a:tc>
                <a:tc>
                  <a:txBody>
                    <a:bodyPr/>
                    <a:lstStyle/>
                    <a:p>
                      <a:pPr algn="ctr">
                        <a:defRPr sz="1800" b="1"/>
                      </a:pPr>
                      <a:r>
                        <a:rPr sz="2400"/>
                        <a:t>Description</a:t>
                      </a:r>
                    </a:p>
                  </a:txBody>
                  <a:tcPr marL="120983" marR="120983" marT="60491" marB="60491"/>
                </a:tc>
                <a:extLst>
                  <a:ext uri="{0D108BD9-81ED-4DB2-BD59-A6C34878D82A}">
                    <a16:rowId xmlns:a16="http://schemas.microsoft.com/office/drawing/2014/main" val="10000"/>
                  </a:ext>
                </a:extLst>
              </a:tr>
              <a:tr h="491996">
                <a:tc>
                  <a:txBody>
                    <a:bodyPr/>
                    <a:lstStyle/>
                    <a:p>
                      <a:pPr>
                        <a:defRPr sz="1600" b="1"/>
                      </a:pPr>
                      <a:r>
                        <a:rPr sz="2100"/>
                        <a:t>Source Dataset(s)</a:t>
                      </a:r>
                    </a:p>
                  </a:txBody>
                  <a:tcPr marL="120983" marR="120983" marT="60491" marB="60491"/>
                </a:tc>
                <a:tc>
                  <a:txBody>
                    <a:bodyPr/>
                    <a:lstStyle/>
                    <a:p>
                      <a:pPr>
                        <a:defRPr sz="1600"/>
                      </a:pPr>
                      <a:r>
                        <a:rPr sz="2100"/>
                        <a:t>CHIRPS</a:t>
                      </a:r>
                    </a:p>
                  </a:txBody>
                  <a:tcPr marL="120983" marR="120983" marT="60491" marB="60491"/>
                </a:tc>
                <a:extLst>
                  <a:ext uri="{0D108BD9-81ED-4DB2-BD59-A6C34878D82A}">
                    <a16:rowId xmlns:a16="http://schemas.microsoft.com/office/drawing/2014/main" val="10001"/>
                  </a:ext>
                </a:extLst>
              </a:tr>
              <a:tr h="491996">
                <a:tc>
                  <a:txBody>
                    <a:bodyPr/>
                    <a:lstStyle/>
                    <a:p>
                      <a:pPr>
                        <a:defRPr sz="1600" b="1"/>
                      </a:pPr>
                      <a:r>
                        <a:rPr sz="2100"/>
                        <a:t>Raw Variables</a:t>
                      </a:r>
                    </a:p>
                  </a:txBody>
                  <a:tcPr marL="120983" marR="120983" marT="60491" marB="60491"/>
                </a:tc>
                <a:tc>
                  <a:txBody>
                    <a:bodyPr/>
                    <a:lstStyle/>
                    <a:p>
                      <a:pPr>
                        <a:defRPr sz="1600"/>
                      </a:pPr>
                      <a:r>
                        <a:rPr sz="2100"/>
                        <a:t>Monthly rainfall (mm)</a:t>
                      </a:r>
                    </a:p>
                  </a:txBody>
                  <a:tcPr marL="120983" marR="120983" marT="60491" marB="60491"/>
                </a:tc>
                <a:extLst>
                  <a:ext uri="{0D108BD9-81ED-4DB2-BD59-A6C34878D82A}">
                    <a16:rowId xmlns:a16="http://schemas.microsoft.com/office/drawing/2014/main" val="10002"/>
                  </a:ext>
                </a:extLst>
              </a:tr>
              <a:tr h="814617">
                <a:tc>
                  <a:txBody>
                    <a:bodyPr/>
                    <a:lstStyle/>
                    <a:p>
                      <a:pPr>
                        <a:defRPr sz="1600" b="1"/>
                      </a:pPr>
                      <a:r>
                        <a:rPr sz="2100"/>
                        <a:t>Transformation Rule</a:t>
                      </a:r>
                    </a:p>
                  </a:txBody>
                  <a:tcPr marL="120983" marR="120983" marT="60491" marB="60491"/>
                </a:tc>
                <a:tc>
                  <a:txBody>
                    <a:bodyPr/>
                    <a:lstStyle/>
                    <a:p>
                      <a:pPr>
                        <a:defRPr sz="1600"/>
                      </a:pPr>
                      <a:r>
                        <a:rPr sz="2100"/>
                        <a:t>Calculate mean rainfall for each Admin 2 district using zonal statistics.</a:t>
                      </a:r>
                    </a:p>
                  </a:txBody>
                  <a:tcPr marL="120983" marR="120983" marT="60491" marB="60491"/>
                </a:tc>
                <a:extLst>
                  <a:ext uri="{0D108BD9-81ED-4DB2-BD59-A6C34878D82A}">
                    <a16:rowId xmlns:a16="http://schemas.microsoft.com/office/drawing/2014/main" val="10003"/>
                  </a:ext>
                </a:extLst>
              </a:tr>
              <a:tr h="491996">
                <a:tc>
                  <a:txBody>
                    <a:bodyPr/>
                    <a:lstStyle/>
                    <a:p>
                      <a:pPr>
                        <a:defRPr sz="1600" b="1"/>
                      </a:pPr>
                      <a:r>
                        <a:rPr sz="2100"/>
                        <a:t>Engineered Features</a:t>
                      </a:r>
                    </a:p>
                  </a:txBody>
                  <a:tcPr marL="120983" marR="120983" marT="60491" marB="60491"/>
                </a:tc>
                <a:tc>
                  <a:txBody>
                    <a:bodyPr/>
                    <a:lstStyle/>
                    <a:p>
                      <a:pPr>
                        <a:defRPr sz="1600"/>
                      </a:pPr>
                      <a:r>
                        <a:rPr sz="2100"/>
                        <a:t>Mean monthly rainfall</a:t>
                      </a:r>
                    </a:p>
                  </a:txBody>
                  <a:tcPr marL="120983" marR="120983" marT="60491" marB="60491"/>
                </a:tc>
                <a:extLst>
                  <a:ext uri="{0D108BD9-81ED-4DB2-BD59-A6C34878D82A}">
                    <a16:rowId xmlns:a16="http://schemas.microsoft.com/office/drawing/2014/main" val="10004"/>
                  </a:ext>
                </a:extLst>
              </a:tr>
              <a:tr h="814617">
                <a:tc>
                  <a:txBody>
                    <a:bodyPr/>
                    <a:lstStyle/>
                    <a:p>
                      <a:pPr>
                        <a:defRPr sz="1600" b="1"/>
                      </a:pPr>
                      <a:r>
                        <a:rPr sz="2100"/>
                        <a:t>Expected Relevance</a:t>
                      </a:r>
                    </a:p>
                  </a:txBody>
                  <a:tcPr marL="120983" marR="120983" marT="60491" marB="60491"/>
                </a:tc>
                <a:tc>
                  <a:txBody>
                    <a:bodyPr/>
                    <a:lstStyle/>
                    <a:p>
                      <a:pPr>
                        <a:defRPr sz="1600"/>
                      </a:pPr>
                      <a:r>
                        <a:rPr sz="2100"/>
                        <a:t>Represents environmental conditions influencing crop production and water availability.</a:t>
                      </a:r>
                    </a:p>
                  </a:txBody>
                  <a:tcPr marL="120983" marR="120983" marT="60491" marB="60491"/>
                </a:tc>
                <a:extLst>
                  <a:ext uri="{0D108BD9-81ED-4DB2-BD59-A6C34878D82A}">
                    <a16:rowId xmlns:a16="http://schemas.microsoft.com/office/drawing/2014/main" val="10005"/>
                  </a:ext>
                </a:extLst>
              </a:tr>
              <a:tr h="814617">
                <a:tc>
                  <a:txBody>
                    <a:bodyPr/>
                    <a:lstStyle/>
                    <a:p>
                      <a:pPr>
                        <a:defRPr sz="1600" b="1"/>
                      </a:pPr>
                      <a:r>
                        <a:rPr sz="2100"/>
                        <a:t>Known Limitations</a:t>
                      </a:r>
                    </a:p>
                  </a:txBody>
                  <a:tcPr marL="120983" marR="120983" marT="60491" marB="60491"/>
                </a:tc>
                <a:tc>
                  <a:txBody>
                    <a:bodyPr/>
                    <a:lstStyle/>
                    <a:p>
                      <a:pPr>
                        <a:defRPr sz="1600"/>
                      </a:pPr>
                      <a:r>
                        <a:rPr sz="2100" dirty="0"/>
                        <a:t>Rainfall alone does not capture </a:t>
                      </a:r>
                      <a:r>
                        <a:rPr lang="en-US" sz="2100" dirty="0"/>
                        <a:t>complete agricultural conditions, as this might also be influenced by factors such as soil characteristics, irrigation practices and farming techniques.</a:t>
                      </a:r>
                      <a:endParaRPr sz="2100" dirty="0"/>
                    </a:p>
                  </a:txBody>
                  <a:tcPr marL="120983" marR="120983" marT="60491" marB="60491"/>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a:defRPr sz="2800"/>
            </a:pPr>
            <a:r>
              <a:rPr lang="en-US" sz="4000" kern="1200">
                <a:solidFill>
                  <a:srgbClr val="FFFFFF"/>
                </a:solidFill>
                <a:latin typeface="+mj-lt"/>
                <a:ea typeface="+mj-ea"/>
                <a:cs typeface="+mj-cs"/>
              </a:rPr>
              <a:t>Market and Food Price Pressure</a:t>
            </a:r>
          </a:p>
        </p:txBody>
      </p:sp>
      <p:graphicFrame>
        <p:nvGraphicFramePr>
          <p:cNvPr id="3" name="Table 2"/>
          <p:cNvGraphicFramePr>
            <a:graphicFrameLocks noGrp="1"/>
          </p:cNvGraphicFramePr>
          <p:nvPr>
            <p:extLst>
              <p:ext uri="{D42A27DB-BD31-4B8C-83A1-F6EECF244321}">
                <p14:modId xmlns:p14="http://schemas.microsoft.com/office/powerpoint/2010/main" val="2191936469"/>
              </p:ext>
            </p:extLst>
          </p:nvPr>
        </p:nvGraphicFramePr>
        <p:xfrm>
          <a:off x="432225" y="2107421"/>
          <a:ext cx="11327550" cy="4169904"/>
        </p:xfrm>
        <a:graphic>
          <a:graphicData uri="http://schemas.openxmlformats.org/drawingml/2006/table">
            <a:tbl>
              <a:tblPr firstRow="1" bandRow="1">
                <a:tableStyleId>{5C22544A-7EE6-4342-B048-85BDC9FD1C3A}</a:tableStyleId>
              </a:tblPr>
              <a:tblGrid>
                <a:gridCol w="3134039">
                  <a:extLst>
                    <a:ext uri="{9D8B030D-6E8A-4147-A177-3AD203B41FA5}">
                      <a16:colId xmlns:a16="http://schemas.microsoft.com/office/drawing/2014/main" val="20000"/>
                    </a:ext>
                  </a:extLst>
                </a:gridCol>
                <a:gridCol w="8193511">
                  <a:extLst>
                    <a:ext uri="{9D8B030D-6E8A-4147-A177-3AD203B41FA5}">
                      <a16:colId xmlns:a16="http://schemas.microsoft.com/office/drawing/2014/main" val="20001"/>
                    </a:ext>
                  </a:extLst>
                </a:gridCol>
              </a:tblGrid>
              <a:tr h="526032">
                <a:tc>
                  <a:txBody>
                    <a:bodyPr/>
                    <a:lstStyle/>
                    <a:p>
                      <a:pPr algn="ctr">
                        <a:defRPr sz="1800" b="1"/>
                      </a:pPr>
                      <a:r>
                        <a:rPr sz="2400"/>
                        <a:t>Category</a:t>
                      </a:r>
                    </a:p>
                  </a:txBody>
                  <a:tcPr marL="123695" marR="123695" marT="61848" marB="61848"/>
                </a:tc>
                <a:tc>
                  <a:txBody>
                    <a:bodyPr/>
                    <a:lstStyle/>
                    <a:p>
                      <a:pPr algn="ctr">
                        <a:defRPr sz="1800" b="1"/>
                      </a:pPr>
                      <a:r>
                        <a:rPr sz="2400"/>
                        <a:t>Description</a:t>
                      </a:r>
                    </a:p>
                  </a:txBody>
                  <a:tcPr marL="123695" marR="123695" marT="61848" marB="61848"/>
                </a:tc>
                <a:extLst>
                  <a:ext uri="{0D108BD9-81ED-4DB2-BD59-A6C34878D82A}">
                    <a16:rowId xmlns:a16="http://schemas.microsoft.com/office/drawing/2014/main" val="10000"/>
                  </a:ext>
                </a:extLst>
              </a:tr>
              <a:tr h="495552">
                <a:tc>
                  <a:txBody>
                    <a:bodyPr/>
                    <a:lstStyle/>
                    <a:p>
                      <a:pPr>
                        <a:defRPr sz="1600" b="1"/>
                      </a:pPr>
                      <a:r>
                        <a:rPr sz="2200"/>
                        <a:t>Source Dataset(s)</a:t>
                      </a:r>
                    </a:p>
                  </a:txBody>
                  <a:tcPr marL="123695" marR="123695" marT="61848" marB="61848"/>
                </a:tc>
                <a:tc>
                  <a:txBody>
                    <a:bodyPr/>
                    <a:lstStyle/>
                    <a:p>
                      <a:pPr>
                        <a:defRPr sz="1600"/>
                      </a:pPr>
                      <a:r>
                        <a:rPr sz="2200"/>
                        <a:t>WFP Food Prices</a:t>
                      </a:r>
                    </a:p>
                  </a:txBody>
                  <a:tcPr marL="123695" marR="123695" marT="61848" marB="61848"/>
                </a:tc>
                <a:extLst>
                  <a:ext uri="{0D108BD9-81ED-4DB2-BD59-A6C34878D82A}">
                    <a16:rowId xmlns:a16="http://schemas.microsoft.com/office/drawing/2014/main" val="10001"/>
                  </a:ext>
                </a:extLst>
              </a:tr>
              <a:tr h="495552">
                <a:tc>
                  <a:txBody>
                    <a:bodyPr/>
                    <a:lstStyle/>
                    <a:p>
                      <a:pPr>
                        <a:defRPr sz="1600" b="1"/>
                      </a:pPr>
                      <a:r>
                        <a:rPr sz="2200"/>
                        <a:t>Raw Variables</a:t>
                      </a:r>
                    </a:p>
                  </a:txBody>
                  <a:tcPr marL="123695" marR="123695" marT="61848" marB="61848"/>
                </a:tc>
                <a:tc>
                  <a:txBody>
                    <a:bodyPr/>
                    <a:lstStyle/>
                    <a:p>
                      <a:pPr>
                        <a:defRPr sz="1600"/>
                      </a:pPr>
                      <a:r>
                        <a:rPr sz="2200"/>
                        <a:t>Commodity, market, observation date, price and unit</a:t>
                      </a:r>
                    </a:p>
                  </a:txBody>
                  <a:tcPr marL="123695" marR="123695" marT="61848" marB="61848"/>
                </a:tc>
                <a:extLst>
                  <a:ext uri="{0D108BD9-81ED-4DB2-BD59-A6C34878D82A}">
                    <a16:rowId xmlns:a16="http://schemas.microsoft.com/office/drawing/2014/main" val="10002"/>
                  </a:ext>
                </a:extLst>
              </a:tr>
              <a:tr h="830832">
                <a:tc>
                  <a:txBody>
                    <a:bodyPr/>
                    <a:lstStyle/>
                    <a:p>
                      <a:pPr>
                        <a:defRPr sz="1600" b="1"/>
                      </a:pPr>
                      <a:r>
                        <a:rPr sz="2200"/>
                        <a:t>Transformation Rule</a:t>
                      </a:r>
                    </a:p>
                  </a:txBody>
                  <a:tcPr marL="123695" marR="123695" marT="61848" marB="61848"/>
                </a:tc>
                <a:tc>
                  <a:txBody>
                    <a:bodyPr/>
                    <a:lstStyle/>
                    <a:p>
                      <a:pPr>
                        <a:defRPr sz="1600"/>
                      </a:pPr>
                      <a:r>
                        <a:rPr sz="2200"/>
                        <a:t>Assign markets to Admin 2, aggregate monthly and calculate commodity price changes or a food basket index.</a:t>
                      </a:r>
                    </a:p>
                  </a:txBody>
                  <a:tcPr marL="123695" marR="123695" marT="61848" marB="61848"/>
                </a:tc>
                <a:extLst>
                  <a:ext uri="{0D108BD9-81ED-4DB2-BD59-A6C34878D82A}">
                    <a16:rowId xmlns:a16="http://schemas.microsoft.com/office/drawing/2014/main" val="10003"/>
                  </a:ext>
                </a:extLst>
              </a:tr>
              <a:tr h="495552">
                <a:tc>
                  <a:txBody>
                    <a:bodyPr/>
                    <a:lstStyle/>
                    <a:p>
                      <a:pPr>
                        <a:defRPr sz="1600" b="1"/>
                      </a:pPr>
                      <a:r>
                        <a:rPr sz="2200"/>
                        <a:t>Engineered Features</a:t>
                      </a:r>
                    </a:p>
                  </a:txBody>
                  <a:tcPr marL="123695" marR="123695" marT="61848" marB="61848"/>
                </a:tc>
                <a:tc>
                  <a:txBody>
                    <a:bodyPr/>
                    <a:lstStyle/>
                    <a:p>
                      <a:pPr>
                        <a:defRPr sz="1600"/>
                      </a:pPr>
                      <a:r>
                        <a:rPr sz="2200"/>
                        <a:t>Commodity monthly price changes OR Food Basket Price Index</a:t>
                      </a:r>
                    </a:p>
                  </a:txBody>
                  <a:tcPr marL="123695" marR="123695" marT="61848" marB="61848"/>
                </a:tc>
                <a:extLst>
                  <a:ext uri="{0D108BD9-81ED-4DB2-BD59-A6C34878D82A}">
                    <a16:rowId xmlns:a16="http://schemas.microsoft.com/office/drawing/2014/main" val="10004"/>
                  </a:ext>
                </a:extLst>
              </a:tr>
              <a:tr h="495552">
                <a:tc>
                  <a:txBody>
                    <a:bodyPr/>
                    <a:lstStyle/>
                    <a:p>
                      <a:pPr>
                        <a:defRPr sz="1600" b="1"/>
                      </a:pPr>
                      <a:r>
                        <a:rPr sz="2200"/>
                        <a:t>Expected Relevance</a:t>
                      </a:r>
                    </a:p>
                  </a:txBody>
                  <a:tcPr marL="123695" marR="123695" marT="61848" marB="61848"/>
                </a:tc>
                <a:tc>
                  <a:txBody>
                    <a:bodyPr/>
                    <a:lstStyle/>
                    <a:p>
                      <a:pPr>
                        <a:defRPr sz="1600"/>
                      </a:pPr>
                      <a:r>
                        <a:rPr sz="2200"/>
                        <a:t>Measures food affordability and local market pressure.</a:t>
                      </a:r>
                    </a:p>
                  </a:txBody>
                  <a:tcPr marL="123695" marR="123695" marT="61848" marB="61848"/>
                </a:tc>
                <a:extLst>
                  <a:ext uri="{0D108BD9-81ED-4DB2-BD59-A6C34878D82A}">
                    <a16:rowId xmlns:a16="http://schemas.microsoft.com/office/drawing/2014/main" val="10005"/>
                  </a:ext>
                </a:extLst>
              </a:tr>
              <a:tr h="830832">
                <a:tc>
                  <a:txBody>
                    <a:bodyPr/>
                    <a:lstStyle/>
                    <a:p>
                      <a:pPr>
                        <a:defRPr sz="1600" b="1"/>
                      </a:pPr>
                      <a:r>
                        <a:rPr sz="2200"/>
                        <a:t>Known Limitations</a:t>
                      </a:r>
                    </a:p>
                  </a:txBody>
                  <a:tcPr marL="123695" marR="123695" marT="61848" marB="61848"/>
                </a:tc>
                <a:tc>
                  <a:txBody>
                    <a:bodyPr/>
                    <a:lstStyle/>
                    <a:p>
                      <a:pPr>
                        <a:defRPr sz="1600"/>
                      </a:pPr>
                      <a:r>
                        <a:rPr sz="2200"/>
                        <a:t>Market coverage varies by country; basket index may introduce weighting bias.</a:t>
                      </a:r>
                    </a:p>
                  </a:txBody>
                  <a:tcPr marL="123695" marR="123695" marT="61848" marB="61848"/>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a:defRPr sz="2800"/>
            </a:pPr>
            <a:r>
              <a:rPr lang="en-US" sz="4000" kern="1200">
                <a:solidFill>
                  <a:srgbClr val="FFFFFF"/>
                </a:solidFill>
                <a:latin typeface="+mj-lt"/>
                <a:ea typeface="+mj-ea"/>
                <a:cs typeface="+mj-cs"/>
              </a:rPr>
              <a:t>Economic Conditions</a:t>
            </a:r>
          </a:p>
        </p:txBody>
      </p:sp>
      <p:graphicFrame>
        <p:nvGraphicFramePr>
          <p:cNvPr id="3" name="Table 2"/>
          <p:cNvGraphicFramePr>
            <a:graphicFrameLocks noGrp="1"/>
          </p:cNvGraphicFramePr>
          <p:nvPr>
            <p:extLst>
              <p:ext uri="{D42A27DB-BD31-4B8C-83A1-F6EECF244321}">
                <p14:modId xmlns:p14="http://schemas.microsoft.com/office/powerpoint/2010/main" val="1567958764"/>
              </p:ext>
            </p:extLst>
          </p:nvPr>
        </p:nvGraphicFramePr>
        <p:xfrm>
          <a:off x="432225" y="2340669"/>
          <a:ext cx="11327550" cy="3982567"/>
        </p:xfrm>
        <a:graphic>
          <a:graphicData uri="http://schemas.openxmlformats.org/drawingml/2006/table">
            <a:tbl>
              <a:tblPr firstRow="1" bandRow="1">
                <a:tableStyleId>{5C22544A-7EE6-4342-B048-85BDC9FD1C3A}</a:tableStyleId>
              </a:tblPr>
              <a:tblGrid>
                <a:gridCol w="2981967">
                  <a:extLst>
                    <a:ext uri="{9D8B030D-6E8A-4147-A177-3AD203B41FA5}">
                      <a16:colId xmlns:a16="http://schemas.microsoft.com/office/drawing/2014/main" val="20000"/>
                    </a:ext>
                  </a:extLst>
                </a:gridCol>
                <a:gridCol w="8345583">
                  <a:extLst>
                    <a:ext uri="{9D8B030D-6E8A-4147-A177-3AD203B41FA5}">
                      <a16:colId xmlns:a16="http://schemas.microsoft.com/office/drawing/2014/main" val="20001"/>
                    </a:ext>
                  </a:extLst>
                </a:gridCol>
              </a:tblGrid>
              <a:tr h="517850">
                <a:tc>
                  <a:txBody>
                    <a:bodyPr/>
                    <a:lstStyle/>
                    <a:p>
                      <a:pPr algn="ctr">
                        <a:defRPr sz="1800" b="1"/>
                      </a:pPr>
                      <a:r>
                        <a:rPr sz="2300"/>
                        <a:t>Category</a:t>
                      </a:r>
                    </a:p>
                  </a:txBody>
                  <a:tcPr marL="117693" marR="117693" marT="58847" marB="58847"/>
                </a:tc>
                <a:tc>
                  <a:txBody>
                    <a:bodyPr/>
                    <a:lstStyle/>
                    <a:p>
                      <a:pPr algn="ctr">
                        <a:defRPr sz="1800" b="1"/>
                      </a:pPr>
                      <a:r>
                        <a:rPr sz="2300"/>
                        <a:t>Description</a:t>
                      </a:r>
                    </a:p>
                  </a:txBody>
                  <a:tcPr marL="117693" marR="117693" marT="58847" marB="58847"/>
                </a:tc>
                <a:extLst>
                  <a:ext uri="{0D108BD9-81ED-4DB2-BD59-A6C34878D82A}">
                    <a16:rowId xmlns:a16="http://schemas.microsoft.com/office/drawing/2014/main" val="10000"/>
                  </a:ext>
                </a:extLst>
              </a:tr>
              <a:tr h="478619">
                <a:tc>
                  <a:txBody>
                    <a:bodyPr/>
                    <a:lstStyle/>
                    <a:p>
                      <a:pPr>
                        <a:defRPr sz="1600" b="1"/>
                      </a:pPr>
                      <a:r>
                        <a:rPr sz="2100"/>
                        <a:t>Source Dataset(s)</a:t>
                      </a:r>
                    </a:p>
                  </a:txBody>
                  <a:tcPr marL="117693" marR="117693" marT="58847" marB="58847"/>
                </a:tc>
                <a:tc>
                  <a:txBody>
                    <a:bodyPr/>
                    <a:lstStyle/>
                    <a:p>
                      <a:pPr>
                        <a:defRPr sz="1600"/>
                      </a:pPr>
                      <a:r>
                        <a:rPr sz="2100"/>
                        <a:t>World Bank GEM / IMF (proposed)</a:t>
                      </a:r>
                    </a:p>
                  </a:txBody>
                  <a:tcPr marL="117693" marR="117693" marT="58847" marB="58847"/>
                </a:tc>
                <a:extLst>
                  <a:ext uri="{0D108BD9-81ED-4DB2-BD59-A6C34878D82A}">
                    <a16:rowId xmlns:a16="http://schemas.microsoft.com/office/drawing/2014/main" val="10001"/>
                  </a:ext>
                </a:extLst>
              </a:tr>
              <a:tr h="478619">
                <a:tc>
                  <a:txBody>
                    <a:bodyPr/>
                    <a:lstStyle/>
                    <a:p>
                      <a:pPr>
                        <a:defRPr sz="1600" b="1"/>
                      </a:pPr>
                      <a:r>
                        <a:rPr sz="2100"/>
                        <a:t>Raw Variables</a:t>
                      </a:r>
                    </a:p>
                  </a:txBody>
                  <a:tcPr marL="117693" marR="117693" marT="58847" marB="58847"/>
                </a:tc>
                <a:tc>
                  <a:txBody>
                    <a:bodyPr/>
                    <a:lstStyle/>
                    <a:p>
                      <a:pPr>
                        <a:defRPr sz="1600"/>
                      </a:pPr>
                      <a:r>
                        <a:rPr sz="2100"/>
                        <a:t>Consumer Price Index (CPI) and Inflation Rate</a:t>
                      </a:r>
                    </a:p>
                  </a:txBody>
                  <a:tcPr marL="117693" marR="117693" marT="58847" marB="58847"/>
                </a:tc>
                <a:extLst>
                  <a:ext uri="{0D108BD9-81ED-4DB2-BD59-A6C34878D82A}">
                    <a16:rowId xmlns:a16="http://schemas.microsoft.com/office/drawing/2014/main" val="10002"/>
                  </a:ext>
                </a:extLst>
              </a:tr>
              <a:tr h="792467">
                <a:tc>
                  <a:txBody>
                    <a:bodyPr/>
                    <a:lstStyle/>
                    <a:p>
                      <a:pPr>
                        <a:defRPr sz="1600" b="1"/>
                      </a:pPr>
                      <a:r>
                        <a:rPr sz="2100"/>
                        <a:t>Transformation Rule</a:t>
                      </a:r>
                    </a:p>
                  </a:txBody>
                  <a:tcPr marL="117693" marR="117693" marT="58847" marB="58847"/>
                </a:tc>
                <a:tc>
                  <a:txBody>
                    <a:bodyPr/>
                    <a:lstStyle/>
                    <a:p>
                      <a:pPr>
                        <a:defRPr sz="1600"/>
                      </a:pPr>
                      <a:r>
                        <a:rPr sz="2100"/>
                        <a:t>Extract monthly national indicators, calculate monthly changes and assign them to all districts within each country.</a:t>
                      </a:r>
                    </a:p>
                  </a:txBody>
                  <a:tcPr marL="117693" marR="117693" marT="58847" marB="58847"/>
                </a:tc>
                <a:extLst>
                  <a:ext uri="{0D108BD9-81ED-4DB2-BD59-A6C34878D82A}">
                    <a16:rowId xmlns:a16="http://schemas.microsoft.com/office/drawing/2014/main" val="10003"/>
                  </a:ext>
                </a:extLst>
              </a:tr>
              <a:tr h="478619">
                <a:tc>
                  <a:txBody>
                    <a:bodyPr/>
                    <a:lstStyle/>
                    <a:p>
                      <a:pPr>
                        <a:defRPr sz="1600" b="1"/>
                      </a:pPr>
                      <a:r>
                        <a:rPr sz="2100"/>
                        <a:t>Engineered Features</a:t>
                      </a:r>
                    </a:p>
                  </a:txBody>
                  <a:tcPr marL="117693" marR="117693" marT="58847" marB="58847"/>
                </a:tc>
                <a:tc>
                  <a:txBody>
                    <a:bodyPr/>
                    <a:lstStyle/>
                    <a:p>
                      <a:pPr>
                        <a:defRPr sz="1600"/>
                      </a:pPr>
                      <a:r>
                        <a:rPr sz="2100"/>
                        <a:t>Monthly % change in CPI; Monthly Inflation Rate</a:t>
                      </a:r>
                    </a:p>
                  </a:txBody>
                  <a:tcPr marL="117693" marR="117693" marT="58847" marB="58847"/>
                </a:tc>
                <a:extLst>
                  <a:ext uri="{0D108BD9-81ED-4DB2-BD59-A6C34878D82A}">
                    <a16:rowId xmlns:a16="http://schemas.microsoft.com/office/drawing/2014/main" val="10004"/>
                  </a:ext>
                </a:extLst>
              </a:tr>
              <a:tr h="478619">
                <a:tc>
                  <a:txBody>
                    <a:bodyPr/>
                    <a:lstStyle/>
                    <a:p>
                      <a:pPr>
                        <a:defRPr sz="1600" b="1"/>
                      </a:pPr>
                      <a:r>
                        <a:rPr sz="2100"/>
                        <a:t>Expected Relevance</a:t>
                      </a:r>
                    </a:p>
                  </a:txBody>
                  <a:tcPr marL="117693" marR="117693" marT="58847" marB="58847"/>
                </a:tc>
                <a:tc>
                  <a:txBody>
                    <a:bodyPr/>
                    <a:lstStyle/>
                    <a:p>
                      <a:pPr>
                        <a:defRPr sz="1600"/>
                      </a:pPr>
                      <a:r>
                        <a:rPr sz="2100"/>
                        <a:t>Captures changes in purchasing power and the wider economy.</a:t>
                      </a:r>
                    </a:p>
                  </a:txBody>
                  <a:tcPr marL="117693" marR="117693" marT="58847" marB="58847"/>
                </a:tc>
                <a:extLst>
                  <a:ext uri="{0D108BD9-81ED-4DB2-BD59-A6C34878D82A}">
                    <a16:rowId xmlns:a16="http://schemas.microsoft.com/office/drawing/2014/main" val="10005"/>
                  </a:ext>
                </a:extLst>
              </a:tr>
              <a:tr h="478619">
                <a:tc>
                  <a:txBody>
                    <a:bodyPr/>
                    <a:lstStyle/>
                    <a:p>
                      <a:pPr>
                        <a:defRPr sz="1600" b="1"/>
                      </a:pPr>
                      <a:r>
                        <a:rPr sz="2100"/>
                        <a:t>Known Limitations</a:t>
                      </a:r>
                    </a:p>
                  </a:txBody>
                  <a:tcPr marL="117693" marR="117693" marT="58847" marB="58847"/>
                </a:tc>
                <a:tc>
                  <a:txBody>
                    <a:bodyPr/>
                    <a:lstStyle/>
                    <a:p>
                      <a:pPr>
                        <a:defRPr sz="1600"/>
                      </a:pPr>
                      <a:r>
                        <a:rPr lang="en-US" sz="2100" dirty="0"/>
                        <a:t>The proposed variables are reported at the national level and therefore do not capture economic variation between administrative regions.</a:t>
                      </a:r>
                      <a:endParaRPr sz="2100" dirty="0"/>
                    </a:p>
                  </a:txBody>
                  <a:tcPr marL="117693" marR="117693" marT="58847" marB="58847"/>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a:defRPr sz="2800"/>
            </a:pPr>
            <a:r>
              <a:rPr lang="en-US" sz="3700" kern="1200">
                <a:solidFill>
                  <a:srgbClr val="FFFFFF"/>
                </a:solidFill>
                <a:latin typeface="+mj-lt"/>
                <a:ea typeface="+mj-ea"/>
                <a:cs typeface="+mj-cs"/>
              </a:rPr>
              <a:t>Humanitarian Access and Response</a:t>
            </a:r>
          </a:p>
        </p:txBody>
      </p:sp>
      <p:graphicFrame>
        <p:nvGraphicFramePr>
          <p:cNvPr id="3" name="Table 2"/>
          <p:cNvGraphicFramePr>
            <a:graphicFrameLocks noGrp="1"/>
          </p:cNvGraphicFramePr>
          <p:nvPr>
            <p:extLst>
              <p:ext uri="{D42A27DB-BD31-4B8C-83A1-F6EECF244321}">
                <p14:modId xmlns:p14="http://schemas.microsoft.com/office/powerpoint/2010/main" val="2813204374"/>
              </p:ext>
            </p:extLst>
          </p:nvPr>
        </p:nvGraphicFramePr>
        <p:xfrm>
          <a:off x="432225" y="2073825"/>
          <a:ext cx="11327550" cy="4237098"/>
        </p:xfrm>
        <a:graphic>
          <a:graphicData uri="http://schemas.openxmlformats.org/drawingml/2006/table">
            <a:tbl>
              <a:tblPr firstRow="1" bandRow="1">
                <a:tableStyleId>{5C22544A-7EE6-4342-B048-85BDC9FD1C3A}</a:tableStyleId>
              </a:tblPr>
              <a:tblGrid>
                <a:gridCol w="2917242">
                  <a:extLst>
                    <a:ext uri="{9D8B030D-6E8A-4147-A177-3AD203B41FA5}">
                      <a16:colId xmlns:a16="http://schemas.microsoft.com/office/drawing/2014/main" val="20000"/>
                    </a:ext>
                  </a:extLst>
                </a:gridCol>
                <a:gridCol w="8410308">
                  <a:extLst>
                    <a:ext uri="{9D8B030D-6E8A-4147-A177-3AD203B41FA5}">
                      <a16:colId xmlns:a16="http://schemas.microsoft.com/office/drawing/2014/main" val="20001"/>
                    </a:ext>
                  </a:extLst>
                </a:gridCol>
              </a:tblGrid>
              <a:tr h="506610">
                <a:tc>
                  <a:txBody>
                    <a:bodyPr/>
                    <a:lstStyle/>
                    <a:p>
                      <a:pPr algn="ctr">
                        <a:defRPr sz="1800" b="1"/>
                      </a:pPr>
                      <a:r>
                        <a:rPr sz="2300"/>
                        <a:t>Category</a:t>
                      </a:r>
                    </a:p>
                  </a:txBody>
                  <a:tcPr marL="115138" marR="115138" marT="57569" marB="57569"/>
                </a:tc>
                <a:tc>
                  <a:txBody>
                    <a:bodyPr/>
                    <a:lstStyle/>
                    <a:p>
                      <a:pPr algn="ctr">
                        <a:defRPr sz="1800" b="1"/>
                      </a:pPr>
                      <a:r>
                        <a:rPr sz="2300"/>
                        <a:t>Description</a:t>
                      </a:r>
                    </a:p>
                  </a:txBody>
                  <a:tcPr marL="115138" marR="115138" marT="57569" marB="57569"/>
                </a:tc>
                <a:extLst>
                  <a:ext uri="{0D108BD9-81ED-4DB2-BD59-A6C34878D82A}">
                    <a16:rowId xmlns:a16="http://schemas.microsoft.com/office/drawing/2014/main" val="10000"/>
                  </a:ext>
                </a:extLst>
              </a:tr>
              <a:tr h="468230">
                <a:tc>
                  <a:txBody>
                    <a:bodyPr/>
                    <a:lstStyle/>
                    <a:p>
                      <a:pPr>
                        <a:defRPr sz="1600" b="1"/>
                      </a:pPr>
                      <a:r>
                        <a:rPr sz="2000"/>
                        <a:t>Source Dataset(s)</a:t>
                      </a:r>
                    </a:p>
                  </a:txBody>
                  <a:tcPr marL="115138" marR="115138" marT="57569" marB="57569"/>
                </a:tc>
                <a:tc>
                  <a:txBody>
                    <a:bodyPr/>
                    <a:lstStyle/>
                    <a:p>
                      <a:pPr>
                        <a:defRPr sz="1600"/>
                      </a:pPr>
                      <a:r>
                        <a:rPr sz="2000"/>
                        <a:t>ReliefWeb API</a:t>
                      </a:r>
                    </a:p>
                  </a:txBody>
                  <a:tcPr marL="115138" marR="115138" marT="57569" marB="57569"/>
                </a:tc>
                <a:extLst>
                  <a:ext uri="{0D108BD9-81ED-4DB2-BD59-A6C34878D82A}">
                    <a16:rowId xmlns:a16="http://schemas.microsoft.com/office/drawing/2014/main" val="10001"/>
                  </a:ext>
                </a:extLst>
              </a:tr>
              <a:tr h="468230">
                <a:tc>
                  <a:txBody>
                    <a:bodyPr/>
                    <a:lstStyle/>
                    <a:p>
                      <a:pPr>
                        <a:defRPr sz="1600" b="1"/>
                      </a:pPr>
                      <a:r>
                        <a:rPr sz="2000"/>
                        <a:t>Raw Variables</a:t>
                      </a:r>
                    </a:p>
                  </a:txBody>
                  <a:tcPr marL="115138" marR="115138" marT="57569" marB="57569"/>
                </a:tc>
                <a:tc>
                  <a:txBody>
                    <a:bodyPr/>
                    <a:lstStyle/>
                    <a:p>
                      <a:pPr>
                        <a:defRPr sz="1600"/>
                      </a:pPr>
                      <a:r>
                        <a:rPr sz="2000"/>
                        <a:t>Publication date, report text, humanitarian themes, source and location</a:t>
                      </a:r>
                    </a:p>
                  </a:txBody>
                  <a:tcPr marL="115138" marR="115138" marT="57569" marB="57569"/>
                </a:tc>
                <a:extLst>
                  <a:ext uri="{0D108BD9-81ED-4DB2-BD59-A6C34878D82A}">
                    <a16:rowId xmlns:a16="http://schemas.microsoft.com/office/drawing/2014/main" val="10002"/>
                  </a:ext>
                </a:extLst>
              </a:tr>
              <a:tr h="775266">
                <a:tc>
                  <a:txBody>
                    <a:bodyPr/>
                    <a:lstStyle/>
                    <a:p>
                      <a:pPr>
                        <a:defRPr sz="1600" b="1"/>
                      </a:pPr>
                      <a:r>
                        <a:rPr sz="2000"/>
                        <a:t>Transformation Rule</a:t>
                      </a:r>
                    </a:p>
                  </a:txBody>
                  <a:tcPr marL="115138" marR="115138" marT="57569" marB="57569"/>
                </a:tc>
                <a:tc>
                  <a:txBody>
                    <a:bodyPr/>
                    <a:lstStyle/>
                    <a:p>
                      <a:pPr>
                        <a:defRPr sz="1600"/>
                      </a:pPr>
                      <a:r>
                        <a:rPr sz="2000"/>
                        <a:t>Aggregate reports by Admin 2 and month. Count reports by theme and derive NLP-based indicators (future work).</a:t>
                      </a:r>
                    </a:p>
                  </a:txBody>
                  <a:tcPr marL="115138" marR="115138" marT="57569" marB="57569"/>
                </a:tc>
                <a:extLst>
                  <a:ext uri="{0D108BD9-81ED-4DB2-BD59-A6C34878D82A}">
                    <a16:rowId xmlns:a16="http://schemas.microsoft.com/office/drawing/2014/main" val="10003"/>
                  </a:ext>
                </a:extLst>
              </a:tr>
              <a:tr h="775266">
                <a:tc>
                  <a:txBody>
                    <a:bodyPr/>
                    <a:lstStyle/>
                    <a:p>
                      <a:pPr>
                        <a:defRPr sz="1600" b="1"/>
                      </a:pPr>
                      <a:r>
                        <a:rPr sz="2000"/>
                        <a:t>Engineered Features</a:t>
                      </a:r>
                    </a:p>
                  </a:txBody>
                  <a:tcPr marL="115138" marR="115138" marT="57569" marB="57569"/>
                </a:tc>
                <a:tc>
                  <a:txBody>
                    <a:bodyPr/>
                    <a:lstStyle/>
                    <a:p>
                      <a:pPr>
                        <a:defRPr sz="1600"/>
                      </a:pPr>
                      <a:r>
                        <a:rPr sz="2000" dirty="0"/>
                        <a:t>Report count; Report count by </a:t>
                      </a:r>
                      <a:r>
                        <a:rPr lang="en-US" sz="2000" dirty="0"/>
                        <a:t>classification</a:t>
                      </a:r>
                      <a:endParaRPr sz="2000" dirty="0"/>
                    </a:p>
                  </a:txBody>
                  <a:tcPr marL="115138" marR="115138" marT="57569" marB="57569"/>
                </a:tc>
                <a:extLst>
                  <a:ext uri="{0D108BD9-81ED-4DB2-BD59-A6C34878D82A}">
                    <a16:rowId xmlns:a16="http://schemas.microsoft.com/office/drawing/2014/main" val="10004"/>
                  </a:ext>
                </a:extLst>
              </a:tr>
              <a:tr h="775266">
                <a:tc>
                  <a:txBody>
                    <a:bodyPr/>
                    <a:lstStyle/>
                    <a:p>
                      <a:pPr>
                        <a:defRPr sz="1600" b="1"/>
                      </a:pPr>
                      <a:r>
                        <a:rPr sz="2000"/>
                        <a:t>Expected Relevance</a:t>
                      </a:r>
                    </a:p>
                  </a:txBody>
                  <a:tcPr marL="115138" marR="115138" marT="57569" marB="57569"/>
                </a:tc>
                <a:tc>
                  <a:txBody>
                    <a:bodyPr/>
                    <a:lstStyle/>
                    <a:p>
                      <a:pPr>
                        <a:defRPr sz="1600"/>
                      </a:pPr>
                      <a:r>
                        <a:rPr sz="2000" dirty="0"/>
                        <a:t>Captures</a:t>
                      </a:r>
                      <a:r>
                        <a:rPr lang="en-US" sz="2000" dirty="0"/>
                        <a:t> detailed</a:t>
                      </a:r>
                      <a:r>
                        <a:rPr sz="2000" dirty="0"/>
                        <a:t> humanitarian activity and emerging crises not represented by structured datasets.</a:t>
                      </a:r>
                    </a:p>
                  </a:txBody>
                  <a:tcPr marL="115138" marR="115138" marT="57569" marB="57569"/>
                </a:tc>
                <a:extLst>
                  <a:ext uri="{0D108BD9-81ED-4DB2-BD59-A6C34878D82A}">
                    <a16:rowId xmlns:a16="http://schemas.microsoft.com/office/drawing/2014/main" val="10005"/>
                  </a:ext>
                </a:extLst>
              </a:tr>
              <a:tr h="468230">
                <a:tc>
                  <a:txBody>
                    <a:bodyPr/>
                    <a:lstStyle/>
                    <a:p>
                      <a:pPr>
                        <a:defRPr sz="1600" b="1"/>
                      </a:pPr>
                      <a:r>
                        <a:rPr sz="2000"/>
                        <a:t>Known Limitations</a:t>
                      </a:r>
                    </a:p>
                  </a:txBody>
                  <a:tcPr marL="115138" marR="115138" marT="57569" marB="57569"/>
                </a:tc>
                <a:tc>
                  <a:txBody>
                    <a:bodyPr/>
                    <a:lstStyle/>
                    <a:p>
                      <a:pPr>
                        <a:defRPr sz="1600"/>
                      </a:pPr>
                      <a:r>
                        <a:rPr sz="2000" dirty="0"/>
                        <a:t>Variable geographic precision and reporting bias.</a:t>
                      </a:r>
                    </a:p>
                  </a:txBody>
                  <a:tcPr marL="115138" marR="115138" marT="57569" marB="57569"/>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1335</Words>
  <Application>Microsoft Office PowerPoint</Application>
  <PresentationFormat>Widescreen</PresentationFormat>
  <Paragraphs>160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Calibri Light</vt:lpstr>
      <vt:lpstr>Office Theme</vt:lpstr>
      <vt:lpstr>PowerPoint Presentation</vt:lpstr>
      <vt:lpstr>Actions for this week</vt:lpstr>
      <vt:lpstr>Literature review</vt:lpstr>
      <vt:lpstr>Paper Review: Pushing the Boundaries of Anticipatory Action Using Machine Learning (Kjærum &amp; Madsen, 2025)</vt:lpstr>
      <vt:lpstr>Paper Review: Paper Review: Forecasting Trends in Food Security with Real-Time Data</vt:lpstr>
      <vt:lpstr>Paper Review: ViEWS: A Political Violence Early-Warning System (Hegre et al., 2019)</vt:lpstr>
      <vt:lpstr>Paper Review: A Review on Machine Learning Models for Drought Monitoring and Forecasting (Osman et al., 2025)</vt:lpstr>
      <vt:lpstr>Unit of analysis</vt:lpstr>
      <vt:lpstr>Defining Mechanisms</vt:lpstr>
      <vt:lpstr>Conflict and Insecurity</vt:lpstr>
      <vt:lpstr>Climate and Agricultural Stress</vt:lpstr>
      <vt:lpstr>Market and Food Price Pressure</vt:lpstr>
      <vt:lpstr>Economic Conditions</vt:lpstr>
      <vt:lpstr>Humanitarian Access and Response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aracena</dc:creator>
  <cp:lastModifiedBy>samuel aracena</cp:lastModifiedBy>
  <cp:revision>2</cp:revision>
  <dcterms:created xsi:type="dcterms:W3CDTF">2026-07-22T14:23:43Z</dcterms:created>
  <dcterms:modified xsi:type="dcterms:W3CDTF">2026-07-22T16:31:44Z</dcterms:modified>
</cp:coreProperties>
</file>