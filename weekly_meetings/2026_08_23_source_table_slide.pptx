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version of the notebook's source-level table (Next steps item 7). Full formulas, exact coverage figures, missingness definitions and citations are in the notebook section 'Source-level table: how each mechanism actually observes Somalia'.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source actually observes Somalia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Condensed from the dissertation's source-level table; the full version with formulas and citations is in the notebook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94960" cy="1938528"/>
          </a:xfrm>
          <a:prstGeom prst="roundRect">
            <a:avLst>
              <a:gd name="adj" fmla="val 2830"/>
            </a:avLst>
          </a:prstGeom>
          <a:solidFill>
            <a:srgbClr val="F7F5F1"/>
          </a:solidFill>
          <a:ln/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0934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(ACLED)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RECORDED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76272"/>
            <a:ext cx="4919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mostly from Somali news outlets and local partners; a third of events cite no named source at all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what gets reported, not what happens: violence in remote, less-watched areas is structurally undercounted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9632" y="1481328"/>
            <a:ext cx="5394960" cy="1938528"/>
          </a:xfrm>
          <a:prstGeom prst="roundRect">
            <a:avLst>
              <a:gd name="adj" fmla="val 2830"/>
            </a:avLst>
          </a:prstGeom>
          <a:solidFill>
            <a:srgbClr val="F7F5F1"/>
          </a:solidFill>
          <a:ln/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37376" y="160934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(rainfall + vegetation)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37376" y="190195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RECORDED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37376" y="2176272"/>
            <a:ext cx="4919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automatically by satellite, every district, every week, with no dependence on local reporting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reliable of the four, but rainfall estimates are weaker where ground weather stations are sparse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602736"/>
            <a:ext cx="5394960" cy="1938528"/>
          </a:xfrm>
          <a:prstGeom prst="roundRect">
            <a:avLst>
              <a:gd name="adj" fmla="val 2830"/>
            </a:avLst>
          </a:prstGeom>
          <a:solidFill>
            <a:srgbClr val="F7F5F1"/>
          </a:solidFill>
          <a:ln/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373075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(WFP prices)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4672" y="4023360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DISTRICTS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4297680"/>
            <a:ext cx="4919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WFP field staff visit monitored markets weekly to record prices, only where a monitored market exists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are chosen for being safe and accessible to reach, so the least secure districts are structurally missing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9632" y="3602736"/>
            <a:ext cx="5394960" cy="1938528"/>
          </a:xfrm>
          <a:prstGeom prst="roundRect">
            <a:avLst>
              <a:gd name="adj" fmla="val 2830"/>
            </a:avLst>
          </a:prstGeom>
          <a:solidFill>
            <a:srgbClr val="F7F5F1"/>
          </a:solidFill>
          <a:ln/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37376" y="373075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(ReliefWeb)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37376" y="4023360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DISTRICTS, 60% OF MONTHS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37376" y="4297680"/>
            <a:ext cx="4919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organisations publish reports whenever they choose to, with no fixed schedule or obligation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Text-matching can miss names or unreadable formats, and reporting itself favours conflict over slow-building crises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687568"/>
            <a:ext cx="11027664" cy="603504"/>
          </a:xfrm>
          <a:prstGeom prst="roundRect">
            <a:avLst>
              <a:gd name="adj" fmla="val 9091"/>
            </a:avLst>
          </a:prstGeom>
          <a:solidFill>
            <a:srgbClr val="2B2523"/>
          </a:solidFill>
          <a:ln/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5815584"/>
            <a:ext cx="10479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four is a neutral, ground-truthed measure. Each one sees Somalia through the lens of who is watching, and why.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Source-level table</dc:title>
  <dc:subject>PptxGenJS Presentation</dc:subject>
  <dc:creator>Samuel Aracena</dc:creator>
  <cp:lastModifiedBy>Samuel Aracena</cp:lastModifiedBy>
  <cp:revision>1</cp:revision>
  <dcterms:created xsi:type="dcterms:W3CDTF">2026-08-23T14:17:37Z</dcterms:created>
  <dcterms:modified xsi:type="dcterms:W3CDTF">2026-08-23T14:17:37Z</dcterms:modified>
</cp:coreProperties>
</file>