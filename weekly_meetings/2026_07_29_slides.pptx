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embeddedFontLst>
    <p:embeddedFont>
      <p:font typeface="Calibri" panose="020F050202020403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Roboto" panose="02000000000000000000" pitchFamily="2" charset="0"/>
      <p:regular r:id="rId26"/>
      <p:italic r:id="rId27"/>
    </p:embeddedFont>
    <p:embeddedFont>
      <p:font typeface="Roboto Bold" panose="02000000000000000000" charset="0"/>
      <p:regular r:id="rId28"/>
    </p:embeddedFont>
    <p:embeddedFont>
      <p:font typeface="Roboto Slab" pitchFamily="2" charset="0"/>
      <p:regular r:id="rId29"/>
    </p:embeddedFont>
    <p:embeddedFont>
      <p:font typeface="Roboto Slab Light" pitchFamily="2" charset="0"/>
      <p:regular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590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71B21"/>
          </a:solidFill>
          <a:ln/>
        </p:spPr>
      </p:sp>
      <p:sp>
        <p:nvSpPr>
          <p:cNvPr id="3" name="Shape 1"/>
          <p:cNvSpPr/>
          <p:nvPr/>
        </p:nvSpPr>
        <p:spPr>
          <a:xfrm>
            <a:off x="0" y="0"/>
            <a:ext cx="9144000" cy="51435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823219"/>
            <a:ext cx="4722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Humanitarian Data Ontology</a:t>
            </a:r>
            <a:endParaRPr lang="en-US" sz="2400" dirty="0"/>
          </a:p>
        </p:txBody>
      </p:sp>
      <p:sp>
        <p:nvSpPr>
          <p:cNvPr id="4" name="Text 1"/>
          <p:cNvSpPr/>
          <p:nvPr/>
        </p:nvSpPr>
        <p:spPr>
          <a:xfrm>
            <a:off x="3925119" y="2396803"/>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A conceptual blueprint for building an </a:t>
            </a:r>
            <a:r>
              <a:rPr lang="en-US" sz="950" b="1" dirty="0">
                <a:solidFill>
                  <a:srgbClr val="D6E5EF"/>
                </a:solidFill>
                <a:latin typeface="Roboto Bold" pitchFamily="34" charset="0"/>
                <a:ea typeface="Roboto Bold" pitchFamily="34" charset="-122"/>
                <a:cs typeface="Roboto Bold" pitchFamily="34" charset="-120"/>
              </a:rPr>
              <a:t>Admin 2 × Month</a:t>
            </a:r>
            <a:r>
              <a:rPr lang="en-US" sz="950" dirty="0">
                <a:solidFill>
                  <a:srgbClr val="D6E5EF"/>
                </a:solidFill>
                <a:latin typeface="Roboto" pitchFamily="34" charset="0"/>
                <a:ea typeface="Roboto" pitchFamily="34" charset="-122"/>
                <a:cs typeface="Roboto" pitchFamily="34" charset="-120"/>
              </a:rPr>
              <a:t> humanitarian data panel that preserves the provenance and meaning of each data source — linking conflict, climate, markets, and humanitarian reporting to food insecurity outcomes.</a:t>
            </a:r>
            <a:endParaRPr lang="en-US" sz="950" dirty="0"/>
          </a:p>
        </p:txBody>
      </p:sp>
      <p:sp>
        <p:nvSpPr>
          <p:cNvPr id="5" name="Shape 2"/>
          <p:cNvSpPr/>
          <p:nvPr/>
        </p:nvSpPr>
        <p:spPr>
          <a:xfrm>
            <a:off x="3925119" y="3131716"/>
            <a:ext cx="1270695" cy="188565"/>
          </a:xfrm>
          <a:prstGeom prst="roundRect">
            <a:avLst>
              <a:gd name="adj" fmla="val 7894"/>
            </a:avLst>
          </a:prstGeom>
          <a:solidFill>
            <a:srgbClr val="082545"/>
          </a:solidFill>
          <a:ln/>
        </p:spPr>
      </p:sp>
      <p:sp>
        <p:nvSpPr>
          <p:cNvPr id="6" name="Text 3"/>
          <p:cNvSpPr/>
          <p:nvPr/>
        </p:nvSpPr>
        <p:spPr>
          <a:xfrm>
            <a:off x="3999533" y="3168923"/>
            <a:ext cx="1579066" cy="114151"/>
          </a:xfrm>
          <a:prstGeom prst="rect">
            <a:avLst/>
          </a:prstGeom>
          <a:noFill/>
          <a:ln/>
        </p:spPr>
        <p:txBody>
          <a:bodyPr wrap="none" lIns="0" tIns="0" rIns="0" bIns="0" rtlCol="0" anchor="t"/>
          <a:lstStyle/>
          <a:p>
            <a:pPr marL="0" indent="0" algn="l">
              <a:lnSpc>
                <a:spcPct val="96000"/>
              </a:lnSpc>
              <a:buNone/>
            </a:pPr>
            <a:r>
              <a:rPr lang="en-US" sz="750" dirty="0">
                <a:solidFill>
                  <a:srgbClr val="D6E5EF"/>
                </a:solidFill>
                <a:latin typeface="Roboto" pitchFamily="34" charset="0"/>
                <a:ea typeface="Roboto" pitchFamily="34" charset="-122"/>
                <a:cs typeface="Roboto" pitchFamily="34" charset="-120"/>
              </a:rPr>
              <a:t>RESEARCH FRAMEWORK</a:t>
            </a:r>
            <a:endParaRPr lang="en-US" sz="750" dirty="0"/>
          </a:p>
        </p:txBody>
      </p:sp>
      <p:sp>
        <p:nvSpPr>
          <p:cNvPr id="7" name="Shape 4"/>
          <p:cNvSpPr/>
          <p:nvPr/>
        </p:nvSpPr>
        <p:spPr>
          <a:xfrm>
            <a:off x="5257800" y="3131716"/>
            <a:ext cx="1028477" cy="188565"/>
          </a:xfrm>
          <a:prstGeom prst="roundRect">
            <a:avLst>
              <a:gd name="adj" fmla="val 7894"/>
            </a:avLst>
          </a:prstGeom>
          <a:noFill/>
          <a:ln w="4763">
            <a:solidFill>
              <a:srgbClr val="66A8EE"/>
            </a:solidFill>
            <a:prstDash val="solid"/>
          </a:ln>
        </p:spPr>
      </p:sp>
      <p:sp>
        <p:nvSpPr>
          <p:cNvPr id="8" name="Text 5"/>
          <p:cNvSpPr/>
          <p:nvPr/>
        </p:nvSpPr>
        <p:spPr>
          <a:xfrm>
            <a:off x="5332214" y="3168923"/>
            <a:ext cx="1336849" cy="114151"/>
          </a:xfrm>
          <a:prstGeom prst="rect">
            <a:avLst/>
          </a:prstGeom>
          <a:noFill/>
          <a:ln/>
        </p:spPr>
        <p:txBody>
          <a:bodyPr wrap="none" lIns="0" tIns="0" rIns="0" bIns="0" rtlCol="0" anchor="t"/>
          <a:lstStyle/>
          <a:p>
            <a:pPr marL="0" indent="0" algn="l">
              <a:lnSpc>
                <a:spcPct val="96000"/>
              </a:lnSpc>
              <a:buNone/>
            </a:pPr>
            <a:r>
              <a:rPr lang="en-US" sz="750" dirty="0">
                <a:solidFill>
                  <a:srgbClr val="66A8EE"/>
                </a:solidFill>
                <a:latin typeface="Roboto" pitchFamily="34" charset="0"/>
                <a:ea typeface="Roboto" pitchFamily="34" charset="-122"/>
                <a:cs typeface="Roboto" pitchFamily="34" charset="-120"/>
              </a:rPr>
              <a:t>ONTOLOGY DESIGN</a:t>
            </a:r>
            <a:endParaRPr lang="en-US" sz="750" dirty="0"/>
          </a:p>
        </p:txBody>
      </p:sp>
      <p:sp>
        <p:nvSpPr>
          <p:cNvPr id="9" name="Shape 6"/>
          <p:cNvSpPr/>
          <p:nvPr/>
        </p:nvSpPr>
        <p:spPr>
          <a:xfrm>
            <a:off x="6348264" y="3131716"/>
            <a:ext cx="1325463" cy="188565"/>
          </a:xfrm>
          <a:prstGeom prst="roundRect">
            <a:avLst>
              <a:gd name="adj" fmla="val 7894"/>
            </a:avLst>
          </a:prstGeom>
          <a:noFill/>
          <a:ln w="4763">
            <a:solidFill>
              <a:srgbClr val="66A8EE"/>
            </a:solidFill>
            <a:prstDash val="solid"/>
          </a:ln>
        </p:spPr>
      </p:sp>
      <p:sp>
        <p:nvSpPr>
          <p:cNvPr id="10" name="Text 7"/>
          <p:cNvSpPr/>
          <p:nvPr/>
        </p:nvSpPr>
        <p:spPr>
          <a:xfrm>
            <a:off x="6422678" y="3168923"/>
            <a:ext cx="1633835" cy="114151"/>
          </a:xfrm>
          <a:prstGeom prst="rect">
            <a:avLst/>
          </a:prstGeom>
          <a:noFill/>
          <a:ln/>
        </p:spPr>
        <p:txBody>
          <a:bodyPr wrap="none" lIns="0" tIns="0" rIns="0" bIns="0" rtlCol="0" anchor="t"/>
          <a:lstStyle/>
          <a:p>
            <a:pPr marL="0" indent="0" algn="l">
              <a:lnSpc>
                <a:spcPct val="96000"/>
              </a:lnSpc>
              <a:buNone/>
            </a:pPr>
            <a:r>
              <a:rPr lang="en-US" sz="750" dirty="0">
                <a:solidFill>
                  <a:srgbClr val="66A8EE"/>
                </a:solidFill>
                <a:latin typeface="Roboto" pitchFamily="34" charset="0"/>
                <a:ea typeface="Roboto" pitchFamily="34" charset="-122"/>
                <a:cs typeface="Roboto" pitchFamily="34" charset="-120"/>
              </a:rPr>
              <a:t>ADMIN 2 × MONTH PANEL</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56146"/>
            <a:ext cx="8151763" cy="290736"/>
          </a:xfrm>
          <a:prstGeom prst="rect">
            <a:avLst/>
          </a:prstGeom>
          <a:noFill/>
          <a:ln/>
        </p:spPr>
        <p:txBody>
          <a:bodyPr wrap="none" lIns="0" tIns="0" rIns="0" bIns="0" rtlCol="0" anchor="t"/>
          <a:lstStyle/>
          <a:p>
            <a:pPr marL="0" indent="0" algn="l">
              <a:lnSpc>
                <a:spcPct val="104000"/>
              </a:lnSpc>
              <a:buNone/>
            </a:pPr>
            <a:r>
              <a:rPr lang="en-US" sz="1800" dirty="0">
                <a:solidFill>
                  <a:srgbClr val="76B9FF"/>
                </a:solidFill>
                <a:latin typeface="Roboto Slab" pitchFamily="34" charset="0"/>
                <a:ea typeface="Roboto Slab" pitchFamily="34" charset="-122"/>
                <a:cs typeface="Roboto Slab" pitchFamily="34" charset="-120"/>
              </a:rPr>
              <a:t>This Week's Action Plan</a:t>
            </a:r>
            <a:endParaRPr lang="en-US" sz="1800" dirty="0"/>
          </a:p>
        </p:txBody>
      </p:sp>
      <p:sp>
        <p:nvSpPr>
          <p:cNvPr id="3" name="Text 1"/>
          <p:cNvSpPr/>
          <p:nvPr/>
        </p:nvSpPr>
        <p:spPr>
          <a:xfrm>
            <a:off x="496119" y="786408"/>
            <a:ext cx="8608963"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Six prioritized tasks to complete the core humanitarian data panel prototype without waiting for the full ten-year, four-country pipeline.</a:t>
            </a:r>
            <a:endParaRPr lang="en-US" sz="7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995065"/>
            <a:ext cx="8151763" cy="652686"/>
          </a:xfrm>
          <a:prstGeom prst="rect">
            <a:avLst/>
          </a:prstGeom>
        </p:spPr>
      </p:pic>
      <p:sp>
        <p:nvSpPr>
          <p:cNvPr id="5" name="Text 2"/>
          <p:cNvSpPr/>
          <p:nvPr/>
        </p:nvSpPr>
        <p:spPr>
          <a:xfrm>
            <a:off x="621878" y="1234157"/>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1</a:t>
            </a:r>
            <a:endParaRPr lang="en-US" sz="1050" dirty="0"/>
          </a:p>
        </p:txBody>
      </p:sp>
      <p:sp>
        <p:nvSpPr>
          <p:cNvPr id="6" name="Text 3"/>
          <p:cNvSpPr/>
          <p:nvPr/>
        </p:nvSpPr>
        <p:spPr>
          <a:xfrm>
            <a:off x="947440" y="1097607"/>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Build One Prototype</a:t>
            </a:r>
            <a:endParaRPr lang="en-US" sz="900" dirty="0"/>
          </a:p>
        </p:txBody>
      </p:sp>
      <p:sp>
        <p:nvSpPr>
          <p:cNvPr id="7" name="Text 4"/>
          <p:cNvSpPr/>
          <p:nvPr/>
        </p:nvSpPr>
        <p:spPr>
          <a:xfrm>
            <a:off x="947440" y="1284759"/>
            <a:ext cx="7597899"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Create an end-to-end Admin 2/month integrated table for one country-year using core sources: IPC, ACLED, CHIRPS, WFP prices, and ReliefWeb. Include GDELT only if the pipeline makes it easy.</a:t>
            </a:r>
            <a:endParaRPr lang="en-US" sz="7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1717477"/>
            <a:ext cx="8151763" cy="558180"/>
          </a:xfrm>
          <a:prstGeom prst="rect">
            <a:avLst/>
          </a:prstGeom>
        </p:spPr>
      </p:pic>
      <p:sp>
        <p:nvSpPr>
          <p:cNvPr id="9" name="Text 5"/>
          <p:cNvSpPr/>
          <p:nvPr/>
        </p:nvSpPr>
        <p:spPr>
          <a:xfrm>
            <a:off x="621878" y="1909316"/>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2</a:t>
            </a:r>
            <a:endParaRPr lang="en-US" sz="1050" dirty="0"/>
          </a:p>
        </p:txBody>
      </p:sp>
      <p:sp>
        <p:nvSpPr>
          <p:cNvPr id="10" name="Text 6"/>
          <p:cNvSpPr/>
          <p:nvPr/>
        </p:nvSpPr>
        <p:spPr>
          <a:xfrm>
            <a:off x="947440" y="1820019"/>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Finalize the Ontology</a:t>
            </a:r>
            <a:endParaRPr lang="en-US" sz="900" dirty="0"/>
          </a:p>
        </p:txBody>
      </p:sp>
      <p:sp>
        <p:nvSpPr>
          <p:cNvPr id="11" name="Text 7"/>
          <p:cNvSpPr/>
          <p:nvPr/>
        </p:nvSpPr>
        <p:spPr>
          <a:xfrm>
            <a:off x="947440" y="2007171"/>
            <a:ext cx="7597899"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Limit to four mechanisms: conflict, climate/agriculture, markets, and humanitarian reporting. Define no more than 3–5 features per mechanism.</a:t>
            </a:r>
            <a:endParaRPr lang="en-US" sz="700" dirty="0"/>
          </a:p>
        </p:txBody>
      </p:sp>
      <p:pic>
        <p:nvPicPr>
          <p:cNvPr id="12"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345382"/>
            <a:ext cx="8151763" cy="558180"/>
          </a:xfrm>
          <a:prstGeom prst="rect">
            <a:avLst/>
          </a:prstGeom>
        </p:spPr>
      </p:pic>
      <p:sp>
        <p:nvSpPr>
          <p:cNvPr id="13" name="Text 8"/>
          <p:cNvSpPr/>
          <p:nvPr/>
        </p:nvSpPr>
        <p:spPr>
          <a:xfrm>
            <a:off x="621878" y="2537222"/>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3</a:t>
            </a:r>
            <a:endParaRPr lang="en-US" sz="1050" dirty="0"/>
          </a:p>
        </p:txBody>
      </p:sp>
      <p:sp>
        <p:nvSpPr>
          <p:cNvPr id="14" name="Text 9"/>
          <p:cNvSpPr/>
          <p:nvPr/>
        </p:nvSpPr>
        <p:spPr>
          <a:xfrm>
            <a:off x="947440" y="2447925"/>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Feature Specifications</a:t>
            </a:r>
            <a:endParaRPr lang="en-US" sz="900" dirty="0"/>
          </a:p>
        </p:txBody>
      </p:sp>
      <p:sp>
        <p:nvSpPr>
          <p:cNvPr id="15" name="Text 10"/>
          <p:cNvSpPr/>
          <p:nvPr/>
        </p:nvSpPr>
        <p:spPr>
          <a:xfrm>
            <a:off x="947440" y="2635076"/>
            <a:ext cx="7597899"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For every feature, document: raw variable, source, spatial assignment rule, temporal aggregation rule, mathematical formulation, missing-value policy, and provenance/uncertainty flag.</a:t>
            </a:r>
            <a:endParaRPr lang="en-US" sz="700" dirty="0"/>
          </a:p>
        </p:txBody>
      </p:sp>
      <p:pic>
        <p:nvPicPr>
          <p:cNvPr id="1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2973288"/>
            <a:ext cx="8151763" cy="558180"/>
          </a:xfrm>
          <a:prstGeom prst="rect">
            <a:avLst/>
          </a:prstGeom>
        </p:spPr>
      </p:pic>
      <p:sp>
        <p:nvSpPr>
          <p:cNvPr id="17" name="Text 11"/>
          <p:cNvSpPr/>
          <p:nvPr/>
        </p:nvSpPr>
        <p:spPr>
          <a:xfrm>
            <a:off x="621878" y="3165128"/>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4</a:t>
            </a:r>
            <a:endParaRPr lang="en-US" sz="1050" dirty="0"/>
          </a:p>
        </p:txBody>
      </p:sp>
      <p:sp>
        <p:nvSpPr>
          <p:cNvPr id="18" name="Text 12"/>
          <p:cNvSpPr/>
          <p:nvPr/>
        </p:nvSpPr>
        <p:spPr>
          <a:xfrm>
            <a:off x="947440" y="3075831"/>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Quantify Data Quality</a:t>
            </a:r>
            <a:endParaRPr lang="en-US" sz="900" dirty="0"/>
          </a:p>
        </p:txBody>
      </p:sp>
      <p:sp>
        <p:nvSpPr>
          <p:cNvPr id="19" name="Text 13"/>
          <p:cNvSpPr/>
          <p:nvPr/>
        </p:nvSpPr>
        <p:spPr>
          <a:xfrm>
            <a:off x="947440" y="3262982"/>
            <a:ext cx="7597899"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Report: district-month coverage, missingness by source, proportion of exact vs. approximate geolocation, temporal availability, and duplicate or conflicting observations.</a:t>
            </a:r>
            <a:endParaRPr lang="en-US" sz="700" dirty="0"/>
          </a:p>
        </p:txBody>
      </p:sp>
      <p:pic>
        <p:nvPicPr>
          <p:cNvPr id="20"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601194"/>
            <a:ext cx="8151763" cy="558180"/>
          </a:xfrm>
          <a:prstGeom prst="rect">
            <a:avLst/>
          </a:prstGeom>
        </p:spPr>
      </p:pic>
      <p:sp>
        <p:nvSpPr>
          <p:cNvPr id="21" name="Text 14"/>
          <p:cNvSpPr/>
          <p:nvPr/>
        </p:nvSpPr>
        <p:spPr>
          <a:xfrm>
            <a:off x="621878" y="3793034"/>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5</a:t>
            </a:r>
            <a:endParaRPr lang="en-US" sz="1050" dirty="0"/>
          </a:p>
        </p:txBody>
      </p:sp>
      <p:sp>
        <p:nvSpPr>
          <p:cNvPr id="22" name="Text 15"/>
          <p:cNvSpPr/>
          <p:nvPr/>
        </p:nvSpPr>
        <p:spPr>
          <a:xfrm>
            <a:off x="947440" y="3703737"/>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Select a Scientific Question</a:t>
            </a:r>
            <a:endParaRPr lang="en-US" sz="900" dirty="0"/>
          </a:p>
        </p:txBody>
      </p:sp>
      <p:sp>
        <p:nvSpPr>
          <p:cNvPr id="23" name="Text 16"/>
          <p:cNvSpPr/>
          <p:nvPr/>
        </p:nvSpPr>
        <p:spPr>
          <a:xfrm>
            <a:off x="947440" y="3890888"/>
            <a:ext cx="7597899"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Preferably: </a:t>
            </a:r>
            <a:r>
              <a:rPr lang="en-US" sz="700" i="1" dirty="0">
                <a:solidFill>
                  <a:srgbClr val="D6E5EF"/>
                </a:solidFill>
                <a:latin typeface="Roboto" pitchFamily="34" charset="0"/>
                <a:ea typeface="Roboto" pitchFamily="34" charset="-122"/>
                <a:cs typeface="Roboto" pitchFamily="34" charset="-120"/>
              </a:rPr>
              <a:t>"Do different humanitarian sources provide complementary or redundant observations of the same crisis mechanisms?"</a:t>
            </a:r>
            <a:endParaRPr lang="en-US" sz="700" dirty="0"/>
          </a:p>
        </p:txBody>
      </p:sp>
      <p:pic>
        <p:nvPicPr>
          <p:cNvPr id="24"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4229100"/>
            <a:ext cx="8151763" cy="558180"/>
          </a:xfrm>
          <a:prstGeom prst="rect">
            <a:avLst/>
          </a:prstGeom>
        </p:spPr>
      </p:pic>
      <p:sp>
        <p:nvSpPr>
          <p:cNvPr id="25" name="Text 17"/>
          <p:cNvSpPr/>
          <p:nvPr/>
        </p:nvSpPr>
        <p:spPr>
          <a:xfrm>
            <a:off x="621878" y="4420939"/>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D6E5EF"/>
                </a:solidFill>
                <a:latin typeface="Roboto Slab" pitchFamily="34" charset="0"/>
                <a:ea typeface="Roboto Slab" pitchFamily="34" charset="-122"/>
                <a:cs typeface="Roboto Slab" pitchFamily="34" charset="-120"/>
              </a:rPr>
              <a:t>6</a:t>
            </a:r>
            <a:endParaRPr lang="en-US" sz="1050" dirty="0"/>
          </a:p>
        </p:txBody>
      </p:sp>
      <p:sp>
        <p:nvSpPr>
          <p:cNvPr id="26" name="Text 18"/>
          <p:cNvSpPr/>
          <p:nvPr/>
        </p:nvSpPr>
        <p:spPr>
          <a:xfrm>
            <a:off x="947440" y="4331643"/>
            <a:ext cx="7597899" cy="145331"/>
          </a:xfrm>
          <a:prstGeom prst="rect">
            <a:avLst/>
          </a:prstGeom>
          <a:noFill/>
          <a:ln/>
        </p:spPr>
        <p:txBody>
          <a:bodyPr wrap="none" lIns="0" tIns="0" rIns="0" bIns="0" rtlCol="0" anchor="t"/>
          <a:lstStyle/>
          <a:p>
            <a:pPr marL="0" indent="0" algn="l">
              <a:lnSpc>
                <a:spcPct val="104000"/>
              </a:lnSpc>
              <a:buNone/>
            </a:pPr>
            <a:r>
              <a:rPr lang="en-US" sz="900" dirty="0">
                <a:solidFill>
                  <a:srgbClr val="D6E5EF"/>
                </a:solidFill>
                <a:latin typeface="Roboto Slab" pitchFamily="34" charset="0"/>
                <a:ea typeface="Roboto Slab" pitchFamily="34" charset="-122"/>
                <a:cs typeface="Roboto Slab" pitchFamily="34" charset="-120"/>
              </a:rPr>
              <a:t>Remove Non-Essential Sources</a:t>
            </a:r>
            <a:endParaRPr lang="en-US" sz="900" dirty="0"/>
          </a:p>
        </p:txBody>
      </p:sp>
      <p:sp>
        <p:nvSpPr>
          <p:cNvPr id="27" name="Text 19"/>
          <p:cNvSpPr/>
          <p:nvPr/>
        </p:nvSpPr>
        <p:spPr>
          <a:xfrm>
            <a:off x="947440" y="4518794"/>
            <a:ext cx="7597899" cy="130225"/>
          </a:xfrm>
          <a:prstGeom prst="rect">
            <a:avLst/>
          </a:prstGeom>
          <a:noFill/>
          <a:ln/>
        </p:spPr>
        <p:txBody>
          <a:bodyPr wrap="none" lIns="0" tIns="0" rIns="0" bIns="0" rtlCol="0" anchor="t"/>
          <a:lstStyle/>
          <a:p>
            <a:pPr marL="0" indent="0" algn="l">
              <a:lnSpc>
                <a:spcPct val="117000"/>
              </a:lnSpc>
              <a:buNone/>
            </a:pPr>
            <a:r>
              <a:rPr lang="en-US" sz="700" dirty="0">
                <a:solidFill>
                  <a:srgbClr val="D6E5EF"/>
                </a:solidFill>
                <a:latin typeface="Roboto" pitchFamily="34" charset="0"/>
                <a:ea typeface="Roboto" pitchFamily="34" charset="-122"/>
                <a:cs typeface="Roboto" pitchFamily="34" charset="-120"/>
              </a:rPr>
              <a:t>Place World Bank, IMF, and ICEWS in an optional extension list. They should not block completion of the core panel.</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92398"/>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Ontology: Seven-Level Architecture</a:t>
            </a:r>
            <a:endParaRPr lang="en-US" sz="2400" dirty="0"/>
          </a:p>
        </p:txBody>
      </p:sp>
      <p:sp>
        <p:nvSpPr>
          <p:cNvPr id="3" name="Text 1"/>
          <p:cNvSpPr/>
          <p:nvPr/>
        </p:nvSpPr>
        <p:spPr>
          <a:xfrm>
            <a:off x="496119" y="1127968"/>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The main challenge is that each humanitarian dataset is built differently. They use different collection methods, spatial resolutions, and time scales. Because of that, we can't simply merge them together. The ontology provides a common framework that defines how each dataset is transformed into comparable features before everything is combined into a single integrated dataset.</a:t>
            </a:r>
            <a:endParaRPr lang="en-US" sz="950" dirty="0"/>
          </a:p>
        </p:txBody>
      </p:sp>
      <p:sp>
        <p:nvSpPr>
          <p:cNvPr id="4" name="Text 2"/>
          <p:cNvSpPr/>
          <p:nvPr/>
        </p:nvSpPr>
        <p:spPr>
          <a:xfrm>
            <a:off x="496119" y="186288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01</a:t>
            </a:r>
            <a:endParaRPr lang="en-US" sz="950" dirty="0"/>
          </a:p>
        </p:txBody>
      </p:sp>
      <p:sp>
        <p:nvSpPr>
          <p:cNvPr id="5" name="Shape 3"/>
          <p:cNvSpPr/>
          <p:nvPr/>
        </p:nvSpPr>
        <p:spPr>
          <a:xfrm>
            <a:off x="496119" y="2059335"/>
            <a:ext cx="2634555" cy="14288"/>
          </a:xfrm>
          <a:prstGeom prst="rect">
            <a:avLst/>
          </a:prstGeom>
          <a:solidFill>
            <a:srgbClr val="599CE8"/>
          </a:solidFill>
          <a:ln/>
        </p:spPr>
      </p:sp>
      <p:sp>
        <p:nvSpPr>
          <p:cNvPr id="6" name="Text 4"/>
          <p:cNvSpPr/>
          <p:nvPr/>
        </p:nvSpPr>
        <p:spPr>
          <a:xfrm>
            <a:off x="496119" y="2149897"/>
            <a:ext cx="263455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Outcome of Interest</a:t>
            </a:r>
            <a:endParaRPr lang="en-US" sz="1200" dirty="0"/>
          </a:p>
        </p:txBody>
      </p:sp>
      <p:sp>
        <p:nvSpPr>
          <p:cNvPr id="7" name="Text 5"/>
          <p:cNvSpPr/>
          <p:nvPr/>
        </p:nvSpPr>
        <p:spPr>
          <a:xfrm>
            <a:off x="496119" y="2418159"/>
            <a:ext cx="2634555"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Food insecurity (IPC)</a:t>
            </a:r>
            <a:endParaRPr lang="en-US" sz="950" dirty="0"/>
          </a:p>
        </p:txBody>
      </p:sp>
      <p:sp>
        <p:nvSpPr>
          <p:cNvPr id="8" name="Text 6"/>
          <p:cNvSpPr/>
          <p:nvPr/>
        </p:nvSpPr>
        <p:spPr>
          <a:xfrm>
            <a:off x="3254648" y="186288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02</a:t>
            </a:r>
            <a:endParaRPr lang="en-US" sz="950" dirty="0"/>
          </a:p>
        </p:txBody>
      </p:sp>
      <p:sp>
        <p:nvSpPr>
          <p:cNvPr id="9" name="Shape 7"/>
          <p:cNvSpPr/>
          <p:nvPr/>
        </p:nvSpPr>
        <p:spPr>
          <a:xfrm>
            <a:off x="3254648" y="2059335"/>
            <a:ext cx="2634630" cy="14288"/>
          </a:xfrm>
          <a:prstGeom prst="rect">
            <a:avLst/>
          </a:prstGeom>
          <a:solidFill>
            <a:srgbClr val="599CE8"/>
          </a:solidFill>
          <a:ln/>
        </p:spPr>
      </p:sp>
      <p:sp>
        <p:nvSpPr>
          <p:cNvPr id="10" name="Text 8"/>
          <p:cNvSpPr/>
          <p:nvPr/>
        </p:nvSpPr>
        <p:spPr>
          <a:xfrm>
            <a:off x="3254648" y="2149897"/>
            <a:ext cx="2634630"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Humanitarian Mechanisms</a:t>
            </a:r>
            <a:endParaRPr lang="en-US" sz="1200" dirty="0"/>
          </a:p>
        </p:txBody>
      </p:sp>
      <p:sp>
        <p:nvSpPr>
          <p:cNvPr id="11" name="Text 9"/>
          <p:cNvSpPr/>
          <p:nvPr/>
        </p:nvSpPr>
        <p:spPr>
          <a:xfrm>
            <a:off x="3254648" y="2418159"/>
            <a:ext cx="2634630"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Conflict, climate, markets, reporting</a:t>
            </a:r>
            <a:endParaRPr lang="en-US" sz="950" dirty="0"/>
          </a:p>
        </p:txBody>
      </p:sp>
      <p:sp>
        <p:nvSpPr>
          <p:cNvPr id="12" name="Text 10"/>
          <p:cNvSpPr/>
          <p:nvPr/>
        </p:nvSpPr>
        <p:spPr>
          <a:xfrm>
            <a:off x="6013252" y="186288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03</a:t>
            </a:r>
            <a:endParaRPr lang="en-US" sz="950" dirty="0"/>
          </a:p>
        </p:txBody>
      </p:sp>
      <p:sp>
        <p:nvSpPr>
          <p:cNvPr id="13" name="Shape 11"/>
          <p:cNvSpPr/>
          <p:nvPr/>
        </p:nvSpPr>
        <p:spPr>
          <a:xfrm>
            <a:off x="6013252" y="2059335"/>
            <a:ext cx="2634555" cy="14288"/>
          </a:xfrm>
          <a:prstGeom prst="rect">
            <a:avLst/>
          </a:prstGeom>
          <a:solidFill>
            <a:srgbClr val="599CE8"/>
          </a:solidFill>
          <a:ln/>
        </p:spPr>
      </p:sp>
      <p:sp>
        <p:nvSpPr>
          <p:cNvPr id="14" name="Text 12"/>
          <p:cNvSpPr/>
          <p:nvPr/>
        </p:nvSpPr>
        <p:spPr>
          <a:xfrm>
            <a:off x="6013252" y="2149897"/>
            <a:ext cx="263455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Observation Sources</a:t>
            </a:r>
            <a:endParaRPr lang="en-US" sz="1200" dirty="0"/>
          </a:p>
        </p:txBody>
      </p:sp>
      <p:sp>
        <p:nvSpPr>
          <p:cNvPr id="15" name="Text 13"/>
          <p:cNvSpPr/>
          <p:nvPr/>
        </p:nvSpPr>
        <p:spPr>
          <a:xfrm>
            <a:off x="6013252" y="2418159"/>
            <a:ext cx="2634555"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ACLED, CHIRPS, WFP, ReliefWeb, VHI</a:t>
            </a:r>
            <a:endParaRPr lang="en-US" sz="950" dirty="0"/>
          </a:p>
        </p:txBody>
      </p:sp>
      <p:sp>
        <p:nvSpPr>
          <p:cNvPr id="16" name="Text 14"/>
          <p:cNvSpPr/>
          <p:nvPr/>
        </p:nvSpPr>
        <p:spPr>
          <a:xfrm>
            <a:off x="496119" y="283361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04</a:t>
            </a:r>
            <a:endParaRPr lang="en-US" sz="950" dirty="0"/>
          </a:p>
        </p:txBody>
      </p:sp>
      <p:sp>
        <p:nvSpPr>
          <p:cNvPr id="17" name="Shape 15"/>
          <p:cNvSpPr/>
          <p:nvPr/>
        </p:nvSpPr>
        <p:spPr>
          <a:xfrm>
            <a:off x="496119" y="3017639"/>
            <a:ext cx="2634555" cy="14288"/>
          </a:xfrm>
          <a:prstGeom prst="rect">
            <a:avLst/>
          </a:prstGeom>
          <a:solidFill>
            <a:srgbClr val="599CE8"/>
          </a:solidFill>
          <a:ln/>
        </p:spPr>
      </p:sp>
      <p:sp>
        <p:nvSpPr>
          <p:cNvPr id="18" name="Text 16"/>
          <p:cNvSpPr/>
          <p:nvPr/>
        </p:nvSpPr>
        <p:spPr>
          <a:xfrm>
            <a:off x="496119" y="3120628"/>
            <a:ext cx="263455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Raw Variables</a:t>
            </a:r>
            <a:endParaRPr lang="en-US" sz="1200" dirty="0"/>
          </a:p>
        </p:txBody>
      </p:sp>
      <p:sp>
        <p:nvSpPr>
          <p:cNvPr id="19" name="Text 17"/>
          <p:cNvSpPr/>
          <p:nvPr/>
        </p:nvSpPr>
        <p:spPr>
          <a:xfrm>
            <a:off x="496119" y="3388891"/>
            <a:ext cx="2634555"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Extracted fields per source</a:t>
            </a:r>
            <a:endParaRPr lang="en-US" sz="950" dirty="0"/>
          </a:p>
        </p:txBody>
      </p:sp>
      <p:sp>
        <p:nvSpPr>
          <p:cNvPr id="20" name="Text 18"/>
          <p:cNvSpPr/>
          <p:nvPr/>
        </p:nvSpPr>
        <p:spPr>
          <a:xfrm>
            <a:off x="3254648" y="283361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05</a:t>
            </a:r>
            <a:endParaRPr lang="en-US" sz="950" dirty="0"/>
          </a:p>
        </p:txBody>
      </p:sp>
      <p:sp>
        <p:nvSpPr>
          <p:cNvPr id="21" name="Shape 19"/>
          <p:cNvSpPr/>
          <p:nvPr/>
        </p:nvSpPr>
        <p:spPr>
          <a:xfrm>
            <a:off x="3254648" y="3017639"/>
            <a:ext cx="2634630" cy="14288"/>
          </a:xfrm>
          <a:prstGeom prst="rect">
            <a:avLst/>
          </a:prstGeom>
          <a:solidFill>
            <a:srgbClr val="599CE8"/>
          </a:solidFill>
          <a:ln/>
        </p:spPr>
      </p:sp>
      <p:sp>
        <p:nvSpPr>
          <p:cNvPr id="22" name="Text 20"/>
          <p:cNvSpPr/>
          <p:nvPr/>
        </p:nvSpPr>
        <p:spPr>
          <a:xfrm>
            <a:off x="3254648" y="3120628"/>
            <a:ext cx="2634630"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Transformation Rules</a:t>
            </a:r>
            <a:endParaRPr lang="en-US" sz="1200" dirty="0"/>
          </a:p>
        </p:txBody>
      </p:sp>
      <p:sp>
        <p:nvSpPr>
          <p:cNvPr id="23" name="Text 21"/>
          <p:cNvSpPr/>
          <p:nvPr/>
        </p:nvSpPr>
        <p:spPr>
          <a:xfrm>
            <a:off x="3254648" y="3388891"/>
            <a:ext cx="2634630"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Spatial and temporal processing</a:t>
            </a:r>
            <a:endParaRPr lang="en-US" sz="950" dirty="0"/>
          </a:p>
        </p:txBody>
      </p:sp>
      <p:sp>
        <p:nvSpPr>
          <p:cNvPr id="24" name="Text 22"/>
          <p:cNvSpPr/>
          <p:nvPr/>
        </p:nvSpPr>
        <p:spPr>
          <a:xfrm>
            <a:off x="6013252" y="283361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06</a:t>
            </a:r>
            <a:endParaRPr lang="en-US" sz="950" dirty="0"/>
          </a:p>
        </p:txBody>
      </p:sp>
      <p:sp>
        <p:nvSpPr>
          <p:cNvPr id="25" name="Shape 23"/>
          <p:cNvSpPr/>
          <p:nvPr/>
        </p:nvSpPr>
        <p:spPr>
          <a:xfrm>
            <a:off x="6013252" y="3017639"/>
            <a:ext cx="2634555" cy="14288"/>
          </a:xfrm>
          <a:prstGeom prst="rect">
            <a:avLst/>
          </a:prstGeom>
          <a:solidFill>
            <a:srgbClr val="599CE8"/>
          </a:solidFill>
          <a:ln/>
        </p:spPr>
      </p:sp>
      <p:sp>
        <p:nvSpPr>
          <p:cNvPr id="26" name="Text 24"/>
          <p:cNvSpPr/>
          <p:nvPr/>
        </p:nvSpPr>
        <p:spPr>
          <a:xfrm>
            <a:off x="6013252" y="3120628"/>
            <a:ext cx="263455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Engineered Features</a:t>
            </a:r>
            <a:endParaRPr lang="en-US" sz="1200" dirty="0"/>
          </a:p>
        </p:txBody>
      </p:sp>
      <p:sp>
        <p:nvSpPr>
          <p:cNvPr id="27" name="Text 25"/>
          <p:cNvSpPr/>
          <p:nvPr/>
        </p:nvSpPr>
        <p:spPr>
          <a:xfrm>
            <a:off x="6013252" y="3388891"/>
            <a:ext cx="2634555"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Final indicators per mechanism</a:t>
            </a:r>
            <a:endParaRPr lang="en-US" sz="950" dirty="0"/>
          </a:p>
        </p:txBody>
      </p:sp>
      <p:sp>
        <p:nvSpPr>
          <p:cNvPr id="28" name="Text 26"/>
          <p:cNvSpPr/>
          <p:nvPr/>
        </p:nvSpPr>
        <p:spPr>
          <a:xfrm>
            <a:off x="496119" y="3804345"/>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D6E5EF"/>
                </a:solidFill>
                <a:latin typeface="Roboto Slab Light" pitchFamily="34" charset="0"/>
                <a:ea typeface="Roboto Slab Light" pitchFamily="34" charset="-122"/>
                <a:cs typeface="Roboto Slab Light" pitchFamily="34" charset="-120"/>
              </a:rPr>
              <a:t>07</a:t>
            </a:r>
            <a:endParaRPr lang="en-US" sz="950" dirty="0"/>
          </a:p>
        </p:txBody>
      </p:sp>
      <p:sp>
        <p:nvSpPr>
          <p:cNvPr id="29" name="Shape 27"/>
          <p:cNvSpPr/>
          <p:nvPr/>
        </p:nvSpPr>
        <p:spPr>
          <a:xfrm>
            <a:off x="496119" y="3976018"/>
            <a:ext cx="8151688" cy="14288"/>
          </a:xfrm>
          <a:prstGeom prst="rect">
            <a:avLst/>
          </a:prstGeom>
          <a:solidFill>
            <a:srgbClr val="599CE8"/>
          </a:solidFill>
          <a:ln/>
        </p:spPr>
      </p:sp>
      <p:sp>
        <p:nvSpPr>
          <p:cNvPr id="30" name="Text 28"/>
          <p:cNvSpPr/>
          <p:nvPr/>
        </p:nvSpPr>
        <p:spPr>
          <a:xfrm>
            <a:off x="496119" y="4091360"/>
            <a:ext cx="8151688"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Integrated Data Panel</a:t>
            </a:r>
            <a:endParaRPr lang="en-US" sz="1200" dirty="0"/>
          </a:p>
        </p:txBody>
      </p:sp>
      <p:sp>
        <p:nvSpPr>
          <p:cNvPr id="31" name="Text 29"/>
          <p:cNvSpPr/>
          <p:nvPr/>
        </p:nvSpPr>
        <p:spPr>
          <a:xfrm>
            <a:off x="496119" y="4359622"/>
            <a:ext cx="8151688"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Admin 2 × Month unified dataset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158553"/>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1: Outcome of Interest</a:t>
            </a:r>
            <a:endParaRPr lang="en-US" sz="2400" dirty="0"/>
          </a:p>
        </p:txBody>
      </p:sp>
      <p:sp>
        <p:nvSpPr>
          <p:cNvPr id="3" name="Shape 1"/>
          <p:cNvSpPr/>
          <p:nvPr/>
        </p:nvSpPr>
        <p:spPr>
          <a:xfrm>
            <a:off x="406822" y="1732136"/>
            <a:ext cx="3680445" cy="2252737"/>
          </a:xfrm>
          <a:prstGeom prst="roundRect">
            <a:avLst>
              <a:gd name="adj" fmla="val 826"/>
            </a:avLst>
          </a:prstGeom>
          <a:solidFill>
            <a:srgbClr val="66A8EE"/>
          </a:solidFill>
          <a:ln/>
        </p:spPr>
      </p:sp>
      <p:sp>
        <p:nvSpPr>
          <p:cNvPr id="4" name="Text 2"/>
          <p:cNvSpPr/>
          <p:nvPr/>
        </p:nvSpPr>
        <p:spPr>
          <a:xfrm>
            <a:off x="530796" y="1856110"/>
            <a:ext cx="3432497"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Roboto Slab" pitchFamily="34" charset="0"/>
                <a:ea typeface="Roboto Slab" pitchFamily="34" charset="-122"/>
                <a:cs typeface="Roboto Slab" pitchFamily="34" charset="-120"/>
              </a:rPr>
              <a:t>Food Insecurity</a:t>
            </a:r>
            <a:endParaRPr lang="en-US" sz="1200" dirty="0"/>
          </a:p>
        </p:txBody>
      </p:sp>
      <p:sp>
        <p:nvSpPr>
          <p:cNvPr id="5" name="Text 3"/>
          <p:cNvSpPr/>
          <p:nvPr/>
        </p:nvSpPr>
        <p:spPr>
          <a:xfrm>
            <a:off x="530796" y="2173932"/>
            <a:ext cx="3432497" cy="1699320"/>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000000"/>
                </a:solidFill>
                <a:latin typeface="Roboto" pitchFamily="34" charset="0"/>
                <a:ea typeface="Roboto" pitchFamily="34" charset="-122"/>
                <a:cs typeface="Roboto" pitchFamily="34" charset="-120"/>
              </a:rPr>
              <a:t>The main outcome of interest is </a:t>
            </a:r>
            <a:r>
              <a:rPr lang="en-US" sz="950" b="1" dirty="0">
                <a:solidFill>
                  <a:srgbClr val="000000"/>
                </a:solidFill>
                <a:latin typeface="Roboto Bold" pitchFamily="34" charset="0"/>
                <a:ea typeface="Roboto Bold" pitchFamily="34" charset="-122"/>
                <a:cs typeface="Roboto Bold" pitchFamily="34" charset="-120"/>
              </a:rPr>
              <a:t>food insecurity</a:t>
            </a:r>
            <a:r>
              <a:rPr lang="en-US" sz="950" dirty="0">
                <a:solidFill>
                  <a:srgbClr val="000000"/>
                </a:solidFill>
                <a:latin typeface="Roboto" pitchFamily="34" charset="0"/>
                <a:ea typeface="Roboto" pitchFamily="34" charset="-122"/>
                <a:cs typeface="Roboto" pitchFamily="34" charset="-120"/>
              </a:rPr>
              <a:t>, represented using the </a:t>
            </a:r>
            <a:r>
              <a:rPr lang="en-US" sz="950" b="1" dirty="0">
                <a:solidFill>
                  <a:srgbClr val="000000"/>
                </a:solidFill>
                <a:latin typeface="Roboto Bold" pitchFamily="34" charset="0"/>
                <a:ea typeface="Roboto Bold" pitchFamily="34" charset="-122"/>
                <a:cs typeface="Roboto Bold" pitchFamily="34" charset="-120"/>
              </a:rPr>
              <a:t>Integrated Food Security Phase Classification (IPC)</a:t>
            </a:r>
            <a:r>
              <a:rPr lang="en-US" sz="950" dirty="0">
                <a:solidFill>
                  <a:srgbClr val="000000"/>
                </a:solidFill>
                <a:latin typeface="Roboto" pitchFamily="34" charset="0"/>
                <a:ea typeface="Roboto" pitchFamily="34" charset="-122"/>
                <a:cs typeface="Roboto" pitchFamily="34" charset="-120"/>
              </a:rPr>
              <a:t> — an internationally recognized framework classifying severity into five phases, from minimal (Phase 1) to catastrophe or famine (Phase 5).</a:t>
            </a:r>
            <a:endParaRPr lang="en-US" sz="950" dirty="0"/>
          </a:p>
          <a:p>
            <a:pPr marL="0" indent="0" algn="l">
              <a:lnSpc>
                <a:spcPct val="133000"/>
              </a:lnSpc>
              <a:buNone/>
            </a:pPr>
            <a:r>
              <a:rPr lang="en-US" sz="950" dirty="0">
                <a:solidFill>
                  <a:srgbClr val="000000"/>
                </a:solidFill>
                <a:latin typeface="Roboto" pitchFamily="34" charset="0"/>
                <a:ea typeface="Roboto" pitchFamily="34" charset="-122"/>
                <a:cs typeface="Roboto" pitchFamily="34" charset="-120"/>
              </a:rPr>
              <a:t>Within the ontology, IPC is treated differently from all other datasets: it serves as the </a:t>
            </a:r>
            <a:r>
              <a:rPr lang="en-US" sz="950" b="1" dirty="0">
                <a:solidFill>
                  <a:srgbClr val="000000"/>
                </a:solidFill>
                <a:latin typeface="Roboto Bold" pitchFamily="34" charset="0"/>
                <a:ea typeface="Roboto Bold" pitchFamily="34" charset="-122"/>
                <a:cs typeface="Roboto Bold" pitchFamily="34" charset="-120"/>
              </a:rPr>
              <a:t>reference outcome</a:t>
            </a:r>
            <a:r>
              <a:rPr lang="en-US" sz="950" dirty="0">
                <a:solidFill>
                  <a:srgbClr val="000000"/>
                </a:solidFill>
                <a:latin typeface="Roboto" pitchFamily="34" charset="0"/>
                <a:ea typeface="Roboto" pitchFamily="34" charset="-122"/>
                <a:cs typeface="Roboto" pitchFamily="34" charset="-120"/>
              </a:rPr>
              <a:t>, not an explanatory feature.</a:t>
            </a:r>
            <a:endParaRPr lang="en-US" sz="950" dirty="0"/>
          </a:p>
        </p:txBody>
      </p:sp>
      <p:sp>
        <p:nvSpPr>
          <p:cNvPr id="6" name="Text 4"/>
          <p:cNvSpPr/>
          <p:nvPr/>
        </p:nvSpPr>
        <p:spPr>
          <a:xfrm>
            <a:off x="4305300" y="1856110"/>
            <a:ext cx="4347270" cy="193849"/>
          </a:xfrm>
          <a:prstGeom prst="rect">
            <a:avLst/>
          </a:prstGeom>
          <a:noFill/>
          <a:ln/>
        </p:spPr>
        <p:txBody>
          <a:bodyPr wrap="none" lIns="0" tIns="0" rIns="0" bIns="0" rtlCol="0" anchor="t"/>
          <a:lstStyle/>
          <a:p>
            <a:pPr marL="0" indent="0" algn="l">
              <a:lnSpc>
                <a:spcPct val="104000"/>
              </a:lnSpc>
              <a:buNone/>
            </a:pPr>
            <a:r>
              <a:rPr lang="en-US" sz="1200" dirty="0">
                <a:solidFill>
                  <a:srgbClr val="76B9FF"/>
                </a:solidFill>
                <a:latin typeface="Roboto Slab" pitchFamily="34" charset="0"/>
                <a:ea typeface="Roboto Slab" pitchFamily="34" charset="-122"/>
                <a:cs typeface="Roboto Slab" pitchFamily="34" charset="-120"/>
              </a:rPr>
              <a:t>Conceptual Distinction</a:t>
            </a:r>
            <a:endParaRPr lang="en-US" sz="1200" dirty="0"/>
          </a:p>
        </p:txBody>
      </p:sp>
      <p:sp>
        <p:nvSpPr>
          <p:cNvPr id="7" name="Text 5"/>
          <p:cNvSpPr/>
          <p:nvPr/>
        </p:nvSpPr>
        <p:spPr>
          <a:xfrm>
            <a:off x="4305300" y="2173932"/>
            <a:ext cx="4347270" cy="1103933"/>
          </a:xfrm>
          <a:prstGeom prst="rect">
            <a:avLst/>
          </a:prstGeom>
          <a:noFill/>
          <a:ln/>
        </p:spPr>
        <p:txBody>
          <a:bodyPr wrap="square" lIns="0" tIns="0" rIns="0" bIns="0" rtlCol="0" anchor="t">
            <a:normAutofit/>
          </a:bodyPr>
          <a:lstStyle/>
          <a:p>
            <a:pPr marL="0" indent="0" algn="l">
              <a:lnSpc>
                <a:spcPct val="133000"/>
              </a:lnSpc>
              <a:spcAft>
                <a:spcPts val="850"/>
              </a:spcAft>
              <a:buNone/>
            </a:pPr>
            <a:r>
              <a:rPr lang="en-US" sz="950" dirty="0">
                <a:solidFill>
                  <a:srgbClr val="D6E5EF"/>
                </a:solidFill>
                <a:latin typeface="Roboto" pitchFamily="34" charset="0"/>
                <a:ea typeface="Roboto" pitchFamily="34" charset="-122"/>
                <a:cs typeface="Roboto" pitchFamily="34" charset="-120"/>
              </a:rPr>
              <a:t>By placing food insecurity at the highest level, the ontology draws a clear distinction between the </a:t>
            </a:r>
            <a:r>
              <a:rPr lang="en-US" sz="950" b="1" dirty="0">
                <a:solidFill>
                  <a:srgbClr val="D6E5EF"/>
                </a:solidFill>
                <a:latin typeface="Roboto Bold" pitchFamily="34" charset="0"/>
                <a:ea typeface="Roboto Bold" pitchFamily="34" charset="-122"/>
                <a:cs typeface="Roboto Bold" pitchFamily="34" charset="-120"/>
              </a:rPr>
              <a:t>outcome variable</a:t>
            </a:r>
            <a:r>
              <a:rPr lang="en-US" sz="950" dirty="0">
                <a:solidFill>
                  <a:srgbClr val="D6E5EF"/>
                </a:solidFill>
                <a:latin typeface="Roboto" pitchFamily="34" charset="0"/>
                <a:ea typeface="Roboto" pitchFamily="34" charset="-122"/>
                <a:cs typeface="Roboto" pitchFamily="34" charset="-120"/>
              </a:rPr>
              <a:t> and the </a:t>
            </a:r>
            <a:r>
              <a:rPr lang="en-US" sz="950" b="1" dirty="0">
                <a:solidFill>
                  <a:srgbClr val="D6E5EF"/>
                </a:solidFill>
                <a:latin typeface="Roboto Bold" pitchFamily="34" charset="0"/>
                <a:ea typeface="Roboto Bold" pitchFamily="34" charset="-122"/>
                <a:cs typeface="Roboto Bold" pitchFamily="34" charset="-120"/>
              </a:rPr>
              <a:t>explanatory variables</a:t>
            </a:r>
            <a:r>
              <a:rPr lang="en-US" sz="950" dirty="0">
                <a:solidFill>
                  <a:srgbClr val="D6E5EF"/>
                </a:solidFill>
                <a:latin typeface="Roboto" pitchFamily="34" charset="0"/>
                <a:ea typeface="Roboto" pitchFamily="34" charset="-122"/>
                <a:cs typeface="Roboto" pitchFamily="34" charset="-120"/>
              </a:rPr>
              <a:t> derived from conflict, climate, markets, and humanitarian reporting datasets.</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The remaining mechanisms may be </a:t>
            </a:r>
            <a:r>
              <a:rPr lang="en-US" sz="950" i="1" dirty="0">
                <a:solidFill>
                  <a:srgbClr val="D6E5EF"/>
                </a:solidFill>
                <a:latin typeface="Roboto" pitchFamily="34" charset="0"/>
                <a:ea typeface="Roboto" pitchFamily="34" charset="-122"/>
                <a:cs typeface="Roboto" pitchFamily="34" charset="-120"/>
              </a:rPr>
              <a:t>associated</a:t>
            </a:r>
            <a:r>
              <a:rPr lang="en-US" sz="950" dirty="0">
                <a:solidFill>
                  <a:srgbClr val="D6E5EF"/>
                </a:solidFill>
                <a:latin typeface="Roboto" pitchFamily="34" charset="0"/>
                <a:ea typeface="Roboto" pitchFamily="34" charset="-122"/>
                <a:cs typeface="Roboto" pitchFamily="34" charset="-120"/>
              </a:rPr>
              <a:t> with food insecurity but are not direct measurements of IPC classification </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64331"/>
            <a:ext cx="8151763" cy="381521"/>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2: Four Humanitarian Mechanisms</a:t>
            </a:r>
            <a:endParaRPr lang="en-US" sz="2400" dirty="0"/>
          </a:p>
        </p:txBody>
      </p:sp>
      <p:sp>
        <p:nvSpPr>
          <p:cNvPr id="3" name="Text 1"/>
          <p:cNvSpPr/>
          <p:nvPr/>
        </p:nvSpPr>
        <p:spPr>
          <a:xfrm>
            <a:off x="496119" y="986210"/>
            <a:ext cx="8151763"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Each mechanism captures a distinct dimension of the humanitarian environment, avoiding the assumption that all datasets measure the same phenomenon.</a:t>
            </a:r>
            <a:endParaRPr lang="en-US" sz="950" dirty="0"/>
          </a:p>
        </p:txBody>
      </p:sp>
      <p:sp>
        <p:nvSpPr>
          <p:cNvPr id="4" name="Shape 2"/>
          <p:cNvSpPr/>
          <p:nvPr/>
        </p:nvSpPr>
        <p:spPr>
          <a:xfrm>
            <a:off x="496119" y="1509117"/>
            <a:ext cx="4015755" cy="1574899"/>
          </a:xfrm>
          <a:prstGeom prst="roundRect">
            <a:avLst>
              <a:gd name="adj" fmla="val 1163"/>
            </a:avLst>
          </a:prstGeom>
          <a:solidFill>
            <a:srgbClr val="3F4652"/>
          </a:solidFill>
          <a:ln/>
        </p:spPr>
      </p:sp>
      <p:sp>
        <p:nvSpPr>
          <p:cNvPr id="5" name="Shape 3"/>
          <p:cNvSpPr/>
          <p:nvPr/>
        </p:nvSpPr>
        <p:spPr>
          <a:xfrm>
            <a:off x="618158" y="1631156"/>
            <a:ext cx="366266" cy="366266"/>
          </a:xfrm>
          <a:prstGeom prst="ellipse">
            <a:avLst/>
          </a:prstGeom>
          <a:solidFill>
            <a:srgbClr val="599CE8"/>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8840" y="1731838"/>
            <a:ext cx="164827" cy="164827"/>
          </a:xfrm>
          <a:prstGeom prst="rect">
            <a:avLst/>
          </a:prstGeom>
        </p:spPr>
      </p:pic>
      <p:sp>
        <p:nvSpPr>
          <p:cNvPr id="7" name="Text 4"/>
          <p:cNvSpPr/>
          <p:nvPr/>
        </p:nvSpPr>
        <p:spPr>
          <a:xfrm>
            <a:off x="618158" y="2117601"/>
            <a:ext cx="3771677" cy="190723"/>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Conflict &amp; Insecurity</a:t>
            </a:r>
            <a:endParaRPr lang="en-US" sz="1200" dirty="0"/>
          </a:p>
        </p:txBody>
      </p:sp>
      <p:sp>
        <p:nvSpPr>
          <p:cNvPr id="8" name="Text 5"/>
          <p:cNvSpPr/>
          <p:nvPr/>
        </p:nvSpPr>
        <p:spPr>
          <a:xfrm>
            <a:off x="618158" y="2380431"/>
            <a:ext cx="3771677" cy="581546"/>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Armed conflict, political violence, and insecurity disrupting agricultural production, displacing communities, interrupting supply chains, and restricting humanitarian access.</a:t>
            </a:r>
            <a:endParaRPr lang="en-US" sz="950" dirty="0"/>
          </a:p>
        </p:txBody>
      </p:sp>
      <p:sp>
        <p:nvSpPr>
          <p:cNvPr id="9" name="Shape 6"/>
          <p:cNvSpPr/>
          <p:nvPr/>
        </p:nvSpPr>
        <p:spPr>
          <a:xfrm>
            <a:off x="4632052" y="1509117"/>
            <a:ext cx="4015829" cy="1574899"/>
          </a:xfrm>
          <a:prstGeom prst="roundRect">
            <a:avLst>
              <a:gd name="adj" fmla="val 1163"/>
            </a:avLst>
          </a:prstGeom>
          <a:solidFill>
            <a:srgbClr val="3F4652"/>
          </a:solidFill>
          <a:ln/>
        </p:spPr>
      </p:sp>
      <p:sp>
        <p:nvSpPr>
          <p:cNvPr id="10" name="Shape 7"/>
          <p:cNvSpPr/>
          <p:nvPr/>
        </p:nvSpPr>
        <p:spPr>
          <a:xfrm>
            <a:off x="4754091" y="1631156"/>
            <a:ext cx="366266" cy="366266"/>
          </a:xfrm>
          <a:prstGeom prst="ellipse">
            <a:avLst/>
          </a:prstGeom>
          <a:solidFill>
            <a:srgbClr val="599CE8"/>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54773" y="1731838"/>
            <a:ext cx="164827" cy="164827"/>
          </a:xfrm>
          <a:prstGeom prst="rect">
            <a:avLst/>
          </a:prstGeom>
        </p:spPr>
      </p:pic>
      <p:sp>
        <p:nvSpPr>
          <p:cNvPr id="12" name="Text 8"/>
          <p:cNvSpPr/>
          <p:nvPr/>
        </p:nvSpPr>
        <p:spPr>
          <a:xfrm>
            <a:off x="4754091" y="2117601"/>
            <a:ext cx="3771751" cy="190723"/>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Climate &amp; Agricultural Stress</a:t>
            </a:r>
            <a:endParaRPr lang="en-US" sz="1200" dirty="0"/>
          </a:p>
        </p:txBody>
      </p:sp>
      <p:sp>
        <p:nvSpPr>
          <p:cNvPr id="13" name="Text 9"/>
          <p:cNvSpPr/>
          <p:nvPr/>
        </p:nvSpPr>
        <p:spPr>
          <a:xfrm>
            <a:off x="4754091" y="2380431"/>
            <a:ext cx="3771751" cy="581546"/>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Environmental conditions — rainfall variability, droughts, and climate events — reducing crop yields, affecting livestock, and increasing food insecurity risk.</a:t>
            </a:r>
            <a:endParaRPr lang="en-US" sz="950" dirty="0"/>
          </a:p>
        </p:txBody>
      </p:sp>
      <p:sp>
        <p:nvSpPr>
          <p:cNvPr id="14" name="Shape 10"/>
          <p:cNvSpPr/>
          <p:nvPr/>
        </p:nvSpPr>
        <p:spPr>
          <a:xfrm>
            <a:off x="496119" y="3204195"/>
            <a:ext cx="4015755" cy="1574899"/>
          </a:xfrm>
          <a:prstGeom prst="roundRect">
            <a:avLst>
              <a:gd name="adj" fmla="val 1163"/>
            </a:avLst>
          </a:prstGeom>
          <a:solidFill>
            <a:srgbClr val="3F4652"/>
          </a:solidFill>
          <a:ln/>
        </p:spPr>
      </p:sp>
      <p:sp>
        <p:nvSpPr>
          <p:cNvPr id="15" name="Shape 11"/>
          <p:cNvSpPr/>
          <p:nvPr/>
        </p:nvSpPr>
        <p:spPr>
          <a:xfrm>
            <a:off x="618158" y="3326234"/>
            <a:ext cx="366266" cy="366266"/>
          </a:xfrm>
          <a:prstGeom prst="ellipse">
            <a:avLst/>
          </a:prstGeom>
          <a:solidFill>
            <a:srgbClr val="599CE8"/>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8840" y="3426916"/>
            <a:ext cx="164827" cy="164827"/>
          </a:xfrm>
          <a:prstGeom prst="rect">
            <a:avLst/>
          </a:prstGeom>
        </p:spPr>
      </p:pic>
      <p:sp>
        <p:nvSpPr>
          <p:cNvPr id="17" name="Text 12"/>
          <p:cNvSpPr/>
          <p:nvPr/>
        </p:nvSpPr>
        <p:spPr>
          <a:xfrm>
            <a:off x="618158" y="3812679"/>
            <a:ext cx="3771677" cy="190723"/>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Market &amp; Food Price Pressure</a:t>
            </a:r>
            <a:endParaRPr lang="en-US" sz="1200" dirty="0"/>
          </a:p>
        </p:txBody>
      </p:sp>
      <p:sp>
        <p:nvSpPr>
          <p:cNvPr id="18" name="Text 13"/>
          <p:cNvSpPr/>
          <p:nvPr/>
        </p:nvSpPr>
        <p:spPr>
          <a:xfrm>
            <a:off x="618158" y="4075509"/>
            <a:ext cx="3771677" cy="581546"/>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Rising food prices, market disruptions, and reduced market access limiting household purchasing power and increasing vulnerability to food insecurity.</a:t>
            </a:r>
            <a:endParaRPr lang="en-US" sz="950" dirty="0"/>
          </a:p>
        </p:txBody>
      </p:sp>
      <p:sp>
        <p:nvSpPr>
          <p:cNvPr id="19" name="Shape 14"/>
          <p:cNvSpPr/>
          <p:nvPr/>
        </p:nvSpPr>
        <p:spPr>
          <a:xfrm>
            <a:off x="4632052" y="3204195"/>
            <a:ext cx="4015829" cy="1574899"/>
          </a:xfrm>
          <a:prstGeom prst="roundRect">
            <a:avLst>
              <a:gd name="adj" fmla="val 1163"/>
            </a:avLst>
          </a:prstGeom>
          <a:solidFill>
            <a:srgbClr val="3F4652"/>
          </a:solidFill>
          <a:ln/>
        </p:spPr>
      </p:sp>
      <p:sp>
        <p:nvSpPr>
          <p:cNvPr id="20" name="Shape 15"/>
          <p:cNvSpPr/>
          <p:nvPr/>
        </p:nvSpPr>
        <p:spPr>
          <a:xfrm>
            <a:off x="4754091" y="3326234"/>
            <a:ext cx="366266" cy="366266"/>
          </a:xfrm>
          <a:prstGeom prst="ellipse">
            <a:avLst/>
          </a:prstGeom>
          <a:solidFill>
            <a:srgbClr val="599CE8"/>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54773" y="3426916"/>
            <a:ext cx="164827" cy="164827"/>
          </a:xfrm>
          <a:prstGeom prst="rect">
            <a:avLst/>
          </a:prstGeom>
        </p:spPr>
      </p:pic>
      <p:sp>
        <p:nvSpPr>
          <p:cNvPr id="22" name="Text 16"/>
          <p:cNvSpPr/>
          <p:nvPr/>
        </p:nvSpPr>
        <p:spPr>
          <a:xfrm>
            <a:off x="4754091" y="3812679"/>
            <a:ext cx="3771751" cy="190723"/>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Humanitarian Reporting &amp; Response</a:t>
            </a:r>
            <a:endParaRPr lang="en-US" sz="1200" dirty="0"/>
          </a:p>
        </p:txBody>
      </p:sp>
      <p:sp>
        <p:nvSpPr>
          <p:cNvPr id="23" name="Text 17"/>
          <p:cNvSpPr/>
          <p:nvPr/>
        </p:nvSpPr>
        <p:spPr>
          <a:xfrm>
            <a:off x="4754091" y="4075509"/>
            <a:ext cx="3771751" cy="581546"/>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Level of humanitarian activity and reporting associated with a crisis, providing context on severity and location — though reporting intensity is not a direct measure of need.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917451"/>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3: Observation Sources</a:t>
            </a:r>
            <a:endParaRPr lang="en-US" sz="2400" dirty="0"/>
          </a:p>
        </p:txBody>
      </p:sp>
      <p:sp>
        <p:nvSpPr>
          <p:cNvPr id="3" name="Text 1"/>
          <p:cNvSpPr/>
          <p:nvPr/>
        </p:nvSpPr>
        <p:spPr>
          <a:xfrm>
            <a:off x="496119" y="155302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Mechanisms cannot be observed directly — they are represented through complementary datasets, each with its own collection methods, spatial resolution, and temporal frequency.</a:t>
            </a:r>
            <a:endParaRPr lang="en-US" sz="950" dirty="0"/>
          </a:p>
        </p:txBody>
      </p:sp>
      <p:pic>
        <p:nvPicPr>
          <p:cNvPr id="4" name="Image 0" descr="preencoded.png"/>
          <p:cNvPicPr>
            <a:picLocks noChangeAspect="1"/>
          </p:cNvPicPr>
          <p:nvPr/>
        </p:nvPicPr>
        <p:blipFill>
          <a:blip r:embed="rId3"/>
          <a:stretch>
            <a:fillRect/>
          </a:stretch>
        </p:blipFill>
        <p:spPr>
          <a:xfrm>
            <a:off x="496119" y="2089472"/>
            <a:ext cx="845493" cy="522536"/>
          </a:xfrm>
          <a:prstGeom prst="rect">
            <a:avLst/>
          </a:prstGeom>
        </p:spPr>
      </p:pic>
      <p:sp>
        <p:nvSpPr>
          <p:cNvPr id="5" name="Text 2"/>
          <p:cNvSpPr/>
          <p:nvPr/>
        </p:nvSpPr>
        <p:spPr>
          <a:xfrm>
            <a:off x="496119"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ACLED</a:t>
            </a:r>
            <a:endParaRPr lang="en-US" sz="1200" dirty="0"/>
          </a:p>
        </p:txBody>
      </p:sp>
      <p:sp>
        <p:nvSpPr>
          <p:cNvPr id="6" name="Text 3"/>
          <p:cNvSpPr/>
          <p:nvPr/>
        </p:nvSpPr>
        <p:spPr>
          <a:xfrm>
            <a:off x="496119" y="3035275"/>
            <a:ext cx="1921669" cy="1190774"/>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D6E5EF"/>
                </a:solidFill>
                <a:latin typeface="Roboto Bold" pitchFamily="34" charset="0"/>
                <a:ea typeface="Roboto Bold" pitchFamily="34" charset="-122"/>
                <a:cs typeface="Roboto Bold" pitchFamily="34" charset="-120"/>
              </a:rPr>
              <a:t>Conflict &amp; Insecurity</a:t>
            </a:r>
            <a:r>
              <a:rPr lang="en-US" sz="950" dirty="0">
                <a:solidFill>
                  <a:srgbClr val="D6E5EF"/>
                </a:solidFill>
                <a:latin typeface="Roboto" pitchFamily="34" charset="0"/>
                <a:ea typeface="Roboto" pitchFamily="34" charset="-122"/>
                <a:cs typeface="Roboto" pitchFamily="34" charset="-120"/>
              </a:rPr>
              <a:t> — Records conflict events, political violence, protests, and fatalities. GDELT is an optional future extension for media-reported global news coverage.</a:t>
            </a:r>
            <a:endParaRPr lang="en-US" sz="950" dirty="0"/>
          </a:p>
        </p:txBody>
      </p:sp>
      <p:pic>
        <p:nvPicPr>
          <p:cNvPr id="7" name="Image 1" descr="preencoded.png"/>
          <p:cNvPicPr>
            <a:picLocks noChangeAspect="1"/>
          </p:cNvPicPr>
          <p:nvPr/>
        </p:nvPicPr>
        <p:blipFill>
          <a:blip r:embed="rId4"/>
          <a:stretch>
            <a:fillRect/>
          </a:stretch>
        </p:blipFill>
        <p:spPr>
          <a:xfrm>
            <a:off x="2572792" y="2089472"/>
            <a:ext cx="845493" cy="522536"/>
          </a:xfrm>
          <a:prstGeom prst="rect">
            <a:avLst/>
          </a:prstGeom>
        </p:spPr>
      </p:pic>
      <p:sp>
        <p:nvSpPr>
          <p:cNvPr id="8" name="Text 4"/>
          <p:cNvSpPr/>
          <p:nvPr/>
        </p:nvSpPr>
        <p:spPr>
          <a:xfrm>
            <a:off x="2572792"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CHIRPS</a:t>
            </a:r>
            <a:endParaRPr lang="en-US" sz="1200" dirty="0"/>
          </a:p>
        </p:txBody>
      </p:sp>
      <p:sp>
        <p:nvSpPr>
          <p:cNvPr id="9" name="Text 5"/>
          <p:cNvSpPr/>
          <p:nvPr/>
        </p:nvSpPr>
        <p:spPr>
          <a:xfrm>
            <a:off x="2572792" y="3035275"/>
            <a:ext cx="1921669" cy="793849"/>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D6E5EF"/>
                </a:solidFill>
                <a:latin typeface="Roboto Bold" pitchFamily="34" charset="0"/>
                <a:ea typeface="Roboto Bold" pitchFamily="34" charset="-122"/>
                <a:cs typeface="Roboto Bold" pitchFamily="34" charset="-120"/>
              </a:rPr>
              <a:t>Climate &amp; Agricultural Stress</a:t>
            </a:r>
            <a:r>
              <a:rPr lang="en-US" sz="950" dirty="0">
                <a:solidFill>
                  <a:srgbClr val="D6E5EF"/>
                </a:solidFill>
                <a:latin typeface="Roboto" pitchFamily="34" charset="0"/>
                <a:ea typeface="Roboto" pitchFamily="34" charset="-122"/>
                <a:cs typeface="Roboto" pitchFamily="34" charset="-120"/>
              </a:rPr>
              <a:t> — Satellite-derived rainfall estimates for assessing rainfall variability and potential agricultural stress.</a:t>
            </a:r>
            <a:endParaRPr lang="en-US" sz="950" dirty="0"/>
          </a:p>
        </p:txBody>
      </p:sp>
      <p:pic>
        <p:nvPicPr>
          <p:cNvPr id="10" name="Image 2" descr="preencoded.png"/>
          <p:cNvPicPr>
            <a:picLocks noChangeAspect="1"/>
          </p:cNvPicPr>
          <p:nvPr/>
        </p:nvPicPr>
        <p:blipFill>
          <a:blip r:embed="rId5"/>
          <a:stretch>
            <a:fillRect/>
          </a:stretch>
        </p:blipFill>
        <p:spPr>
          <a:xfrm>
            <a:off x="4649465" y="2089472"/>
            <a:ext cx="845493" cy="522536"/>
          </a:xfrm>
          <a:prstGeom prst="rect">
            <a:avLst/>
          </a:prstGeom>
        </p:spPr>
      </p:pic>
      <p:sp>
        <p:nvSpPr>
          <p:cNvPr id="11" name="Text 6"/>
          <p:cNvSpPr/>
          <p:nvPr/>
        </p:nvSpPr>
        <p:spPr>
          <a:xfrm>
            <a:off x="4649465" y="2767013"/>
            <a:ext cx="1921669"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WFP Food Prices</a:t>
            </a:r>
            <a:endParaRPr lang="en-US" sz="1200" dirty="0"/>
          </a:p>
        </p:txBody>
      </p:sp>
      <p:sp>
        <p:nvSpPr>
          <p:cNvPr id="12" name="Text 7"/>
          <p:cNvSpPr/>
          <p:nvPr/>
        </p:nvSpPr>
        <p:spPr>
          <a:xfrm>
            <a:off x="4649465" y="3035275"/>
            <a:ext cx="1921669" cy="992312"/>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D6E5EF"/>
                </a:solidFill>
                <a:latin typeface="Roboto Bold" pitchFamily="34" charset="0"/>
                <a:ea typeface="Roboto Bold" pitchFamily="34" charset="-122"/>
                <a:cs typeface="Roboto Bold" pitchFamily="34" charset="-120"/>
              </a:rPr>
              <a:t>Market &amp; Food Price Pressure</a:t>
            </a:r>
            <a:r>
              <a:rPr lang="en-US" sz="950" dirty="0">
                <a:solidFill>
                  <a:srgbClr val="D6E5EF"/>
                </a:solidFill>
                <a:latin typeface="Roboto" pitchFamily="34" charset="0"/>
                <a:ea typeface="Roboto" pitchFamily="34" charset="-122"/>
                <a:cs typeface="Roboto" pitchFamily="34" charset="-120"/>
              </a:rPr>
              <a:t> — Market-level prices for staple commodities, monitoring changes in food affordability and market conditions.</a:t>
            </a:r>
            <a:endParaRPr lang="en-US" sz="950" dirty="0"/>
          </a:p>
        </p:txBody>
      </p:sp>
      <p:pic>
        <p:nvPicPr>
          <p:cNvPr id="13" name="Image 3" descr="preencoded.png"/>
          <p:cNvPicPr>
            <a:picLocks noChangeAspect="1"/>
          </p:cNvPicPr>
          <p:nvPr/>
        </p:nvPicPr>
        <p:blipFill>
          <a:blip r:embed="rId6"/>
          <a:stretch>
            <a:fillRect/>
          </a:stretch>
        </p:blipFill>
        <p:spPr>
          <a:xfrm>
            <a:off x="6726138" y="2089472"/>
            <a:ext cx="845567" cy="522536"/>
          </a:xfrm>
          <a:prstGeom prst="rect">
            <a:avLst/>
          </a:prstGeom>
        </p:spPr>
      </p:pic>
      <p:sp>
        <p:nvSpPr>
          <p:cNvPr id="14" name="Text 8"/>
          <p:cNvSpPr/>
          <p:nvPr/>
        </p:nvSpPr>
        <p:spPr>
          <a:xfrm>
            <a:off x="6726138" y="2767013"/>
            <a:ext cx="1921743"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ReliefWeb</a:t>
            </a:r>
            <a:endParaRPr lang="en-US" sz="1200" dirty="0"/>
          </a:p>
        </p:txBody>
      </p:sp>
      <p:sp>
        <p:nvSpPr>
          <p:cNvPr id="15" name="Text 9"/>
          <p:cNvSpPr/>
          <p:nvPr/>
        </p:nvSpPr>
        <p:spPr>
          <a:xfrm>
            <a:off x="6726138" y="3035275"/>
            <a:ext cx="1921743" cy="992312"/>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D6E5EF"/>
                </a:solidFill>
                <a:latin typeface="Roboto Bold" pitchFamily="34" charset="0"/>
                <a:ea typeface="Roboto Bold" pitchFamily="34" charset="-122"/>
                <a:cs typeface="Roboto Bold" pitchFamily="34" charset="-120"/>
              </a:rPr>
              <a:t>Humanitarian Reporting</a:t>
            </a:r>
            <a:r>
              <a:rPr lang="en-US" sz="950" dirty="0">
                <a:solidFill>
                  <a:srgbClr val="D6E5EF"/>
                </a:solidFill>
                <a:latin typeface="Roboto" pitchFamily="34" charset="0"/>
                <a:ea typeface="Roboto" pitchFamily="34" charset="-122"/>
                <a:cs typeface="Roboto" pitchFamily="34" charset="-120"/>
              </a:rPr>
              <a:t> — Aggregates reports from governments, NGOs, and UN agencies on ongoing crises and humanitarian activities.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02023"/>
            <a:ext cx="4722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Vegetation Health Index (VHI)</a:t>
            </a:r>
            <a:endParaRPr lang="en-US" sz="2400" dirty="0"/>
          </a:p>
        </p:txBody>
      </p:sp>
      <p:sp>
        <p:nvSpPr>
          <p:cNvPr id="4" name="Text 1"/>
          <p:cNvSpPr/>
          <p:nvPr/>
        </p:nvSpPr>
        <p:spPr>
          <a:xfrm>
            <a:off x="496119" y="1875606"/>
            <a:ext cx="4722763" cy="1131838"/>
          </a:xfrm>
          <a:prstGeom prst="rect">
            <a:avLst/>
          </a:prstGeom>
          <a:noFill/>
          <a:ln/>
        </p:spPr>
        <p:txBody>
          <a:bodyPr wrap="square" lIns="0" tIns="0" rIns="0" bIns="0" rtlCol="0" anchor="t">
            <a:normAutofit/>
          </a:bodyPr>
          <a:lstStyle/>
          <a:p>
            <a:pPr marL="0" indent="0" algn="l">
              <a:lnSpc>
                <a:spcPct val="133000"/>
              </a:lnSpc>
              <a:spcAft>
                <a:spcPts val="1050"/>
              </a:spcAft>
              <a:buNone/>
            </a:pPr>
            <a:r>
              <a:rPr lang="en-US" sz="950" dirty="0">
                <a:solidFill>
                  <a:srgbClr val="D6E5EF"/>
                </a:solidFill>
                <a:latin typeface="Roboto" pitchFamily="34" charset="0"/>
                <a:ea typeface="Roboto" pitchFamily="34" charset="-122"/>
                <a:cs typeface="Roboto" pitchFamily="34" charset="-120"/>
              </a:rPr>
              <a:t>The Vegetation Health Index (VHI)  assesses vegetation health using satellite measurements of surface temperature and greenness.</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It combines the Vegetation Condition Index (VCI), reflecting vegetation greenness, and the Temperature Condition Index (TCI), reflecting temperature. Low VHI values typically indicate vegetation stress, often linked to drought conditions.</a:t>
            </a:r>
            <a:endParaRPr lang="en-US" sz="950" dirty="0"/>
          </a:p>
        </p:txBody>
      </p:sp>
      <p:sp>
        <p:nvSpPr>
          <p:cNvPr id="5" name="Shape 2"/>
          <p:cNvSpPr/>
          <p:nvPr/>
        </p:nvSpPr>
        <p:spPr>
          <a:xfrm>
            <a:off x="496119" y="3146971"/>
            <a:ext cx="4722763" cy="694432"/>
          </a:xfrm>
          <a:prstGeom prst="roundRect">
            <a:avLst>
              <a:gd name="adj" fmla="val 2679"/>
            </a:avLst>
          </a:prstGeom>
          <a:solidFill>
            <a:srgbClr val="022349"/>
          </a:solidFill>
          <a:ln/>
        </p:spPr>
      </p:sp>
      <p:pic>
        <p:nvPicPr>
          <p:cNvPr id="6" name="Image 1" descr="preencoded.png"/>
          <p:cNvPicPr>
            <a:picLocks noChangeAspect="1"/>
          </p:cNvPicPr>
          <p:nvPr/>
        </p:nvPicPr>
        <p:blipFill>
          <a:blip r:embed="rId4"/>
          <a:stretch>
            <a:fillRect/>
          </a:stretch>
        </p:blipFill>
        <p:spPr>
          <a:xfrm>
            <a:off x="620092" y="3326755"/>
            <a:ext cx="155004" cy="123974"/>
          </a:xfrm>
          <a:prstGeom prst="rect">
            <a:avLst/>
          </a:prstGeom>
        </p:spPr>
      </p:pic>
      <p:sp>
        <p:nvSpPr>
          <p:cNvPr id="7" name="Text 3"/>
          <p:cNvSpPr/>
          <p:nvPr/>
        </p:nvSpPr>
        <p:spPr>
          <a:xfrm>
            <a:off x="899071" y="3301901"/>
            <a:ext cx="4195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Roboto" pitchFamily="34" charset="0"/>
                <a:ea typeface="Roboto" pitchFamily="34" charset="-122"/>
                <a:cs typeface="Roboto" pitchFamily="34" charset="-120"/>
              </a:rPr>
              <a:t>VHI serves as an early indicator for potential agricultural stress and food insecurity, offering vital insights in climate-vulnerable regions.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85118"/>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4: Transformation Rules</a:t>
            </a:r>
            <a:endParaRPr lang="en-US" sz="2400" dirty="0"/>
          </a:p>
        </p:txBody>
      </p:sp>
      <p:sp>
        <p:nvSpPr>
          <p:cNvPr id="3" name="Text 1"/>
          <p:cNvSpPr/>
          <p:nvPr/>
        </p:nvSpPr>
        <p:spPr>
          <a:xfrm>
            <a:off x="496119" y="1220688"/>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All raw data is processed to a common </a:t>
            </a:r>
            <a:r>
              <a:rPr lang="en-US" sz="950" b="1" dirty="0">
                <a:solidFill>
                  <a:srgbClr val="D6E5EF"/>
                </a:solidFill>
                <a:latin typeface="Roboto Bold" pitchFamily="34" charset="0"/>
                <a:ea typeface="Roboto Bold" pitchFamily="34" charset="-122"/>
                <a:cs typeface="Roboto Bold" pitchFamily="34" charset="-120"/>
              </a:rPr>
              <a:t>Admin 2 × Month</a:t>
            </a:r>
            <a:r>
              <a:rPr lang="en-US" sz="950" dirty="0">
                <a:solidFill>
                  <a:srgbClr val="D6E5EF"/>
                </a:solidFill>
                <a:latin typeface="Roboto" pitchFamily="34" charset="0"/>
                <a:ea typeface="Roboto" pitchFamily="34" charset="-122"/>
                <a:cs typeface="Roboto" pitchFamily="34" charset="-120"/>
              </a:rPr>
              <a:t> spatial-temporal framework.</a:t>
            </a:r>
            <a:endParaRPr lang="en-US" sz="9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558677"/>
            <a:ext cx="4013895" cy="1537097"/>
          </a:xfrm>
          <a:prstGeom prst="rect">
            <a:avLst/>
          </a:prstGeom>
        </p:spPr>
      </p:pic>
      <p:sp>
        <p:nvSpPr>
          <p:cNvPr id="5" name="Text 2"/>
          <p:cNvSpPr/>
          <p:nvPr/>
        </p:nvSpPr>
        <p:spPr>
          <a:xfrm>
            <a:off x="691530" y="1696938"/>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Conflict (ACLED)</a:t>
            </a:r>
            <a:endParaRPr lang="en-US" sz="1200" dirty="0"/>
          </a:p>
        </p:txBody>
      </p:sp>
      <p:sp>
        <p:nvSpPr>
          <p:cNvPr id="6" name="Text 3"/>
          <p:cNvSpPr/>
          <p:nvPr/>
        </p:nvSpPr>
        <p:spPr>
          <a:xfrm>
            <a:off x="691530" y="1965201"/>
            <a:ext cx="368022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Conflict events are assigned to Admin2 areas using their coordinates. Events are then grouped by month, allowing us to calculate the number of each event type, total fatalities, and conflict density for every district.</a:t>
            </a:r>
            <a:endParaRPr lang="en-US" sz="9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1558677"/>
            <a:ext cx="4013895" cy="1537097"/>
          </a:xfrm>
          <a:prstGeom prst="rect">
            <a:avLst/>
          </a:prstGeom>
        </p:spPr>
      </p:pic>
      <p:sp>
        <p:nvSpPr>
          <p:cNvPr id="8" name="Text 4"/>
          <p:cNvSpPr/>
          <p:nvPr/>
        </p:nvSpPr>
        <p:spPr>
          <a:xfrm>
            <a:off x="4829398" y="1696938"/>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Climate (CHIRPS &amp; VHI)</a:t>
            </a:r>
            <a:endParaRPr lang="en-US" sz="1200" dirty="0"/>
          </a:p>
        </p:txBody>
      </p:sp>
      <p:sp>
        <p:nvSpPr>
          <p:cNvPr id="9" name="Text 5"/>
          <p:cNvSpPr/>
          <p:nvPr/>
        </p:nvSpPr>
        <p:spPr>
          <a:xfrm>
            <a:off x="4829398" y="1965201"/>
            <a:ext cx="3680222"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Monthly rainfall and vegetation data are overlaid with Admin2 boundaries. We then calculate summary statistics, such as average rainfall and average vegetation health, for each district. Since both datasets are already monthly, no additional time aggregation is needed.</a:t>
            </a:r>
            <a:endParaRPr lang="en-US" sz="950" dirty="0"/>
          </a:p>
        </p:txBody>
      </p:sp>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219748"/>
            <a:ext cx="4013895" cy="1338635"/>
          </a:xfrm>
          <a:prstGeom prst="rect">
            <a:avLst/>
          </a:prstGeom>
        </p:spPr>
      </p:pic>
      <p:sp>
        <p:nvSpPr>
          <p:cNvPr id="11" name="Text 6"/>
          <p:cNvSpPr/>
          <p:nvPr/>
        </p:nvSpPr>
        <p:spPr>
          <a:xfrm>
            <a:off x="691530" y="3358009"/>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Markets (WFP VAM)</a:t>
            </a:r>
            <a:endParaRPr lang="en-US" sz="1200" dirty="0"/>
          </a:p>
        </p:txBody>
      </p:sp>
      <p:sp>
        <p:nvSpPr>
          <p:cNvPr id="12" name="Text 7"/>
          <p:cNvSpPr/>
          <p:nvPr/>
        </p:nvSpPr>
        <p:spPr>
          <a:xfrm>
            <a:off x="691530" y="3626272"/>
            <a:ext cx="368022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Market observations are assigned to Admin2 areas using their coordinates. Prices are averaged by commodity and month, while keeping each commodity separate to reflect local food consumption patterns across countries.</a:t>
            </a:r>
            <a:endParaRPr lang="en-US" sz="950" dirty="0"/>
          </a:p>
        </p:txBody>
      </p:sp>
      <p:pic>
        <p:nvPicPr>
          <p:cNvPr id="13"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33987" y="3219748"/>
            <a:ext cx="4013895" cy="1338635"/>
          </a:xfrm>
          <a:prstGeom prst="rect">
            <a:avLst/>
          </a:prstGeom>
        </p:spPr>
      </p:pic>
      <p:sp>
        <p:nvSpPr>
          <p:cNvPr id="14" name="Text 8"/>
          <p:cNvSpPr/>
          <p:nvPr/>
        </p:nvSpPr>
        <p:spPr>
          <a:xfrm>
            <a:off x="4829398" y="3358009"/>
            <a:ext cx="3680222"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Reporting (ReliefWeb)</a:t>
            </a:r>
            <a:endParaRPr lang="en-US" sz="1200" dirty="0"/>
          </a:p>
        </p:txBody>
      </p:sp>
      <p:sp>
        <p:nvSpPr>
          <p:cNvPr id="15" name="Text 9"/>
          <p:cNvSpPr/>
          <p:nvPr/>
        </p:nvSpPr>
        <p:spPr>
          <a:xfrm>
            <a:off x="4829398" y="3626272"/>
            <a:ext cx="368022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ReliefWeb reports are grouped by country and month. Since most reports do not provide reliable Admin2 locations, reporting indicators are calculated at the country level rather than for individual districts.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51830"/>
            <a:ext cx="8151763" cy="381521"/>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5: Raw Variables</a:t>
            </a:r>
            <a:endParaRPr lang="en-US" sz="2400" dirty="0"/>
          </a:p>
        </p:txBody>
      </p:sp>
      <p:sp>
        <p:nvSpPr>
          <p:cNvPr id="3" name="Text 1"/>
          <p:cNvSpPr/>
          <p:nvPr/>
        </p:nvSpPr>
        <p:spPr>
          <a:xfrm>
            <a:off x="496119" y="973708"/>
            <a:ext cx="8608963"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Each source contributes specific raw variables extracted for feature engineering.</a:t>
            </a:r>
            <a:endParaRPr lang="en-US" sz="950" dirty="0"/>
          </a:p>
        </p:txBody>
      </p:sp>
      <p:sp>
        <p:nvSpPr>
          <p:cNvPr id="4" name="Shape 2"/>
          <p:cNvSpPr/>
          <p:nvPr/>
        </p:nvSpPr>
        <p:spPr>
          <a:xfrm>
            <a:off x="496119" y="1302767"/>
            <a:ext cx="8151763" cy="2870448"/>
          </a:xfrm>
          <a:prstGeom prst="roundRect">
            <a:avLst>
              <a:gd name="adj" fmla="val 638"/>
            </a:avLst>
          </a:prstGeom>
          <a:noFill/>
          <a:ln w="4763">
            <a:solidFill>
              <a:srgbClr val="FFFFFF">
                <a:alpha val="24000"/>
              </a:srgbClr>
            </a:solidFill>
            <a:prstDash val="solid"/>
          </a:ln>
        </p:spPr>
      </p:sp>
      <p:sp>
        <p:nvSpPr>
          <p:cNvPr id="5" name="Shape 3"/>
          <p:cNvSpPr/>
          <p:nvPr/>
        </p:nvSpPr>
        <p:spPr>
          <a:xfrm>
            <a:off x="500881" y="1307529"/>
            <a:ext cx="8142238" cy="347588"/>
          </a:xfrm>
          <a:prstGeom prst="rect">
            <a:avLst/>
          </a:prstGeom>
          <a:solidFill>
            <a:srgbClr val="FFFFFF">
              <a:alpha val="4000"/>
            </a:srgbClr>
          </a:solidFill>
          <a:ln/>
        </p:spPr>
      </p:sp>
      <p:sp>
        <p:nvSpPr>
          <p:cNvPr id="6" name="Text 4"/>
          <p:cNvSpPr/>
          <p:nvPr/>
        </p:nvSpPr>
        <p:spPr>
          <a:xfrm>
            <a:off x="623069" y="1384399"/>
            <a:ext cx="2001962" cy="193849"/>
          </a:xfrm>
          <a:prstGeom prst="rect">
            <a:avLst/>
          </a:prstGeom>
          <a:noFill/>
          <a:ln/>
        </p:spPr>
        <p:txBody>
          <a:bodyPr wrap="none" lIns="0" tIns="0" rIns="0" bIns="0" rtlCol="0" anchor="t"/>
          <a:lstStyle/>
          <a:p>
            <a:pPr marL="0" indent="0" algn="l">
              <a:lnSpc>
                <a:spcPct val="132000"/>
              </a:lnSpc>
              <a:buNone/>
            </a:pPr>
            <a:r>
              <a:rPr lang="en-US" sz="950" b="1" dirty="0">
                <a:solidFill>
                  <a:srgbClr val="D6E5EF"/>
                </a:solidFill>
                <a:latin typeface="Roboto Bold" pitchFamily="34" charset="0"/>
                <a:ea typeface="Roboto Bold" pitchFamily="34" charset="-122"/>
                <a:cs typeface="Roboto Bold" pitchFamily="34" charset="-120"/>
              </a:rPr>
              <a:t>Mechanism</a:t>
            </a:r>
            <a:endParaRPr lang="en-US" sz="950" dirty="0"/>
          </a:p>
        </p:txBody>
      </p:sp>
      <p:sp>
        <p:nvSpPr>
          <p:cNvPr id="7" name="Text 5"/>
          <p:cNvSpPr/>
          <p:nvPr/>
        </p:nvSpPr>
        <p:spPr>
          <a:xfrm>
            <a:off x="2416671" y="1384399"/>
            <a:ext cx="1999580" cy="193849"/>
          </a:xfrm>
          <a:prstGeom prst="rect">
            <a:avLst/>
          </a:prstGeom>
          <a:noFill/>
          <a:ln/>
        </p:spPr>
        <p:txBody>
          <a:bodyPr wrap="none" lIns="0" tIns="0" rIns="0" bIns="0" rtlCol="0" anchor="t"/>
          <a:lstStyle/>
          <a:p>
            <a:pPr marL="0" indent="0" algn="l">
              <a:lnSpc>
                <a:spcPct val="132000"/>
              </a:lnSpc>
              <a:buNone/>
            </a:pPr>
            <a:r>
              <a:rPr lang="en-US" sz="950" b="1" dirty="0">
                <a:solidFill>
                  <a:srgbClr val="D6E5EF"/>
                </a:solidFill>
                <a:latin typeface="Roboto Bold" pitchFamily="34" charset="0"/>
                <a:ea typeface="Roboto Bold" pitchFamily="34" charset="-122"/>
                <a:cs typeface="Roboto Bold" pitchFamily="34" charset="-120"/>
              </a:rPr>
              <a:t>Source</a:t>
            </a:r>
            <a:endParaRPr lang="en-US" sz="950" dirty="0"/>
          </a:p>
        </p:txBody>
      </p:sp>
      <p:sp>
        <p:nvSpPr>
          <p:cNvPr id="8" name="Text 6"/>
          <p:cNvSpPr/>
          <p:nvPr/>
        </p:nvSpPr>
        <p:spPr>
          <a:xfrm>
            <a:off x="4207892" y="1384399"/>
            <a:ext cx="4770388" cy="193849"/>
          </a:xfrm>
          <a:prstGeom prst="rect">
            <a:avLst/>
          </a:prstGeom>
          <a:noFill/>
          <a:ln/>
        </p:spPr>
        <p:txBody>
          <a:bodyPr wrap="none" lIns="0" tIns="0" rIns="0" bIns="0" rtlCol="0" anchor="t"/>
          <a:lstStyle/>
          <a:p>
            <a:pPr marL="0" indent="0" algn="l">
              <a:lnSpc>
                <a:spcPct val="132000"/>
              </a:lnSpc>
              <a:buNone/>
            </a:pPr>
            <a:r>
              <a:rPr lang="en-US" sz="950" b="1" dirty="0">
                <a:solidFill>
                  <a:srgbClr val="D6E5EF"/>
                </a:solidFill>
                <a:latin typeface="Roboto Bold" pitchFamily="34" charset="0"/>
                <a:ea typeface="Roboto Bold" pitchFamily="34" charset="-122"/>
                <a:cs typeface="Roboto Bold" pitchFamily="34" charset="-120"/>
              </a:rPr>
              <a:t>Key Raw Variables</a:t>
            </a:r>
            <a:endParaRPr lang="en-US" sz="950" dirty="0"/>
          </a:p>
        </p:txBody>
      </p:sp>
      <p:sp>
        <p:nvSpPr>
          <p:cNvPr id="9" name="Shape 7"/>
          <p:cNvSpPr/>
          <p:nvPr/>
        </p:nvSpPr>
        <p:spPr>
          <a:xfrm>
            <a:off x="500881" y="1655118"/>
            <a:ext cx="8142238" cy="541437"/>
          </a:xfrm>
          <a:prstGeom prst="rect">
            <a:avLst/>
          </a:prstGeom>
          <a:solidFill>
            <a:srgbClr val="000000">
              <a:alpha val="4000"/>
            </a:srgbClr>
          </a:solidFill>
          <a:ln/>
        </p:spPr>
      </p:sp>
      <p:sp>
        <p:nvSpPr>
          <p:cNvPr id="10" name="Text 8"/>
          <p:cNvSpPr/>
          <p:nvPr/>
        </p:nvSpPr>
        <p:spPr>
          <a:xfrm>
            <a:off x="623069" y="1731987"/>
            <a:ext cx="2001962"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Conflict &amp; Insecurity</a:t>
            </a:r>
            <a:endParaRPr lang="en-US" sz="950" dirty="0"/>
          </a:p>
        </p:txBody>
      </p:sp>
      <p:sp>
        <p:nvSpPr>
          <p:cNvPr id="11" name="Text 9"/>
          <p:cNvSpPr/>
          <p:nvPr/>
        </p:nvSpPr>
        <p:spPr>
          <a:xfrm>
            <a:off x="2416671" y="1731987"/>
            <a:ext cx="1999580"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ACLED</a:t>
            </a:r>
            <a:endParaRPr lang="en-US" sz="950" dirty="0"/>
          </a:p>
        </p:txBody>
      </p:sp>
      <p:sp>
        <p:nvSpPr>
          <p:cNvPr id="12" name="Text 10"/>
          <p:cNvSpPr/>
          <p:nvPr/>
        </p:nvSpPr>
        <p:spPr>
          <a:xfrm>
            <a:off x="4207892" y="1731987"/>
            <a:ext cx="4313188"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event_date, event_type (6 categories), latitude, longitude, fatalities, country, admin1</a:t>
            </a:r>
            <a:endParaRPr lang="en-US" sz="950" dirty="0"/>
          </a:p>
        </p:txBody>
      </p:sp>
      <p:sp>
        <p:nvSpPr>
          <p:cNvPr id="13" name="Shape 11"/>
          <p:cNvSpPr/>
          <p:nvPr/>
        </p:nvSpPr>
        <p:spPr>
          <a:xfrm>
            <a:off x="500881" y="2196554"/>
            <a:ext cx="8142238" cy="541437"/>
          </a:xfrm>
          <a:prstGeom prst="rect">
            <a:avLst/>
          </a:prstGeom>
          <a:solidFill>
            <a:srgbClr val="FFFFFF">
              <a:alpha val="4000"/>
            </a:srgbClr>
          </a:solidFill>
          <a:ln/>
        </p:spPr>
      </p:sp>
      <p:sp>
        <p:nvSpPr>
          <p:cNvPr id="14" name="Text 12"/>
          <p:cNvSpPr/>
          <p:nvPr/>
        </p:nvSpPr>
        <p:spPr>
          <a:xfrm>
            <a:off x="623069" y="2273424"/>
            <a:ext cx="1544762"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Climate &amp; Agricultural Stress</a:t>
            </a:r>
            <a:endParaRPr lang="en-US" sz="950" dirty="0"/>
          </a:p>
        </p:txBody>
      </p:sp>
      <p:sp>
        <p:nvSpPr>
          <p:cNvPr id="15" name="Text 13"/>
          <p:cNvSpPr/>
          <p:nvPr/>
        </p:nvSpPr>
        <p:spPr>
          <a:xfrm>
            <a:off x="2416671" y="2273424"/>
            <a:ext cx="1999580"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CHIRPS</a:t>
            </a:r>
            <a:endParaRPr lang="en-US" sz="950" dirty="0"/>
          </a:p>
        </p:txBody>
      </p:sp>
      <p:sp>
        <p:nvSpPr>
          <p:cNvPr id="16" name="Text 14"/>
          <p:cNvSpPr/>
          <p:nvPr/>
        </p:nvSpPr>
        <p:spPr>
          <a:xfrm>
            <a:off x="4207892" y="2273424"/>
            <a:ext cx="4770388"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Monthly rainfall (mm)</a:t>
            </a:r>
            <a:endParaRPr lang="en-US" sz="950" dirty="0"/>
          </a:p>
        </p:txBody>
      </p:sp>
      <p:sp>
        <p:nvSpPr>
          <p:cNvPr id="17" name="Shape 15"/>
          <p:cNvSpPr/>
          <p:nvPr/>
        </p:nvSpPr>
        <p:spPr>
          <a:xfrm>
            <a:off x="500881" y="2737991"/>
            <a:ext cx="8142238" cy="541437"/>
          </a:xfrm>
          <a:prstGeom prst="rect">
            <a:avLst/>
          </a:prstGeom>
          <a:solidFill>
            <a:srgbClr val="000000">
              <a:alpha val="4000"/>
            </a:srgbClr>
          </a:solidFill>
          <a:ln/>
        </p:spPr>
      </p:sp>
      <p:sp>
        <p:nvSpPr>
          <p:cNvPr id="18" name="Text 16"/>
          <p:cNvSpPr/>
          <p:nvPr/>
        </p:nvSpPr>
        <p:spPr>
          <a:xfrm>
            <a:off x="623069" y="2814861"/>
            <a:ext cx="1544762"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Climate &amp; Agricultural Stress</a:t>
            </a:r>
            <a:endParaRPr lang="en-US" sz="950" dirty="0"/>
          </a:p>
        </p:txBody>
      </p:sp>
      <p:sp>
        <p:nvSpPr>
          <p:cNvPr id="19" name="Text 17"/>
          <p:cNvSpPr/>
          <p:nvPr/>
        </p:nvSpPr>
        <p:spPr>
          <a:xfrm>
            <a:off x="2416671" y="2814861"/>
            <a:ext cx="1999580"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VHI</a:t>
            </a:r>
            <a:endParaRPr lang="en-US" sz="950" dirty="0"/>
          </a:p>
        </p:txBody>
      </p:sp>
      <p:sp>
        <p:nvSpPr>
          <p:cNvPr id="20" name="Text 18"/>
          <p:cNvSpPr/>
          <p:nvPr/>
        </p:nvSpPr>
        <p:spPr>
          <a:xfrm>
            <a:off x="4207892" y="2814861"/>
            <a:ext cx="4770388"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Monthly Vegetation Health Index </a:t>
            </a:r>
            <a:endParaRPr lang="en-US" sz="950" dirty="0"/>
          </a:p>
        </p:txBody>
      </p:sp>
      <p:sp>
        <p:nvSpPr>
          <p:cNvPr id="21" name="Shape 19"/>
          <p:cNvSpPr/>
          <p:nvPr/>
        </p:nvSpPr>
        <p:spPr>
          <a:xfrm>
            <a:off x="500881" y="3279428"/>
            <a:ext cx="8142238" cy="541437"/>
          </a:xfrm>
          <a:prstGeom prst="rect">
            <a:avLst/>
          </a:prstGeom>
          <a:solidFill>
            <a:srgbClr val="FFFFFF">
              <a:alpha val="4000"/>
            </a:srgbClr>
          </a:solidFill>
          <a:ln/>
        </p:spPr>
      </p:sp>
      <p:sp>
        <p:nvSpPr>
          <p:cNvPr id="22" name="Text 20"/>
          <p:cNvSpPr/>
          <p:nvPr/>
        </p:nvSpPr>
        <p:spPr>
          <a:xfrm>
            <a:off x="623069" y="3356297"/>
            <a:ext cx="1544762"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Markets &amp; Food Price Pressure</a:t>
            </a:r>
            <a:endParaRPr lang="en-US" sz="950" dirty="0"/>
          </a:p>
        </p:txBody>
      </p:sp>
      <p:sp>
        <p:nvSpPr>
          <p:cNvPr id="23" name="Text 21"/>
          <p:cNvSpPr/>
          <p:nvPr/>
        </p:nvSpPr>
        <p:spPr>
          <a:xfrm>
            <a:off x="2416671" y="3356297"/>
            <a:ext cx="1999580"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WFP Food Prices</a:t>
            </a:r>
            <a:endParaRPr lang="en-US" sz="950" dirty="0"/>
          </a:p>
        </p:txBody>
      </p:sp>
      <p:sp>
        <p:nvSpPr>
          <p:cNvPr id="24" name="Text 22"/>
          <p:cNvSpPr/>
          <p:nvPr/>
        </p:nvSpPr>
        <p:spPr>
          <a:xfrm>
            <a:off x="4207892" y="3356297"/>
            <a:ext cx="4770388"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Market, commodity, price, currency, unit, date, latitude, longitude</a:t>
            </a:r>
            <a:endParaRPr lang="en-US" sz="950" dirty="0"/>
          </a:p>
        </p:txBody>
      </p:sp>
      <p:sp>
        <p:nvSpPr>
          <p:cNvPr id="25" name="Shape 23"/>
          <p:cNvSpPr/>
          <p:nvPr/>
        </p:nvSpPr>
        <p:spPr>
          <a:xfrm>
            <a:off x="500881" y="3820864"/>
            <a:ext cx="8142238" cy="347588"/>
          </a:xfrm>
          <a:prstGeom prst="rect">
            <a:avLst/>
          </a:prstGeom>
          <a:solidFill>
            <a:srgbClr val="000000">
              <a:alpha val="4000"/>
            </a:srgbClr>
          </a:solidFill>
          <a:ln/>
        </p:spPr>
      </p:sp>
      <p:sp>
        <p:nvSpPr>
          <p:cNvPr id="26" name="Text 24"/>
          <p:cNvSpPr/>
          <p:nvPr/>
        </p:nvSpPr>
        <p:spPr>
          <a:xfrm>
            <a:off x="623069" y="3897734"/>
            <a:ext cx="2001962"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Humanitarian Reporting</a:t>
            </a:r>
            <a:endParaRPr lang="en-US" sz="950" dirty="0"/>
          </a:p>
        </p:txBody>
      </p:sp>
      <p:sp>
        <p:nvSpPr>
          <p:cNvPr id="27" name="Text 25"/>
          <p:cNvSpPr/>
          <p:nvPr/>
        </p:nvSpPr>
        <p:spPr>
          <a:xfrm>
            <a:off x="2416671" y="3897734"/>
            <a:ext cx="1999580"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ReliefWeb</a:t>
            </a:r>
            <a:endParaRPr lang="en-US" sz="950" dirty="0"/>
          </a:p>
        </p:txBody>
      </p:sp>
      <p:sp>
        <p:nvSpPr>
          <p:cNvPr id="28" name="Text 26"/>
          <p:cNvSpPr/>
          <p:nvPr/>
        </p:nvSpPr>
        <p:spPr>
          <a:xfrm>
            <a:off x="4207892" y="3897734"/>
            <a:ext cx="4770388" cy="193849"/>
          </a:xfrm>
          <a:prstGeom prst="rect">
            <a:avLst/>
          </a:prstGeom>
          <a:noFill/>
          <a:ln/>
        </p:spPr>
        <p:txBody>
          <a:bodyPr wrap="none" lIns="0" tIns="0" rIns="0" bIns="0" rtlCol="0" anchor="t"/>
          <a:lstStyle/>
          <a:p>
            <a:pPr marL="0" indent="0" algn="l">
              <a:lnSpc>
                <a:spcPct val="132000"/>
              </a:lnSpc>
              <a:buNone/>
            </a:pPr>
            <a:r>
              <a:rPr lang="en-US" sz="950" dirty="0">
                <a:solidFill>
                  <a:srgbClr val="D6E5EF"/>
                </a:solidFill>
                <a:latin typeface="Roboto" pitchFamily="34" charset="0"/>
                <a:ea typeface="Roboto" pitchFamily="34" charset="-122"/>
                <a:cs typeface="Roboto" pitchFamily="34" charset="-120"/>
              </a:rPr>
              <a:t>Date, primary country, themes (Food &amp; Nutrition, Health, WASH, etc.), format</a:t>
            </a:r>
            <a:endParaRPr lang="en-US" sz="950" dirty="0"/>
          </a:p>
        </p:txBody>
      </p:sp>
      <p:sp>
        <p:nvSpPr>
          <p:cNvPr id="29" name="Shape 27"/>
          <p:cNvSpPr/>
          <p:nvPr/>
        </p:nvSpPr>
        <p:spPr>
          <a:xfrm>
            <a:off x="496119" y="4308425"/>
            <a:ext cx="8151763" cy="483171"/>
          </a:xfrm>
          <a:prstGeom prst="roundRect">
            <a:avLst>
              <a:gd name="adj" fmla="val 3791"/>
            </a:avLst>
          </a:prstGeom>
          <a:solidFill>
            <a:srgbClr val="0D3E73"/>
          </a:solidFill>
          <a:ln/>
        </p:spPr>
      </p:sp>
      <p:pic>
        <p:nvPicPr>
          <p:cNvPr id="30" name="Image 0" descr="preencoded.png"/>
          <p:cNvPicPr>
            <a:picLocks noChangeAspect="1"/>
          </p:cNvPicPr>
          <p:nvPr/>
        </p:nvPicPr>
        <p:blipFill>
          <a:blip r:embed="rId3"/>
          <a:stretch>
            <a:fillRect/>
          </a:stretch>
        </p:blipFill>
        <p:spPr>
          <a:xfrm>
            <a:off x="618158" y="4482778"/>
            <a:ext cx="152623" cy="122039"/>
          </a:xfrm>
          <a:prstGeom prst="rect">
            <a:avLst/>
          </a:prstGeom>
        </p:spPr>
      </p:pic>
      <p:sp>
        <p:nvSpPr>
          <p:cNvPr id="31" name="Text 28"/>
          <p:cNvSpPr/>
          <p:nvPr/>
        </p:nvSpPr>
        <p:spPr>
          <a:xfrm>
            <a:off x="892820" y="4459114"/>
            <a:ext cx="8090222" cy="193849"/>
          </a:xfrm>
          <a:prstGeom prst="rect">
            <a:avLst/>
          </a:prstGeom>
          <a:noFill/>
          <a:ln/>
        </p:spPr>
        <p:txBody>
          <a:bodyPr wrap="none" lIns="0" tIns="0" rIns="0" bIns="0" rtlCol="0" anchor="t"/>
          <a:lstStyle/>
          <a:p>
            <a:pPr marL="0" indent="0" algn="l">
              <a:lnSpc>
                <a:spcPct val="132000"/>
              </a:lnSpc>
              <a:buNone/>
            </a:pPr>
            <a:r>
              <a:rPr lang="en-US" sz="950" dirty="0">
                <a:solidFill>
                  <a:srgbClr val="FFFFFF"/>
                </a:solidFill>
                <a:latin typeface="Roboto" pitchFamily="34" charset="0"/>
                <a:ea typeface="Roboto" pitchFamily="34" charset="-122"/>
                <a:cs typeface="Roboto" pitchFamily="34" charset="-120"/>
              </a:rPr>
              <a:t>World Bank, IMF, and ICEWS are placed in an optional extension list — they do not block completion of the core panel.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40085"/>
            <a:ext cx="8151763" cy="248320"/>
          </a:xfrm>
          <a:prstGeom prst="rect">
            <a:avLst/>
          </a:prstGeom>
          <a:noFill/>
          <a:ln/>
        </p:spPr>
        <p:txBody>
          <a:bodyPr wrap="none" lIns="0" tIns="0" rIns="0" bIns="0" rtlCol="0" anchor="t"/>
          <a:lstStyle/>
          <a:p>
            <a:pPr marL="0" indent="0" algn="l">
              <a:lnSpc>
                <a:spcPct val="104000"/>
              </a:lnSpc>
              <a:buNone/>
            </a:pPr>
            <a:r>
              <a:rPr lang="en-US" sz="1550" dirty="0">
                <a:solidFill>
                  <a:srgbClr val="76B9FF"/>
                </a:solidFill>
                <a:latin typeface="Roboto Slab" pitchFamily="34" charset="0"/>
                <a:ea typeface="Roboto Slab" pitchFamily="34" charset="-122"/>
                <a:cs typeface="Roboto Slab" pitchFamily="34" charset="-120"/>
              </a:rPr>
              <a:t>Feature specification: Conflict &amp; Insecurity</a:t>
            </a:r>
            <a:endParaRPr lang="en-US" sz="1550" dirty="0"/>
          </a:p>
        </p:txBody>
      </p:sp>
      <p:sp>
        <p:nvSpPr>
          <p:cNvPr id="3" name="Shape 1"/>
          <p:cNvSpPr/>
          <p:nvPr/>
        </p:nvSpPr>
        <p:spPr>
          <a:xfrm>
            <a:off x="496119" y="790203"/>
            <a:ext cx="8151763" cy="3913138"/>
          </a:xfrm>
          <a:prstGeom prst="roundRect">
            <a:avLst>
              <a:gd name="adj" fmla="val 305"/>
            </a:avLst>
          </a:prstGeom>
          <a:noFill/>
          <a:ln w="4763">
            <a:solidFill>
              <a:srgbClr val="FFFFFF">
                <a:alpha val="24000"/>
              </a:srgbClr>
            </a:solidFill>
            <a:prstDash val="solid"/>
          </a:ln>
        </p:spPr>
      </p:sp>
      <p:sp>
        <p:nvSpPr>
          <p:cNvPr id="4" name="Shape 2"/>
          <p:cNvSpPr/>
          <p:nvPr/>
        </p:nvSpPr>
        <p:spPr>
          <a:xfrm>
            <a:off x="500881" y="794965"/>
            <a:ext cx="8142238" cy="174799"/>
          </a:xfrm>
          <a:prstGeom prst="rect">
            <a:avLst/>
          </a:prstGeom>
          <a:solidFill>
            <a:srgbClr val="FFFFFF">
              <a:alpha val="4000"/>
            </a:srgbClr>
          </a:solidFill>
          <a:ln/>
        </p:spPr>
      </p:sp>
      <p:sp>
        <p:nvSpPr>
          <p:cNvPr id="5" name="Text 3"/>
          <p:cNvSpPr/>
          <p:nvPr/>
        </p:nvSpPr>
        <p:spPr>
          <a:xfrm>
            <a:off x="580504" y="830238"/>
            <a:ext cx="2126382" cy="104254"/>
          </a:xfrm>
          <a:prstGeom prst="rect">
            <a:avLst/>
          </a:prstGeom>
          <a:noFill/>
          <a:ln/>
        </p:spPr>
        <p:txBody>
          <a:bodyPr wrap="none" lIns="0" tIns="0" rIns="0" bIns="0" rtlCol="0" anchor="t"/>
          <a:lstStyle/>
          <a:p>
            <a:pPr marL="0" indent="0" algn="l">
              <a:lnSpc>
                <a:spcPct val="109000"/>
              </a:lnSpc>
              <a:buNone/>
            </a:pPr>
            <a:r>
              <a:rPr lang="en-US" sz="600" b="1" dirty="0">
                <a:solidFill>
                  <a:srgbClr val="D6E5EF"/>
                </a:solidFill>
                <a:latin typeface="Roboto Bold" pitchFamily="34" charset="0"/>
                <a:ea typeface="Roboto Bold" pitchFamily="34" charset="-122"/>
                <a:cs typeface="Roboto Bold" pitchFamily="34" charset="-120"/>
              </a:rPr>
              <a:t>Feature</a:t>
            </a:r>
            <a:endParaRPr lang="en-US" sz="600" dirty="0"/>
          </a:p>
        </p:txBody>
      </p:sp>
      <p:sp>
        <p:nvSpPr>
          <p:cNvPr id="6" name="Text 4"/>
          <p:cNvSpPr/>
          <p:nvPr/>
        </p:nvSpPr>
        <p:spPr>
          <a:xfrm>
            <a:off x="2413248" y="830238"/>
            <a:ext cx="1564630" cy="104254"/>
          </a:xfrm>
          <a:prstGeom prst="rect">
            <a:avLst/>
          </a:prstGeom>
          <a:noFill/>
          <a:ln/>
        </p:spPr>
        <p:txBody>
          <a:bodyPr wrap="none" lIns="0" tIns="0" rIns="0" bIns="0" rtlCol="0" anchor="t"/>
          <a:lstStyle/>
          <a:p>
            <a:pPr marL="0" indent="0" algn="l">
              <a:lnSpc>
                <a:spcPct val="109000"/>
              </a:lnSpc>
              <a:buNone/>
            </a:pPr>
            <a:r>
              <a:rPr lang="en-US" sz="600" b="1" dirty="0">
                <a:solidFill>
                  <a:srgbClr val="D6E5EF"/>
                </a:solidFill>
                <a:latin typeface="Roboto Bold" pitchFamily="34" charset="0"/>
                <a:ea typeface="Roboto Bold" pitchFamily="34" charset="-122"/>
                <a:cs typeface="Roboto Bold" pitchFamily="34" charset="-120"/>
              </a:rPr>
              <a:t>Description</a:t>
            </a:r>
            <a:endParaRPr lang="en-US" sz="600" dirty="0"/>
          </a:p>
        </p:txBody>
      </p:sp>
      <p:sp>
        <p:nvSpPr>
          <p:cNvPr id="7" name="Text 5"/>
          <p:cNvSpPr/>
          <p:nvPr/>
        </p:nvSpPr>
        <p:spPr>
          <a:xfrm>
            <a:off x="3684240" y="830238"/>
            <a:ext cx="150271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Mathematical formulation</a:t>
            </a:r>
            <a:endParaRPr lang="en-US" sz="600" dirty="0"/>
          </a:p>
        </p:txBody>
      </p:sp>
      <p:sp>
        <p:nvSpPr>
          <p:cNvPr id="8" name="Text 6"/>
          <p:cNvSpPr/>
          <p:nvPr/>
        </p:nvSpPr>
        <p:spPr>
          <a:xfrm>
            <a:off x="4893320" y="830238"/>
            <a:ext cx="1504355"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Spatial Assingment rule</a:t>
            </a:r>
            <a:endParaRPr lang="en-US" sz="600" dirty="0"/>
          </a:p>
        </p:txBody>
      </p:sp>
      <p:sp>
        <p:nvSpPr>
          <p:cNvPr id="9" name="Text 7"/>
          <p:cNvSpPr/>
          <p:nvPr/>
        </p:nvSpPr>
        <p:spPr>
          <a:xfrm>
            <a:off x="6104037" y="830238"/>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Temporal aggregation rule</a:t>
            </a:r>
            <a:endParaRPr lang="en-US" sz="600" dirty="0"/>
          </a:p>
        </p:txBody>
      </p:sp>
      <p:sp>
        <p:nvSpPr>
          <p:cNvPr id="10" name="Text 8"/>
          <p:cNvSpPr/>
          <p:nvPr/>
        </p:nvSpPr>
        <p:spPr>
          <a:xfrm>
            <a:off x="7197477" y="830238"/>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 Policy</a:t>
            </a:r>
            <a:endParaRPr lang="en-US" sz="600" dirty="0"/>
          </a:p>
        </p:txBody>
      </p:sp>
      <p:sp>
        <p:nvSpPr>
          <p:cNvPr id="11" name="Shape 9"/>
          <p:cNvSpPr/>
          <p:nvPr/>
        </p:nvSpPr>
        <p:spPr>
          <a:xfrm>
            <a:off x="500881" y="969764"/>
            <a:ext cx="8142238" cy="383307"/>
          </a:xfrm>
          <a:prstGeom prst="rect">
            <a:avLst/>
          </a:prstGeom>
          <a:solidFill>
            <a:srgbClr val="000000">
              <a:alpha val="4000"/>
            </a:srgbClr>
          </a:solidFill>
          <a:ln/>
        </p:spPr>
      </p:sp>
      <p:sp>
        <p:nvSpPr>
          <p:cNvPr id="12" name="Text 10"/>
          <p:cNvSpPr/>
          <p:nvPr/>
        </p:nvSpPr>
        <p:spPr>
          <a:xfrm>
            <a:off x="580504" y="1005036"/>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conflict_event_count</a:t>
            </a:r>
            <a:endParaRPr lang="en-US" sz="600" dirty="0"/>
          </a:p>
        </p:txBody>
      </p:sp>
      <p:sp>
        <p:nvSpPr>
          <p:cNvPr id="13" name="Text 11"/>
          <p:cNvSpPr/>
          <p:nvPr/>
        </p:nvSpPr>
        <p:spPr>
          <a:xfrm>
            <a:off x="2413248" y="1005036"/>
            <a:ext cx="1107430"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Total number of conflict events occurring within an Admin 2 unit during the month.</a:t>
            </a:r>
            <a:endParaRPr lang="en-US" sz="600" dirty="0"/>
          </a:p>
        </p:txBody>
      </p:sp>
      <p:sp>
        <p:nvSpPr>
          <p:cNvPr id="14" name="Text 12"/>
          <p:cNvSpPr/>
          <p:nvPr/>
        </p:nvSpPr>
        <p:spPr>
          <a:xfrm>
            <a:off x="3684240" y="1005036"/>
            <a:ext cx="1045518"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all conflict events within an Admin2 district during the month.</a:t>
            </a:r>
            <a:endParaRPr lang="en-US" sz="600" dirty="0"/>
          </a:p>
        </p:txBody>
      </p:sp>
      <p:sp>
        <p:nvSpPr>
          <p:cNvPr id="15" name="Text 13"/>
          <p:cNvSpPr/>
          <p:nvPr/>
        </p:nvSpPr>
        <p:spPr>
          <a:xfrm>
            <a:off x="4893320" y="1005036"/>
            <a:ext cx="1047155"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Assign each event to the corresponding Admin2 using ACLED coordinates.</a:t>
            </a:r>
            <a:endParaRPr lang="en-US" sz="600" dirty="0"/>
          </a:p>
        </p:txBody>
      </p:sp>
      <p:sp>
        <p:nvSpPr>
          <p:cNvPr id="16" name="Text 14"/>
          <p:cNvSpPr/>
          <p:nvPr/>
        </p:nvSpPr>
        <p:spPr>
          <a:xfrm>
            <a:off x="6104037" y="1005036"/>
            <a:ext cx="92987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count of all events</a:t>
            </a:r>
            <a:endParaRPr lang="en-US" sz="600" dirty="0"/>
          </a:p>
        </p:txBody>
      </p:sp>
      <p:sp>
        <p:nvSpPr>
          <p:cNvPr id="17" name="Text 15"/>
          <p:cNvSpPr/>
          <p:nvPr/>
        </p:nvSpPr>
        <p:spPr>
          <a:xfrm>
            <a:off x="7197477" y="1005036"/>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18" name="Shape 16"/>
          <p:cNvSpPr/>
          <p:nvPr/>
        </p:nvSpPr>
        <p:spPr>
          <a:xfrm>
            <a:off x="500881" y="1353071"/>
            <a:ext cx="8142238" cy="279053"/>
          </a:xfrm>
          <a:prstGeom prst="rect">
            <a:avLst/>
          </a:prstGeom>
          <a:solidFill>
            <a:srgbClr val="FFFFFF">
              <a:alpha val="4000"/>
            </a:srgbClr>
          </a:solidFill>
          <a:ln/>
        </p:spPr>
      </p:sp>
      <p:sp>
        <p:nvSpPr>
          <p:cNvPr id="19" name="Text 17"/>
          <p:cNvSpPr/>
          <p:nvPr/>
        </p:nvSpPr>
        <p:spPr>
          <a:xfrm>
            <a:off x="580504" y="1388343"/>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battles_count</a:t>
            </a:r>
            <a:endParaRPr lang="en-US" sz="600" dirty="0"/>
          </a:p>
        </p:txBody>
      </p:sp>
      <p:sp>
        <p:nvSpPr>
          <p:cNvPr id="20" name="Text 18"/>
          <p:cNvSpPr/>
          <p:nvPr/>
        </p:nvSpPr>
        <p:spPr>
          <a:xfrm>
            <a:off x="2413248" y="1388343"/>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Battles.</a:t>
            </a:r>
            <a:endParaRPr lang="en-US" sz="600" dirty="0"/>
          </a:p>
        </p:txBody>
      </p:sp>
      <p:sp>
        <p:nvSpPr>
          <p:cNvPr id="21" name="Text 19"/>
          <p:cNvSpPr/>
          <p:nvPr/>
        </p:nvSpPr>
        <p:spPr>
          <a:xfrm>
            <a:off x="3684240" y="1388343"/>
            <a:ext cx="104551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"Battles".</a:t>
            </a:r>
            <a:endParaRPr lang="en-US" sz="600" dirty="0"/>
          </a:p>
        </p:txBody>
      </p:sp>
      <p:sp>
        <p:nvSpPr>
          <p:cNvPr id="22" name="Text 20"/>
          <p:cNvSpPr/>
          <p:nvPr/>
        </p:nvSpPr>
        <p:spPr>
          <a:xfrm>
            <a:off x="4893320" y="1388343"/>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a:t>
            </a:r>
            <a:endParaRPr lang="en-US" sz="600" dirty="0"/>
          </a:p>
        </p:txBody>
      </p:sp>
      <p:sp>
        <p:nvSpPr>
          <p:cNvPr id="23" name="Text 21"/>
          <p:cNvSpPr/>
          <p:nvPr/>
        </p:nvSpPr>
        <p:spPr>
          <a:xfrm>
            <a:off x="6104037" y="1388343"/>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24" name="Text 22"/>
          <p:cNvSpPr/>
          <p:nvPr/>
        </p:nvSpPr>
        <p:spPr>
          <a:xfrm>
            <a:off x="7197477" y="1388343"/>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25" name="Shape 23"/>
          <p:cNvSpPr/>
          <p:nvPr/>
        </p:nvSpPr>
        <p:spPr>
          <a:xfrm>
            <a:off x="500881" y="1632124"/>
            <a:ext cx="8142238" cy="383307"/>
          </a:xfrm>
          <a:prstGeom prst="rect">
            <a:avLst/>
          </a:prstGeom>
          <a:solidFill>
            <a:srgbClr val="000000">
              <a:alpha val="4000"/>
            </a:srgbClr>
          </a:solidFill>
          <a:ln/>
        </p:spPr>
      </p:sp>
      <p:sp>
        <p:nvSpPr>
          <p:cNvPr id="26" name="Text 24"/>
          <p:cNvSpPr/>
          <p:nvPr/>
        </p:nvSpPr>
        <p:spPr>
          <a:xfrm>
            <a:off x="580504" y="1667396"/>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explosions_remote_violence_count</a:t>
            </a:r>
            <a:endParaRPr lang="en-US" sz="600" dirty="0"/>
          </a:p>
        </p:txBody>
      </p:sp>
      <p:sp>
        <p:nvSpPr>
          <p:cNvPr id="27" name="Text 25"/>
          <p:cNvSpPr/>
          <p:nvPr/>
        </p:nvSpPr>
        <p:spPr>
          <a:xfrm>
            <a:off x="2413248" y="1667396"/>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Explosions/Remote Violence.</a:t>
            </a:r>
            <a:endParaRPr lang="en-US" sz="600" dirty="0"/>
          </a:p>
        </p:txBody>
      </p:sp>
      <p:sp>
        <p:nvSpPr>
          <p:cNvPr id="28" name="Text 26"/>
          <p:cNvSpPr/>
          <p:nvPr/>
        </p:nvSpPr>
        <p:spPr>
          <a:xfrm>
            <a:off x="3684240" y="1667396"/>
            <a:ext cx="1045518"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"Explosions/Remote Violence".</a:t>
            </a:r>
            <a:endParaRPr lang="en-US" sz="600" dirty="0"/>
          </a:p>
        </p:txBody>
      </p:sp>
      <p:sp>
        <p:nvSpPr>
          <p:cNvPr id="29" name="Text 27"/>
          <p:cNvSpPr/>
          <p:nvPr/>
        </p:nvSpPr>
        <p:spPr>
          <a:xfrm>
            <a:off x="4893320" y="1667396"/>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 2</a:t>
            </a:r>
            <a:endParaRPr lang="en-US" sz="600" dirty="0"/>
          </a:p>
        </p:txBody>
      </p:sp>
      <p:sp>
        <p:nvSpPr>
          <p:cNvPr id="30" name="Text 28"/>
          <p:cNvSpPr/>
          <p:nvPr/>
        </p:nvSpPr>
        <p:spPr>
          <a:xfrm>
            <a:off x="6104037" y="1667396"/>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31" name="Text 29"/>
          <p:cNvSpPr/>
          <p:nvPr/>
        </p:nvSpPr>
        <p:spPr>
          <a:xfrm>
            <a:off x="7197477" y="1667396"/>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32" name="Shape 30"/>
          <p:cNvSpPr/>
          <p:nvPr/>
        </p:nvSpPr>
        <p:spPr>
          <a:xfrm>
            <a:off x="500881" y="2015430"/>
            <a:ext cx="8142238" cy="383307"/>
          </a:xfrm>
          <a:prstGeom prst="rect">
            <a:avLst/>
          </a:prstGeom>
          <a:solidFill>
            <a:srgbClr val="FFFFFF">
              <a:alpha val="4000"/>
            </a:srgbClr>
          </a:solidFill>
          <a:ln/>
        </p:spPr>
      </p:sp>
      <p:sp>
        <p:nvSpPr>
          <p:cNvPr id="33" name="Text 31"/>
          <p:cNvSpPr/>
          <p:nvPr/>
        </p:nvSpPr>
        <p:spPr>
          <a:xfrm>
            <a:off x="580504" y="2050703"/>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violence_against_civilians_count</a:t>
            </a:r>
            <a:endParaRPr lang="en-US" sz="600" dirty="0"/>
          </a:p>
        </p:txBody>
      </p:sp>
      <p:sp>
        <p:nvSpPr>
          <p:cNvPr id="34" name="Text 32"/>
          <p:cNvSpPr/>
          <p:nvPr/>
        </p:nvSpPr>
        <p:spPr>
          <a:xfrm>
            <a:off x="2413248" y="2050703"/>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Violence against Civilians.</a:t>
            </a:r>
            <a:endParaRPr lang="en-US" sz="600" dirty="0"/>
          </a:p>
        </p:txBody>
      </p:sp>
      <p:sp>
        <p:nvSpPr>
          <p:cNvPr id="35" name="Text 33"/>
          <p:cNvSpPr/>
          <p:nvPr/>
        </p:nvSpPr>
        <p:spPr>
          <a:xfrm>
            <a:off x="3684240" y="2050703"/>
            <a:ext cx="1045518"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"Violence Against Civilians".</a:t>
            </a:r>
            <a:endParaRPr lang="en-US" sz="600" dirty="0"/>
          </a:p>
        </p:txBody>
      </p:sp>
      <p:sp>
        <p:nvSpPr>
          <p:cNvPr id="36" name="Text 34"/>
          <p:cNvSpPr/>
          <p:nvPr/>
        </p:nvSpPr>
        <p:spPr>
          <a:xfrm>
            <a:off x="4893320" y="2050703"/>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a:t>
            </a:r>
            <a:endParaRPr lang="en-US" sz="600" dirty="0"/>
          </a:p>
        </p:txBody>
      </p:sp>
      <p:sp>
        <p:nvSpPr>
          <p:cNvPr id="37" name="Text 35"/>
          <p:cNvSpPr/>
          <p:nvPr/>
        </p:nvSpPr>
        <p:spPr>
          <a:xfrm>
            <a:off x="6104037" y="2050703"/>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38" name="Text 36"/>
          <p:cNvSpPr/>
          <p:nvPr/>
        </p:nvSpPr>
        <p:spPr>
          <a:xfrm>
            <a:off x="7197477" y="2050703"/>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39" name="Shape 37"/>
          <p:cNvSpPr/>
          <p:nvPr/>
        </p:nvSpPr>
        <p:spPr>
          <a:xfrm>
            <a:off x="500881" y="2398737"/>
            <a:ext cx="8142238" cy="279053"/>
          </a:xfrm>
          <a:prstGeom prst="rect">
            <a:avLst/>
          </a:prstGeom>
          <a:solidFill>
            <a:srgbClr val="000000">
              <a:alpha val="4000"/>
            </a:srgbClr>
          </a:solidFill>
          <a:ln/>
        </p:spPr>
      </p:sp>
      <p:sp>
        <p:nvSpPr>
          <p:cNvPr id="40" name="Text 38"/>
          <p:cNvSpPr/>
          <p:nvPr/>
        </p:nvSpPr>
        <p:spPr>
          <a:xfrm>
            <a:off x="580504" y="2434010"/>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riots_count</a:t>
            </a:r>
            <a:endParaRPr lang="en-US" sz="600" dirty="0"/>
          </a:p>
        </p:txBody>
      </p:sp>
      <p:sp>
        <p:nvSpPr>
          <p:cNvPr id="41" name="Text 39"/>
          <p:cNvSpPr/>
          <p:nvPr/>
        </p:nvSpPr>
        <p:spPr>
          <a:xfrm>
            <a:off x="2413248" y="2434010"/>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Riots.</a:t>
            </a:r>
            <a:endParaRPr lang="en-US" sz="600" dirty="0"/>
          </a:p>
        </p:txBody>
      </p:sp>
      <p:sp>
        <p:nvSpPr>
          <p:cNvPr id="42" name="Text 40"/>
          <p:cNvSpPr/>
          <p:nvPr/>
        </p:nvSpPr>
        <p:spPr>
          <a:xfrm>
            <a:off x="3684240" y="2434010"/>
            <a:ext cx="104551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"Riots".</a:t>
            </a:r>
            <a:endParaRPr lang="en-US" sz="600" dirty="0"/>
          </a:p>
        </p:txBody>
      </p:sp>
      <p:sp>
        <p:nvSpPr>
          <p:cNvPr id="43" name="Text 41"/>
          <p:cNvSpPr/>
          <p:nvPr/>
        </p:nvSpPr>
        <p:spPr>
          <a:xfrm>
            <a:off x="4893320" y="2434010"/>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a:t>
            </a:r>
            <a:endParaRPr lang="en-US" sz="600" dirty="0"/>
          </a:p>
        </p:txBody>
      </p:sp>
      <p:sp>
        <p:nvSpPr>
          <p:cNvPr id="44" name="Text 42"/>
          <p:cNvSpPr/>
          <p:nvPr/>
        </p:nvSpPr>
        <p:spPr>
          <a:xfrm>
            <a:off x="6104037" y="2434010"/>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45" name="Text 43"/>
          <p:cNvSpPr/>
          <p:nvPr/>
        </p:nvSpPr>
        <p:spPr>
          <a:xfrm>
            <a:off x="7197477" y="2434010"/>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46" name="Shape 44"/>
          <p:cNvSpPr/>
          <p:nvPr/>
        </p:nvSpPr>
        <p:spPr>
          <a:xfrm>
            <a:off x="500881" y="2677790"/>
            <a:ext cx="8142238" cy="279053"/>
          </a:xfrm>
          <a:prstGeom prst="rect">
            <a:avLst/>
          </a:prstGeom>
          <a:solidFill>
            <a:srgbClr val="FFFFFF">
              <a:alpha val="4000"/>
            </a:srgbClr>
          </a:solidFill>
          <a:ln/>
        </p:spPr>
      </p:sp>
      <p:sp>
        <p:nvSpPr>
          <p:cNvPr id="47" name="Text 45"/>
          <p:cNvSpPr/>
          <p:nvPr/>
        </p:nvSpPr>
        <p:spPr>
          <a:xfrm>
            <a:off x="580504" y="2713062"/>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protests_count</a:t>
            </a:r>
            <a:endParaRPr lang="en-US" sz="600" dirty="0"/>
          </a:p>
        </p:txBody>
      </p:sp>
      <p:sp>
        <p:nvSpPr>
          <p:cNvPr id="48" name="Text 46"/>
          <p:cNvSpPr/>
          <p:nvPr/>
        </p:nvSpPr>
        <p:spPr>
          <a:xfrm>
            <a:off x="2413248" y="2713062"/>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Protests.</a:t>
            </a:r>
            <a:endParaRPr lang="en-US" sz="600" dirty="0"/>
          </a:p>
        </p:txBody>
      </p:sp>
      <p:sp>
        <p:nvSpPr>
          <p:cNvPr id="49" name="Text 47"/>
          <p:cNvSpPr/>
          <p:nvPr/>
        </p:nvSpPr>
        <p:spPr>
          <a:xfrm>
            <a:off x="3684240" y="2713062"/>
            <a:ext cx="104551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"Protests".</a:t>
            </a:r>
            <a:endParaRPr lang="en-US" sz="600" dirty="0"/>
          </a:p>
        </p:txBody>
      </p:sp>
      <p:sp>
        <p:nvSpPr>
          <p:cNvPr id="50" name="Text 48"/>
          <p:cNvSpPr/>
          <p:nvPr/>
        </p:nvSpPr>
        <p:spPr>
          <a:xfrm>
            <a:off x="4893320" y="2713062"/>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a:t>
            </a:r>
            <a:endParaRPr lang="en-US" sz="600" dirty="0"/>
          </a:p>
        </p:txBody>
      </p:sp>
      <p:sp>
        <p:nvSpPr>
          <p:cNvPr id="51" name="Text 49"/>
          <p:cNvSpPr/>
          <p:nvPr/>
        </p:nvSpPr>
        <p:spPr>
          <a:xfrm>
            <a:off x="6104037" y="2713062"/>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52" name="Text 50"/>
          <p:cNvSpPr/>
          <p:nvPr/>
        </p:nvSpPr>
        <p:spPr>
          <a:xfrm>
            <a:off x="7197477" y="2713062"/>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53" name="Shape 51"/>
          <p:cNvSpPr/>
          <p:nvPr/>
        </p:nvSpPr>
        <p:spPr>
          <a:xfrm>
            <a:off x="500881" y="2956843"/>
            <a:ext cx="8142238" cy="383307"/>
          </a:xfrm>
          <a:prstGeom prst="rect">
            <a:avLst/>
          </a:prstGeom>
          <a:solidFill>
            <a:srgbClr val="000000">
              <a:alpha val="4000"/>
            </a:srgbClr>
          </a:solidFill>
          <a:ln/>
        </p:spPr>
      </p:sp>
      <p:sp>
        <p:nvSpPr>
          <p:cNvPr id="54" name="Text 52"/>
          <p:cNvSpPr/>
          <p:nvPr/>
        </p:nvSpPr>
        <p:spPr>
          <a:xfrm>
            <a:off x="580504" y="2992115"/>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strategic_developments_count</a:t>
            </a:r>
            <a:endParaRPr lang="en-US" sz="600" dirty="0"/>
          </a:p>
        </p:txBody>
      </p:sp>
      <p:sp>
        <p:nvSpPr>
          <p:cNvPr id="55" name="Text 53"/>
          <p:cNvSpPr/>
          <p:nvPr/>
        </p:nvSpPr>
        <p:spPr>
          <a:xfrm>
            <a:off x="2413248" y="2992115"/>
            <a:ext cx="1107430"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events classified as Strategic Developments.</a:t>
            </a:r>
            <a:endParaRPr lang="en-US" sz="600" dirty="0"/>
          </a:p>
        </p:txBody>
      </p:sp>
      <p:sp>
        <p:nvSpPr>
          <p:cNvPr id="56" name="Text 54"/>
          <p:cNvSpPr/>
          <p:nvPr/>
        </p:nvSpPr>
        <p:spPr>
          <a:xfrm>
            <a:off x="3684240" y="2992115"/>
            <a:ext cx="1045518"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Count of events where Event Type = "Strategic Developments".</a:t>
            </a:r>
            <a:endParaRPr lang="en-US" sz="600" dirty="0"/>
          </a:p>
        </p:txBody>
      </p:sp>
      <p:sp>
        <p:nvSpPr>
          <p:cNvPr id="57" name="Text 55"/>
          <p:cNvSpPr/>
          <p:nvPr/>
        </p:nvSpPr>
        <p:spPr>
          <a:xfrm>
            <a:off x="4893320" y="2992115"/>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Events grouped by Admin 2 administrative unit</a:t>
            </a:r>
            <a:endParaRPr lang="en-US" sz="600" dirty="0"/>
          </a:p>
        </p:txBody>
      </p:sp>
      <p:sp>
        <p:nvSpPr>
          <p:cNvPr id="58" name="Text 56"/>
          <p:cNvSpPr/>
          <p:nvPr/>
        </p:nvSpPr>
        <p:spPr>
          <a:xfrm>
            <a:off x="6104037" y="2992115"/>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59" name="Text 57"/>
          <p:cNvSpPr/>
          <p:nvPr/>
        </p:nvSpPr>
        <p:spPr>
          <a:xfrm>
            <a:off x="7197477" y="2992115"/>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60" name="Shape 58"/>
          <p:cNvSpPr/>
          <p:nvPr/>
        </p:nvSpPr>
        <p:spPr>
          <a:xfrm>
            <a:off x="500881" y="3340150"/>
            <a:ext cx="8142238" cy="487561"/>
          </a:xfrm>
          <a:prstGeom prst="rect">
            <a:avLst/>
          </a:prstGeom>
          <a:solidFill>
            <a:srgbClr val="FFFFFF">
              <a:alpha val="4000"/>
            </a:srgbClr>
          </a:solidFill>
          <a:ln/>
        </p:spPr>
      </p:sp>
      <p:sp>
        <p:nvSpPr>
          <p:cNvPr id="61" name="Text 59"/>
          <p:cNvSpPr/>
          <p:nvPr/>
        </p:nvSpPr>
        <p:spPr>
          <a:xfrm>
            <a:off x="580504" y="3375422"/>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fatalities</a:t>
            </a:r>
            <a:endParaRPr lang="en-US" sz="600" dirty="0"/>
          </a:p>
        </p:txBody>
      </p:sp>
      <p:sp>
        <p:nvSpPr>
          <p:cNvPr id="62" name="Text 60"/>
          <p:cNvSpPr/>
          <p:nvPr/>
        </p:nvSpPr>
        <p:spPr>
          <a:xfrm>
            <a:off x="2413248" y="3375422"/>
            <a:ext cx="1107430"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Total reported fatalities associated with all conflict events during the month.</a:t>
            </a:r>
            <a:endParaRPr lang="en-US" sz="600" dirty="0"/>
          </a:p>
        </p:txBody>
      </p:sp>
      <p:sp>
        <p:nvSpPr>
          <p:cNvPr id="63" name="Text 61"/>
          <p:cNvSpPr/>
          <p:nvPr/>
        </p:nvSpPr>
        <p:spPr>
          <a:xfrm>
            <a:off x="3684240" y="3375422"/>
            <a:ext cx="1045518" cy="417016"/>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Sum of fatalities reported across all conflict events within the Admin2 disctric during the month</a:t>
            </a:r>
            <a:endParaRPr lang="en-US" sz="600" dirty="0"/>
          </a:p>
        </p:txBody>
      </p:sp>
      <p:sp>
        <p:nvSpPr>
          <p:cNvPr id="64" name="Text 62"/>
          <p:cNvSpPr/>
          <p:nvPr/>
        </p:nvSpPr>
        <p:spPr>
          <a:xfrm>
            <a:off x="4893320" y="3375422"/>
            <a:ext cx="1504355"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By Admin 2 level</a:t>
            </a:r>
            <a:endParaRPr lang="en-US" sz="600" dirty="0"/>
          </a:p>
        </p:txBody>
      </p:sp>
      <p:sp>
        <p:nvSpPr>
          <p:cNvPr id="65" name="Text 63"/>
          <p:cNvSpPr/>
          <p:nvPr/>
        </p:nvSpPr>
        <p:spPr>
          <a:xfrm>
            <a:off x="6104037" y="3375422"/>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sum</a:t>
            </a:r>
            <a:endParaRPr lang="en-US" sz="600" dirty="0"/>
          </a:p>
        </p:txBody>
      </p:sp>
      <p:sp>
        <p:nvSpPr>
          <p:cNvPr id="66" name="Text 64"/>
          <p:cNvSpPr/>
          <p:nvPr/>
        </p:nvSpPr>
        <p:spPr>
          <a:xfrm>
            <a:off x="7197477" y="3375422"/>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67" name="Shape 65"/>
          <p:cNvSpPr/>
          <p:nvPr/>
        </p:nvSpPr>
        <p:spPr>
          <a:xfrm>
            <a:off x="500881" y="3827711"/>
            <a:ext cx="8142238" cy="383307"/>
          </a:xfrm>
          <a:prstGeom prst="rect">
            <a:avLst/>
          </a:prstGeom>
          <a:solidFill>
            <a:srgbClr val="000000">
              <a:alpha val="4000"/>
            </a:srgbClr>
          </a:solidFill>
          <a:ln/>
        </p:spPr>
      </p:sp>
      <p:sp>
        <p:nvSpPr>
          <p:cNvPr id="68" name="Text 66"/>
          <p:cNvSpPr/>
          <p:nvPr/>
        </p:nvSpPr>
        <p:spPr>
          <a:xfrm>
            <a:off x="580504" y="3862983"/>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conflict_density</a:t>
            </a:r>
            <a:endParaRPr lang="en-US" sz="600" dirty="0"/>
          </a:p>
        </p:txBody>
      </p:sp>
      <p:sp>
        <p:nvSpPr>
          <p:cNvPr id="69" name="Text 67"/>
          <p:cNvSpPr/>
          <p:nvPr/>
        </p:nvSpPr>
        <p:spPr>
          <a:xfrm>
            <a:off x="2413248" y="3862983"/>
            <a:ext cx="1107430" cy="312762"/>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Number of conflict events per square kilometre of the administrative unit.</a:t>
            </a:r>
            <a:endParaRPr lang="en-US" sz="600" dirty="0"/>
          </a:p>
        </p:txBody>
      </p:sp>
      <p:sp>
        <p:nvSpPr>
          <p:cNvPr id="70" name="Text 68"/>
          <p:cNvSpPr/>
          <p:nvPr/>
        </p:nvSpPr>
        <p:spPr>
          <a:xfrm>
            <a:off x="3684240" y="3862983"/>
            <a:ext cx="104551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Conflict Event Count  / Area of Admin2 (km2)</a:t>
            </a:r>
            <a:endParaRPr lang="en-US" sz="600" dirty="0"/>
          </a:p>
        </p:txBody>
      </p:sp>
      <p:sp>
        <p:nvSpPr>
          <p:cNvPr id="71" name="Text 69"/>
          <p:cNvSpPr/>
          <p:nvPr/>
        </p:nvSpPr>
        <p:spPr>
          <a:xfrm>
            <a:off x="4893320" y="3862983"/>
            <a:ext cx="1047155"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Area calculated from GADM Admin 2 polygons</a:t>
            </a:r>
            <a:endParaRPr lang="en-US" sz="600" dirty="0"/>
          </a:p>
        </p:txBody>
      </p:sp>
      <p:sp>
        <p:nvSpPr>
          <p:cNvPr id="72" name="Text 70"/>
          <p:cNvSpPr/>
          <p:nvPr/>
        </p:nvSpPr>
        <p:spPr>
          <a:xfrm>
            <a:off x="6104037" y="3862983"/>
            <a:ext cx="1387078"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a:t>
            </a:r>
            <a:endParaRPr lang="en-US" sz="600" dirty="0"/>
          </a:p>
        </p:txBody>
      </p:sp>
      <p:sp>
        <p:nvSpPr>
          <p:cNvPr id="73" name="Text 71"/>
          <p:cNvSpPr/>
          <p:nvPr/>
        </p:nvSpPr>
        <p:spPr>
          <a:xfrm>
            <a:off x="7197477" y="3862983"/>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
        <p:nvSpPr>
          <p:cNvPr id="74" name="Shape 72"/>
          <p:cNvSpPr/>
          <p:nvPr/>
        </p:nvSpPr>
        <p:spPr>
          <a:xfrm>
            <a:off x="500881" y="4211017"/>
            <a:ext cx="8142238" cy="487561"/>
          </a:xfrm>
          <a:prstGeom prst="rect">
            <a:avLst/>
          </a:prstGeom>
          <a:solidFill>
            <a:srgbClr val="FFFFFF">
              <a:alpha val="4000"/>
            </a:srgbClr>
          </a:solidFill>
          <a:ln/>
        </p:spPr>
      </p:sp>
      <p:sp>
        <p:nvSpPr>
          <p:cNvPr id="75" name="Text 73"/>
          <p:cNvSpPr/>
          <p:nvPr/>
        </p:nvSpPr>
        <p:spPr>
          <a:xfrm>
            <a:off x="580504" y="4246290"/>
            <a:ext cx="2126382" cy="109017"/>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highlight>
                  <a:srgbClr val="2D3440"/>
                </a:highlight>
                <a:latin typeface="Consolas" pitchFamily="34" charset="0"/>
                <a:ea typeface="Consolas" pitchFamily="34" charset="-122"/>
                <a:cs typeface="Consolas" pitchFamily="34" charset="-120"/>
              </a:rPr>
              <a:t>conflict_trend_pct</a:t>
            </a:r>
            <a:endParaRPr lang="en-US" sz="600" dirty="0"/>
          </a:p>
        </p:txBody>
      </p:sp>
      <p:sp>
        <p:nvSpPr>
          <p:cNvPr id="76" name="Text 74"/>
          <p:cNvSpPr/>
          <p:nvPr/>
        </p:nvSpPr>
        <p:spPr>
          <a:xfrm>
            <a:off x="2413248" y="4246290"/>
            <a:ext cx="1107430" cy="417016"/>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Percentage change in the total number of conflict events compared with the previous month.</a:t>
            </a:r>
            <a:endParaRPr lang="en-US" sz="600" dirty="0"/>
          </a:p>
        </p:txBody>
      </p:sp>
      <p:sp>
        <p:nvSpPr>
          <p:cNvPr id="77" name="Text 75"/>
          <p:cNvSpPr/>
          <p:nvPr/>
        </p:nvSpPr>
        <p:spPr>
          <a:xfrm>
            <a:off x="3684240" y="4246290"/>
            <a:ext cx="1045518" cy="417016"/>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(Current Month Event count - Previous Month Event count / previous Month Event count) * 100</a:t>
            </a:r>
            <a:endParaRPr lang="en-US" sz="600" dirty="0"/>
          </a:p>
        </p:txBody>
      </p:sp>
      <p:sp>
        <p:nvSpPr>
          <p:cNvPr id="78" name="Text 76"/>
          <p:cNvSpPr/>
          <p:nvPr/>
        </p:nvSpPr>
        <p:spPr>
          <a:xfrm>
            <a:off x="4893320" y="4246290"/>
            <a:ext cx="1504355"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By Admin 2 level</a:t>
            </a:r>
            <a:endParaRPr lang="en-US" sz="600" dirty="0"/>
          </a:p>
        </p:txBody>
      </p:sp>
      <p:sp>
        <p:nvSpPr>
          <p:cNvPr id="79" name="Text 77"/>
          <p:cNvSpPr/>
          <p:nvPr/>
        </p:nvSpPr>
        <p:spPr>
          <a:xfrm>
            <a:off x="6104037" y="4246290"/>
            <a:ext cx="929878"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Monthly percentage change</a:t>
            </a:r>
            <a:endParaRPr lang="en-US" sz="600" dirty="0"/>
          </a:p>
        </p:txBody>
      </p:sp>
      <p:sp>
        <p:nvSpPr>
          <p:cNvPr id="80" name="Text 78"/>
          <p:cNvSpPr/>
          <p:nvPr/>
        </p:nvSpPr>
        <p:spPr>
          <a:xfrm>
            <a:off x="7197477" y="4246290"/>
            <a:ext cx="1823442" cy="104254"/>
          </a:xfrm>
          <a:prstGeom prst="rect">
            <a:avLst/>
          </a:prstGeom>
          <a:noFill/>
          <a:ln/>
        </p:spPr>
        <p:txBody>
          <a:bodyPr wrap="none" lIns="0" tIns="0" rIns="0" bIns="0" rtlCol="0" anchor="t"/>
          <a:lstStyle/>
          <a:p>
            <a:pPr marL="0" indent="0" algn="l">
              <a:lnSpc>
                <a:spcPct val="109000"/>
              </a:lnSpc>
              <a:buNone/>
            </a:pPr>
            <a:r>
              <a:rPr lang="en-US" sz="600" dirty="0">
                <a:solidFill>
                  <a:srgbClr val="D6E5EF"/>
                </a:solidFill>
                <a:latin typeface="Roboto" pitchFamily="34" charset="0"/>
                <a:ea typeface="Roboto" pitchFamily="34" charset="-122"/>
                <a:cs typeface="Roboto" pitchFamily="34" charset="-120"/>
              </a:rPr>
              <a:t>Missing values are set to 0</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65981"/>
            <a:ext cx="8151763" cy="320948"/>
          </a:xfrm>
          <a:prstGeom prst="rect">
            <a:avLst/>
          </a:prstGeom>
          <a:noFill/>
          <a:ln/>
        </p:spPr>
        <p:txBody>
          <a:bodyPr wrap="none" lIns="0" tIns="0" rIns="0" bIns="0" rtlCol="0" anchor="t"/>
          <a:lstStyle/>
          <a:p>
            <a:pPr marL="0" indent="0" algn="l">
              <a:lnSpc>
                <a:spcPct val="104000"/>
              </a:lnSpc>
              <a:buNone/>
            </a:pPr>
            <a:r>
              <a:rPr lang="en-US" sz="2000" dirty="0">
                <a:solidFill>
                  <a:srgbClr val="76B9FF"/>
                </a:solidFill>
                <a:latin typeface="Roboto Slab" pitchFamily="34" charset="0"/>
                <a:ea typeface="Roboto Slab" pitchFamily="34" charset="-122"/>
                <a:cs typeface="Roboto Slab" pitchFamily="34" charset="-120"/>
              </a:rPr>
              <a:t>Feature specification: Climate &amp; Agricultural Stress</a:t>
            </a:r>
            <a:endParaRPr lang="en-US" sz="2000" dirty="0"/>
          </a:p>
        </p:txBody>
      </p:sp>
      <p:sp>
        <p:nvSpPr>
          <p:cNvPr id="3" name="Shape 1"/>
          <p:cNvSpPr/>
          <p:nvPr/>
        </p:nvSpPr>
        <p:spPr>
          <a:xfrm>
            <a:off x="496119" y="957039"/>
            <a:ext cx="8151763" cy="3720405"/>
          </a:xfrm>
          <a:prstGeom prst="roundRect">
            <a:avLst>
              <a:gd name="adj" fmla="val 414"/>
            </a:avLst>
          </a:prstGeom>
          <a:noFill/>
          <a:ln w="4763">
            <a:solidFill>
              <a:srgbClr val="FFFFFF">
                <a:alpha val="24000"/>
              </a:srgbClr>
            </a:solidFill>
            <a:prstDash val="solid"/>
          </a:ln>
        </p:spPr>
      </p:sp>
      <p:sp>
        <p:nvSpPr>
          <p:cNvPr id="4" name="Shape 2"/>
          <p:cNvSpPr/>
          <p:nvPr/>
        </p:nvSpPr>
        <p:spPr>
          <a:xfrm>
            <a:off x="500881" y="961802"/>
            <a:ext cx="8142238" cy="411807"/>
          </a:xfrm>
          <a:prstGeom prst="rect">
            <a:avLst/>
          </a:prstGeom>
          <a:solidFill>
            <a:srgbClr val="FFFFFF">
              <a:alpha val="4000"/>
            </a:srgbClr>
          </a:solidFill>
          <a:ln/>
        </p:spPr>
      </p:sp>
      <p:sp>
        <p:nvSpPr>
          <p:cNvPr id="5" name="Text 3"/>
          <p:cNvSpPr/>
          <p:nvPr/>
        </p:nvSpPr>
        <p:spPr>
          <a:xfrm>
            <a:off x="603796" y="1017538"/>
            <a:ext cx="2079799" cy="150168"/>
          </a:xfrm>
          <a:prstGeom prst="rect">
            <a:avLst/>
          </a:prstGeom>
          <a:noFill/>
          <a:ln/>
        </p:spPr>
        <p:txBody>
          <a:bodyPr wrap="none" lIns="0" tIns="0" rIns="0" bIns="0" rtlCol="0" anchor="t"/>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Feature</a:t>
            </a:r>
            <a:endParaRPr lang="en-US" sz="800" dirty="0"/>
          </a:p>
        </p:txBody>
      </p:sp>
      <p:sp>
        <p:nvSpPr>
          <p:cNvPr id="6" name="Text 4"/>
          <p:cNvSpPr/>
          <p:nvPr/>
        </p:nvSpPr>
        <p:spPr>
          <a:xfrm>
            <a:off x="2436540" y="1017538"/>
            <a:ext cx="1518047" cy="150168"/>
          </a:xfrm>
          <a:prstGeom prst="rect">
            <a:avLst/>
          </a:prstGeom>
          <a:noFill/>
          <a:ln/>
        </p:spPr>
        <p:txBody>
          <a:bodyPr wrap="none" lIns="0" tIns="0" rIns="0" bIns="0" rtlCol="0" anchor="t"/>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Description</a:t>
            </a:r>
            <a:endParaRPr lang="en-US" sz="800" dirty="0"/>
          </a:p>
        </p:txBody>
      </p:sp>
      <p:sp>
        <p:nvSpPr>
          <p:cNvPr id="7" name="Text 5"/>
          <p:cNvSpPr/>
          <p:nvPr/>
        </p:nvSpPr>
        <p:spPr>
          <a:xfrm>
            <a:off x="3707532" y="1017538"/>
            <a:ext cx="998934" cy="300335"/>
          </a:xfrm>
          <a:prstGeom prst="rect">
            <a:avLst/>
          </a:prstGeom>
          <a:noFill/>
          <a:ln/>
        </p:spPr>
        <p:txBody>
          <a:bodyPr wrap="square" lIns="0" tIns="0" rIns="0" bIns="0" rtlCol="0" anchor="t">
            <a:normAutofit/>
          </a:bodyPr>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Mathematical formulation</a:t>
            </a:r>
            <a:endParaRPr lang="en-US" sz="800" dirty="0"/>
          </a:p>
        </p:txBody>
      </p:sp>
      <p:sp>
        <p:nvSpPr>
          <p:cNvPr id="8" name="Text 6"/>
          <p:cNvSpPr/>
          <p:nvPr/>
        </p:nvSpPr>
        <p:spPr>
          <a:xfrm>
            <a:off x="4916612" y="1017538"/>
            <a:ext cx="1000571" cy="300335"/>
          </a:xfrm>
          <a:prstGeom prst="rect">
            <a:avLst/>
          </a:prstGeom>
          <a:noFill/>
          <a:ln/>
        </p:spPr>
        <p:txBody>
          <a:bodyPr wrap="square" lIns="0" tIns="0" rIns="0" bIns="0" rtlCol="0" anchor="t">
            <a:normAutofit/>
          </a:bodyPr>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Spatial Assignment rule</a:t>
            </a:r>
            <a:endParaRPr lang="en-US" sz="800" dirty="0"/>
          </a:p>
        </p:txBody>
      </p:sp>
      <p:sp>
        <p:nvSpPr>
          <p:cNvPr id="9" name="Text 7"/>
          <p:cNvSpPr/>
          <p:nvPr/>
        </p:nvSpPr>
        <p:spPr>
          <a:xfrm>
            <a:off x="6127328" y="1017538"/>
            <a:ext cx="883295" cy="300335"/>
          </a:xfrm>
          <a:prstGeom prst="rect">
            <a:avLst/>
          </a:prstGeom>
          <a:noFill/>
          <a:ln/>
        </p:spPr>
        <p:txBody>
          <a:bodyPr wrap="square" lIns="0" tIns="0" rIns="0" bIns="0" rtlCol="0" anchor="t">
            <a:normAutofit/>
          </a:bodyPr>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Temporal aggregation rule</a:t>
            </a:r>
            <a:endParaRPr lang="en-US" sz="800" dirty="0"/>
          </a:p>
        </p:txBody>
      </p:sp>
      <p:sp>
        <p:nvSpPr>
          <p:cNvPr id="10" name="Text 8"/>
          <p:cNvSpPr/>
          <p:nvPr/>
        </p:nvSpPr>
        <p:spPr>
          <a:xfrm>
            <a:off x="7220769" y="1017538"/>
            <a:ext cx="1776859" cy="150168"/>
          </a:xfrm>
          <a:prstGeom prst="rect">
            <a:avLst/>
          </a:prstGeom>
          <a:noFill/>
          <a:ln/>
        </p:spPr>
        <p:txBody>
          <a:bodyPr wrap="none" lIns="0" tIns="0" rIns="0" bIns="0" rtlCol="0" anchor="t"/>
          <a:lstStyle/>
          <a:p>
            <a:pPr marL="0" indent="0" algn="l">
              <a:lnSpc>
                <a:spcPct val="122000"/>
              </a:lnSpc>
              <a:buNone/>
            </a:pPr>
            <a:r>
              <a:rPr lang="en-US" sz="800" b="1" dirty="0">
                <a:solidFill>
                  <a:srgbClr val="D6E5EF"/>
                </a:solidFill>
                <a:latin typeface="Roboto Bold" pitchFamily="34" charset="0"/>
                <a:ea typeface="Roboto Bold" pitchFamily="34" charset="-122"/>
                <a:cs typeface="Roboto Bold" pitchFamily="34" charset="-120"/>
              </a:rPr>
              <a:t>Missing Value Policy</a:t>
            </a:r>
            <a:endParaRPr lang="en-US" sz="800" dirty="0"/>
          </a:p>
        </p:txBody>
      </p:sp>
      <p:sp>
        <p:nvSpPr>
          <p:cNvPr id="11" name="Shape 9"/>
          <p:cNvSpPr/>
          <p:nvPr/>
        </p:nvSpPr>
        <p:spPr>
          <a:xfrm>
            <a:off x="500881" y="1373609"/>
            <a:ext cx="8142238" cy="712143"/>
          </a:xfrm>
          <a:prstGeom prst="rect">
            <a:avLst/>
          </a:prstGeom>
          <a:solidFill>
            <a:srgbClr val="000000">
              <a:alpha val="4000"/>
            </a:srgbClr>
          </a:solidFill>
          <a:ln/>
        </p:spPr>
      </p:sp>
      <p:sp>
        <p:nvSpPr>
          <p:cNvPr id="12" name="Text 10"/>
          <p:cNvSpPr/>
          <p:nvPr/>
        </p:nvSpPr>
        <p:spPr>
          <a:xfrm>
            <a:off x="603796" y="1429345"/>
            <a:ext cx="2079799"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vegetation_health_index_mean</a:t>
            </a:r>
            <a:endParaRPr lang="en-US" sz="800" dirty="0"/>
          </a:p>
        </p:txBody>
      </p:sp>
      <p:sp>
        <p:nvSpPr>
          <p:cNvPr id="13" name="Text 11"/>
          <p:cNvSpPr/>
          <p:nvPr/>
        </p:nvSpPr>
        <p:spPr>
          <a:xfrm>
            <a:off x="2436540" y="1429345"/>
            <a:ext cx="1060847"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Average Vegetation Health Index within an Admin 2 unit in the month.</a:t>
            </a:r>
            <a:endParaRPr lang="en-US" sz="800" dirty="0"/>
          </a:p>
        </p:txBody>
      </p:sp>
      <p:sp>
        <p:nvSpPr>
          <p:cNvPr id="14" name="Text 12"/>
          <p:cNvSpPr/>
          <p:nvPr/>
        </p:nvSpPr>
        <p:spPr>
          <a:xfrm>
            <a:off x="3707532" y="1429345"/>
            <a:ext cx="998934" cy="450503"/>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Mean VHI across all raster cells within Admin 2 boundary</a:t>
            </a:r>
            <a:endParaRPr lang="en-US" sz="800" dirty="0"/>
          </a:p>
        </p:txBody>
      </p:sp>
      <p:sp>
        <p:nvSpPr>
          <p:cNvPr id="15" name="Text 13"/>
          <p:cNvSpPr/>
          <p:nvPr/>
        </p:nvSpPr>
        <p:spPr>
          <a:xfrm>
            <a:off x="4916612" y="1429345"/>
            <a:ext cx="1000571" cy="450503"/>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Mean VHI raster values for each admin 2 polygon</a:t>
            </a:r>
            <a:endParaRPr lang="en-US" sz="800" dirty="0"/>
          </a:p>
        </p:txBody>
      </p:sp>
      <p:sp>
        <p:nvSpPr>
          <p:cNvPr id="16" name="Text 14"/>
          <p:cNvSpPr/>
          <p:nvPr/>
        </p:nvSpPr>
        <p:spPr>
          <a:xfrm>
            <a:off x="6127328" y="1429345"/>
            <a:ext cx="1340495"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Monthly average.</a:t>
            </a:r>
            <a:endParaRPr lang="en-US" sz="800" dirty="0"/>
          </a:p>
        </p:txBody>
      </p:sp>
      <p:sp>
        <p:nvSpPr>
          <p:cNvPr id="17" name="Text 15"/>
          <p:cNvSpPr/>
          <p:nvPr/>
        </p:nvSpPr>
        <p:spPr>
          <a:xfrm>
            <a:off x="7220769" y="1429345"/>
            <a:ext cx="1319659"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Retain NaN if raster data are unavailable.</a:t>
            </a:r>
            <a:endParaRPr lang="en-US" sz="800" dirty="0"/>
          </a:p>
        </p:txBody>
      </p:sp>
      <p:sp>
        <p:nvSpPr>
          <p:cNvPr id="18" name="Shape 16"/>
          <p:cNvSpPr/>
          <p:nvPr/>
        </p:nvSpPr>
        <p:spPr>
          <a:xfrm>
            <a:off x="500881" y="2085752"/>
            <a:ext cx="8142238" cy="862310"/>
          </a:xfrm>
          <a:prstGeom prst="rect">
            <a:avLst/>
          </a:prstGeom>
          <a:solidFill>
            <a:srgbClr val="FFFFFF">
              <a:alpha val="4000"/>
            </a:srgbClr>
          </a:solidFill>
          <a:ln/>
        </p:spPr>
      </p:sp>
      <p:sp>
        <p:nvSpPr>
          <p:cNvPr id="19" name="Text 17"/>
          <p:cNvSpPr/>
          <p:nvPr/>
        </p:nvSpPr>
        <p:spPr>
          <a:xfrm>
            <a:off x="603796" y="2141488"/>
            <a:ext cx="2079799"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rainfall_max_mm</a:t>
            </a:r>
            <a:endParaRPr lang="en-US" sz="800" dirty="0"/>
          </a:p>
        </p:txBody>
      </p:sp>
      <p:sp>
        <p:nvSpPr>
          <p:cNvPr id="20" name="Text 18"/>
          <p:cNvSpPr/>
          <p:nvPr/>
        </p:nvSpPr>
        <p:spPr>
          <a:xfrm>
            <a:off x="2436540" y="2141488"/>
            <a:ext cx="1060847"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Highest monthly rainfall recorded within an Admin2 district (mm).</a:t>
            </a:r>
            <a:endParaRPr lang="en-US" sz="800" dirty="0"/>
          </a:p>
        </p:txBody>
      </p:sp>
      <p:sp>
        <p:nvSpPr>
          <p:cNvPr id="21" name="Text 19"/>
          <p:cNvSpPr/>
          <p:nvPr/>
        </p:nvSpPr>
        <p:spPr>
          <a:xfrm>
            <a:off x="3707532" y="2141488"/>
            <a:ext cx="998934" cy="75083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Maximum rainfall value across all CHIRPS raster cells within the Admin2 boundary.</a:t>
            </a:r>
            <a:endParaRPr lang="en-US" sz="800" dirty="0"/>
          </a:p>
        </p:txBody>
      </p:sp>
      <p:sp>
        <p:nvSpPr>
          <p:cNvPr id="22" name="Text 20"/>
          <p:cNvSpPr/>
          <p:nvPr/>
        </p:nvSpPr>
        <p:spPr>
          <a:xfrm>
            <a:off x="4916612" y="2141488"/>
            <a:ext cx="1000571"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Maximum CHIRPS raster value within each Admin2 administrative unit.</a:t>
            </a:r>
            <a:endParaRPr lang="en-US" sz="800" dirty="0"/>
          </a:p>
        </p:txBody>
      </p:sp>
      <p:sp>
        <p:nvSpPr>
          <p:cNvPr id="23" name="Text 21"/>
          <p:cNvSpPr/>
          <p:nvPr/>
        </p:nvSpPr>
        <p:spPr>
          <a:xfrm>
            <a:off x="6127328" y="2141488"/>
            <a:ext cx="1340495"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Monthly maximum.</a:t>
            </a:r>
            <a:endParaRPr lang="en-US" sz="800" dirty="0"/>
          </a:p>
        </p:txBody>
      </p:sp>
      <p:sp>
        <p:nvSpPr>
          <p:cNvPr id="24" name="Text 22"/>
          <p:cNvSpPr/>
          <p:nvPr/>
        </p:nvSpPr>
        <p:spPr>
          <a:xfrm>
            <a:off x="7220769" y="2141488"/>
            <a:ext cx="1319659"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Retain NaN if raster data are unavailable.</a:t>
            </a:r>
            <a:endParaRPr lang="en-US" sz="800" dirty="0"/>
          </a:p>
        </p:txBody>
      </p:sp>
      <p:sp>
        <p:nvSpPr>
          <p:cNvPr id="25" name="Shape 23"/>
          <p:cNvSpPr/>
          <p:nvPr/>
        </p:nvSpPr>
        <p:spPr>
          <a:xfrm>
            <a:off x="500881" y="2948062"/>
            <a:ext cx="8142238" cy="862310"/>
          </a:xfrm>
          <a:prstGeom prst="rect">
            <a:avLst/>
          </a:prstGeom>
          <a:solidFill>
            <a:srgbClr val="000000">
              <a:alpha val="4000"/>
            </a:srgbClr>
          </a:solidFill>
          <a:ln/>
        </p:spPr>
      </p:sp>
      <p:sp>
        <p:nvSpPr>
          <p:cNvPr id="26" name="Text 24"/>
          <p:cNvSpPr/>
          <p:nvPr/>
        </p:nvSpPr>
        <p:spPr>
          <a:xfrm>
            <a:off x="603796" y="3003798"/>
            <a:ext cx="2079799"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rainfall_min_mm</a:t>
            </a:r>
            <a:endParaRPr lang="en-US" sz="800" dirty="0"/>
          </a:p>
        </p:txBody>
      </p:sp>
      <p:sp>
        <p:nvSpPr>
          <p:cNvPr id="27" name="Text 25"/>
          <p:cNvSpPr/>
          <p:nvPr/>
        </p:nvSpPr>
        <p:spPr>
          <a:xfrm>
            <a:off x="2436540" y="3003798"/>
            <a:ext cx="1060847"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Lowest monthly rainfall recorded within an Admin2 district (mm).</a:t>
            </a:r>
            <a:endParaRPr lang="en-US" sz="800" dirty="0"/>
          </a:p>
        </p:txBody>
      </p:sp>
      <p:sp>
        <p:nvSpPr>
          <p:cNvPr id="28" name="Text 26"/>
          <p:cNvSpPr/>
          <p:nvPr/>
        </p:nvSpPr>
        <p:spPr>
          <a:xfrm>
            <a:off x="3707532" y="3003798"/>
            <a:ext cx="998934" cy="75083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Minimum rainfall value across all CHIRPS raster cells within the Admin2 boundary.</a:t>
            </a:r>
            <a:endParaRPr lang="en-US" sz="800" dirty="0"/>
          </a:p>
        </p:txBody>
      </p:sp>
      <p:sp>
        <p:nvSpPr>
          <p:cNvPr id="29" name="Text 27"/>
          <p:cNvSpPr/>
          <p:nvPr/>
        </p:nvSpPr>
        <p:spPr>
          <a:xfrm>
            <a:off x="4916612" y="3003798"/>
            <a:ext cx="1000571"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Minimum CHIRPS raster value within each Admin2 administrative unit.</a:t>
            </a:r>
            <a:endParaRPr lang="en-US" sz="800" dirty="0"/>
          </a:p>
        </p:txBody>
      </p:sp>
      <p:sp>
        <p:nvSpPr>
          <p:cNvPr id="30" name="Text 28"/>
          <p:cNvSpPr/>
          <p:nvPr/>
        </p:nvSpPr>
        <p:spPr>
          <a:xfrm>
            <a:off x="6127328" y="3003798"/>
            <a:ext cx="1340495"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Monthly minimum.</a:t>
            </a:r>
            <a:endParaRPr lang="en-US" sz="800" dirty="0"/>
          </a:p>
        </p:txBody>
      </p:sp>
      <p:sp>
        <p:nvSpPr>
          <p:cNvPr id="31" name="Text 29"/>
          <p:cNvSpPr/>
          <p:nvPr/>
        </p:nvSpPr>
        <p:spPr>
          <a:xfrm>
            <a:off x="7220769" y="3003798"/>
            <a:ext cx="1319659"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Retain NaN if raster data are unavailable.</a:t>
            </a:r>
            <a:endParaRPr lang="en-US" sz="800" dirty="0"/>
          </a:p>
        </p:txBody>
      </p:sp>
      <p:sp>
        <p:nvSpPr>
          <p:cNvPr id="32" name="Shape 30"/>
          <p:cNvSpPr/>
          <p:nvPr/>
        </p:nvSpPr>
        <p:spPr>
          <a:xfrm>
            <a:off x="500881" y="3810372"/>
            <a:ext cx="8142238" cy="862310"/>
          </a:xfrm>
          <a:prstGeom prst="rect">
            <a:avLst/>
          </a:prstGeom>
          <a:solidFill>
            <a:srgbClr val="FFFFFF">
              <a:alpha val="4000"/>
            </a:srgbClr>
          </a:solidFill>
          <a:ln/>
        </p:spPr>
      </p:sp>
      <p:sp>
        <p:nvSpPr>
          <p:cNvPr id="33" name="Text 31"/>
          <p:cNvSpPr/>
          <p:nvPr/>
        </p:nvSpPr>
        <p:spPr>
          <a:xfrm>
            <a:off x="603796" y="3866108"/>
            <a:ext cx="2079799"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rainfall_mean_mm</a:t>
            </a:r>
            <a:endParaRPr lang="en-US" sz="800" dirty="0"/>
          </a:p>
        </p:txBody>
      </p:sp>
      <p:sp>
        <p:nvSpPr>
          <p:cNvPr id="34" name="Text 32"/>
          <p:cNvSpPr/>
          <p:nvPr/>
        </p:nvSpPr>
        <p:spPr>
          <a:xfrm>
            <a:off x="2436540" y="3866108"/>
            <a:ext cx="1060847" cy="450503"/>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Average monthly rainfall within an Admin2 district (mm).</a:t>
            </a:r>
            <a:endParaRPr lang="en-US" sz="800" dirty="0"/>
          </a:p>
        </p:txBody>
      </p:sp>
      <p:sp>
        <p:nvSpPr>
          <p:cNvPr id="35" name="Text 33"/>
          <p:cNvSpPr/>
          <p:nvPr/>
        </p:nvSpPr>
        <p:spPr>
          <a:xfrm>
            <a:off x="3707532" y="3866108"/>
            <a:ext cx="998934" cy="600670"/>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Mean rainfall across all CHIRPS raster cells within the Admin2 boundary.</a:t>
            </a:r>
            <a:endParaRPr lang="en-US" sz="800" dirty="0"/>
          </a:p>
        </p:txBody>
      </p:sp>
      <p:sp>
        <p:nvSpPr>
          <p:cNvPr id="36" name="Text 34"/>
          <p:cNvSpPr/>
          <p:nvPr/>
        </p:nvSpPr>
        <p:spPr>
          <a:xfrm>
            <a:off x="4916612" y="3866108"/>
            <a:ext cx="1000571" cy="750838"/>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Mean CHIRPS raster values calculated for each Admin2 administrative unit using zonal statistics.</a:t>
            </a:r>
            <a:endParaRPr lang="en-US" sz="800" dirty="0"/>
          </a:p>
        </p:txBody>
      </p:sp>
      <p:sp>
        <p:nvSpPr>
          <p:cNvPr id="37" name="Text 35"/>
          <p:cNvSpPr/>
          <p:nvPr/>
        </p:nvSpPr>
        <p:spPr>
          <a:xfrm>
            <a:off x="6127328" y="3866108"/>
            <a:ext cx="1340495" cy="150168"/>
          </a:xfrm>
          <a:prstGeom prst="rect">
            <a:avLst/>
          </a:prstGeom>
          <a:noFill/>
          <a:ln/>
        </p:spPr>
        <p:txBody>
          <a:bodyPr wrap="none" lIns="0" tIns="0" rIns="0" bIns="0" rtlCol="0" anchor="t"/>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Monthly average.</a:t>
            </a:r>
            <a:endParaRPr lang="en-US" sz="800" dirty="0"/>
          </a:p>
        </p:txBody>
      </p:sp>
      <p:sp>
        <p:nvSpPr>
          <p:cNvPr id="38" name="Text 36"/>
          <p:cNvSpPr/>
          <p:nvPr/>
        </p:nvSpPr>
        <p:spPr>
          <a:xfrm>
            <a:off x="7220769" y="3866108"/>
            <a:ext cx="1319659"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D6E5EF"/>
                </a:solidFill>
                <a:latin typeface="Roboto" pitchFamily="34" charset="0"/>
                <a:ea typeface="Roboto" pitchFamily="34" charset="-122"/>
                <a:cs typeface="Roboto" pitchFamily="34" charset="-120"/>
              </a:rPr>
              <a:t>Retain NaN if raster data are unavailable.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443657"/>
            <a:ext cx="8151763" cy="363364"/>
          </a:xfrm>
          <a:prstGeom prst="rect">
            <a:avLst/>
          </a:prstGeom>
          <a:noFill/>
          <a:ln/>
        </p:spPr>
        <p:txBody>
          <a:bodyPr wrap="none" lIns="0" tIns="0" rIns="0" bIns="0" rtlCol="0" anchor="t"/>
          <a:lstStyle/>
          <a:p>
            <a:pPr marL="0" indent="0" algn="l">
              <a:lnSpc>
                <a:spcPct val="104000"/>
              </a:lnSpc>
              <a:buNone/>
            </a:pPr>
            <a:r>
              <a:rPr lang="en-US" sz="2250" dirty="0">
                <a:solidFill>
                  <a:srgbClr val="76B9FF"/>
                </a:solidFill>
                <a:latin typeface="Roboto Slab" pitchFamily="34" charset="0"/>
                <a:ea typeface="Roboto Slab" pitchFamily="34" charset="-122"/>
                <a:cs typeface="Roboto Slab" pitchFamily="34" charset="-120"/>
              </a:rPr>
              <a:t>Feature specification: Markets &amp; Food Price Pressure</a:t>
            </a:r>
            <a:endParaRPr lang="en-US" sz="2250" dirty="0"/>
          </a:p>
        </p:txBody>
      </p:sp>
      <p:sp>
        <p:nvSpPr>
          <p:cNvPr id="3" name="Shape 1"/>
          <p:cNvSpPr/>
          <p:nvPr/>
        </p:nvSpPr>
        <p:spPr>
          <a:xfrm>
            <a:off x="496119" y="1025054"/>
            <a:ext cx="8151763" cy="3674715"/>
          </a:xfrm>
          <a:prstGeom prst="roundRect">
            <a:avLst>
              <a:gd name="adj" fmla="val 475"/>
            </a:avLst>
          </a:prstGeom>
          <a:noFill/>
          <a:ln w="4763">
            <a:solidFill>
              <a:srgbClr val="FFFFFF">
                <a:alpha val="24000"/>
              </a:srgbClr>
            </a:solidFill>
            <a:prstDash val="solid"/>
          </a:ln>
        </p:spPr>
      </p:sp>
      <p:sp>
        <p:nvSpPr>
          <p:cNvPr id="4" name="Shape 2"/>
          <p:cNvSpPr/>
          <p:nvPr/>
        </p:nvSpPr>
        <p:spPr>
          <a:xfrm>
            <a:off x="500881" y="1029816"/>
            <a:ext cx="8142238" cy="500807"/>
          </a:xfrm>
          <a:prstGeom prst="rect">
            <a:avLst/>
          </a:prstGeom>
          <a:solidFill>
            <a:srgbClr val="FFFFFF">
              <a:alpha val="4000"/>
            </a:srgbClr>
          </a:solidFill>
          <a:ln/>
        </p:spPr>
      </p:sp>
      <p:sp>
        <p:nvSpPr>
          <p:cNvPr id="5" name="Text 3"/>
          <p:cNvSpPr/>
          <p:nvPr/>
        </p:nvSpPr>
        <p:spPr>
          <a:xfrm>
            <a:off x="617339" y="1099989"/>
            <a:ext cx="2052712" cy="180231"/>
          </a:xfrm>
          <a:prstGeom prst="rect">
            <a:avLst/>
          </a:prstGeom>
          <a:noFill/>
          <a:ln/>
        </p:spPr>
        <p:txBody>
          <a:bodyPr wrap="none" lIns="0" tIns="0" rIns="0" bIns="0" rtlCol="0" anchor="t"/>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Feature</a:t>
            </a:r>
            <a:endParaRPr lang="en-US" sz="900" dirty="0"/>
          </a:p>
        </p:txBody>
      </p:sp>
      <p:sp>
        <p:nvSpPr>
          <p:cNvPr id="6" name="Text 4"/>
          <p:cNvSpPr/>
          <p:nvPr/>
        </p:nvSpPr>
        <p:spPr>
          <a:xfrm>
            <a:off x="2450083" y="1099989"/>
            <a:ext cx="1490960" cy="180231"/>
          </a:xfrm>
          <a:prstGeom prst="rect">
            <a:avLst/>
          </a:prstGeom>
          <a:noFill/>
          <a:ln/>
        </p:spPr>
        <p:txBody>
          <a:bodyPr wrap="none" lIns="0" tIns="0" rIns="0" bIns="0" rtlCol="0" anchor="t"/>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Description</a:t>
            </a:r>
            <a:endParaRPr lang="en-US" sz="900" dirty="0"/>
          </a:p>
        </p:txBody>
      </p:sp>
      <p:sp>
        <p:nvSpPr>
          <p:cNvPr id="7" name="Text 5"/>
          <p:cNvSpPr/>
          <p:nvPr/>
        </p:nvSpPr>
        <p:spPr>
          <a:xfrm>
            <a:off x="3721075" y="1099989"/>
            <a:ext cx="971848" cy="360462"/>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Mathematical formulation</a:t>
            </a:r>
            <a:endParaRPr lang="en-US" sz="900" dirty="0"/>
          </a:p>
        </p:txBody>
      </p:sp>
      <p:sp>
        <p:nvSpPr>
          <p:cNvPr id="8" name="Text 6"/>
          <p:cNvSpPr/>
          <p:nvPr/>
        </p:nvSpPr>
        <p:spPr>
          <a:xfrm>
            <a:off x="4930155" y="1099989"/>
            <a:ext cx="940891" cy="360462"/>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Spatial Assignment rule</a:t>
            </a:r>
            <a:endParaRPr lang="en-US" sz="900" dirty="0"/>
          </a:p>
        </p:txBody>
      </p:sp>
      <p:sp>
        <p:nvSpPr>
          <p:cNvPr id="9" name="Text 7"/>
          <p:cNvSpPr/>
          <p:nvPr/>
        </p:nvSpPr>
        <p:spPr>
          <a:xfrm>
            <a:off x="6108278" y="1099989"/>
            <a:ext cx="870049" cy="360462"/>
          </a:xfrm>
          <a:prstGeom prst="rect">
            <a:avLst/>
          </a:prstGeom>
          <a:noFill/>
          <a:ln/>
        </p:spPr>
        <p:txBody>
          <a:bodyPr wrap="square" lIns="0" tIns="0" rIns="0" bIns="0" rtlCol="0" anchor="t">
            <a:normAutofit/>
          </a:bodyPr>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Temporal aggregation rule</a:t>
            </a:r>
            <a:endParaRPr lang="en-US" sz="900" dirty="0"/>
          </a:p>
        </p:txBody>
      </p:sp>
      <p:sp>
        <p:nvSpPr>
          <p:cNvPr id="10" name="Text 8"/>
          <p:cNvSpPr/>
          <p:nvPr/>
        </p:nvSpPr>
        <p:spPr>
          <a:xfrm>
            <a:off x="7215560" y="1099989"/>
            <a:ext cx="1768525" cy="180231"/>
          </a:xfrm>
          <a:prstGeom prst="rect">
            <a:avLst/>
          </a:prstGeom>
          <a:noFill/>
          <a:ln/>
        </p:spPr>
        <p:txBody>
          <a:bodyPr wrap="none" lIns="0" tIns="0" rIns="0" bIns="0" rtlCol="0" anchor="t"/>
          <a:lstStyle/>
          <a:p>
            <a:pPr marL="0" indent="0" algn="l">
              <a:lnSpc>
                <a:spcPct val="129000"/>
              </a:lnSpc>
              <a:buNone/>
            </a:pPr>
            <a:r>
              <a:rPr lang="en-US" sz="900" b="1" dirty="0">
                <a:solidFill>
                  <a:srgbClr val="D6E5EF"/>
                </a:solidFill>
                <a:latin typeface="Roboto Bold" pitchFamily="34" charset="0"/>
                <a:ea typeface="Roboto Bold" pitchFamily="34" charset="-122"/>
                <a:cs typeface="Roboto Bold" pitchFamily="34" charset="-120"/>
              </a:rPr>
              <a:t>Missing Value Policy</a:t>
            </a:r>
            <a:endParaRPr lang="en-US" sz="900" dirty="0"/>
          </a:p>
        </p:txBody>
      </p:sp>
      <p:sp>
        <p:nvSpPr>
          <p:cNvPr id="11" name="Shape 9"/>
          <p:cNvSpPr/>
          <p:nvPr/>
        </p:nvSpPr>
        <p:spPr>
          <a:xfrm>
            <a:off x="500881" y="1530623"/>
            <a:ext cx="8142238" cy="1762423"/>
          </a:xfrm>
          <a:prstGeom prst="rect">
            <a:avLst/>
          </a:prstGeom>
          <a:solidFill>
            <a:srgbClr val="000000">
              <a:alpha val="4000"/>
            </a:srgbClr>
          </a:solidFill>
          <a:ln/>
        </p:spPr>
      </p:sp>
      <p:sp>
        <p:nvSpPr>
          <p:cNvPr id="12" name="Text 10"/>
          <p:cNvSpPr/>
          <p:nvPr/>
        </p:nvSpPr>
        <p:spPr>
          <a:xfrm>
            <a:off x="617339" y="1600795"/>
            <a:ext cx="2052712" cy="180231"/>
          </a:xfrm>
          <a:prstGeom prst="rect">
            <a:avLst/>
          </a:prstGeom>
          <a:noFill/>
          <a:ln/>
        </p:spPr>
        <p:txBody>
          <a:bodyPr wrap="none" lIns="0" tIns="0" rIns="0" bIns="0" rtlCol="0" anchor="t"/>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commodity_price</a:t>
            </a:r>
            <a:endParaRPr lang="en-US" sz="900" dirty="0"/>
          </a:p>
        </p:txBody>
      </p:sp>
      <p:sp>
        <p:nvSpPr>
          <p:cNvPr id="13" name="Text 11"/>
          <p:cNvSpPr/>
          <p:nvPr/>
        </p:nvSpPr>
        <p:spPr>
          <a:xfrm>
            <a:off x="2450083" y="1600795"/>
            <a:ext cx="1033760" cy="90115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Average monthly price of a selected staple commodity within an Admin2 administrative unit. </a:t>
            </a:r>
            <a:endParaRPr lang="en-US" sz="900" dirty="0"/>
          </a:p>
        </p:txBody>
      </p:sp>
      <p:sp>
        <p:nvSpPr>
          <p:cNvPr id="14" name="Text 12"/>
          <p:cNvSpPr/>
          <p:nvPr/>
        </p:nvSpPr>
        <p:spPr>
          <a:xfrm>
            <a:off x="3721075" y="1600795"/>
            <a:ext cx="971848" cy="1441847"/>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Average price of all market observations for the same commodity within an Admin2 administrative unit during a month.</a:t>
            </a:r>
            <a:endParaRPr lang="en-US" sz="900" dirty="0"/>
          </a:p>
        </p:txBody>
      </p:sp>
      <p:sp>
        <p:nvSpPr>
          <p:cNvPr id="15" name="Text 13"/>
          <p:cNvSpPr/>
          <p:nvPr/>
        </p:nvSpPr>
        <p:spPr>
          <a:xfrm>
            <a:off x="4930155" y="1600795"/>
            <a:ext cx="940891" cy="1622078"/>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Each market observation is assigned to an Admin2 administrative unit using its latitude and longitude coordinates </a:t>
            </a:r>
            <a:endParaRPr lang="en-US" sz="900" dirty="0"/>
          </a:p>
        </p:txBody>
      </p:sp>
      <p:sp>
        <p:nvSpPr>
          <p:cNvPr id="16" name="Text 14"/>
          <p:cNvSpPr/>
          <p:nvPr/>
        </p:nvSpPr>
        <p:spPr>
          <a:xfrm>
            <a:off x="6108278" y="1600795"/>
            <a:ext cx="870049" cy="1441847"/>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Market observations are grouped by Admin2 administrative unit, commodity, and calendar month. </a:t>
            </a:r>
            <a:endParaRPr lang="en-US" sz="900" dirty="0"/>
          </a:p>
        </p:txBody>
      </p:sp>
      <p:sp>
        <p:nvSpPr>
          <p:cNvPr id="17" name="Text 15"/>
          <p:cNvSpPr/>
          <p:nvPr/>
        </p:nvSpPr>
        <p:spPr>
          <a:xfrm>
            <a:off x="7215560" y="1600795"/>
            <a:ext cx="1311325"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Market observations with missing prices or invalid coordinates are excluded. </a:t>
            </a:r>
            <a:endParaRPr lang="en-US" sz="900" dirty="0"/>
          </a:p>
        </p:txBody>
      </p:sp>
      <p:sp>
        <p:nvSpPr>
          <p:cNvPr id="18" name="Shape 16"/>
          <p:cNvSpPr/>
          <p:nvPr/>
        </p:nvSpPr>
        <p:spPr>
          <a:xfrm>
            <a:off x="500881" y="3293046"/>
            <a:ext cx="8142238" cy="1401961"/>
          </a:xfrm>
          <a:prstGeom prst="rect">
            <a:avLst/>
          </a:prstGeom>
          <a:solidFill>
            <a:srgbClr val="FFFFFF">
              <a:alpha val="4000"/>
            </a:srgbClr>
          </a:solidFill>
          <a:ln/>
        </p:spPr>
      </p:sp>
      <p:sp>
        <p:nvSpPr>
          <p:cNvPr id="19" name="Text 17"/>
          <p:cNvSpPr/>
          <p:nvPr/>
        </p:nvSpPr>
        <p:spPr>
          <a:xfrm>
            <a:off x="617339" y="3363218"/>
            <a:ext cx="2052712" cy="180231"/>
          </a:xfrm>
          <a:prstGeom prst="rect">
            <a:avLst/>
          </a:prstGeom>
          <a:noFill/>
          <a:ln/>
        </p:spPr>
        <p:txBody>
          <a:bodyPr wrap="none" lIns="0" tIns="0" rIns="0" bIns="0" rtlCol="0" anchor="t"/>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commodity_price_change_pct</a:t>
            </a:r>
            <a:endParaRPr lang="en-US" sz="900" dirty="0"/>
          </a:p>
        </p:txBody>
      </p:sp>
      <p:sp>
        <p:nvSpPr>
          <p:cNvPr id="20" name="Text 18"/>
          <p:cNvSpPr/>
          <p:nvPr/>
        </p:nvSpPr>
        <p:spPr>
          <a:xfrm>
            <a:off x="2450083" y="3363218"/>
            <a:ext cx="1033760" cy="90115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Percentage change in the commodity price compared with the previous month.</a:t>
            </a:r>
            <a:endParaRPr lang="en-US" sz="900" dirty="0"/>
          </a:p>
        </p:txBody>
      </p:sp>
      <p:sp>
        <p:nvSpPr>
          <p:cNvPr id="21" name="Text 19"/>
          <p:cNvSpPr/>
          <p:nvPr/>
        </p:nvSpPr>
        <p:spPr>
          <a:xfrm>
            <a:off x="3721075" y="3363218"/>
            <a:ext cx="971848" cy="90115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((Current Month Price − Previous Month Price) ÷ Previous Month Price) × 100</a:t>
            </a:r>
            <a:endParaRPr lang="en-US" sz="900" dirty="0"/>
          </a:p>
        </p:txBody>
      </p:sp>
      <p:sp>
        <p:nvSpPr>
          <p:cNvPr id="22" name="Text 20"/>
          <p:cNvSpPr/>
          <p:nvPr/>
        </p:nvSpPr>
        <p:spPr>
          <a:xfrm>
            <a:off x="4930155" y="3363218"/>
            <a:ext cx="940891" cy="1261616"/>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Calculated using monthly average commodity prices for the same Admin2 administrative unit.</a:t>
            </a:r>
            <a:endParaRPr lang="en-US" sz="900" dirty="0"/>
          </a:p>
        </p:txBody>
      </p:sp>
      <p:sp>
        <p:nvSpPr>
          <p:cNvPr id="23" name="Text 21"/>
          <p:cNvSpPr/>
          <p:nvPr/>
        </p:nvSpPr>
        <p:spPr>
          <a:xfrm>
            <a:off x="6108278" y="3363218"/>
            <a:ext cx="870049" cy="1261616"/>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Calculated from consecutive monthly commodity prices after monthly aggregation.</a:t>
            </a:r>
            <a:endParaRPr lang="en-US" sz="900" dirty="0"/>
          </a:p>
        </p:txBody>
      </p:sp>
      <p:sp>
        <p:nvSpPr>
          <p:cNvPr id="24" name="Text 22"/>
          <p:cNvSpPr/>
          <p:nvPr/>
        </p:nvSpPr>
        <p:spPr>
          <a:xfrm>
            <a:off x="7215560" y="3363218"/>
            <a:ext cx="1311325"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6E5EF"/>
                </a:solidFill>
                <a:latin typeface="Roboto" pitchFamily="34" charset="0"/>
                <a:ea typeface="Roboto" pitchFamily="34" charset="-122"/>
                <a:cs typeface="Roboto" pitchFamily="34" charset="-120"/>
              </a:rPr>
              <a:t>Recorded as NA when either the current or previous month's price is unavailable.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366192"/>
            <a:ext cx="8151763" cy="327050"/>
          </a:xfrm>
          <a:prstGeom prst="rect">
            <a:avLst/>
          </a:prstGeom>
          <a:noFill/>
          <a:ln/>
        </p:spPr>
        <p:txBody>
          <a:bodyPr wrap="none" lIns="0" tIns="0" rIns="0" bIns="0" rtlCol="0" anchor="t"/>
          <a:lstStyle/>
          <a:p>
            <a:pPr marL="0" indent="0" algn="l">
              <a:lnSpc>
                <a:spcPct val="104000"/>
              </a:lnSpc>
              <a:buNone/>
            </a:pPr>
            <a:r>
              <a:rPr lang="en-US" sz="2050" dirty="0">
                <a:solidFill>
                  <a:srgbClr val="76B9FF"/>
                </a:solidFill>
                <a:latin typeface="Roboto Slab" pitchFamily="34" charset="0"/>
                <a:ea typeface="Roboto Slab" pitchFamily="34" charset="-122"/>
                <a:cs typeface="Roboto Slab" pitchFamily="34" charset="-120"/>
              </a:rPr>
              <a:t>Feature specification: Humanitarian reporting</a:t>
            </a:r>
            <a:endParaRPr lang="en-US" sz="2050" dirty="0"/>
          </a:p>
        </p:txBody>
      </p:sp>
      <p:sp>
        <p:nvSpPr>
          <p:cNvPr id="3" name="Shape 1"/>
          <p:cNvSpPr/>
          <p:nvPr/>
        </p:nvSpPr>
        <p:spPr>
          <a:xfrm>
            <a:off x="496119" y="869826"/>
            <a:ext cx="8151763" cy="3907408"/>
          </a:xfrm>
          <a:prstGeom prst="roundRect">
            <a:avLst>
              <a:gd name="adj" fmla="val 402"/>
            </a:avLst>
          </a:prstGeom>
          <a:noFill/>
          <a:ln w="4763">
            <a:solidFill>
              <a:srgbClr val="FFFFFF">
                <a:alpha val="24000"/>
              </a:srgbClr>
            </a:solidFill>
            <a:prstDash val="solid"/>
          </a:ln>
        </p:spPr>
      </p:sp>
      <p:sp>
        <p:nvSpPr>
          <p:cNvPr id="4" name="Shape 2"/>
          <p:cNvSpPr/>
          <p:nvPr/>
        </p:nvSpPr>
        <p:spPr>
          <a:xfrm>
            <a:off x="500881" y="874588"/>
            <a:ext cx="8142238" cy="424309"/>
          </a:xfrm>
          <a:prstGeom prst="rect">
            <a:avLst/>
          </a:prstGeom>
          <a:solidFill>
            <a:srgbClr val="FFFFFF">
              <a:alpha val="4000"/>
            </a:srgbClr>
          </a:solidFill>
          <a:ln/>
        </p:spPr>
      </p:sp>
      <p:sp>
        <p:nvSpPr>
          <p:cNvPr id="5" name="Text 3"/>
          <p:cNvSpPr/>
          <p:nvPr/>
        </p:nvSpPr>
        <p:spPr>
          <a:xfrm>
            <a:off x="605730" y="932334"/>
            <a:ext cx="2075929" cy="154409"/>
          </a:xfrm>
          <a:prstGeom prst="rect">
            <a:avLst/>
          </a:prstGeom>
          <a:noFill/>
          <a:ln/>
        </p:spPr>
        <p:txBody>
          <a:bodyPr wrap="none" lIns="0" tIns="0" rIns="0" bIns="0" rtlCol="0" anchor="t"/>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Feature</a:t>
            </a:r>
            <a:endParaRPr lang="en-US" sz="800" dirty="0"/>
          </a:p>
        </p:txBody>
      </p:sp>
      <p:sp>
        <p:nvSpPr>
          <p:cNvPr id="6" name="Text 4"/>
          <p:cNvSpPr/>
          <p:nvPr/>
        </p:nvSpPr>
        <p:spPr>
          <a:xfrm>
            <a:off x="2438474" y="932334"/>
            <a:ext cx="1514177" cy="154409"/>
          </a:xfrm>
          <a:prstGeom prst="rect">
            <a:avLst/>
          </a:prstGeom>
          <a:noFill/>
          <a:ln/>
        </p:spPr>
        <p:txBody>
          <a:bodyPr wrap="none" lIns="0" tIns="0" rIns="0" bIns="0" rtlCol="0" anchor="t"/>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Description</a:t>
            </a:r>
            <a:endParaRPr lang="en-US" sz="800" dirty="0"/>
          </a:p>
        </p:txBody>
      </p:sp>
      <p:sp>
        <p:nvSpPr>
          <p:cNvPr id="7" name="Text 5"/>
          <p:cNvSpPr/>
          <p:nvPr/>
        </p:nvSpPr>
        <p:spPr>
          <a:xfrm>
            <a:off x="3709467" y="932334"/>
            <a:ext cx="995065" cy="30881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Mathematical formulation</a:t>
            </a:r>
            <a:endParaRPr lang="en-US" sz="800" dirty="0"/>
          </a:p>
        </p:txBody>
      </p:sp>
      <p:sp>
        <p:nvSpPr>
          <p:cNvPr id="8" name="Text 6"/>
          <p:cNvSpPr/>
          <p:nvPr/>
        </p:nvSpPr>
        <p:spPr>
          <a:xfrm>
            <a:off x="4918546" y="932334"/>
            <a:ext cx="964109" cy="30881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Spatial Assignment rule</a:t>
            </a:r>
            <a:endParaRPr lang="en-US" sz="800" dirty="0"/>
          </a:p>
        </p:txBody>
      </p:sp>
      <p:sp>
        <p:nvSpPr>
          <p:cNvPr id="9" name="Text 7"/>
          <p:cNvSpPr/>
          <p:nvPr/>
        </p:nvSpPr>
        <p:spPr>
          <a:xfrm>
            <a:off x="6096670" y="932334"/>
            <a:ext cx="893266" cy="30881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Temporal aggregation rule</a:t>
            </a:r>
            <a:endParaRPr lang="en-US" sz="800" dirty="0"/>
          </a:p>
        </p:txBody>
      </p:sp>
      <p:sp>
        <p:nvSpPr>
          <p:cNvPr id="10" name="Text 8"/>
          <p:cNvSpPr/>
          <p:nvPr/>
        </p:nvSpPr>
        <p:spPr>
          <a:xfrm>
            <a:off x="7203951" y="932334"/>
            <a:ext cx="1791742" cy="154409"/>
          </a:xfrm>
          <a:prstGeom prst="rect">
            <a:avLst/>
          </a:prstGeom>
          <a:noFill/>
          <a:ln/>
        </p:spPr>
        <p:txBody>
          <a:bodyPr wrap="none" lIns="0" tIns="0" rIns="0" bIns="0" rtlCol="0" anchor="t"/>
          <a:lstStyle/>
          <a:p>
            <a:pPr marL="0" indent="0" algn="l">
              <a:lnSpc>
                <a:spcPct val="123000"/>
              </a:lnSpc>
              <a:buNone/>
            </a:pPr>
            <a:r>
              <a:rPr lang="en-US" sz="800" b="1" dirty="0">
                <a:solidFill>
                  <a:srgbClr val="D6E5EF"/>
                </a:solidFill>
                <a:latin typeface="Roboto Bold" pitchFamily="34" charset="0"/>
                <a:ea typeface="Roboto Bold" pitchFamily="34" charset="-122"/>
                <a:cs typeface="Roboto Bold" pitchFamily="34" charset="-120"/>
              </a:rPr>
              <a:t>Missing Value Policy</a:t>
            </a:r>
            <a:endParaRPr lang="en-US" sz="800" dirty="0"/>
          </a:p>
        </p:txBody>
      </p:sp>
      <p:sp>
        <p:nvSpPr>
          <p:cNvPr id="11" name="Shape 9"/>
          <p:cNvSpPr/>
          <p:nvPr/>
        </p:nvSpPr>
        <p:spPr>
          <a:xfrm>
            <a:off x="500881" y="1298897"/>
            <a:ext cx="8142238" cy="1659582"/>
          </a:xfrm>
          <a:prstGeom prst="rect">
            <a:avLst/>
          </a:prstGeom>
          <a:solidFill>
            <a:srgbClr val="000000">
              <a:alpha val="4000"/>
            </a:srgbClr>
          </a:solidFill>
          <a:ln/>
        </p:spPr>
      </p:sp>
      <p:sp>
        <p:nvSpPr>
          <p:cNvPr id="12" name="Text 10"/>
          <p:cNvSpPr/>
          <p:nvPr/>
        </p:nvSpPr>
        <p:spPr>
          <a:xfrm>
            <a:off x="605730" y="1356643"/>
            <a:ext cx="2075929" cy="154409"/>
          </a:xfrm>
          <a:prstGeom prst="rect">
            <a:avLst/>
          </a:prstGeom>
          <a:noFill/>
          <a:ln/>
        </p:spPr>
        <p:txBody>
          <a:bodyPr wrap="none" lIns="0" tIns="0" rIns="0" bIns="0" rtlCol="0" anchor="t"/>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humanitarian_report_count</a:t>
            </a:r>
            <a:endParaRPr lang="en-US" sz="800" dirty="0"/>
          </a:p>
        </p:txBody>
      </p:sp>
      <p:sp>
        <p:nvSpPr>
          <p:cNvPr id="13" name="Text 11"/>
          <p:cNvSpPr/>
          <p:nvPr/>
        </p:nvSpPr>
        <p:spPr>
          <a:xfrm>
            <a:off x="2438474" y="1356643"/>
            <a:ext cx="1056977" cy="772046"/>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Number of ReliefWeb reports related to food insecurity within an Admin2 administrative unit during a month.</a:t>
            </a:r>
            <a:endParaRPr lang="en-US" sz="800" dirty="0"/>
          </a:p>
        </p:txBody>
      </p:sp>
      <p:sp>
        <p:nvSpPr>
          <p:cNvPr id="14" name="Text 12"/>
          <p:cNvSpPr/>
          <p:nvPr/>
        </p:nvSpPr>
        <p:spPr>
          <a:xfrm>
            <a:off x="3709467" y="1356643"/>
            <a:ext cx="995065" cy="926455"/>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Count of ReliefWeb reports assigned to the same Admin2 administrative unit during a calendar month.</a:t>
            </a:r>
            <a:endParaRPr lang="en-US" sz="800" dirty="0"/>
          </a:p>
        </p:txBody>
      </p:sp>
      <p:sp>
        <p:nvSpPr>
          <p:cNvPr id="15" name="Text 13"/>
          <p:cNvSpPr/>
          <p:nvPr/>
        </p:nvSpPr>
        <p:spPr>
          <a:xfrm>
            <a:off x="4918546" y="1356643"/>
            <a:ext cx="964109" cy="1544092"/>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Reports are geocoded using the location information provided in ReliefWeb. Each report is assigned to an Admin2 administrative unit based on its reported location.</a:t>
            </a:r>
            <a:endParaRPr lang="en-US" sz="800" dirty="0"/>
          </a:p>
        </p:txBody>
      </p:sp>
      <p:sp>
        <p:nvSpPr>
          <p:cNvPr id="16" name="Text 14"/>
          <p:cNvSpPr/>
          <p:nvPr/>
        </p:nvSpPr>
        <p:spPr>
          <a:xfrm>
            <a:off x="6096670" y="1356643"/>
            <a:ext cx="893266" cy="1389683"/>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Reports are grouped by Admin2 administrative unit and calendar month. Each qualifying report contributes one count.</a:t>
            </a:r>
            <a:endParaRPr lang="en-US" sz="800" dirty="0"/>
          </a:p>
        </p:txBody>
      </p:sp>
      <p:sp>
        <p:nvSpPr>
          <p:cNvPr id="17" name="Text 15"/>
          <p:cNvSpPr/>
          <p:nvPr/>
        </p:nvSpPr>
        <p:spPr>
          <a:xfrm>
            <a:off x="7203951" y="1356643"/>
            <a:ext cx="1334542" cy="772046"/>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If no qualifying reports exist for an Admin2 administrative unit during a month, the feature is assigned a value of 0.</a:t>
            </a:r>
            <a:endParaRPr lang="en-US" sz="800" dirty="0"/>
          </a:p>
        </p:txBody>
      </p:sp>
      <p:sp>
        <p:nvSpPr>
          <p:cNvPr id="18" name="Shape 16"/>
          <p:cNvSpPr/>
          <p:nvPr/>
        </p:nvSpPr>
        <p:spPr>
          <a:xfrm>
            <a:off x="500881" y="2958480"/>
            <a:ext cx="8142238" cy="1813992"/>
          </a:xfrm>
          <a:prstGeom prst="rect">
            <a:avLst/>
          </a:prstGeom>
          <a:solidFill>
            <a:srgbClr val="FFFFFF">
              <a:alpha val="4000"/>
            </a:srgbClr>
          </a:solidFill>
          <a:ln/>
        </p:spPr>
      </p:sp>
      <p:sp>
        <p:nvSpPr>
          <p:cNvPr id="19" name="Text 17"/>
          <p:cNvSpPr/>
          <p:nvPr/>
        </p:nvSpPr>
        <p:spPr>
          <a:xfrm>
            <a:off x="605730" y="3016225"/>
            <a:ext cx="2075929" cy="154409"/>
          </a:xfrm>
          <a:prstGeom prst="rect">
            <a:avLst/>
          </a:prstGeom>
          <a:noFill/>
          <a:ln/>
        </p:spPr>
        <p:txBody>
          <a:bodyPr wrap="none" lIns="0" tIns="0" rIns="0" bIns="0" rtlCol="0" anchor="t"/>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report_theme_count</a:t>
            </a:r>
            <a:endParaRPr lang="en-US" sz="800" dirty="0"/>
          </a:p>
        </p:txBody>
      </p:sp>
      <p:sp>
        <p:nvSpPr>
          <p:cNvPr id="20" name="Text 18"/>
          <p:cNvSpPr/>
          <p:nvPr/>
        </p:nvSpPr>
        <p:spPr>
          <a:xfrm>
            <a:off x="2438474" y="3016225"/>
            <a:ext cx="1056977" cy="1080864"/>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Number of reports classified under each food insecurity theme (e.g., conflict, displacement, nutrition, food assistance).</a:t>
            </a:r>
            <a:endParaRPr lang="en-US" sz="800" dirty="0"/>
          </a:p>
        </p:txBody>
      </p:sp>
      <p:sp>
        <p:nvSpPr>
          <p:cNvPr id="21" name="Text 19"/>
          <p:cNvSpPr/>
          <p:nvPr/>
        </p:nvSpPr>
        <p:spPr>
          <a:xfrm>
            <a:off x="3709467" y="3016225"/>
            <a:ext cx="995065" cy="926455"/>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Count of reports belonging to each thematic category within an Admin2 administrative unit during a month.</a:t>
            </a:r>
            <a:endParaRPr lang="en-US" sz="800" dirty="0"/>
          </a:p>
        </p:txBody>
      </p:sp>
      <p:sp>
        <p:nvSpPr>
          <p:cNvPr id="22" name="Text 20"/>
          <p:cNvSpPr/>
          <p:nvPr/>
        </p:nvSpPr>
        <p:spPr>
          <a:xfrm>
            <a:off x="4918546" y="3016225"/>
            <a:ext cx="964109" cy="1698501"/>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Reports are assigned to an Admin2 administrative unit using their reported location. Theme labels are retained from the ReliefWeb metadata or ontology classification.</a:t>
            </a:r>
            <a:endParaRPr lang="en-US" sz="800" dirty="0"/>
          </a:p>
        </p:txBody>
      </p:sp>
      <p:sp>
        <p:nvSpPr>
          <p:cNvPr id="23" name="Text 21"/>
          <p:cNvSpPr/>
          <p:nvPr/>
        </p:nvSpPr>
        <p:spPr>
          <a:xfrm>
            <a:off x="6096670" y="3016225"/>
            <a:ext cx="893266" cy="926455"/>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Reports are grouped by Admin2 administrative unit, theme, and calendar month.</a:t>
            </a:r>
            <a:endParaRPr lang="en-US" sz="800" dirty="0"/>
          </a:p>
        </p:txBody>
      </p:sp>
      <p:sp>
        <p:nvSpPr>
          <p:cNvPr id="24" name="Text 22"/>
          <p:cNvSpPr/>
          <p:nvPr/>
        </p:nvSpPr>
        <p:spPr>
          <a:xfrm>
            <a:off x="7203951" y="3016225"/>
            <a:ext cx="1334542" cy="617637"/>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D6E5EF"/>
                </a:solidFill>
                <a:latin typeface="Roboto" pitchFamily="34" charset="0"/>
                <a:ea typeface="Roboto" pitchFamily="34" charset="-122"/>
                <a:cs typeface="Roboto" pitchFamily="34" charset="-120"/>
              </a:rPr>
              <a:t>If no reports exist for a given theme during a month, the feature is assigned a value of 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267123"/>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Level 7: Integrated Humanitarian Data Panel</a:t>
            </a:r>
            <a:endParaRPr lang="en-US" sz="2400" dirty="0"/>
          </a:p>
        </p:txBody>
      </p:sp>
      <p:sp>
        <p:nvSpPr>
          <p:cNvPr id="4" name="Text 1"/>
          <p:cNvSpPr/>
          <p:nvPr/>
        </p:nvSpPr>
        <p:spPr>
          <a:xfrm>
            <a:off x="496119" y="2228255"/>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The final ontology level combines all engineered features into a single </a:t>
            </a:r>
            <a:r>
              <a:rPr lang="en-US" sz="950" b="1" dirty="0">
                <a:solidFill>
                  <a:srgbClr val="D6E5EF"/>
                </a:solidFill>
                <a:latin typeface="Roboto Bold" pitchFamily="34" charset="0"/>
                <a:ea typeface="Roboto Bold" pitchFamily="34" charset="-122"/>
                <a:cs typeface="Roboto Bold" pitchFamily="34" charset="-120"/>
              </a:rPr>
              <a:t>Admin 2 × Month</a:t>
            </a:r>
            <a:r>
              <a:rPr lang="en-US" sz="950" dirty="0">
                <a:solidFill>
                  <a:srgbClr val="D6E5EF"/>
                </a:solidFill>
                <a:latin typeface="Roboto" pitchFamily="34" charset="0"/>
                <a:ea typeface="Roboto" pitchFamily="34" charset="-122"/>
                <a:cs typeface="Roboto" pitchFamily="34" charset="-120"/>
              </a:rPr>
              <a:t> dataset — each record represents one administrative area during one month, with features from all four mechanisms unified while preserving source provenance.</a:t>
            </a:r>
            <a:endParaRPr lang="en-US" sz="950" dirty="0"/>
          </a:p>
        </p:txBody>
      </p:sp>
      <p:sp>
        <p:nvSpPr>
          <p:cNvPr id="5" name="Shape 2"/>
          <p:cNvSpPr/>
          <p:nvPr/>
        </p:nvSpPr>
        <p:spPr>
          <a:xfrm>
            <a:off x="496119" y="2963168"/>
            <a:ext cx="4722763" cy="913135"/>
          </a:xfrm>
          <a:prstGeom prst="roundRect">
            <a:avLst>
              <a:gd name="adj" fmla="val 2038"/>
            </a:avLst>
          </a:prstGeom>
          <a:solidFill>
            <a:srgbClr val="3F4652"/>
          </a:solidFill>
          <a:ln/>
        </p:spPr>
      </p:sp>
      <p:sp>
        <p:nvSpPr>
          <p:cNvPr id="6" name="Text 3"/>
          <p:cNvSpPr/>
          <p:nvPr/>
        </p:nvSpPr>
        <p:spPr>
          <a:xfrm>
            <a:off x="620092" y="3087142"/>
            <a:ext cx="447481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Core Scientific Question</a:t>
            </a:r>
            <a:endParaRPr lang="en-US" sz="1200" dirty="0"/>
          </a:p>
        </p:txBody>
      </p:sp>
      <p:sp>
        <p:nvSpPr>
          <p:cNvPr id="7" name="Text 4"/>
          <p:cNvSpPr/>
          <p:nvPr/>
        </p:nvSpPr>
        <p:spPr>
          <a:xfrm>
            <a:off x="620092" y="3355404"/>
            <a:ext cx="4474815" cy="396925"/>
          </a:xfrm>
          <a:prstGeom prst="rect">
            <a:avLst/>
          </a:prstGeom>
          <a:noFill/>
          <a:ln/>
        </p:spPr>
        <p:txBody>
          <a:bodyPr wrap="square" lIns="0" tIns="0" rIns="0" bIns="0" rtlCol="0" anchor="t">
            <a:normAutofit/>
          </a:bodyPr>
          <a:lstStyle/>
          <a:p>
            <a:pPr marL="0" indent="0" algn="l">
              <a:lnSpc>
                <a:spcPct val="133000"/>
              </a:lnSpc>
              <a:buNone/>
            </a:pPr>
            <a:r>
              <a:rPr lang="en-US" sz="950" i="1" dirty="0">
                <a:solidFill>
                  <a:srgbClr val="D6E5EF"/>
                </a:solidFill>
                <a:latin typeface="Roboto" pitchFamily="34" charset="0"/>
                <a:ea typeface="Roboto" pitchFamily="34" charset="-122"/>
                <a:cs typeface="Roboto" pitchFamily="34" charset="-120"/>
              </a:rPr>
              <a:t>"Do different humanitarian sources provide complementary or redundant observations of the same crisis mechanisms?"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385763"/>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Next steps: Building prototype</a:t>
            </a:r>
            <a:endParaRPr lang="en-US" sz="2400" dirty="0"/>
          </a:p>
        </p:txBody>
      </p:sp>
      <p:sp>
        <p:nvSpPr>
          <p:cNvPr id="3" name="Shape 1"/>
          <p:cNvSpPr/>
          <p:nvPr/>
        </p:nvSpPr>
        <p:spPr>
          <a:xfrm>
            <a:off x="496119" y="1021333"/>
            <a:ext cx="1944960" cy="2624807"/>
          </a:xfrm>
          <a:prstGeom prst="roundRect">
            <a:avLst>
              <a:gd name="adj" fmla="val 957"/>
            </a:avLst>
          </a:prstGeom>
          <a:solidFill>
            <a:srgbClr val="3F4652"/>
          </a:solidFill>
          <a:ln/>
        </p:spPr>
      </p:sp>
      <p:sp>
        <p:nvSpPr>
          <p:cNvPr id="4" name="Text 2"/>
          <p:cNvSpPr/>
          <p:nvPr/>
        </p:nvSpPr>
        <p:spPr>
          <a:xfrm>
            <a:off x="620092" y="1145307"/>
            <a:ext cx="1697013"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Common Schema</a:t>
            </a:r>
            <a:endParaRPr lang="en-US" sz="1200" dirty="0"/>
          </a:p>
        </p:txBody>
      </p:sp>
      <p:sp>
        <p:nvSpPr>
          <p:cNvPr id="5" name="Text 3"/>
          <p:cNvSpPr/>
          <p:nvPr/>
        </p:nvSpPr>
        <p:spPr>
          <a:xfrm>
            <a:off x="620092" y="1413570"/>
            <a:ext cx="1697013" cy="2108597"/>
          </a:xfrm>
          <a:prstGeom prst="rect">
            <a:avLst/>
          </a:prstGeom>
          <a:noFill/>
          <a:ln/>
        </p:spPr>
        <p:txBody>
          <a:bodyPr wrap="square" lIns="0" tIns="0" rIns="0" bIns="0" rtlCol="0" anchor="t"/>
          <a:lstStyle/>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record_id</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month</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year</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country</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admin 1</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admin 2</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latitude</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longitude</a:t>
            </a:r>
            <a:endParaRPr lang="en-US" sz="950" dirty="0"/>
          </a:p>
        </p:txBody>
      </p:sp>
      <p:sp>
        <p:nvSpPr>
          <p:cNvPr id="6" name="Shape 4"/>
          <p:cNvSpPr/>
          <p:nvPr/>
        </p:nvSpPr>
        <p:spPr>
          <a:xfrm>
            <a:off x="2565053" y="1021333"/>
            <a:ext cx="1944960" cy="2624807"/>
          </a:xfrm>
          <a:prstGeom prst="roundRect">
            <a:avLst>
              <a:gd name="adj" fmla="val 957"/>
            </a:avLst>
          </a:prstGeom>
          <a:solidFill>
            <a:srgbClr val="3F4652"/>
          </a:solidFill>
          <a:ln/>
        </p:spPr>
      </p:sp>
      <p:sp>
        <p:nvSpPr>
          <p:cNvPr id="7" name="Text 5"/>
          <p:cNvSpPr/>
          <p:nvPr/>
        </p:nvSpPr>
        <p:spPr>
          <a:xfrm>
            <a:off x="2689027" y="1145307"/>
            <a:ext cx="1697013"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Conflict &amp; Insecurity</a:t>
            </a:r>
            <a:endParaRPr lang="en-US" sz="1200" dirty="0"/>
          </a:p>
        </p:txBody>
      </p:sp>
      <p:sp>
        <p:nvSpPr>
          <p:cNvPr id="8" name="Text 6"/>
          <p:cNvSpPr/>
          <p:nvPr/>
        </p:nvSpPr>
        <p:spPr>
          <a:xfrm>
            <a:off x="2689027" y="1413570"/>
            <a:ext cx="1697013" cy="1017091"/>
          </a:xfrm>
          <a:prstGeom prst="rect">
            <a:avLst/>
          </a:prstGeom>
          <a:noFill/>
          <a:ln/>
        </p:spPr>
        <p:txBody>
          <a:bodyPr wrap="square" lIns="0" tIns="0" rIns="0" bIns="0" rtlCol="0" anchor="t"/>
          <a:lstStyle/>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conflict_event_count</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event_count</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conflict_trend_pct</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fatalities</a:t>
            </a:r>
            <a:endParaRPr lang="en-US" sz="950" dirty="0"/>
          </a:p>
        </p:txBody>
      </p:sp>
      <p:sp>
        <p:nvSpPr>
          <p:cNvPr id="9" name="Shape 7"/>
          <p:cNvSpPr/>
          <p:nvPr/>
        </p:nvSpPr>
        <p:spPr>
          <a:xfrm>
            <a:off x="4633987" y="1021333"/>
            <a:ext cx="1944960" cy="2624807"/>
          </a:xfrm>
          <a:prstGeom prst="roundRect">
            <a:avLst>
              <a:gd name="adj" fmla="val 957"/>
            </a:avLst>
          </a:prstGeom>
          <a:solidFill>
            <a:srgbClr val="3F4652"/>
          </a:solidFill>
          <a:ln/>
        </p:spPr>
      </p:sp>
      <p:sp>
        <p:nvSpPr>
          <p:cNvPr id="10" name="Text 8"/>
          <p:cNvSpPr/>
          <p:nvPr/>
        </p:nvSpPr>
        <p:spPr>
          <a:xfrm>
            <a:off x="4757961" y="1145307"/>
            <a:ext cx="169701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Market &amp; Food Price Pressure</a:t>
            </a:r>
            <a:endParaRPr lang="en-US" sz="1200" dirty="0"/>
          </a:p>
        </p:txBody>
      </p:sp>
      <p:sp>
        <p:nvSpPr>
          <p:cNvPr id="11" name="Text 9"/>
          <p:cNvSpPr/>
          <p:nvPr/>
        </p:nvSpPr>
        <p:spPr>
          <a:xfrm>
            <a:off x="4757961" y="1607418"/>
            <a:ext cx="1697013" cy="471339"/>
          </a:xfrm>
          <a:prstGeom prst="rect">
            <a:avLst/>
          </a:prstGeom>
          <a:noFill/>
          <a:ln/>
        </p:spPr>
        <p:txBody>
          <a:bodyPr wrap="square" lIns="0" tIns="0" rIns="0" bIns="0" rtlCol="0" anchor="t"/>
          <a:lstStyle/>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commodity_price</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commodity_price_change_pct</a:t>
            </a:r>
            <a:endParaRPr lang="en-US" sz="950" dirty="0"/>
          </a:p>
        </p:txBody>
      </p:sp>
      <p:sp>
        <p:nvSpPr>
          <p:cNvPr id="12" name="Shape 10"/>
          <p:cNvSpPr/>
          <p:nvPr/>
        </p:nvSpPr>
        <p:spPr>
          <a:xfrm>
            <a:off x="6702921" y="1021333"/>
            <a:ext cx="1944960" cy="2624807"/>
          </a:xfrm>
          <a:prstGeom prst="roundRect">
            <a:avLst>
              <a:gd name="adj" fmla="val 957"/>
            </a:avLst>
          </a:prstGeom>
          <a:solidFill>
            <a:srgbClr val="3F4652"/>
          </a:solidFill>
          <a:ln/>
        </p:spPr>
      </p:sp>
      <p:sp>
        <p:nvSpPr>
          <p:cNvPr id="13" name="Text 11"/>
          <p:cNvSpPr/>
          <p:nvPr/>
        </p:nvSpPr>
        <p:spPr>
          <a:xfrm>
            <a:off x="6826895" y="1145307"/>
            <a:ext cx="1697013"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Climate / Agriculture</a:t>
            </a:r>
            <a:endParaRPr lang="en-US" sz="1200" dirty="0"/>
          </a:p>
        </p:txBody>
      </p:sp>
      <p:sp>
        <p:nvSpPr>
          <p:cNvPr id="14" name="Text 12"/>
          <p:cNvSpPr/>
          <p:nvPr/>
        </p:nvSpPr>
        <p:spPr>
          <a:xfrm>
            <a:off x="6826895" y="1413570"/>
            <a:ext cx="1697013" cy="1017091"/>
          </a:xfrm>
          <a:prstGeom prst="rect">
            <a:avLst/>
          </a:prstGeom>
          <a:noFill/>
          <a:ln/>
        </p:spPr>
        <p:txBody>
          <a:bodyPr wrap="square" lIns="0" tIns="0" rIns="0" bIns="0" rtlCol="0" anchor="t"/>
          <a:lstStyle/>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rainfall_mean_mm</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rainfall_min_mm</a:t>
            </a:r>
            <a:endParaRPr lang="en-US" sz="950" dirty="0"/>
          </a:p>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rainfall_max_mm</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vegetation_health_index_mean</a:t>
            </a:r>
            <a:endParaRPr lang="en-US" sz="950" dirty="0"/>
          </a:p>
        </p:txBody>
      </p:sp>
      <p:sp>
        <p:nvSpPr>
          <p:cNvPr id="15" name="Shape 13"/>
          <p:cNvSpPr/>
          <p:nvPr/>
        </p:nvSpPr>
        <p:spPr>
          <a:xfrm>
            <a:off x="496119" y="3770114"/>
            <a:ext cx="8151763" cy="987549"/>
          </a:xfrm>
          <a:prstGeom prst="roundRect">
            <a:avLst>
              <a:gd name="adj" fmla="val 1884"/>
            </a:avLst>
          </a:prstGeom>
          <a:solidFill>
            <a:srgbClr val="3F4652"/>
          </a:solidFill>
          <a:ln/>
        </p:spPr>
      </p:sp>
      <p:sp>
        <p:nvSpPr>
          <p:cNvPr id="16" name="Text 14"/>
          <p:cNvSpPr/>
          <p:nvPr/>
        </p:nvSpPr>
        <p:spPr>
          <a:xfrm>
            <a:off x="620092" y="3894088"/>
            <a:ext cx="7903815" cy="193849"/>
          </a:xfrm>
          <a:prstGeom prst="rect">
            <a:avLst/>
          </a:prstGeom>
          <a:noFill/>
          <a:ln/>
        </p:spPr>
        <p:txBody>
          <a:bodyPr wrap="none" lIns="0" tIns="0" rIns="0" bIns="0" rtlCol="0" anchor="t"/>
          <a:lstStyle/>
          <a:p>
            <a:pPr marL="0" indent="0" algn="l">
              <a:lnSpc>
                <a:spcPct val="104000"/>
              </a:lnSpc>
              <a:buNone/>
            </a:pPr>
            <a:r>
              <a:rPr lang="en-US" sz="1200" dirty="0">
                <a:solidFill>
                  <a:srgbClr val="D6E5EF"/>
                </a:solidFill>
                <a:latin typeface="Roboto Slab" pitchFamily="34" charset="0"/>
                <a:ea typeface="Roboto Slab" pitchFamily="34" charset="-122"/>
                <a:cs typeface="Roboto Slab" pitchFamily="34" charset="-120"/>
              </a:rPr>
              <a:t>Humanitarian Reporting</a:t>
            </a:r>
            <a:endParaRPr lang="en-US" sz="1200" dirty="0"/>
          </a:p>
        </p:txBody>
      </p:sp>
      <p:sp>
        <p:nvSpPr>
          <p:cNvPr id="17" name="Text 15"/>
          <p:cNvSpPr/>
          <p:nvPr/>
        </p:nvSpPr>
        <p:spPr>
          <a:xfrm>
            <a:off x="620092" y="4162351"/>
            <a:ext cx="7903815" cy="471339"/>
          </a:xfrm>
          <a:prstGeom prst="rect">
            <a:avLst/>
          </a:prstGeom>
          <a:noFill/>
          <a:ln/>
        </p:spPr>
        <p:txBody>
          <a:bodyPr wrap="square" lIns="0" tIns="0" rIns="0" bIns="0" rtlCol="0" anchor="t"/>
          <a:lstStyle/>
          <a:p>
            <a:pPr marL="0" indent="0" algn="l">
              <a:lnSpc>
                <a:spcPct val="133000"/>
              </a:lnSpc>
              <a:spcAft>
                <a:spcPts val="550"/>
              </a:spcAft>
              <a:buNone/>
            </a:pPr>
            <a:r>
              <a:rPr lang="en-US" sz="950" dirty="0">
                <a:solidFill>
                  <a:srgbClr val="D6E5EF"/>
                </a:solidFill>
                <a:latin typeface="Roboto" pitchFamily="34" charset="0"/>
                <a:ea typeface="Roboto" pitchFamily="34" charset="-122"/>
                <a:cs typeface="Roboto" pitchFamily="34" charset="-120"/>
              </a:rPr>
              <a:t>humanitarian_report_count</a:t>
            </a:r>
            <a:endParaRPr lang="en-US" sz="950" dirty="0"/>
          </a:p>
          <a:p>
            <a:pPr marL="0" indent="0" algn="l">
              <a:lnSpc>
                <a:spcPct val="133000"/>
              </a:lnSpc>
              <a:buNone/>
            </a:pPr>
            <a:r>
              <a:rPr lang="en-US" sz="950" dirty="0">
                <a:solidFill>
                  <a:srgbClr val="D6E5EF"/>
                </a:solidFill>
                <a:latin typeface="Roboto" pitchFamily="34" charset="0"/>
                <a:ea typeface="Roboto" pitchFamily="34" charset="-122"/>
                <a:cs typeface="Roboto" pitchFamily="34" charset="-120"/>
              </a:rPr>
              <a:t>report_theme_count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2423</Words>
  <Application>Microsoft Office PowerPoint</Application>
  <PresentationFormat>On-screen Show (16:9)</PresentationFormat>
  <Paragraphs>291</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Roboto Slab</vt:lpstr>
      <vt:lpstr>Calibri</vt:lpstr>
      <vt:lpstr>Roboto</vt:lpstr>
      <vt:lpstr>Consolas</vt:lpstr>
      <vt:lpstr>Roboto Bold</vt:lpstr>
      <vt:lpstr>Arial</vt:lpstr>
      <vt:lpstr>Roboto Slab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samuel aracena</dc:creator>
  <cp:lastModifiedBy>samuel aracena</cp:lastModifiedBy>
  <cp:revision>1</cp:revision>
  <dcterms:created xsi:type="dcterms:W3CDTF">2026-07-29T16:14:02Z</dcterms:created>
  <dcterms:modified xsi:type="dcterms:W3CDTF">2026-07-29T16:16:19Z</dcterms:modified>
</cp:coreProperties>
</file>