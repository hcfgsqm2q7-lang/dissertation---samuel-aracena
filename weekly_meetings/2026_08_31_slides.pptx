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covers everything built in the notebook this week: the ten items from the professor's 2026-08-27 feedback, plus five further gaps found and closed on a full self-audit against that same feedback.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2523"/>
        </a:solidFill>
      </p:bgPr>
    </p:bg>
    <p:spTree>
      <p:nvGrpSpPr>
        <p:cNvPr id="1" name=""/>
        <p:cNvGrpSpPr/>
        <p:nvPr/>
      </p:nvGrpSpPr>
      <p:grpSpPr>
        <a:xfrm>
          <a:off x="0" y="0"/>
          <a:ext cx="0" cy="0"/>
          <a:chOff x="0" y="0"/>
          <a:chExt cx="0" cy="0"/>
        </a:xfrm>
      </p:grpSpPr>
      <p:sp>
        <p:nvSpPr>
          <p:cNvPr id="2" name="Shape 0"/>
          <p:cNvSpPr/>
          <p:nvPr/>
        </p:nvSpPr>
        <p:spPr>
          <a:xfrm>
            <a:off x="9509760" y="-1371600"/>
            <a:ext cx="4754880" cy="4754880"/>
          </a:xfrm>
          <a:prstGeom prst="ellipse">
            <a:avLst/>
          </a:prstGeom>
          <a:solidFill>
            <a:srgbClr val="B85042"/>
          </a:solidFill>
          <a:ln/>
        </p:spPr>
      </p:sp>
      <p:sp>
        <p:nvSpPr>
          <p:cNvPr id="3" name="Shape 1"/>
          <p:cNvSpPr/>
          <p:nvPr/>
        </p:nvSpPr>
        <p:spPr>
          <a:xfrm>
            <a:off x="10607040" y="4023360"/>
            <a:ext cx="3108960" cy="3108960"/>
          </a:xfrm>
          <a:prstGeom prst="ellipse">
            <a:avLst/>
          </a:prstGeom>
          <a:solidFill>
            <a:srgbClr val="A7BEAE"/>
          </a:solidFill>
          <a:ln/>
        </p:spPr>
      </p:sp>
      <p:sp>
        <p:nvSpPr>
          <p:cNvPr id="4" name="Text 2"/>
          <p:cNvSpPr/>
          <p:nvPr/>
        </p:nvSpPr>
        <p:spPr>
          <a:xfrm>
            <a:off x="566928" y="1508760"/>
            <a:ext cx="8229600" cy="310896"/>
          </a:xfrm>
          <a:prstGeom prst="rect">
            <a:avLst/>
          </a:prstGeom>
          <a:noFill/>
          <a:ln/>
        </p:spPr>
        <p:txBody>
          <a:bodyPr wrap="square" lIns="0" tIns="0" rIns="0" bIns="0" rtlCol="0" anchor="ctr"/>
          <a:lstStyle/>
          <a:p>
            <a:pPr indent="0" marL="0">
              <a:buNone/>
            </a:pPr>
            <a:r>
              <a:rPr lang="en-US" sz="1300" b="1" spc="300" kern="0" dirty="0">
                <a:solidFill>
                  <a:srgbClr val="A7BEAE"/>
                </a:solidFill>
                <a:latin typeface="Calibri" pitchFamily="34" charset="0"/>
                <a:ea typeface="Calibri" pitchFamily="34" charset="-122"/>
                <a:cs typeface="Calibri" pitchFamily="34" charset="-120"/>
              </a:rPr>
              <a:t>WEEK OF AUGUST 24, 2026</a:t>
            </a:r>
            <a:endParaRPr lang="en-US" sz="1300" dirty="0"/>
          </a:p>
        </p:txBody>
      </p:sp>
      <p:sp>
        <p:nvSpPr>
          <p:cNvPr id="5" name="Text 3"/>
          <p:cNvSpPr/>
          <p:nvPr/>
        </p:nvSpPr>
        <p:spPr>
          <a:xfrm>
            <a:off x="566928" y="1965960"/>
            <a:ext cx="9326880" cy="1737360"/>
          </a:xfrm>
          <a:prstGeom prst="rect">
            <a:avLst/>
          </a:prstGeom>
          <a:noFill/>
          <a:ln/>
        </p:spPr>
        <p:txBody>
          <a:bodyPr wrap="square" lIns="0" tIns="0" rIns="0" bIns="0" rtlCol="0" anchor="ctr"/>
          <a:lstStyle/>
          <a:p>
            <a:pPr indent="0" marL="0">
              <a:lnSpc>
                <a:spcPts val="4200"/>
              </a:lnSpc>
              <a:buNone/>
            </a:pPr>
            <a:r>
              <a:rPr lang="en-US" sz="3600" b="1" dirty="0">
                <a:solidFill>
                  <a:srgbClr val="FFFFFF"/>
                </a:solidFill>
                <a:latin typeface="Cambria" pitchFamily="34" charset="0"/>
                <a:ea typeface="Cambria" pitchFamily="34" charset="-122"/>
                <a:cs typeface="Cambria" pitchFamily="34" charset="-120"/>
              </a:rPr>
              <a:t>Closing the outstanding list,</a:t>
            </a:r>
            <a:endParaRPr lang="en-US" sz="3600" dirty="0"/>
          </a:p>
          <a:p>
            <a:pPr indent="0" marL="0">
              <a:lnSpc>
                <a:spcPts val="4200"/>
              </a:lnSpc>
              <a:buNone/>
            </a:pPr>
            <a:r>
              <a:rPr lang="en-US" sz="3600" b="1" dirty="0">
                <a:solidFill>
                  <a:srgbClr val="FFFFFF"/>
                </a:solidFill>
                <a:latin typeface="Cambria" pitchFamily="34" charset="0"/>
                <a:ea typeface="Cambria" pitchFamily="34" charset="-122"/>
                <a:cs typeface="Cambria" pitchFamily="34" charset="-120"/>
              </a:rPr>
              <a:t>then closing the gaps that remained</a:t>
            </a:r>
            <a:endParaRPr lang="en-US" sz="3600" dirty="0"/>
          </a:p>
        </p:txBody>
      </p:sp>
      <p:sp>
        <p:nvSpPr>
          <p:cNvPr id="6" name="Text 4"/>
          <p:cNvSpPr/>
          <p:nvPr/>
        </p:nvSpPr>
        <p:spPr>
          <a:xfrm>
            <a:off x="566928" y="3794760"/>
            <a:ext cx="8595360" cy="914400"/>
          </a:xfrm>
          <a:prstGeom prst="rect">
            <a:avLst/>
          </a:prstGeom>
          <a:noFill/>
          <a:ln/>
        </p:spPr>
        <p:txBody>
          <a:bodyPr wrap="square" lIns="0" tIns="0" rIns="0" bIns="0" rtlCol="0" anchor="ctr"/>
          <a:lstStyle/>
          <a:p>
            <a:pPr indent="0" marL="0">
              <a:lnSpc>
                <a:spcPts val="1900"/>
              </a:lnSpc>
              <a:buNone/>
            </a:pPr>
            <a:r>
              <a:rPr lang="en-US" sz="1400" dirty="0">
                <a:solidFill>
                  <a:srgbClr val="E7E8D1"/>
                </a:solidFill>
                <a:latin typeface="Calibri" pitchFamily="34" charset="0"/>
                <a:ea typeface="Calibri" pitchFamily="34" charset="-122"/>
                <a:cs typeface="Calibri" pitchFamily="34" charset="-120"/>
              </a:rPr>
              <a:t>All ten items from the 2026-08-27 to-do list, worked through point by point, followed by a full self-audit against that same feedback that found and closed five further gaps before this reached you.</a:t>
            </a:r>
            <a:endParaRPr lang="en-US" sz="1400" dirty="0"/>
          </a:p>
        </p:txBody>
      </p:sp>
      <p:sp>
        <p:nvSpPr>
          <p:cNvPr id="7" name="Text 5"/>
          <p:cNvSpPr/>
          <p:nvPr/>
        </p:nvSpPr>
        <p:spPr>
          <a:xfrm>
            <a:off x="566928" y="5943600"/>
            <a:ext cx="8229600" cy="310896"/>
          </a:xfrm>
          <a:prstGeom prst="rect">
            <a:avLst/>
          </a:prstGeom>
          <a:noFill/>
          <a:ln/>
        </p:spPr>
        <p:txBody>
          <a:bodyPr wrap="square" lIns="0" tIns="0" rIns="0" bIns="0" rtlCol="0" anchor="ctr"/>
          <a:lstStyle/>
          <a:p>
            <a:pPr indent="0" marL="0">
              <a:buNone/>
            </a:pPr>
            <a:r>
              <a:rPr lang="en-US" sz="1150" dirty="0">
                <a:solidFill>
                  <a:srgbClr val="7A6E68"/>
                </a:solidFill>
                <a:latin typeface="Calibri" pitchFamily="34" charset="0"/>
                <a:ea typeface="Calibri" pitchFamily="34" charset="-122"/>
                <a:cs typeface="Calibri" pitchFamily="34" charset="-120"/>
              </a:rPr>
              <a:t>Samuel Aracena   ·   MSc Dissertation   ·   Somalia, Admin2 × Month</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27664" cy="502920"/>
          </a:xfrm>
          <a:prstGeom prst="rect">
            <a:avLst/>
          </a:prstGeom>
          <a:noFill/>
          <a:ln/>
        </p:spPr>
        <p:txBody>
          <a:bodyPr wrap="square" lIns="0" tIns="0" rIns="0" bIns="0" rtlCol="0" anchor="ctr"/>
          <a:lstStyle/>
          <a:p>
            <a:pPr indent="0" marL="0">
              <a:buNone/>
            </a:pPr>
            <a:r>
              <a:rPr lang="en-US" sz="2500" b="1" dirty="0">
                <a:solidFill>
                  <a:srgbClr val="2B2523"/>
                </a:solidFill>
                <a:latin typeface="Cambria" pitchFamily="34" charset="0"/>
                <a:ea typeface="Cambria" pitchFamily="34" charset="-122"/>
                <a:cs typeface="Cambria" pitchFamily="34" charset="-120"/>
              </a:rPr>
              <a:t>What the 2026-08-27 feedback asked for</a:t>
            </a:r>
            <a:endParaRPr lang="en-US" sz="2500" dirty="0"/>
          </a:p>
        </p:txBody>
      </p:sp>
      <p:sp>
        <p:nvSpPr>
          <p:cNvPr id="3" name="Text 1"/>
          <p:cNvSpPr/>
          <p:nvPr/>
        </p:nvSpPr>
        <p:spPr>
          <a:xfrm>
            <a:off x="566928" y="969264"/>
            <a:ext cx="11027664" cy="310896"/>
          </a:xfrm>
          <a:prstGeom prst="rect">
            <a:avLst/>
          </a:prstGeom>
          <a:noFill/>
          <a:ln/>
        </p:spPr>
        <p:txBody>
          <a:bodyPr wrap="square" lIns="0" tIns="0" rIns="0" bIns="0" rtlCol="0" anchor="ctr"/>
          <a:lstStyle/>
          <a:p>
            <a:pPr indent="0" marL="0">
              <a:buNone/>
            </a:pPr>
            <a:r>
              <a:rPr lang="en-US" sz="1250" i="1" dirty="0">
                <a:solidFill>
                  <a:srgbClr val="7A6E68"/>
                </a:solidFill>
                <a:latin typeface="Calibri" pitchFamily="34" charset="0"/>
                <a:ea typeface="Calibri" pitchFamily="34" charset="-122"/>
                <a:cs typeface="Calibri" pitchFamily="34" charset="-120"/>
              </a:rPr>
              <a:t>Ten items, worked through point by point, in this order</a:t>
            </a:r>
            <a:endParaRPr lang="en-US" sz="1250" dirty="0"/>
          </a:p>
        </p:txBody>
      </p:sp>
      <p:sp>
        <p:nvSpPr>
          <p:cNvPr id="4" name="Shape 2"/>
          <p:cNvSpPr/>
          <p:nvPr/>
        </p:nvSpPr>
        <p:spPr>
          <a:xfrm>
            <a:off x="566928" y="1335024"/>
            <a:ext cx="329184" cy="329184"/>
          </a:xfrm>
          <a:prstGeom prst="ellipse">
            <a:avLst/>
          </a:prstGeom>
          <a:solidFill>
            <a:srgbClr val="B85042"/>
          </a:solidFill>
          <a:ln/>
        </p:spPr>
      </p:sp>
      <p:sp>
        <p:nvSpPr>
          <p:cNvPr id="5" name="Text 3"/>
          <p:cNvSpPr/>
          <p:nvPr/>
        </p:nvSpPr>
        <p:spPr>
          <a:xfrm>
            <a:off x="566928" y="133502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6" name="Text 4"/>
          <p:cNvSpPr/>
          <p:nvPr/>
        </p:nvSpPr>
        <p:spPr>
          <a:xfrm>
            <a:off x="1042416" y="1289304"/>
            <a:ext cx="4663440" cy="461772"/>
          </a:xfrm>
          <a:prstGeom prst="rect">
            <a:avLst/>
          </a:prstGeom>
          <a:noFill/>
          <a:ln/>
        </p:spPr>
        <p:txBody>
          <a:bodyPr wrap="square" lIns="0" tIns="0" rIns="0" bIns="0" rtlCol="0" anchor="ctr"/>
          <a:lstStyle/>
          <a:p>
            <a:pPr indent="0" marL="0">
              <a:lnSpc>
                <a:spcPts val="1400"/>
              </a:lnSpc>
              <a:buNone/>
            </a:pPr>
            <a:r>
              <a:rPr lang="en-US" sz="1200" b="1" dirty="0">
                <a:solidFill>
                  <a:srgbClr val="2B2523"/>
                </a:solidFill>
                <a:latin typeface="Cambria" pitchFamily="34" charset="0"/>
                <a:ea typeface="Cambria" pitchFamily="34" charset="-122"/>
                <a:cs typeface="Cambria" pitchFamily="34" charset="-120"/>
              </a:rPr>
              <a:t>Resolve the WFP observed-versus-forecast issue first</a:t>
            </a:r>
            <a:endParaRPr lang="en-US" sz="1200" dirty="0"/>
          </a:p>
        </p:txBody>
      </p:sp>
      <p:sp>
        <p:nvSpPr>
          <p:cNvPr id="7" name="Text 5"/>
          <p:cNvSpPr/>
          <p:nvPr/>
        </p:nvSpPr>
        <p:spPr>
          <a:xfrm>
            <a:off x="5870448" y="1289304"/>
            <a:ext cx="5394960" cy="461772"/>
          </a:xfrm>
          <a:prstGeom prst="rect">
            <a:avLst/>
          </a:prstGeom>
          <a:noFill/>
          <a:ln/>
        </p:spPr>
        <p:txBody>
          <a:bodyPr wrap="square" lIns="0" tIns="0" rIns="0" bIns="0" rtlCol="0" anchor="ctr"/>
          <a:lstStyle/>
          <a:p>
            <a:pPr indent="0" marL="0">
              <a:lnSpc>
                <a:spcPts val="1300"/>
              </a:lnSpc>
              <a:buNone/>
            </a:pPr>
            <a:r>
              <a:rPr lang="en-US" sz="1030" dirty="0">
                <a:solidFill>
                  <a:srgbClr val="7A6E68"/>
                </a:solidFill>
                <a:latin typeface="Calibri" pitchFamily="34" charset="0"/>
                <a:ea typeface="Calibri" pitchFamily="34" charset="-122"/>
                <a:cs typeface="Calibri" pitchFamily="34" charset="-120"/>
              </a:rPr>
              <a:t>A month-by-month audit for 2024 showing how many market records are observed, forecast and missing.</a:t>
            </a:r>
            <a:endParaRPr lang="en-US" sz="1030" dirty="0"/>
          </a:p>
        </p:txBody>
      </p:sp>
      <p:sp>
        <p:nvSpPr>
          <p:cNvPr id="8" name="Shape 6"/>
          <p:cNvSpPr/>
          <p:nvPr/>
        </p:nvSpPr>
        <p:spPr>
          <a:xfrm>
            <a:off x="566928" y="1760220"/>
            <a:ext cx="11027664" cy="0"/>
          </a:xfrm>
          <a:prstGeom prst="line">
            <a:avLst/>
          </a:prstGeom>
          <a:noFill/>
          <a:ln w="9525">
            <a:solidFill>
              <a:srgbClr val="E2DDD6"/>
            </a:solidFill>
            <a:prstDash val="solid"/>
          </a:ln>
        </p:spPr>
      </p:sp>
      <p:sp>
        <p:nvSpPr>
          <p:cNvPr id="9" name="Shape 7"/>
          <p:cNvSpPr/>
          <p:nvPr/>
        </p:nvSpPr>
        <p:spPr>
          <a:xfrm>
            <a:off x="566928" y="1796796"/>
            <a:ext cx="329184" cy="329184"/>
          </a:xfrm>
          <a:prstGeom prst="ellipse">
            <a:avLst/>
          </a:prstGeom>
          <a:solidFill>
            <a:srgbClr val="2B2523"/>
          </a:solidFill>
          <a:ln/>
        </p:spPr>
      </p:sp>
      <p:sp>
        <p:nvSpPr>
          <p:cNvPr id="10" name="Text 8"/>
          <p:cNvSpPr/>
          <p:nvPr/>
        </p:nvSpPr>
        <p:spPr>
          <a:xfrm>
            <a:off x="566928" y="179679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11" name="Text 9"/>
          <p:cNvSpPr/>
          <p:nvPr/>
        </p:nvSpPr>
        <p:spPr>
          <a:xfrm>
            <a:off x="1042416" y="1751076"/>
            <a:ext cx="4663440" cy="461772"/>
          </a:xfrm>
          <a:prstGeom prst="rect">
            <a:avLst/>
          </a:prstGeom>
          <a:noFill/>
          <a:ln/>
        </p:spPr>
        <p:txBody>
          <a:bodyPr wrap="square" lIns="0" tIns="0" rIns="0" bIns="0" rtlCol="0" anchor="ctr"/>
          <a:lstStyle/>
          <a:p>
            <a:pPr indent="0" marL="0">
              <a:lnSpc>
                <a:spcPts val="1400"/>
              </a:lnSpc>
              <a:buNone/>
            </a:pPr>
            <a:r>
              <a:rPr lang="en-US" sz="1200" b="1" dirty="0">
                <a:solidFill>
                  <a:srgbClr val="2B2523"/>
                </a:solidFill>
                <a:latin typeface="Cambria" pitchFamily="34" charset="0"/>
                <a:ea typeface="Cambria" pitchFamily="34" charset="-122"/>
                <a:cs typeface="Cambria" pitchFamily="34" charset="-120"/>
              </a:rPr>
              <a:t>Run one final model for reporting attention</a:t>
            </a:r>
            <a:endParaRPr lang="en-US" sz="1200" dirty="0"/>
          </a:p>
        </p:txBody>
      </p:sp>
      <p:sp>
        <p:nvSpPr>
          <p:cNvPr id="12" name="Text 10"/>
          <p:cNvSpPr/>
          <p:nvPr/>
        </p:nvSpPr>
        <p:spPr>
          <a:xfrm>
            <a:off x="5870448" y="1751076"/>
            <a:ext cx="5394960" cy="461772"/>
          </a:xfrm>
          <a:prstGeom prst="rect">
            <a:avLst/>
          </a:prstGeom>
          <a:noFill/>
          <a:ln/>
        </p:spPr>
        <p:txBody>
          <a:bodyPr wrap="square" lIns="0" tIns="0" rIns="0" bIns="0" rtlCol="0" anchor="ctr"/>
          <a:lstStyle/>
          <a:p>
            <a:pPr indent="0" marL="0">
              <a:lnSpc>
                <a:spcPts val="1300"/>
              </a:lnSpc>
              <a:buNone/>
            </a:pPr>
            <a:r>
              <a:rPr lang="en-US" sz="1030" dirty="0">
                <a:solidFill>
                  <a:srgbClr val="7A6E68"/>
                </a:solidFill>
                <a:latin typeface="Calibri" pitchFamily="34" charset="0"/>
                <a:ea typeface="Calibri" pitchFamily="34" charset="-122"/>
                <a:cs typeface="Calibri" pitchFamily="34" charset="-120"/>
              </a:rPr>
              <a:t>Conflict intensity, vegetation stress, month controls, and district effects or district-clustered SEs; standardise both predictors.</a:t>
            </a:r>
            <a:endParaRPr lang="en-US" sz="1030" dirty="0"/>
          </a:p>
        </p:txBody>
      </p:sp>
      <p:sp>
        <p:nvSpPr>
          <p:cNvPr id="13" name="Shape 11"/>
          <p:cNvSpPr/>
          <p:nvPr/>
        </p:nvSpPr>
        <p:spPr>
          <a:xfrm>
            <a:off x="566928" y="2221992"/>
            <a:ext cx="11027664" cy="0"/>
          </a:xfrm>
          <a:prstGeom prst="line">
            <a:avLst/>
          </a:prstGeom>
          <a:noFill/>
          <a:ln w="9525">
            <a:solidFill>
              <a:srgbClr val="E2DDD6"/>
            </a:solidFill>
            <a:prstDash val="solid"/>
          </a:ln>
        </p:spPr>
      </p:sp>
      <p:sp>
        <p:nvSpPr>
          <p:cNvPr id="14" name="Shape 12"/>
          <p:cNvSpPr/>
          <p:nvPr/>
        </p:nvSpPr>
        <p:spPr>
          <a:xfrm>
            <a:off x="566928" y="2258568"/>
            <a:ext cx="329184" cy="329184"/>
          </a:xfrm>
          <a:prstGeom prst="ellipse">
            <a:avLst/>
          </a:prstGeom>
          <a:solidFill>
            <a:srgbClr val="B85042"/>
          </a:solidFill>
          <a:ln/>
        </p:spPr>
      </p:sp>
      <p:sp>
        <p:nvSpPr>
          <p:cNvPr id="15" name="Text 13"/>
          <p:cNvSpPr/>
          <p:nvPr/>
        </p:nvSpPr>
        <p:spPr>
          <a:xfrm>
            <a:off x="566928" y="225856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3</a:t>
            </a:r>
            <a:endParaRPr lang="en-US" sz="1200" dirty="0"/>
          </a:p>
        </p:txBody>
      </p:sp>
      <p:sp>
        <p:nvSpPr>
          <p:cNvPr id="16" name="Text 14"/>
          <p:cNvSpPr/>
          <p:nvPr/>
        </p:nvSpPr>
        <p:spPr>
          <a:xfrm>
            <a:off x="1042416" y="2212848"/>
            <a:ext cx="4663440" cy="461772"/>
          </a:xfrm>
          <a:prstGeom prst="rect">
            <a:avLst/>
          </a:prstGeom>
          <a:noFill/>
          <a:ln/>
        </p:spPr>
        <p:txBody>
          <a:bodyPr wrap="square" lIns="0" tIns="0" rIns="0" bIns="0" rtlCol="0" anchor="ctr"/>
          <a:lstStyle/>
          <a:p>
            <a:pPr indent="0" marL="0">
              <a:lnSpc>
                <a:spcPts val="1400"/>
              </a:lnSpc>
              <a:buNone/>
            </a:pPr>
            <a:r>
              <a:rPr lang="en-US" sz="1200" b="1" dirty="0">
                <a:solidFill>
                  <a:srgbClr val="2B2523"/>
                </a:solidFill>
                <a:latin typeface="Cambria" pitchFamily="34" charset="0"/>
                <a:ea typeface="Cambria" pitchFamily="34" charset="-122"/>
                <a:cs typeface="Cambria" pitchFamily="34" charset="-120"/>
              </a:rPr>
              <a:t>Compare the effect sizes clearly</a:t>
            </a:r>
            <a:endParaRPr lang="en-US" sz="1200" dirty="0"/>
          </a:p>
        </p:txBody>
      </p:sp>
      <p:sp>
        <p:nvSpPr>
          <p:cNvPr id="17" name="Text 15"/>
          <p:cNvSpPr/>
          <p:nvPr/>
        </p:nvSpPr>
        <p:spPr>
          <a:xfrm>
            <a:off x="5870448" y="2212848"/>
            <a:ext cx="5394960" cy="461772"/>
          </a:xfrm>
          <a:prstGeom prst="rect">
            <a:avLst/>
          </a:prstGeom>
          <a:noFill/>
          <a:ln/>
        </p:spPr>
        <p:txBody>
          <a:bodyPr wrap="square" lIns="0" tIns="0" rIns="0" bIns="0" rtlCol="0" anchor="ctr"/>
          <a:lstStyle/>
          <a:p>
            <a:pPr indent="0" marL="0">
              <a:lnSpc>
                <a:spcPts val="1300"/>
              </a:lnSpc>
              <a:buNone/>
            </a:pPr>
            <a:r>
              <a:rPr lang="en-US" sz="1030" dirty="0">
                <a:solidFill>
                  <a:srgbClr val="7A6E68"/>
                </a:solidFill>
                <a:latin typeface="Calibri" pitchFamily="34" charset="0"/>
                <a:ea typeface="Calibri" pitchFamily="34" charset="-122"/>
                <a:cs typeface="Calibri" pitchFamily="34" charset="-120"/>
              </a:rPr>
              <a:t>How much reporting attention changes when conflict increases versus when vegetation stress increases.</a:t>
            </a:r>
            <a:endParaRPr lang="en-US" sz="1030" dirty="0"/>
          </a:p>
        </p:txBody>
      </p:sp>
      <p:sp>
        <p:nvSpPr>
          <p:cNvPr id="18" name="Shape 16"/>
          <p:cNvSpPr/>
          <p:nvPr/>
        </p:nvSpPr>
        <p:spPr>
          <a:xfrm>
            <a:off x="566928" y="2683764"/>
            <a:ext cx="11027664" cy="0"/>
          </a:xfrm>
          <a:prstGeom prst="line">
            <a:avLst/>
          </a:prstGeom>
          <a:noFill/>
          <a:ln w="9525">
            <a:solidFill>
              <a:srgbClr val="E2DDD6"/>
            </a:solidFill>
            <a:prstDash val="solid"/>
          </a:ln>
        </p:spPr>
      </p:sp>
      <p:sp>
        <p:nvSpPr>
          <p:cNvPr id="19" name="Shape 17"/>
          <p:cNvSpPr/>
          <p:nvPr/>
        </p:nvSpPr>
        <p:spPr>
          <a:xfrm>
            <a:off x="566928" y="2720340"/>
            <a:ext cx="329184" cy="329184"/>
          </a:xfrm>
          <a:prstGeom prst="ellipse">
            <a:avLst/>
          </a:prstGeom>
          <a:solidFill>
            <a:srgbClr val="2B2523"/>
          </a:solidFill>
          <a:ln/>
        </p:spPr>
      </p:sp>
      <p:sp>
        <p:nvSpPr>
          <p:cNvPr id="20" name="Text 18"/>
          <p:cNvSpPr/>
          <p:nvPr/>
        </p:nvSpPr>
        <p:spPr>
          <a:xfrm>
            <a:off x="566928" y="272034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4</a:t>
            </a:r>
            <a:endParaRPr lang="en-US" sz="1200" dirty="0"/>
          </a:p>
        </p:txBody>
      </p:sp>
      <p:sp>
        <p:nvSpPr>
          <p:cNvPr id="21" name="Text 19"/>
          <p:cNvSpPr/>
          <p:nvPr/>
        </p:nvSpPr>
        <p:spPr>
          <a:xfrm>
            <a:off x="1042416" y="2674620"/>
            <a:ext cx="4663440" cy="461772"/>
          </a:xfrm>
          <a:prstGeom prst="rect">
            <a:avLst/>
          </a:prstGeom>
          <a:noFill/>
          <a:ln/>
        </p:spPr>
        <p:txBody>
          <a:bodyPr wrap="square" lIns="0" tIns="0" rIns="0" bIns="0" rtlCol="0" anchor="ctr"/>
          <a:lstStyle/>
          <a:p>
            <a:pPr indent="0" marL="0">
              <a:lnSpc>
                <a:spcPts val="1400"/>
              </a:lnSpc>
              <a:buNone/>
            </a:pPr>
            <a:r>
              <a:rPr lang="en-US" sz="1200" b="1" dirty="0">
                <a:solidFill>
                  <a:srgbClr val="2B2523"/>
                </a:solidFill>
                <a:latin typeface="Cambria" pitchFamily="34" charset="0"/>
                <a:ea typeface="Cambria" pitchFamily="34" charset="-122"/>
                <a:cs typeface="Cambria" pitchFamily="34" charset="-120"/>
              </a:rPr>
              <a:t>Repeat the same analysis on Food and Nutrition reports only</a:t>
            </a:r>
            <a:endParaRPr lang="en-US" sz="1200" dirty="0"/>
          </a:p>
        </p:txBody>
      </p:sp>
      <p:sp>
        <p:nvSpPr>
          <p:cNvPr id="22" name="Text 20"/>
          <p:cNvSpPr/>
          <p:nvPr/>
        </p:nvSpPr>
        <p:spPr>
          <a:xfrm>
            <a:off x="5870448" y="2674620"/>
            <a:ext cx="5394960" cy="461772"/>
          </a:xfrm>
          <a:prstGeom prst="rect">
            <a:avLst/>
          </a:prstGeom>
          <a:noFill/>
          <a:ln/>
        </p:spPr>
        <p:txBody>
          <a:bodyPr wrap="square" lIns="0" tIns="0" rIns="0" bIns="0" rtlCol="0" anchor="ctr"/>
          <a:lstStyle/>
          <a:p>
            <a:pPr indent="0" marL="0">
              <a:lnSpc>
                <a:spcPts val="1300"/>
              </a:lnSpc>
              <a:buNone/>
            </a:pPr>
            <a:r>
              <a:rPr lang="en-US" sz="1030" dirty="0">
                <a:solidFill>
                  <a:srgbClr val="7A6E68"/>
                </a:solidFill>
                <a:latin typeface="Calibri" pitchFamily="34" charset="0"/>
                <a:ea typeface="Calibri" pitchFamily="34" charset="-122"/>
                <a:cs typeface="Calibri" pitchFamily="34" charset="-120"/>
              </a:rPr>
              <a:t>Checks whether the result is driven by conflict-specific reporting or holds within food-insecurity-relevant reporting too.</a:t>
            </a:r>
            <a:endParaRPr lang="en-US" sz="1030" dirty="0"/>
          </a:p>
        </p:txBody>
      </p:sp>
      <p:sp>
        <p:nvSpPr>
          <p:cNvPr id="23" name="Shape 21"/>
          <p:cNvSpPr/>
          <p:nvPr/>
        </p:nvSpPr>
        <p:spPr>
          <a:xfrm>
            <a:off x="566928" y="3145536"/>
            <a:ext cx="11027664" cy="0"/>
          </a:xfrm>
          <a:prstGeom prst="line">
            <a:avLst/>
          </a:prstGeom>
          <a:noFill/>
          <a:ln w="9525">
            <a:solidFill>
              <a:srgbClr val="E2DDD6"/>
            </a:solidFill>
            <a:prstDash val="solid"/>
          </a:ln>
        </p:spPr>
      </p:sp>
      <p:sp>
        <p:nvSpPr>
          <p:cNvPr id="24" name="Shape 22"/>
          <p:cNvSpPr/>
          <p:nvPr/>
        </p:nvSpPr>
        <p:spPr>
          <a:xfrm>
            <a:off x="566928" y="3182112"/>
            <a:ext cx="329184" cy="329184"/>
          </a:xfrm>
          <a:prstGeom prst="ellipse">
            <a:avLst/>
          </a:prstGeom>
          <a:solidFill>
            <a:srgbClr val="B85042"/>
          </a:solidFill>
          <a:ln/>
        </p:spPr>
      </p:sp>
      <p:sp>
        <p:nvSpPr>
          <p:cNvPr id="25" name="Text 23"/>
          <p:cNvSpPr/>
          <p:nvPr/>
        </p:nvSpPr>
        <p:spPr>
          <a:xfrm>
            <a:off x="566928" y="318211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5</a:t>
            </a:r>
            <a:endParaRPr lang="en-US" sz="1200" dirty="0"/>
          </a:p>
        </p:txBody>
      </p:sp>
      <p:sp>
        <p:nvSpPr>
          <p:cNvPr id="26" name="Text 24"/>
          <p:cNvSpPr/>
          <p:nvPr/>
        </p:nvSpPr>
        <p:spPr>
          <a:xfrm>
            <a:off x="1042416" y="3136392"/>
            <a:ext cx="4663440" cy="461772"/>
          </a:xfrm>
          <a:prstGeom prst="rect">
            <a:avLst/>
          </a:prstGeom>
          <a:noFill/>
          <a:ln/>
        </p:spPr>
        <p:txBody>
          <a:bodyPr wrap="square" lIns="0" tIns="0" rIns="0" bIns="0" rtlCol="0" anchor="ctr"/>
          <a:lstStyle/>
          <a:p>
            <a:pPr indent="0" marL="0">
              <a:lnSpc>
                <a:spcPts val="1400"/>
              </a:lnSpc>
              <a:buNone/>
            </a:pPr>
            <a:r>
              <a:rPr lang="en-US" sz="1200" b="1" dirty="0">
                <a:solidFill>
                  <a:srgbClr val="2B2523"/>
                </a:solidFill>
                <a:latin typeface="Cambria" pitchFamily="34" charset="0"/>
                <a:ea typeface="Cambria" pitchFamily="34" charset="-122"/>
                <a:cs typeface="Cambria" pitchFamily="34" charset="-120"/>
              </a:rPr>
              <a:t>Produce one central visualisation</a:t>
            </a:r>
            <a:endParaRPr lang="en-US" sz="1200" dirty="0"/>
          </a:p>
        </p:txBody>
      </p:sp>
      <p:sp>
        <p:nvSpPr>
          <p:cNvPr id="27" name="Text 25"/>
          <p:cNvSpPr/>
          <p:nvPr/>
        </p:nvSpPr>
        <p:spPr>
          <a:xfrm>
            <a:off x="5870448" y="3136392"/>
            <a:ext cx="5394960" cy="461772"/>
          </a:xfrm>
          <a:prstGeom prst="rect">
            <a:avLst/>
          </a:prstGeom>
          <a:noFill/>
          <a:ln/>
        </p:spPr>
        <p:txBody>
          <a:bodyPr wrap="square" lIns="0" tIns="0" rIns="0" bIns="0" rtlCol="0" anchor="ctr"/>
          <a:lstStyle/>
          <a:p>
            <a:pPr indent="0" marL="0">
              <a:lnSpc>
                <a:spcPts val="1300"/>
              </a:lnSpc>
              <a:buNone/>
            </a:pPr>
            <a:r>
              <a:rPr lang="en-US" sz="1030" dirty="0">
                <a:solidFill>
                  <a:srgbClr val="7A6E68"/>
                </a:solidFill>
                <a:latin typeface="Calibri" pitchFamily="34" charset="0"/>
                <a:ea typeface="Calibri" pitchFamily="34" charset="-122"/>
                <a:cs typeface="Calibri" pitchFamily="34" charset="-120"/>
              </a:rPr>
              <a:t>Crisis intensity against expected reporting attention, one curve for conflict and one for vegetation stress.</a:t>
            </a:r>
            <a:endParaRPr lang="en-US" sz="1030" dirty="0"/>
          </a:p>
        </p:txBody>
      </p:sp>
      <p:sp>
        <p:nvSpPr>
          <p:cNvPr id="28" name="Shape 26"/>
          <p:cNvSpPr/>
          <p:nvPr/>
        </p:nvSpPr>
        <p:spPr>
          <a:xfrm>
            <a:off x="566928" y="3607308"/>
            <a:ext cx="11027664" cy="0"/>
          </a:xfrm>
          <a:prstGeom prst="line">
            <a:avLst/>
          </a:prstGeom>
          <a:noFill/>
          <a:ln w="9525">
            <a:solidFill>
              <a:srgbClr val="E2DDD6"/>
            </a:solidFill>
            <a:prstDash val="solid"/>
          </a:ln>
        </p:spPr>
      </p:sp>
      <p:sp>
        <p:nvSpPr>
          <p:cNvPr id="29" name="Shape 27"/>
          <p:cNvSpPr/>
          <p:nvPr/>
        </p:nvSpPr>
        <p:spPr>
          <a:xfrm>
            <a:off x="566928" y="3643884"/>
            <a:ext cx="329184" cy="329184"/>
          </a:xfrm>
          <a:prstGeom prst="ellipse">
            <a:avLst/>
          </a:prstGeom>
          <a:solidFill>
            <a:srgbClr val="2B2523"/>
          </a:solidFill>
          <a:ln/>
        </p:spPr>
      </p:sp>
      <p:sp>
        <p:nvSpPr>
          <p:cNvPr id="30" name="Text 28"/>
          <p:cNvSpPr/>
          <p:nvPr/>
        </p:nvSpPr>
        <p:spPr>
          <a:xfrm>
            <a:off x="566928" y="364388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6</a:t>
            </a:r>
            <a:endParaRPr lang="en-US" sz="1200" dirty="0"/>
          </a:p>
        </p:txBody>
      </p:sp>
      <p:sp>
        <p:nvSpPr>
          <p:cNvPr id="31" name="Text 29"/>
          <p:cNvSpPr/>
          <p:nvPr/>
        </p:nvSpPr>
        <p:spPr>
          <a:xfrm>
            <a:off x="1042416" y="3598164"/>
            <a:ext cx="4663440" cy="461772"/>
          </a:xfrm>
          <a:prstGeom prst="rect">
            <a:avLst/>
          </a:prstGeom>
          <a:noFill/>
          <a:ln/>
        </p:spPr>
        <p:txBody>
          <a:bodyPr wrap="square" lIns="0" tIns="0" rIns="0" bIns="0" rtlCol="0" anchor="ctr"/>
          <a:lstStyle/>
          <a:p>
            <a:pPr indent="0" marL="0">
              <a:lnSpc>
                <a:spcPts val="1400"/>
              </a:lnSpc>
              <a:buNone/>
            </a:pPr>
            <a:r>
              <a:rPr lang="en-US" sz="1200" b="1" dirty="0">
                <a:solidFill>
                  <a:srgbClr val="2B2523"/>
                </a:solidFill>
                <a:latin typeface="Cambria" pitchFamily="34" charset="0"/>
                <a:ea typeface="Cambria" pitchFamily="34" charset="-122"/>
                <a:cs typeface="Cambria" pitchFamily="34" charset="-120"/>
              </a:rPr>
              <a:t>Run a simple humanitarian blind-spots analysis</a:t>
            </a:r>
            <a:endParaRPr lang="en-US" sz="1200" dirty="0"/>
          </a:p>
        </p:txBody>
      </p:sp>
      <p:sp>
        <p:nvSpPr>
          <p:cNvPr id="32" name="Text 30"/>
          <p:cNvSpPr/>
          <p:nvPr/>
        </p:nvSpPr>
        <p:spPr>
          <a:xfrm>
            <a:off x="5870448" y="3598164"/>
            <a:ext cx="5394960" cy="461772"/>
          </a:xfrm>
          <a:prstGeom prst="rect">
            <a:avLst/>
          </a:prstGeom>
          <a:noFill/>
          <a:ln/>
        </p:spPr>
        <p:txBody>
          <a:bodyPr wrap="square" lIns="0" tIns="0" rIns="0" bIns="0" rtlCol="0" anchor="ctr"/>
          <a:lstStyle/>
          <a:p>
            <a:pPr indent="0" marL="0">
              <a:lnSpc>
                <a:spcPts val="1300"/>
              </a:lnSpc>
              <a:buNone/>
            </a:pPr>
            <a:r>
              <a:rPr lang="en-US" sz="1030" dirty="0">
                <a:solidFill>
                  <a:srgbClr val="7A6E68"/>
                </a:solidFill>
                <a:latin typeface="Calibri" pitchFamily="34" charset="0"/>
                <a:ea typeface="Calibri" pitchFamily="34" charset="-122"/>
                <a:cs typeface="Calibri" pitchFamily="34" charset="-120"/>
              </a:rPr>
              <a:t>No WFP market information and no ReliefWeb reporting, but high conflict or vegetation stress in the sources available.</a:t>
            </a:r>
            <a:endParaRPr lang="en-US" sz="1030" dirty="0"/>
          </a:p>
        </p:txBody>
      </p:sp>
      <p:sp>
        <p:nvSpPr>
          <p:cNvPr id="33" name="Shape 31"/>
          <p:cNvSpPr/>
          <p:nvPr/>
        </p:nvSpPr>
        <p:spPr>
          <a:xfrm>
            <a:off x="566928" y="4069080"/>
            <a:ext cx="11027664" cy="0"/>
          </a:xfrm>
          <a:prstGeom prst="line">
            <a:avLst/>
          </a:prstGeom>
          <a:noFill/>
          <a:ln w="9525">
            <a:solidFill>
              <a:srgbClr val="E2DDD6"/>
            </a:solidFill>
            <a:prstDash val="solid"/>
          </a:ln>
        </p:spPr>
      </p:sp>
      <p:sp>
        <p:nvSpPr>
          <p:cNvPr id="34" name="Shape 32"/>
          <p:cNvSpPr/>
          <p:nvPr/>
        </p:nvSpPr>
        <p:spPr>
          <a:xfrm>
            <a:off x="566928" y="4105656"/>
            <a:ext cx="329184" cy="329184"/>
          </a:xfrm>
          <a:prstGeom prst="ellipse">
            <a:avLst/>
          </a:prstGeom>
          <a:solidFill>
            <a:srgbClr val="B85042"/>
          </a:solidFill>
          <a:ln/>
        </p:spPr>
      </p:sp>
      <p:sp>
        <p:nvSpPr>
          <p:cNvPr id="35" name="Text 33"/>
          <p:cNvSpPr/>
          <p:nvPr/>
        </p:nvSpPr>
        <p:spPr>
          <a:xfrm>
            <a:off x="566928" y="410565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7</a:t>
            </a:r>
            <a:endParaRPr lang="en-US" sz="1200" dirty="0"/>
          </a:p>
        </p:txBody>
      </p:sp>
      <p:sp>
        <p:nvSpPr>
          <p:cNvPr id="36" name="Text 34"/>
          <p:cNvSpPr/>
          <p:nvPr/>
        </p:nvSpPr>
        <p:spPr>
          <a:xfrm>
            <a:off x="1042416" y="4059936"/>
            <a:ext cx="4663440" cy="461772"/>
          </a:xfrm>
          <a:prstGeom prst="rect">
            <a:avLst/>
          </a:prstGeom>
          <a:noFill/>
          <a:ln/>
        </p:spPr>
        <p:txBody>
          <a:bodyPr wrap="square" lIns="0" tIns="0" rIns="0" bIns="0" rtlCol="0" anchor="ctr"/>
          <a:lstStyle/>
          <a:p>
            <a:pPr indent="0" marL="0">
              <a:lnSpc>
                <a:spcPts val="1400"/>
              </a:lnSpc>
              <a:buNone/>
            </a:pPr>
            <a:r>
              <a:rPr lang="en-US" sz="1200" b="1" dirty="0">
                <a:solidFill>
                  <a:srgbClr val="2B2523"/>
                </a:solidFill>
                <a:latin typeface="Cambria" pitchFamily="34" charset="0"/>
                <a:ea typeface="Cambria" pitchFamily="34" charset="-122"/>
                <a:cs typeface="Cambria" pitchFamily="34" charset="-120"/>
              </a:rPr>
              <a:t>Complete the final ReliefWeb validation correctly</a:t>
            </a:r>
            <a:endParaRPr lang="en-US" sz="1200" dirty="0"/>
          </a:p>
        </p:txBody>
      </p:sp>
      <p:sp>
        <p:nvSpPr>
          <p:cNvPr id="37" name="Text 35"/>
          <p:cNvSpPr/>
          <p:nvPr/>
        </p:nvSpPr>
        <p:spPr>
          <a:xfrm>
            <a:off x="5870448" y="4059936"/>
            <a:ext cx="5394960" cy="461772"/>
          </a:xfrm>
          <a:prstGeom prst="rect">
            <a:avLst/>
          </a:prstGeom>
          <a:noFill/>
          <a:ln/>
        </p:spPr>
        <p:txBody>
          <a:bodyPr wrap="square" lIns="0" tIns="0" rIns="0" bIns="0" rtlCol="0" anchor="ctr"/>
          <a:lstStyle/>
          <a:p>
            <a:pPr indent="0" marL="0">
              <a:lnSpc>
                <a:spcPts val="1300"/>
              </a:lnSpc>
              <a:buNone/>
            </a:pPr>
            <a:r>
              <a:rPr lang="en-US" sz="1030" dirty="0">
                <a:solidFill>
                  <a:srgbClr val="7A6E68"/>
                </a:solidFill>
                <a:latin typeface="Calibri" pitchFamily="34" charset="0"/>
                <a:ea typeface="Calibri" pitchFamily="34" charset="-122"/>
                <a:cs typeface="Calibri" pitchFamily="34" charset="-120"/>
              </a:rPr>
              <a:t>Adjust recall and F1 for the stratified validation design, or rerun on a simple random sample. Report P/R/F1 clearly.</a:t>
            </a:r>
            <a:endParaRPr lang="en-US" sz="1030" dirty="0"/>
          </a:p>
        </p:txBody>
      </p:sp>
      <p:sp>
        <p:nvSpPr>
          <p:cNvPr id="38" name="Shape 36"/>
          <p:cNvSpPr/>
          <p:nvPr/>
        </p:nvSpPr>
        <p:spPr>
          <a:xfrm>
            <a:off x="566928" y="4530852"/>
            <a:ext cx="11027664" cy="0"/>
          </a:xfrm>
          <a:prstGeom prst="line">
            <a:avLst/>
          </a:prstGeom>
          <a:noFill/>
          <a:ln w="9525">
            <a:solidFill>
              <a:srgbClr val="E2DDD6"/>
            </a:solidFill>
            <a:prstDash val="solid"/>
          </a:ln>
        </p:spPr>
      </p:sp>
      <p:sp>
        <p:nvSpPr>
          <p:cNvPr id="39" name="Shape 37"/>
          <p:cNvSpPr/>
          <p:nvPr/>
        </p:nvSpPr>
        <p:spPr>
          <a:xfrm>
            <a:off x="566928" y="4567428"/>
            <a:ext cx="329184" cy="329184"/>
          </a:xfrm>
          <a:prstGeom prst="ellipse">
            <a:avLst/>
          </a:prstGeom>
          <a:solidFill>
            <a:srgbClr val="2B2523"/>
          </a:solidFill>
          <a:ln/>
        </p:spPr>
      </p:sp>
      <p:sp>
        <p:nvSpPr>
          <p:cNvPr id="40" name="Text 38"/>
          <p:cNvSpPr/>
          <p:nvPr/>
        </p:nvSpPr>
        <p:spPr>
          <a:xfrm>
            <a:off x="566928" y="456742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8</a:t>
            </a:r>
            <a:endParaRPr lang="en-US" sz="1200" dirty="0"/>
          </a:p>
        </p:txBody>
      </p:sp>
      <p:sp>
        <p:nvSpPr>
          <p:cNvPr id="41" name="Text 39"/>
          <p:cNvSpPr/>
          <p:nvPr/>
        </p:nvSpPr>
        <p:spPr>
          <a:xfrm>
            <a:off x="1042416" y="4521708"/>
            <a:ext cx="4663440" cy="461772"/>
          </a:xfrm>
          <a:prstGeom prst="rect">
            <a:avLst/>
          </a:prstGeom>
          <a:noFill/>
          <a:ln/>
        </p:spPr>
        <p:txBody>
          <a:bodyPr wrap="square" lIns="0" tIns="0" rIns="0" bIns="0" rtlCol="0" anchor="ctr"/>
          <a:lstStyle/>
          <a:p>
            <a:pPr indent="0" marL="0">
              <a:lnSpc>
                <a:spcPts val="1400"/>
              </a:lnSpc>
              <a:buNone/>
            </a:pPr>
            <a:r>
              <a:rPr lang="en-US" sz="1200" b="1" dirty="0">
                <a:solidFill>
                  <a:srgbClr val="2B2523"/>
                </a:solidFill>
                <a:latin typeface="Cambria" pitchFamily="34" charset="0"/>
                <a:ea typeface="Cambria" pitchFamily="34" charset="-122"/>
                <a:cs typeface="Cambria" pitchFamily="34" charset="-120"/>
              </a:rPr>
              <a:t>Finalise the source-quality table</a:t>
            </a:r>
            <a:endParaRPr lang="en-US" sz="1200" dirty="0"/>
          </a:p>
        </p:txBody>
      </p:sp>
      <p:sp>
        <p:nvSpPr>
          <p:cNvPr id="42" name="Text 40"/>
          <p:cNvSpPr/>
          <p:nvPr/>
        </p:nvSpPr>
        <p:spPr>
          <a:xfrm>
            <a:off x="5870448" y="4521708"/>
            <a:ext cx="5394960" cy="461772"/>
          </a:xfrm>
          <a:prstGeom prst="rect">
            <a:avLst/>
          </a:prstGeom>
          <a:noFill/>
          <a:ln/>
        </p:spPr>
        <p:txBody>
          <a:bodyPr wrap="square" lIns="0" tIns="0" rIns="0" bIns="0" rtlCol="0" anchor="ctr"/>
          <a:lstStyle/>
          <a:p>
            <a:pPr indent="0" marL="0">
              <a:lnSpc>
                <a:spcPts val="1300"/>
              </a:lnSpc>
              <a:buNone/>
            </a:pPr>
            <a:r>
              <a:rPr lang="en-US" sz="1030" dirty="0">
                <a:solidFill>
                  <a:srgbClr val="7A6E68"/>
                </a:solidFill>
                <a:latin typeface="Calibri" pitchFamily="34" charset="0"/>
                <a:ea typeface="Calibri" pitchFamily="34" charset="-122"/>
                <a:cs typeface="Calibri" pitchFamily="34" charset="-120"/>
              </a:rPr>
              <a:t>For all four sources: granularity, collection mechanism, structural availability, recorded coverage, meaning of zero, meaning of missing, main limitation.</a:t>
            </a:r>
            <a:endParaRPr lang="en-US" sz="1030" dirty="0"/>
          </a:p>
        </p:txBody>
      </p:sp>
      <p:sp>
        <p:nvSpPr>
          <p:cNvPr id="43" name="Shape 41"/>
          <p:cNvSpPr/>
          <p:nvPr/>
        </p:nvSpPr>
        <p:spPr>
          <a:xfrm>
            <a:off x="566928" y="4992624"/>
            <a:ext cx="11027664" cy="0"/>
          </a:xfrm>
          <a:prstGeom prst="line">
            <a:avLst/>
          </a:prstGeom>
          <a:noFill/>
          <a:ln w="9525">
            <a:solidFill>
              <a:srgbClr val="E2DDD6"/>
            </a:solidFill>
            <a:prstDash val="solid"/>
          </a:ln>
        </p:spPr>
      </p:sp>
      <p:sp>
        <p:nvSpPr>
          <p:cNvPr id="44" name="Shape 42"/>
          <p:cNvSpPr/>
          <p:nvPr/>
        </p:nvSpPr>
        <p:spPr>
          <a:xfrm>
            <a:off x="566928" y="5029200"/>
            <a:ext cx="329184" cy="329184"/>
          </a:xfrm>
          <a:prstGeom prst="ellipse">
            <a:avLst/>
          </a:prstGeom>
          <a:solidFill>
            <a:srgbClr val="B85042"/>
          </a:solidFill>
          <a:ln/>
        </p:spPr>
      </p:sp>
      <p:sp>
        <p:nvSpPr>
          <p:cNvPr id="45" name="Text 43"/>
          <p:cNvSpPr/>
          <p:nvPr/>
        </p:nvSpPr>
        <p:spPr>
          <a:xfrm>
            <a:off x="566928" y="502920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9</a:t>
            </a:r>
            <a:endParaRPr lang="en-US" sz="1200" dirty="0"/>
          </a:p>
        </p:txBody>
      </p:sp>
      <p:sp>
        <p:nvSpPr>
          <p:cNvPr id="46" name="Text 44"/>
          <p:cNvSpPr/>
          <p:nvPr/>
        </p:nvSpPr>
        <p:spPr>
          <a:xfrm>
            <a:off x="1042416" y="4983480"/>
            <a:ext cx="4663440" cy="461772"/>
          </a:xfrm>
          <a:prstGeom prst="rect">
            <a:avLst/>
          </a:prstGeom>
          <a:noFill/>
          <a:ln/>
        </p:spPr>
        <p:txBody>
          <a:bodyPr wrap="square" lIns="0" tIns="0" rIns="0" bIns="0" rtlCol="0" anchor="ctr"/>
          <a:lstStyle/>
          <a:p>
            <a:pPr indent="0" marL="0">
              <a:lnSpc>
                <a:spcPts val="1400"/>
              </a:lnSpc>
              <a:buNone/>
            </a:pPr>
            <a:r>
              <a:rPr lang="en-US" sz="1200" b="1" dirty="0">
                <a:solidFill>
                  <a:srgbClr val="2B2523"/>
                </a:solidFill>
                <a:latin typeface="Cambria" pitchFamily="34" charset="0"/>
                <a:ea typeface="Cambria" pitchFamily="34" charset="-122"/>
                <a:cs typeface="Cambria" pitchFamily="34" charset="-120"/>
              </a:rPr>
              <a:t>Correct the remaining terminology</a:t>
            </a:r>
            <a:endParaRPr lang="en-US" sz="1200" dirty="0"/>
          </a:p>
        </p:txBody>
      </p:sp>
      <p:sp>
        <p:nvSpPr>
          <p:cNvPr id="47" name="Text 45"/>
          <p:cNvSpPr/>
          <p:nvPr/>
        </p:nvSpPr>
        <p:spPr>
          <a:xfrm>
            <a:off x="5870448" y="4983480"/>
            <a:ext cx="5394960" cy="461772"/>
          </a:xfrm>
          <a:prstGeom prst="rect">
            <a:avLst/>
          </a:prstGeom>
          <a:noFill/>
          <a:ln/>
        </p:spPr>
        <p:txBody>
          <a:bodyPr wrap="square" lIns="0" tIns="0" rIns="0" bIns="0" rtlCol="0" anchor="ctr"/>
          <a:lstStyle/>
          <a:p>
            <a:pPr indent="0" marL="0">
              <a:lnSpc>
                <a:spcPts val="1300"/>
              </a:lnSpc>
              <a:buNone/>
            </a:pPr>
            <a:r>
              <a:rPr lang="en-US" sz="1030" dirty="0">
                <a:solidFill>
                  <a:srgbClr val="7A6E68"/>
                </a:solidFill>
                <a:latin typeface="Calibri" pitchFamily="34" charset="0"/>
                <a:ea typeface="Calibri" pitchFamily="34" charset="-122"/>
                <a:cs typeface="Calibri" pitchFamily="34" charset="-120"/>
              </a:rPr>
              <a:t>ACLED locations not always exact GPS; rename market_stress_count; distinguish price/PEWI/market-presence coverage; use "recorded coverage".</a:t>
            </a:r>
            <a:endParaRPr lang="en-US" sz="1030" dirty="0"/>
          </a:p>
        </p:txBody>
      </p:sp>
      <p:sp>
        <p:nvSpPr>
          <p:cNvPr id="48" name="Shape 46"/>
          <p:cNvSpPr/>
          <p:nvPr/>
        </p:nvSpPr>
        <p:spPr>
          <a:xfrm>
            <a:off x="566928" y="5454396"/>
            <a:ext cx="11027664" cy="0"/>
          </a:xfrm>
          <a:prstGeom prst="line">
            <a:avLst/>
          </a:prstGeom>
          <a:noFill/>
          <a:ln w="9525">
            <a:solidFill>
              <a:srgbClr val="E2DDD6"/>
            </a:solidFill>
            <a:prstDash val="solid"/>
          </a:ln>
        </p:spPr>
      </p:sp>
      <p:sp>
        <p:nvSpPr>
          <p:cNvPr id="49" name="Shape 47"/>
          <p:cNvSpPr/>
          <p:nvPr/>
        </p:nvSpPr>
        <p:spPr>
          <a:xfrm>
            <a:off x="566928" y="5490972"/>
            <a:ext cx="329184" cy="329184"/>
          </a:xfrm>
          <a:prstGeom prst="ellipse">
            <a:avLst/>
          </a:prstGeom>
          <a:solidFill>
            <a:srgbClr val="2B2523"/>
          </a:solidFill>
          <a:ln/>
        </p:spPr>
      </p:sp>
      <p:sp>
        <p:nvSpPr>
          <p:cNvPr id="50" name="Text 48"/>
          <p:cNvSpPr/>
          <p:nvPr/>
        </p:nvSpPr>
        <p:spPr>
          <a:xfrm>
            <a:off x="566928" y="549097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10</a:t>
            </a:r>
            <a:endParaRPr lang="en-US" sz="1200" dirty="0"/>
          </a:p>
        </p:txBody>
      </p:sp>
      <p:sp>
        <p:nvSpPr>
          <p:cNvPr id="51" name="Text 49"/>
          <p:cNvSpPr/>
          <p:nvPr/>
        </p:nvSpPr>
        <p:spPr>
          <a:xfrm>
            <a:off x="1042416" y="5445252"/>
            <a:ext cx="4663440" cy="461772"/>
          </a:xfrm>
          <a:prstGeom prst="rect">
            <a:avLst/>
          </a:prstGeom>
          <a:noFill/>
          <a:ln/>
        </p:spPr>
        <p:txBody>
          <a:bodyPr wrap="square" lIns="0" tIns="0" rIns="0" bIns="0" rtlCol="0" anchor="ctr"/>
          <a:lstStyle/>
          <a:p>
            <a:pPr indent="0" marL="0">
              <a:lnSpc>
                <a:spcPts val="1400"/>
              </a:lnSpc>
              <a:buNone/>
            </a:pPr>
            <a:r>
              <a:rPr lang="en-US" sz="1200" b="1" dirty="0">
                <a:solidFill>
                  <a:srgbClr val="2B2523"/>
                </a:solidFill>
                <a:latin typeface="Cambria" pitchFamily="34" charset="0"/>
                <a:ea typeface="Cambria" pitchFamily="34" charset="-122"/>
                <a:cs typeface="Cambria" pitchFamily="34" charset="-120"/>
              </a:rPr>
              <a:t>Produce the month-by-month coverage table</a:t>
            </a:r>
            <a:endParaRPr lang="en-US" sz="1200" dirty="0"/>
          </a:p>
        </p:txBody>
      </p:sp>
      <p:sp>
        <p:nvSpPr>
          <p:cNvPr id="52" name="Text 50"/>
          <p:cNvSpPr/>
          <p:nvPr/>
        </p:nvSpPr>
        <p:spPr>
          <a:xfrm>
            <a:off x="5870448" y="5445252"/>
            <a:ext cx="5394960" cy="461772"/>
          </a:xfrm>
          <a:prstGeom prst="rect">
            <a:avLst/>
          </a:prstGeom>
          <a:noFill/>
          <a:ln/>
        </p:spPr>
        <p:txBody>
          <a:bodyPr wrap="square" lIns="0" tIns="0" rIns="0" bIns="0" rtlCol="0" anchor="ctr"/>
          <a:lstStyle/>
          <a:p>
            <a:pPr indent="0" marL="0">
              <a:lnSpc>
                <a:spcPts val="1300"/>
              </a:lnSpc>
              <a:buNone/>
            </a:pPr>
            <a:r>
              <a:rPr lang="en-US" sz="1030" dirty="0">
                <a:solidFill>
                  <a:srgbClr val="7A6E68"/>
                </a:solidFill>
                <a:latin typeface="Calibri" pitchFamily="34" charset="0"/>
                <a:ea typeface="Calibri" pitchFamily="34" charset="-122"/>
                <a:cs typeface="Calibri" pitchFamily="34" charset="-120"/>
              </a:rPr>
              <a:t>For each month of 2024, the percentage of districts covered by each source.</a:t>
            </a:r>
            <a:endParaRPr lang="en-US" sz="1030" dirty="0"/>
          </a:p>
        </p:txBody>
      </p:sp>
      <p:sp>
        <p:nvSpPr>
          <p:cNvPr id="53" name="Text 51"/>
          <p:cNvSpPr/>
          <p:nvPr/>
        </p:nvSpPr>
        <p:spPr>
          <a:xfrm>
            <a:off x="566928" y="6016752"/>
            <a:ext cx="11027664" cy="347472"/>
          </a:xfrm>
          <a:prstGeom prst="rect">
            <a:avLst/>
          </a:prstGeom>
          <a:noFill/>
          <a:ln/>
        </p:spPr>
        <p:txBody>
          <a:bodyPr wrap="square" lIns="0" tIns="0" rIns="0" bIns="0" rtlCol="0" anchor="ctr"/>
          <a:lstStyle/>
          <a:p>
            <a:pPr indent="0" marL="0">
              <a:lnSpc>
                <a:spcPts val="1200"/>
              </a:lnSpc>
              <a:buNone/>
            </a:pPr>
            <a:r>
              <a:rPr lang="en-US" sz="1000" i="1" dirty="0">
                <a:solidFill>
                  <a:srgbClr val="7A6E68"/>
                </a:solidFill>
                <a:latin typeface="Calibri" pitchFamily="34" charset="0"/>
                <a:ea typeface="Calibri" pitchFamily="34" charset="-122"/>
                <a:cs typeface="Calibri" pitchFamily="34" charset="-120"/>
              </a:rPr>
              <a:t>Also requested and satisfied throughout: keep IPC optional and descriptive, and do not expand the project with new datasets, countries or a prediction task until these ten items were complete.</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27664" cy="502920"/>
          </a:xfrm>
          <a:prstGeom prst="rect">
            <a:avLst/>
          </a:prstGeom>
          <a:noFill/>
          <a:ln/>
        </p:spPr>
        <p:txBody>
          <a:bodyPr wrap="square" lIns="0" tIns="0" rIns="0" bIns="0" rtlCol="0" anchor="ctr"/>
          <a:lstStyle/>
          <a:p>
            <a:pPr indent="0" marL="0">
              <a:buNone/>
            </a:pPr>
            <a:r>
              <a:rPr lang="en-US" sz="2500" b="1" dirty="0">
                <a:solidFill>
                  <a:srgbClr val="2B2523"/>
                </a:solidFill>
                <a:latin typeface="Cambria" pitchFamily="34" charset="0"/>
                <a:ea typeface="Cambria" pitchFamily="34" charset="-122"/>
                <a:cs typeface="Cambria" pitchFamily="34" charset="-120"/>
              </a:rPr>
              <a:t>Task 11: auditing Somalia 2024 on its own terms</a:t>
            </a:r>
            <a:endParaRPr lang="en-US" sz="2500" dirty="0"/>
          </a:p>
        </p:txBody>
      </p:sp>
      <p:sp>
        <p:nvSpPr>
          <p:cNvPr id="3" name="Text 1"/>
          <p:cNvSpPr/>
          <p:nvPr/>
        </p:nvSpPr>
        <p:spPr>
          <a:xfrm>
            <a:off x="566928" y="969264"/>
            <a:ext cx="11027664" cy="310896"/>
          </a:xfrm>
          <a:prstGeom prst="rect">
            <a:avLst/>
          </a:prstGeom>
          <a:noFill/>
          <a:ln/>
        </p:spPr>
        <p:txBody>
          <a:bodyPr wrap="square" lIns="0" tIns="0" rIns="0" bIns="0" rtlCol="0" anchor="ctr"/>
          <a:lstStyle/>
          <a:p>
            <a:pPr indent="0" marL="0">
              <a:buNone/>
            </a:pPr>
            <a:r>
              <a:rPr lang="en-US" sz="1250" i="1" dirty="0">
                <a:solidFill>
                  <a:srgbClr val="7A6E68"/>
                </a:solidFill>
                <a:latin typeface="Calibri" pitchFamily="34" charset="0"/>
                <a:ea typeface="Calibri" pitchFamily="34" charset="-122"/>
                <a:cs typeface="Calibri" pitchFamily="34" charset="-120"/>
              </a:rPr>
              <a:t>35 markets x 4 basket commodities x 12 months = 1,680 possible cells, the pipeline's own scope, checked directly</a:t>
            </a:r>
            <a:endParaRPr lang="en-US" sz="1250" dirty="0"/>
          </a:p>
        </p:txBody>
      </p:sp>
      <p:sp>
        <p:nvSpPr>
          <p:cNvPr id="4" name="Text 2"/>
          <p:cNvSpPr/>
          <p:nvPr/>
        </p:nvSpPr>
        <p:spPr>
          <a:xfrm>
            <a:off x="566928" y="1371600"/>
            <a:ext cx="5486400" cy="256032"/>
          </a:xfrm>
          <a:prstGeom prst="rect">
            <a:avLst/>
          </a:prstGeom>
          <a:noFill/>
          <a:ln/>
        </p:spPr>
        <p:txBody>
          <a:bodyPr wrap="square" lIns="0" tIns="0" rIns="0" bIns="0" rtlCol="0" anchor="ctr"/>
          <a:lstStyle/>
          <a:p>
            <a:pPr indent="0" marL="0">
              <a:buNone/>
            </a:pPr>
            <a:r>
              <a:rPr lang="en-US" sz="1100" b="1" dirty="0">
                <a:solidFill>
                  <a:srgbClr val="B85042"/>
                </a:solidFill>
                <a:latin typeface="Calibri" pitchFamily="34" charset="0"/>
                <a:ea typeface="Calibri" pitchFamily="34" charset="-122"/>
                <a:cs typeface="Calibri" pitchFamily="34" charset="-120"/>
              </a:rPr>
              <a:t>Table 11.1 · month-by-month audit, Somalia 2024, 4 basket commodities</a:t>
            </a:r>
            <a:endParaRPr lang="en-US" sz="11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66928" y="1682496"/>
          <a:ext cx="5669280" cy="914400"/>
        </p:xfrm>
        <a:graphic>
          <a:graphicData uri="http://schemas.openxmlformats.org/drawingml/2006/table">
            <a:tbl>
              <a:tblPr/>
              <a:tblGrid>
                <a:gridCol w="1371600"/>
                <a:gridCol w="960120"/>
                <a:gridCol w="868680"/>
                <a:gridCol w="822960"/>
                <a:gridCol w="731520"/>
                <a:gridCol w="914400"/>
              </a:tblGrid>
              <a:tr h="347472">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Month</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Observed</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Forecast</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Missing</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Total</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 Observed</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r>
              <a:tr h="347472">
                <a:tc>
                  <a:txBody>
                    <a:bodyPr/>
                    <a:lstStyle/>
                    <a:p>
                      <a:pPr indent="0" marL="0">
                        <a:buNone/>
                      </a:pPr>
                      <a:r>
                        <a:rPr lang="en-US" sz="1000" dirty="0">
                          <a:solidFill>
                            <a:srgbClr val="2B2523"/>
                          </a:solidFill>
                          <a:latin typeface="Calibri" pitchFamily="34" charset="0"/>
                          <a:ea typeface="Calibri" pitchFamily="34" charset="-122"/>
                          <a:cs typeface="Calibri" pitchFamily="34" charset="-120"/>
                        </a:rPr>
                        <a:t>January</a:t>
                      </a:r>
                      <a:endParaRPr lang="en-US" sz="10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00" dirty="0">
                          <a:solidFill>
                            <a:srgbClr val="2B2523"/>
                          </a:solidFill>
                          <a:latin typeface="Calibri" pitchFamily="34" charset="0"/>
                          <a:ea typeface="Calibri" pitchFamily="34" charset="-122"/>
                          <a:cs typeface="Calibri" pitchFamily="34" charset="-120"/>
                        </a:rPr>
                        <a:t>136</a:t>
                      </a:r>
                      <a:endParaRPr lang="en-US" sz="10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00" dirty="0">
                          <a:solidFill>
                            <a:srgbClr val="2B2523"/>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00" dirty="0">
                          <a:solidFill>
                            <a:srgbClr val="2B2523"/>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00" dirty="0">
                          <a:solidFill>
                            <a:srgbClr val="2B2523"/>
                          </a:solidFill>
                          <a:latin typeface="Calibri" pitchFamily="34" charset="0"/>
                          <a:ea typeface="Calibri" pitchFamily="34" charset="-122"/>
                          <a:cs typeface="Calibri" pitchFamily="34" charset="-120"/>
                        </a:rPr>
                        <a:t>140</a:t>
                      </a:r>
                      <a:endParaRPr lang="en-US" sz="10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00" dirty="0">
                          <a:solidFill>
                            <a:srgbClr val="2B2523"/>
                          </a:solidFill>
                          <a:latin typeface="Calibri" pitchFamily="34" charset="0"/>
                          <a:ea typeface="Calibri" pitchFamily="34" charset="-122"/>
                          <a:cs typeface="Calibri" pitchFamily="34" charset="-120"/>
                        </a:rPr>
                        <a:t>97.1%</a:t>
                      </a:r>
                      <a:endParaRPr lang="en-US" sz="10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r>
              <a:tr h="347472">
                <a:tc>
                  <a:txBody>
                    <a:bodyPr/>
                    <a:lstStyle/>
                    <a:p>
                      <a:pPr indent="0" marL="0">
                        <a:buNone/>
                      </a:pPr>
                      <a:r>
                        <a:rPr lang="en-US" sz="1000" dirty="0">
                          <a:solidFill>
                            <a:srgbClr val="2B2523"/>
                          </a:solidFill>
                          <a:latin typeface="Calibri" pitchFamily="34" charset="0"/>
                          <a:ea typeface="Calibri" pitchFamily="34" charset="-122"/>
                          <a:cs typeface="Calibri" pitchFamily="34" charset="-120"/>
                        </a:rPr>
                        <a:t>February</a:t>
                      </a:r>
                      <a:endParaRPr lang="en-US" sz="10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00" dirty="0">
                          <a:solidFill>
                            <a:srgbClr val="2B2523"/>
                          </a:solidFill>
                          <a:latin typeface="Calibri" pitchFamily="34" charset="0"/>
                          <a:ea typeface="Calibri" pitchFamily="34" charset="-122"/>
                          <a:cs typeface="Calibri" pitchFamily="34" charset="-120"/>
                        </a:rPr>
                        <a:t>140</a:t>
                      </a:r>
                      <a:endParaRPr lang="en-US" sz="10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00" dirty="0">
                          <a:solidFill>
                            <a:srgbClr val="2B2523"/>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00" dirty="0">
                          <a:solidFill>
                            <a:srgbClr val="2B2523"/>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00" dirty="0">
                          <a:solidFill>
                            <a:srgbClr val="2B2523"/>
                          </a:solidFill>
                          <a:latin typeface="Calibri" pitchFamily="34" charset="0"/>
                          <a:ea typeface="Calibri" pitchFamily="34" charset="-122"/>
                          <a:cs typeface="Calibri" pitchFamily="34" charset="-120"/>
                        </a:rPr>
                        <a:t>140</a:t>
                      </a:r>
                      <a:endParaRPr lang="en-US" sz="10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00" dirty="0">
                          <a:solidFill>
                            <a:srgbClr val="2B2523"/>
                          </a:solidFill>
                          <a:latin typeface="Calibri" pitchFamily="34" charset="0"/>
                          <a:ea typeface="Calibri" pitchFamily="34" charset="-122"/>
                          <a:cs typeface="Calibri" pitchFamily="34" charset="-120"/>
                        </a:rPr>
                        <a:t>100.0%</a:t>
                      </a:r>
                      <a:endParaRPr lang="en-US" sz="10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r>
              <a:tr h="347472">
                <a:tc>
                  <a:txBody>
                    <a:bodyPr/>
                    <a:lstStyle/>
                    <a:p>
                      <a:pPr indent="0" marL="0">
                        <a:buNone/>
                      </a:pPr>
                      <a:r>
                        <a:rPr lang="en-US" sz="1000" dirty="0">
                          <a:solidFill>
                            <a:srgbClr val="2B2523"/>
                          </a:solidFill>
                          <a:latin typeface="Calibri" pitchFamily="34" charset="0"/>
                          <a:ea typeface="Calibri" pitchFamily="34" charset="-122"/>
                          <a:cs typeface="Calibri" pitchFamily="34" charset="-120"/>
                        </a:rPr>
                        <a:t>March</a:t>
                      </a:r>
                      <a:endParaRPr lang="en-US" sz="10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00" dirty="0">
                          <a:solidFill>
                            <a:srgbClr val="2B2523"/>
                          </a:solidFill>
                          <a:latin typeface="Calibri" pitchFamily="34" charset="0"/>
                          <a:ea typeface="Calibri" pitchFamily="34" charset="-122"/>
                          <a:cs typeface="Calibri" pitchFamily="34" charset="-120"/>
                        </a:rPr>
                        <a:t>140</a:t>
                      </a:r>
                      <a:endParaRPr lang="en-US" sz="10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00" dirty="0">
                          <a:solidFill>
                            <a:srgbClr val="2B2523"/>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00" dirty="0">
                          <a:solidFill>
                            <a:srgbClr val="2B2523"/>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00" dirty="0">
                          <a:solidFill>
                            <a:srgbClr val="2B2523"/>
                          </a:solidFill>
                          <a:latin typeface="Calibri" pitchFamily="34" charset="0"/>
                          <a:ea typeface="Calibri" pitchFamily="34" charset="-122"/>
                          <a:cs typeface="Calibri" pitchFamily="34" charset="-120"/>
                        </a:rPr>
                        <a:t>140</a:t>
                      </a:r>
                      <a:endParaRPr lang="en-US" sz="10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00" dirty="0">
                          <a:solidFill>
                            <a:srgbClr val="2B2523"/>
                          </a:solidFill>
                          <a:latin typeface="Calibri" pitchFamily="34" charset="0"/>
                          <a:ea typeface="Calibri" pitchFamily="34" charset="-122"/>
                          <a:cs typeface="Calibri" pitchFamily="34" charset="-120"/>
                        </a:rPr>
                        <a:t>100.0%</a:t>
                      </a:r>
                      <a:endParaRPr lang="en-US" sz="10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r>
              <a:tr h="347472">
                <a:tc>
                  <a:txBody>
                    <a:bodyPr/>
                    <a:lstStyle/>
                    <a:p>
                      <a:pPr indent="0" marL="0">
                        <a:buNone/>
                      </a:pPr>
                      <a:r>
                        <a:rPr lang="en-US" sz="1000" dirty="0">
                          <a:solidFill>
                            <a:srgbClr val="2B2523"/>
                          </a:solidFill>
                          <a:latin typeface="Calibri" pitchFamily="34" charset="0"/>
                          <a:ea typeface="Calibri" pitchFamily="34" charset="-122"/>
                          <a:cs typeface="Calibri" pitchFamily="34" charset="-120"/>
                        </a:rPr>
                        <a:t>April</a:t>
                      </a:r>
                      <a:endParaRPr lang="en-US" sz="10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00" dirty="0">
                          <a:solidFill>
                            <a:srgbClr val="2B2523"/>
                          </a:solidFill>
                          <a:latin typeface="Calibri" pitchFamily="34" charset="0"/>
                          <a:ea typeface="Calibri" pitchFamily="34" charset="-122"/>
                          <a:cs typeface="Calibri" pitchFamily="34" charset="-120"/>
                        </a:rPr>
                        <a:t>140</a:t>
                      </a:r>
                      <a:endParaRPr lang="en-US" sz="10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00" dirty="0">
                          <a:solidFill>
                            <a:srgbClr val="2B2523"/>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00" dirty="0">
                          <a:solidFill>
                            <a:srgbClr val="2B2523"/>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00" dirty="0">
                          <a:solidFill>
                            <a:srgbClr val="2B2523"/>
                          </a:solidFill>
                          <a:latin typeface="Calibri" pitchFamily="34" charset="0"/>
                          <a:ea typeface="Calibri" pitchFamily="34" charset="-122"/>
                          <a:cs typeface="Calibri" pitchFamily="34" charset="-120"/>
                        </a:rPr>
                        <a:t>140</a:t>
                      </a:r>
                      <a:endParaRPr lang="en-US" sz="10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00" dirty="0">
                          <a:solidFill>
                            <a:srgbClr val="2B2523"/>
                          </a:solidFill>
                          <a:latin typeface="Calibri" pitchFamily="34" charset="0"/>
                          <a:ea typeface="Calibri" pitchFamily="34" charset="-122"/>
                          <a:cs typeface="Calibri" pitchFamily="34" charset="-120"/>
                        </a:rPr>
                        <a:t>100.0%</a:t>
                      </a:r>
                      <a:endParaRPr lang="en-US" sz="10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r>
              <a:tr h="347472">
                <a:tc>
                  <a:txBody>
                    <a:bodyPr/>
                    <a:lstStyle/>
                    <a:p>
                      <a:pPr indent="0" marL="0">
                        <a:buNone/>
                      </a:pPr>
                      <a:r>
                        <a:rPr lang="en-US" sz="1000" dirty="0">
                          <a:solidFill>
                            <a:srgbClr val="2B2523"/>
                          </a:solidFill>
                          <a:latin typeface="Calibri" pitchFamily="34" charset="0"/>
                          <a:ea typeface="Calibri" pitchFamily="34" charset="-122"/>
                          <a:cs typeface="Calibri" pitchFamily="34" charset="-120"/>
                        </a:rPr>
                        <a:t>May</a:t>
                      </a:r>
                      <a:endParaRPr lang="en-US" sz="10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00" dirty="0">
                          <a:solidFill>
                            <a:srgbClr val="2B2523"/>
                          </a:solidFill>
                          <a:latin typeface="Calibri" pitchFamily="34" charset="0"/>
                          <a:ea typeface="Calibri" pitchFamily="34" charset="-122"/>
                          <a:cs typeface="Calibri" pitchFamily="34" charset="-120"/>
                        </a:rPr>
                        <a:t>140</a:t>
                      </a:r>
                      <a:endParaRPr lang="en-US" sz="10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00" dirty="0">
                          <a:solidFill>
                            <a:srgbClr val="2B2523"/>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00" dirty="0">
                          <a:solidFill>
                            <a:srgbClr val="2B2523"/>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00" dirty="0">
                          <a:solidFill>
                            <a:srgbClr val="2B2523"/>
                          </a:solidFill>
                          <a:latin typeface="Calibri" pitchFamily="34" charset="0"/>
                          <a:ea typeface="Calibri" pitchFamily="34" charset="-122"/>
                          <a:cs typeface="Calibri" pitchFamily="34" charset="-120"/>
                        </a:rPr>
                        <a:t>140</a:t>
                      </a:r>
                      <a:endParaRPr lang="en-US" sz="10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00" dirty="0">
                          <a:solidFill>
                            <a:srgbClr val="2B2523"/>
                          </a:solidFill>
                          <a:latin typeface="Calibri" pitchFamily="34" charset="0"/>
                          <a:ea typeface="Calibri" pitchFamily="34" charset="-122"/>
                          <a:cs typeface="Calibri" pitchFamily="34" charset="-120"/>
                        </a:rPr>
                        <a:t>100.0%</a:t>
                      </a:r>
                      <a:endParaRPr lang="en-US" sz="10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r>
              <a:tr h="347472">
                <a:tc>
                  <a:txBody>
                    <a:bodyPr/>
                    <a:lstStyle/>
                    <a:p>
                      <a:pPr indent="0" marL="0">
                        <a:buNone/>
                      </a:pPr>
                      <a:r>
                        <a:rPr lang="en-US" sz="1000" dirty="0">
                          <a:solidFill>
                            <a:srgbClr val="2B2523"/>
                          </a:solidFill>
                          <a:latin typeface="Calibri" pitchFamily="34" charset="0"/>
                          <a:ea typeface="Calibri" pitchFamily="34" charset="-122"/>
                          <a:cs typeface="Calibri" pitchFamily="34" charset="-120"/>
                        </a:rPr>
                        <a:t>June</a:t>
                      </a:r>
                      <a:endParaRPr lang="en-US" sz="10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00" dirty="0">
                          <a:solidFill>
                            <a:srgbClr val="2B2523"/>
                          </a:solidFill>
                          <a:latin typeface="Calibri" pitchFamily="34" charset="0"/>
                          <a:ea typeface="Calibri" pitchFamily="34" charset="-122"/>
                          <a:cs typeface="Calibri" pitchFamily="34" charset="-120"/>
                        </a:rPr>
                        <a:t>140</a:t>
                      </a:r>
                      <a:endParaRPr lang="en-US" sz="10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00" dirty="0">
                          <a:solidFill>
                            <a:srgbClr val="2B2523"/>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00" dirty="0">
                          <a:solidFill>
                            <a:srgbClr val="2B2523"/>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00" dirty="0">
                          <a:solidFill>
                            <a:srgbClr val="2B2523"/>
                          </a:solidFill>
                          <a:latin typeface="Calibri" pitchFamily="34" charset="0"/>
                          <a:ea typeface="Calibri" pitchFamily="34" charset="-122"/>
                          <a:cs typeface="Calibri" pitchFamily="34" charset="-120"/>
                        </a:rPr>
                        <a:t>140</a:t>
                      </a:r>
                      <a:endParaRPr lang="en-US" sz="10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00" dirty="0">
                          <a:solidFill>
                            <a:srgbClr val="2B2523"/>
                          </a:solidFill>
                          <a:latin typeface="Calibri" pitchFamily="34" charset="0"/>
                          <a:ea typeface="Calibri" pitchFamily="34" charset="-122"/>
                          <a:cs typeface="Calibri" pitchFamily="34" charset="-120"/>
                        </a:rPr>
                        <a:t>100.0%</a:t>
                      </a:r>
                      <a:endParaRPr lang="en-US" sz="10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r>
              <a:tr h="347472">
                <a:tc>
                  <a:txBody>
                    <a:bodyPr/>
                    <a:lstStyle/>
                    <a:p>
                      <a:pPr indent="0" marL="0">
                        <a:buNone/>
                      </a:pPr>
                      <a:r>
                        <a:rPr lang="en-US" sz="1000" dirty="0">
                          <a:solidFill>
                            <a:srgbClr val="2B2523"/>
                          </a:solidFill>
                          <a:latin typeface="Calibri" pitchFamily="34" charset="0"/>
                          <a:ea typeface="Calibri" pitchFamily="34" charset="-122"/>
                          <a:cs typeface="Calibri" pitchFamily="34" charset="-120"/>
                        </a:rPr>
                        <a:t>July</a:t>
                      </a:r>
                      <a:endParaRPr lang="en-US" sz="10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00" dirty="0">
                          <a:solidFill>
                            <a:srgbClr val="2B2523"/>
                          </a:solidFill>
                          <a:latin typeface="Calibri" pitchFamily="34" charset="0"/>
                          <a:ea typeface="Calibri" pitchFamily="34" charset="-122"/>
                          <a:cs typeface="Calibri" pitchFamily="34" charset="-120"/>
                        </a:rPr>
                        <a:t>140</a:t>
                      </a:r>
                      <a:endParaRPr lang="en-US" sz="10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00" dirty="0">
                          <a:solidFill>
                            <a:srgbClr val="2B2523"/>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00" dirty="0">
                          <a:solidFill>
                            <a:srgbClr val="2B2523"/>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00" dirty="0">
                          <a:solidFill>
                            <a:srgbClr val="2B2523"/>
                          </a:solidFill>
                          <a:latin typeface="Calibri" pitchFamily="34" charset="0"/>
                          <a:ea typeface="Calibri" pitchFamily="34" charset="-122"/>
                          <a:cs typeface="Calibri" pitchFamily="34" charset="-120"/>
                        </a:rPr>
                        <a:t>140</a:t>
                      </a:r>
                      <a:endParaRPr lang="en-US" sz="10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00" dirty="0">
                          <a:solidFill>
                            <a:srgbClr val="2B2523"/>
                          </a:solidFill>
                          <a:latin typeface="Calibri" pitchFamily="34" charset="0"/>
                          <a:ea typeface="Calibri" pitchFamily="34" charset="-122"/>
                          <a:cs typeface="Calibri" pitchFamily="34" charset="-120"/>
                        </a:rPr>
                        <a:t>100.0%</a:t>
                      </a:r>
                      <a:endParaRPr lang="en-US" sz="10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r>
              <a:tr h="347472">
                <a:tc>
                  <a:txBody>
                    <a:bodyPr/>
                    <a:lstStyle/>
                    <a:p>
                      <a:pPr indent="0" marL="0">
                        <a:buNone/>
                      </a:pPr>
                      <a:r>
                        <a:rPr lang="en-US" sz="1000" dirty="0">
                          <a:solidFill>
                            <a:srgbClr val="2B2523"/>
                          </a:solidFill>
                          <a:latin typeface="Calibri" pitchFamily="34" charset="0"/>
                          <a:ea typeface="Calibri" pitchFamily="34" charset="-122"/>
                          <a:cs typeface="Calibri" pitchFamily="34" charset="-120"/>
                        </a:rPr>
                        <a:t>August</a:t>
                      </a:r>
                      <a:endParaRPr lang="en-US" sz="10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00" dirty="0">
                          <a:solidFill>
                            <a:srgbClr val="2B2523"/>
                          </a:solidFill>
                          <a:latin typeface="Calibri" pitchFamily="34" charset="0"/>
                          <a:ea typeface="Calibri" pitchFamily="34" charset="-122"/>
                          <a:cs typeface="Calibri" pitchFamily="34" charset="-120"/>
                        </a:rPr>
                        <a:t>140</a:t>
                      </a:r>
                      <a:endParaRPr lang="en-US" sz="10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00" dirty="0">
                          <a:solidFill>
                            <a:srgbClr val="2B2523"/>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00" dirty="0">
                          <a:solidFill>
                            <a:srgbClr val="2B2523"/>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00" dirty="0">
                          <a:solidFill>
                            <a:srgbClr val="2B2523"/>
                          </a:solidFill>
                          <a:latin typeface="Calibri" pitchFamily="34" charset="0"/>
                          <a:ea typeface="Calibri" pitchFamily="34" charset="-122"/>
                          <a:cs typeface="Calibri" pitchFamily="34" charset="-120"/>
                        </a:rPr>
                        <a:t>140</a:t>
                      </a:r>
                      <a:endParaRPr lang="en-US" sz="10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00" dirty="0">
                          <a:solidFill>
                            <a:srgbClr val="2B2523"/>
                          </a:solidFill>
                          <a:latin typeface="Calibri" pitchFamily="34" charset="0"/>
                          <a:ea typeface="Calibri" pitchFamily="34" charset="-122"/>
                          <a:cs typeface="Calibri" pitchFamily="34" charset="-120"/>
                        </a:rPr>
                        <a:t>100.0%</a:t>
                      </a:r>
                      <a:endParaRPr lang="en-US" sz="10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r>
              <a:tr h="347472">
                <a:tc>
                  <a:txBody>
                    <a:bodyPr/>
                    <a:lstStyle/>
                    <a:p>
                      <a:pPr indent="0" marL="0">
                        <a:buNone/>
                      </a:pPr>
                      <a:r>
                        <a:rPr lang="en-US" sz="1000" dirty="0">
                          <a:solidFill>
                            <a:srgbClr val="2B2523"/>
                          </a:solidFill>
                          <a:latin typeface="Calibri" pitchFamily="34" charset="0"/>
                          <a:ea typeface="Calibri" pitchFamily="34" charset="-122"/>
                          <a:cs typeface="Calibri" pitchFamily="34" charset="-120"/>
                        </a:rPr>
                        <a:t>September</a:t>
                      </a:r>
                      <a:endParaRPr lang="en-US" sz="10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00" dirty="0">
                          <a:solidFill>
                            <a:srgbClr val="2B2523"/>
                          </a:solidFill>
                          <a:latin typeface="Calibri" pitchFamily="34" charset="0"/>
                          <a:ea typeface="Calibri" pitchFamily="34" charset="-122"/>
                          <a:cs typeface="Calibri" pitchFamily="34" charset="-120"/>
                        </a:rPr>
                        <a:t>140</a:t>
                      </a:r>
                      <a:endParaRPr lang="en-US" sz="10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00" dirty="0">
                          <a:solidFill>
                            <a:srgbClr val="2B2523"/>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00" dirty="0">
                          <a:solidFill>
                            <a:srgbClr val="2B2523"/>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00" dirty="0">
                          <a:solidFill>
                            <a:srgbClr val="2B2523"/>
                          </a:solidFill>
                          <a:latin typeface="Calibri" pitchFamily="34" charset="0"/>
                          <a:ea typeface="Calibri" pitchFamily="34" charset="-122"/>
                          <a:cs typeface="Calibri" pitchFamily="34" charset="-120"/>
                        </a:rPr>
                        <a:t>140</a:t>
                      </a:r>
                      <a:endParaRPr lang="en-US" sz="10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00" dirty="0">
                          <a:solidFill>
                            <a:srgbClr val="2B2523"/>
                          </a:solidFill>
                          <a:latin typeface="Calibri" pitchFamily="34" charset="0"/>
                          <a:ea typeface="Calibri" pitchFamily="34" charset="-122"/>
                          <a:cs typeface="Calibri" pitchFamily="34" charset="-120"/>
                        </a:rPr>
                        <a:t>100.0%</a:t>
                      </a:r>
                      <a:endParaRPr lang="en-US" sz="10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r>
              <a:tr h="347472">
                <a:tc>
                  <a:txBody>
                    <a:bodyPr/>
                    <a:lstStyle/>
                    <a:p>
                      <a:pPr indent="0" marL="0">
                        <a:buNone/>
                      </a:pPr>
                      <a:r>
                        <a:rPr lang="en-US" sz="1000" dirty="0">
                          <a:solidFill>
                            <a:srgbClr val="2B2523"/>
                          </a:solidFill>
                          <a:latin typeface="Calibri" pitchFamily="34" charset="0"/>
                          <a:ea typeface="Calibri" pitchFamily="34" charset="-122"/>
                          <a:cs typeface="Calibri" pitchFamily="34" charset="-120"/>
                        </a:rPr>
                        <a:t>October</a:t>
                      </a:r>
                      <a:endParaRPr lang="en-US" sz="10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00" dirty="0">
                          <a:solidFill>
                            <a:srgbClr val="2B2523"/>
                          </a:solidFill>
                          <a:latin typeface="Calibri" pitchFamily="34" charset="0"/>
                          <a:ea typeface="Calibri" pitchFamily="34" charset="-122"/>
                          <a:cs typeface="Calibri" pitchFamily="34" charset="-120"/>
                        </a:rPr>
                        <a:t>140</a:t>
                      </a:r>
                      <a:endParaRPr lang="en-US" sz="10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00" dirty="0">
                          <a:solidFill>
                            <a:srgbClr val="2B2523"/>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00" dirty="0">
                          <a:solidFill>
                            <a:srgbClr val="2B2523"/>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00" dirty="0">
                          <a:solidFill>
                            <a:srgbClr val="2B2523"/>
                          </a:solidFill>
                          <a:latin typeface="Calibri" pitchFamily="34" charset="0"/>
                          <a:ea typeface="Calibri" pitchFamily="34" charset="-122"/>
                          <a:cs typeface="Calibri" pitchFamily="34" charset="-120"/>
                        </a:rPr>
                        <a:t>140</a:t>
                      </a:r>
                      <a:endParaRPr lang="en-US" sz="10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00" dirty="0">
                          <a:solidFill>
                            <a:srgbClr val="2B2523"/>
                          </a:solidFill>
                          <a:latin typeface="Calibri" pitchFamily="34" charset="0"/>
                          <a:ea typeface="Calibri" pitchFamily="34" charset="-122"/>
                          <a:cs typeface="Calibri" pitchFamily="34" charset="-120"/>
                        </a:rPr>
                        <a:t>100.0%</a:t>
                      </a:r>
                      <a:endParaRPr lang="en-US" sz="10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r>
              <a:tr h="347472">
                <a:tc>
                  <a:txBody>
                    <a:bodyPr/>
                    <a:lstStyle/>
                    <a:p>
                      <a:pPr indent="0" marL="0">
                        <a:buNone/>
                      </a:pPr>
                      <a:r>
                        <a:rPr lang="en-US" sz="1000" dirty="0">
                          <a:solidFill>
                            <a:srgbClr val="2B2523"/>
                          </a:solidFill>
                          <a:latin typeface="Calibri" pitchFamily="34" charset="0"/>
                          <a:ea typeface="Calibri" pitchFamily="34" charset="-122"/>
                          <a:cs typeface="Calibri" pitchFamily="34" charset="-120"/>
                        </a:rPr>
                        <a:t>November</a:t>
                      </a:r>
                      <a:endParaRPr lang="en-US" sz="10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00" dirty="0">
                          <a:solidFill>
                            <a:srgbClr val="2B2523"/>
                          </a:solidFill>
                          <a:latin typeface="Calibri" pitchFamily="34" charset="0"/>
                          <a:ea typeface="Calibri" pitchFamily="34" charset="-122"/>
                          <a:cs typeface="Calibri" pitchFamily="34" charset="-120"/>
                        </a:rPr>
                        <a:t>140</a:t>
                      </a:r>
                      <a:endParaRPr lang="en-US" sz="10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00" dirty="0">
                          <a:solidFill>
                            <a:srgbClr val="2B2523"/>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00" dirty="0">
                          <a:solidFill>
                            <a:srgbClr val="2B2523"/>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00" dirty="0">
                          <a:solidFill>
                            <a:srgbClr val="2B2523"/>
                          </a:solidFill>
                          <a:latin typeface="Calibri" pitchFamily="34" charset="0"/>
                          <a:ea typeface="Calibri" pitchFamily="34" charset="-122"/>
                          <a:cs typeface="Calibri" pitchFamily="34" charset="-120"/>
                        </a:rPr>
                        <a:t>140</a:t>
                      </a:r>
                      <a:endParaRPr lang="en-US" sz="10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00" dirty="0">
                          <a:solidFill>
                            <a:srgbClr val="2B2523"/>
                          </a:solidFill>
                          <a:latin typeface="Calibri" pitchFamily="34" charset="0"/>
                          <a:ea typeface="Calibri" pitchFamily="34" charset="-122"/>
                          <a:cs typeface="Calibri" pitchFamily="34" charset="-120"/>
                        </a:rPr>
                        <a:t>100.0%</a:t>
                      </a:r>
                      <a:endParaRPr lang="en-US" sz="10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r>
              <a:tr h="347472">
                <a:tc>
                  <a:txBody>
                    <a:bodyPr/>
                    <a:lstStyle/>
                    <a:p>
                      <a:pPr indent="0" marL="0">
                        <a:buNone/>
                      </a:pPr>
                      <a:r>
                        <a:rPr lang="en-US" sz="1000" dirty="0">
                          <a:solidFill>
                            <a:srgbClr val="2B2523"/>
                          </a:solidFill>
                          <a:latin typeface="Calibri" pitchFamily="34" charset="0"/>
                          <a:ea typeface="Calibri" pitchFamily="34" charset="-122"/>
                          <a:cs typeface="Calibri" pitchFamily="34" charset="-120"/>
                        </a:rPr>
                        <a:t>December</a:t>
                      </a:r>
                      <a:endParaRPr lang="en-US" sz="10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00" dirty="0">
                          <a:solidFill>
                            <a:srgbClr val="2B2523"/>
                          </a:solidFill>
                          <a:latin typeface="Calibri" pitchFamily="34" charset="0"/>
                          <a:ea typeface="Calibri" pitchFamily="34" charset="-122"/>
                          <a:cs typeface="Calibri" pitchFamily="34" charset="-120"/>
                        </a:rPr>
                        <a:t>140</a:t>
                      </a:r>
                      <a:endParaRPr lang="en-US" sz="10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00" dirty="0">
                          <a:solidFill>
                            <a:srgbClr val="2B2523"/>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00" dirty="0">
                          <a:solidFill>
                            <a:srgbClr val="2B2523"/>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00" dirty="0">
                          <a:solidFill>
                            <a:srgbClr val="2B2523"/>
                          </a:solidFill>
                          <a:latin typeface="Calibri" pitchFamily="34" charset="0"/>
                          <a:ea typeface="Calibri" pitchFamily="34" charset="-122"/>
                          <a:cs typeface="Calibri" pitchFamily="34" charset="-120"/>
                        </a:rPr>
                        <a:t>140</a:t>
                      </a:r>
                      <a:endParaRPr lang="en-US" sz="10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00" dirty="0">
                          <a:solidFill>
                            <a:srgbClr val="2B2523"/>
                          </a:solidFill>
                          <a:latin typeface="Calibri" pitchFamily="34" charset="0"/>
                          <a:ea typeface="Calibri" pitchFamily="34" charset="-122"/>
                          <a:cs typeface="Calibri" pitchFamily="34" charset="-120"/>
                        </a:rPr>
                        <a:t>100.0%</a:t>
                      </a:r>
                      <a:endParaRPr lang="en-US" sz="10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r>
            </a:tbl>
          </a:graphicData>
        </a:graphic>
      </p:graphicFrame>
      <p:sp>
        <p:nvSpPr>
          <p:cNvPr id="6" name="Shape 3"/>
          <p:cNvSpPr/>
          <p:nvPr/>
        </p:nvSpPr>
        <p:spPr>
          <a:xfrm>
            <a:off x="6492240" y="1371600"/>
            <a:ext cx="5102352" cy="4572000"/>
          </a:xfrm>
          <a:prstGeom prst="roundRect">
            <a:avLst>
              <a:gd name="adj" fmla="val 1200"/>
            </a:avLst>
          </a:prstGeom>
          <a:solidFill>
            <a:srgbClr val="2B2523"/>
          </a:solidFill>
          <a:ln/>
          <a:effectLst>
            <a:outerShdw sx="100000" sy="100000" kx="0" ky="0" algn="bl" rotWithShape="0" blurRad="76200" dist="381" dir="5400000">
              <a:srgbClr val="000000">
                <a:alpha val="8000"/>
              </a:srgbClr>
            </a:outerShdw>
          </a:effectLst>
        </p:spPr>
      </p:sp>
      <p:sp>
        <p:nvSpPr>
          <p:cNvPr id="7" name="Text 4"/>
          <p:cNvSpPr/>
          <p:nvPr/>
        </p:nvSpPr>
        <p:spPr>
          <a:xfrm>
            <a:off x="6729984" y="1517904"/>
            <a:ext cx="4754880" cy="274320"/>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How the audit works</a:t>
            </a:r>
            <a:endParaRPr lang="en-US" sz="1350" dirty="0"/>
          </a:p>
        </p:txBody>
      </p:sp>
      <p:sp>
        <p:nvSpPr>
          <p:cNvPr id="8" name="Text 5"/>
          <p:cNvSpPr/>
          <p:nvPr/>
        </p:nvSpPr>
        <p:spPr>
          <a:xfrm>
            <a:off x="6729984" y="1847088"/>
            <a:ext cx="4754880" cy="1051560"/>
          </a:xfrm>
          <a:prstGeom prst="rect">
            <a:avLst/>
          </a:prstGeom>
          <a:noFill/>
          <a:ln/>
        </p:spPr>
        <p:txBody>
          <a:bodyPr wrap="square" lIns="0" tIns="0" rIns="0" bIns="0" rtlCol="0" anchor="ctr"/>
          <a:lstStyle/>
          <a:p>
            <a:pPr indent="0" marL="0">
              <a:lnSpc>
                <a:spcPts val="1450"/>
              </a:lnSpc>
              <a:buNone/>
            </a:pPr>
            <a:r>
              <a:rPr lang="en-US" sz="1100" dirty="0">
                <a:solidFill>
                  <a:srgbClr val="E7E8D1"/>
                </a:solidFill>
                <a:latin typeface="Calibri" pitchFamily="34" charset="0"/>
                <a:ea typeface="Calibri" pitchFamily="34" charset="-122"/>
                <a:cs typeface="Calibri" pitchFamily="34" charset="-120"/>
              </a:rPr>
              <a:t>WFP's price export carries a Data Type field. Aggregated means a real enumerator visit produced that month's price. Forecast means no visit had happened yet, and the number is generated by one of WFP's own time-series models instead, named in a Forecast Methodology column (SHW, GSI, or an ARIMA variant).</a:t>
            </a:r>
            <a:endParaRPr lang="en-US" sz="1100" dirty="0"/>
          </a:p>
        </p:txBody>
      </p:sp>
      <p:sp>
        <p:nvSpPr>
          <p:cNvPr id="9" name="Text 6"/>
          <p:cNvSpPr/>
          <p:nvPr/>
        </p:nvSpPr>
        <p:spPr>
          <a:xfrm>
            <a:off x="6729984" y="2999232"/>
            <a:ext cx="4754880" cy="914400"/>
          </a:xfrm>
          <a:prstGeom prst="rect">
            <a:avLst/>
          </a:prstGeom>
          <a:noFill/>
          <a:ln/>
        </p:spPr>
        <p:txBody>
          <a:bodyPr wrap="square" lIns="0" tIns="0" rIns="0" bIns="0" rtlCol="0" anchor="ctr"/>
          <a:lstStyle/>
          <a:p>
            <a:pPr indent="0" marL="0">
              <a:lnSpc>
                <a:spcPts val="1450"/>
              </a:lnSpc>
              <a:buNone/>
            </a:pPr>
            <a:r>
              <a:rPr lang="en-US" sz="1100" dirty="0">
                <a:solidFill>
                  <a:srgbClr val="E7E8D1"/>
                </a:solidFill>
                <a:latin typeface="Calibri" pitchFamily="34" charset="0"/>
                <a:ea typeface="Calibri" pitchFamily="34" charset="-122"/>
                <a:cs typeface="Calibri" pitchFamily="34" charset="-120"/>
              </a:rPr>
              <a:t>Method: build the same universe fact_market_somalia builds internally before pivoting, a grid of every (district, commodity, month) combination that could possibly exist: the 35 districts WFP monitors for these 4 commodities, times the 4 commodities, times the 12 months of 2024.</a:t>
            </a:r>
            <a:endParaRPr lang="en-US" sz="1100" dirty="0"/>
          </a:p>
        </p:txBody>
      </p:sp>
      <p:sp>
        <p:nvSpPr>
          <p:cNvPr id="10" name="Text 7"/>
          <p:cNvSpPr/>
          <p:nvPr/>
        </p:nvSpPr>
        <p:spPr>
          <a:xfrm>
            <a:off x="6729984" y="4023360"/>
            <a:ext cx="4754880" cy="777240"/>
          </a:xfrm>
          <a:prstGeom prst="rect">
            <a:avLst/>
          </a:prstGeom>
          <a:noFill/>
          <a:ln/>
        </p:spPr>
        <p:txBody>
          <a:bodyPr wrap="square" lIns="0" tIns="0" rIns="0" bIns="0" rtlCol="0" anchor="ctr"/>
          <a:lstStyle/>
          <a:p>
            <a:pPr indent="0" marL="0">
              <a:lnSpc>
                <a:spcPts val="1450"/>
              </a:lnSpc>
              <a:buNone/>
            </a:pPr>
            <a:r>
              <a:rPr lang="en-US" sz="1100" dirty="0">
                <a:solidFill>
                  <a:srgbClr val="E7E8D1"/>
                </a:solidFill>
                <a:latin typeface="Calibri" pitchFamily="34" charset="0"/>
                <a:ea typeface="Calibri" pitchFamily="34" charset="-122"/>
                <a:cs typeface="Calibri" pitchFamily="34" charset="-120"/>
              </a:rPr>
              <a:t>Every one of the 1,680 cells in that grid is checked against the Data Type field directly, and classified Observed, Forecast, or Missing (no record of any kind for that cell).</a:t>
            </a:r>
            <a:endParaRPr lang="en-US" sz="1100" dirty="0"/>
          </a:p>
        </p:txBody>
      </p:sp>
      <p:sp>
        <p:nvSpPr>
          <p:cNvPr id="11" name="Text 8"/>
          <p:cNvSpPr/>
          <p:nvPr/>
        </p:nvSpPr>
        <p:spPr>
          <a:xfrm>
            <a:off x="6729984" y="4937760"/>
            <a:ext cx="4754880" cy="868680"/>
          </a:xfrm>
          <a:prstGeom prst="rect">
            <a:avLst/>
          </a:prstGeom>
          <a:noFill/>
          <a:ln/>
        </p:spPr>
        <p:txBody>
          <a:bodyPr wrap="square" lIns="0" tIns="0" rIns="0" bIns="0" rtlCol="0" anchor="ctr"/>
          <a:lstStyle/>
          <a:p>
            <a:pPr indent="0" marL="0">
              <a:lnSpc>
                <a:spcPts val="1350"/>
              </a:lnSpc>
              <a:buNone/>
            </a:pPr>
            <a:r>
              <a:rPr lang="en-US" sz="1050" i="1" dirty="0">
                <a:solidFill>
                  <a:srgbClr val="A7BEAE"/>
                </a:solidFill>
                <a:latin typeface="Calibri" pitchFamily="34" charset="0"/>
                <a:ea typeface="Calibri" pitchFamily="34" charset="-122"/>
                <a:cs typeface="Calibri" pitchFamily="34" charset="-120"/>
              </a:rPr>
              <a:t>Why this matters now: this specific 4-commodity, Somalia-only, 2024-only slice was never actually checked against Data Type before, only assumed to inherit the wider export's properties.</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27664" cy="502920"/>
          </a:xfrm>
          <a:prstGeom prst="rect">
            <a:avLst/>
          </a:prstGeom>
          <a:noFill/>
          <a:ln/>
        </p:spPr>
        <p:txBody>
          <a:bodyPr wrap="square" lIns="0" tIns="0" rIns="0" bIns="0" rtlCol="0" anchor="ctr"/>
          <a:lstStyle/>
          <a:p>
            <a:pPr indent="0" marL="0">
              <a:buNone/>
            </a:pPr>
            <a:r>
              <a:rPr lang="en-US" sz="2500" b="1" dirty="0">
                <a:solidFill>
                  <a:srgbClr val="2B2523"/>
                </a:solidFill>
                <a:latin typeface="Cambria" pitchFamily="34" charset="0"/>
                <a:ea typeface="Cambria" pitchFamily="34" charset="-122"/>
                <a:cs typeface="Cambria" pitchFamily="34" charset="-120"/>
              </a:rPr>
              <a:t>Task 11: the result, and one caveat that keeps it exact</a:t>
            </a:r>
            <a:endParaRPr lang="en-US" sz="2500" dirty="0"/>
          </a:p>
        </p:txBody>
      </p:sp>
      <p:sp>
        <p:nvSpPr>
          <p:cNvPr id="3" name="Text 1"/>
          <p:cNvSpPr/>
          <p:nvPr/>
        </p:nvSpPr>
        <p:spPr>
          <a:xfrm>
            <a:off x="566928" y="969264"/>
            <a:ext cx="11027664" cy="310896"/>
          </a:xfrm>
          <a:prstGeom prst="rect">
            <a:avLst/>
          </a:prstGeom>
          <a:noFill/>
          <a:ln/>
        </p:spPr>
        <p:txBody>
          <a:bodyPr wrap="square" lIns="0" tIns="0" rIns="0" bIns="0" rtlCol="0" anchor="ctr"/>
          <a:lstStyle/>
          <a:p>
            <a:pPr indent="0" marL="0">
              <a:buNone/>
            </a:pPr>
            <a:r>
              <a:rPr lang="en-US" sz="1250" i="1" dirty="0">
                <a:solidFill>
                  <a:srgbClr val="7A6E68"/>
                </a:solidFill>
                <a:latin typeface="Calibri" pitchFamily="34" charset="0"/>
                <a:ea typeface="Calibri" pitchFamily="34" charset="-122"/>
                <a:cs typeface="Calibri" pitchFamily="34" charset="-120"/>
              </a:rPr>
              <a:t>Somalia 2024's own market data was never touched by the forecast problem</a:t>
            </a:r>
            <a:endParaRPr lang="en-US" sz="1250" dirty="0"/>
          </a:p>
        </p:txBody>
      </p:sp>
      <p:sp>
        <p:nvSpPr>
          <p:cNvPr id="4" name="Shape 2"/>
          <p:cNvSpPr/>
          <p:nvPr/>
        </p:nvSpPr>
        <p:spPr>
          <a:xfrm>
            <a:off x="566928" y="1371600"/>
            <a:ext cx="3566160" cy="1737360"/>
          </a:xfrm>
          <a:prstGeom prst="roundRect">
            <a:avLst>
              <a:gd name="adj" fmla="val 3158"/>
            </a:avLst>
          </a:prstGeom>
          <a:solidFill>
            <a:srgbClr val="F7F5F1"/>
          </a:solidFill>
          <a:ln/>
          <a:effectLst>
            <a:outerShdw sx="100000" sy="100000" kx="0" ky="0" algn="bl" rotWithShape="0" blurRad="76200" dist="381" dir="5400000">
              <a:srgbClr val="000000">
                <a:alpha val="8000"/>
              </a:srgbClr>
            </a:outerShdw>
          </a:effectLst>
        </p:spPr>
      </p:sp>
      <p:sp>
        <p:nvSpPr>
          <p:cNvPr id="5" name="Text 3"/>
          <p:cNvSpPr/>
          <p:nvPr/>
        </p:nvSpPr>
        <p:spPr>
          <a:xfrm>
            <a:off x="768096" y="1481328"/>
            <a:ext cx="3163824" cy="868680"/>
          </a:xfrm>
          <a:prstGeom prst="rect">
            <a:avLst/>
          </a:prstGeom>
          <a:noFill/>
          <a:ln/>
        </p:spPr>
        <p:txBody>
          <a:bodyPr wrap="square" lIns="0" tIns="0" rIns="0" bIns="0" rtlCol="0" anchor="ctr"/>
          <a:lstStyle/>
          <a:p>
            <a:pPr indent="0" marL="0">
              <a:buNone/>
            </a:pPr>
            <a:r>
              <a:rPr lang="en-US" sz="2800" b="1" dirty="0">
                <a:solidFill>
                  <a:srgbClr val="B85042"/>
                </a:solidFill>
                <a:latin typeface="Cambria" pitchFamily="34" charset="0"/>
                <a:ea typeface="Cambria" pitchFamily="34" charset="-122"/>
                <a:cs typeface="Cambria" pitchFamily="34" charset="-120"/>
              </a:rPr>
              <a:t>99.8%</a:t>
            </a:r>
            <a:endParaRPr lang="en-US" sz="2800" dirty="0"/>
          </a:p>
        </p:txBody>
      </p:sp>
      <p:sp>
        <p:nvSpPr>
          <p:cNvPr id="6" name="Text 4"/>
          <p:cNvSpPr/>
          <p:nvPr/>
        </p:nvSpPr>
        <p:spPr>
          <a:xfrm>
            <a:off x="768096" y="2309774"/>
            <a:ext cx="3163824" cy="729691"/>
          </a:xfrm>
          <a:prstGeom prst="rect">
            <a:avLst/>
          </a:prstGeom>
          <a:noFill/>
          <a:ln/>
        </p:spPr>
        <p:txBody>
          <a:bodyPr wrap="square" lIns="0" tIns="0" rIns="0" bIns="0" rtlCol="0" anchor="ctr"/>
          <a:lstStyle/>
          <a:p>
            <a:pPr indent="0" marL="0">
              <a:lnSpc>
                <a:spcPts val="1300"/>
              </a:lnSpc>
              <a:buNone/>
            </a:pPr>
            <a:r>
              <a:rPr lang="en-US" sz="1050" dirty="0">
                <a:solidFill>
                  <a:srgbClr val="7A6E68"/>
                </a:solidFill>
                <a:latin typeface="Calibri" pitchFamily="34" charset="0"/>
                <a:ea typeface="Calibri" pitchFamily="34" charset="-122"/>
                <a:cs typeface="Calibri" pitchFamily="34" charset="-120"/>
              </a:rPr>
              <a:t>of the 1,680 possible cells are genuinely observed (1,676 of 1,680)</a:t>
            </a:r>
            <a:endParaRPr lang="en-US" sz="1050" dirty="0"/>
          </a:p>
        </p:txBody>
      </p:sp>
      <p:sp>
        <p:nvSpPr>
          <p:cNvPr id="7" name="Shape 5"/>
          <p:cNvSpPr/>
          <p:nvPr/>
        </p:nvSpPr>
        <p:spPr>
          <a:xfrm>
            <a:off x="4279392" y="1371600"/>
            <a:ext cx="3566160" cy="1737360"/>
          </a:xfrm>
          <a:prstGeom prst="roundRect">
            <a:avLst>
              <a:gd name="adj" fmla="val 3158"/>
            </a:avLst>
          </a:prstGeom>
          <a:solidFill>
            <a:srgbClr val="F7F5F1"/>
          </a:solidFill>
          <a:ln/>
          <a:effectLst>
            <a:outerShdw sx="100000" sy="100000" kx="0" ky="0" algn="bl" rotWithShape="0" blurRad="76200" dist="381" dir="5400000">
              <a:srgbClr val="000000">
                <a:alpha val="8000"/>
              </a:srgbClr>
            </a:outerShdw>
          </a:effectLst>
        </p:spPr>
      </p:sp>
      <p:sp>
        <p:nvSpPr>
          <p:cNvPr id="8" name="Text 6"/>
          <p:cNvSpPr/>
          <p:nvPr/>
        </p:nvSpPr>
        <p:spPr>
          <a:xfrm>
            <a:off x="4480560" y="1481328"/>
            <a:ext cx="3163824" cy="868680"/>
          </a:xfrm>
          <a:prstGeom prst="rect">
            <a:avLst/>
          </a:prstGeom>
          <a:noFill/>
          <a:ln/>
        </p:spPr>
        <p:txBody>
          <a:bodyPr wrap="square" lIns="0" tIns="0" rIns="0" bIns="0" rtlCol="0" anchor="ctr"/>
          <a:lstStyle/>
          <a:p>
            <a:pPr indent="0" marL="0">
              <a:buNone/>
            </a:pPr>
            <a:r>
              <a:rPr lang="en-US" sz="2800" b="1" dirty="0">
                <a:solidFill>
                  <a:srgbClr val="2B2523"/>
                </a:solidFill>
                <a:latin typeface="Cambria" pitchFamily="34" charset="0"/>
                <a:ea typeface="Cambria" pitchFamily="34" charset="-122"/>
                <a:cs typeface="Cambria" pitchFamily="34" charset="-120"/>
              </a:rPr>
              <a:t>0</a:t>
            </a:r>
            <a:endParaRPr lang="en-US" sz="2800" dirty="0"/>
          </a:p>
        </p:txBody>
      </p:sp>
      <p:sp>
        <p:nvSpPr>
          <p:cNvPr id="9" name="Text 7"/>
          <p:cNvSpPr/>
          <p:nvPr/>
        </p:nvSpPr>
        <p:spPr>
          <a:xfrm>
            <a:off x="4480560" y="2309774"/>
            <a:ext cx="3163824" cy="729691"/>
          </a:xfrm>
          <a:prstGeom prst="rect">
            <a:avLst/>
          </a:prstGeom>
          <a:noFill/>
          <a:ln/>
        </p:spPr>
        <p:txBody>
          <a:bodyPr wrap="square" lIns="0" tIns="0" rIns="0" bIns="0" rtlCol="0" anchor="ctr"/>
          <a:lstStyle/>
          <a:p>
            <a:pPr indent="0" marL="0">
              <a:lnSpc>
                <a:spcPts val="1300"/>
              </a:lnSpc>
              <a:buNone/>
            </a:pPr>
            <a:r>
              <a:rPr lang="en-US" sz="1050" dirty="0">
                <a:solidFill>
                  <a:srgbClr val="7A6E68"/>
                </a:solidFill>
                <a:latin typeface="Calibri" pitchFamily="34" charset="0"/>
                <a:ea typeface="Calibri" pitchFamily="34" charset="-122"/>
                <a:cs typeface="Calibri" pitchFamily="34" charset="-120"/>
              </a:rPr>
              <a:t>cells are forecast, for any of the 4 basket commodities, in any month of 2024</a:t>
            </a:r>
            <a:endParaRPr lang="en-US" sz="1050" dirty="0"/>
          </a:p>
        </p:txBody>
      </p:sp>
      <p:sp>
        <p:nvSpPr>
          <p:cNvPr id="10" name="Shape 8"/>
          <p:cNvSpPr/>
          <p:nvPr/>
        </p:nvSpPr>
        <p:spPr>
          <a:xfrm>
            <a:off x="7991856" y="1371600"/>
            <a:ext cx="3566160" cy="1737360"/>
          </a:xfrm>
          <a:prstGeom prst="roundRect">
            <a:avLst>
              <a:gd name="adj" fmla="val 3158"/>
            </a:avLst>
          </a:prstGeom>
          <a:solidFill>
            <a:srgbClr val="F7F5F1"/>
          </a:solidFill>
          <a:ln/>
          <a:effectLst>
            <a:outerShdw sx="100000" sy="100000" kx="0" ky="0" algn="bl" rotWithShape="0" blurRad="76200" dist="381" dir="5400000">
              <a:srgbClr val="000000">
                <a:alpha val="8000"/>
              </a:srgbClr>
            </a:outerShdw>
          </a:effectLst>
        </p:spPr>
      </p:sp>
      <p:sp>
        <p:nvSpPr>
          <p:cNvPr id="11" name="Text 9"/>
          <p:cNvSpPr/>
          <p:nvPr/>
        </p:nvSpPr>
        <p:spPr>
          <a:xfrm>
            <a:off x="8193024" y="1481328"/>
            <a:ext cx="3163824" cy="868680"/>
          </a:xfrm>
          <a:prstGeom prst="rect">
            <a:avLst/>
          </a:prstGeom>
          <a:noFill/>
          <a:ln/>
        </p:spPr>
        <p:txBody>
          <a:bodyPr wrap="square" lIns="0" tIns="0" rIns="0" bIns="0" rtlCol="0" anchor="ctr"/>
          <a:lstStyle/>
          <a:p>
            <a:pPr indent="0" marL="0">
              <a:buNone/>
            </a:pPr>
            <a:r>
              <a:rPr lang="en-US" sz="2800" b="1" dirty="0">
                <a:solidFill>
                  <a:srgbClr val="A7BEAE"/>
                </a:solidFill>
                <a:latin typeface="Cambria" pitchFamily="34" charset="0"/>
                <a:ea typeface="Cambria" pitchFamily="34" charset="-122"/>
                <a:cs typeface="Cambria" pitchFamily="34" charset="-120"/>
              </a:rPr>
              <a:t>4</a:t>
            </a:r>
            <a:endParaRPr lang="en-US" sz="2800" dirty="0"/>
          </a:p>
        </p:txBody>
      </p:sp>
      <p:sp>
        <p:nvSpPr>
          <p:cNvPr id="12" name="Text 10"/>
          <p:cNvSpPr/>
          <p:nvPr/>
        </p:nvSpPr>
        <p:spPr>
          <a:xfrm>
            <a:off x="8193024" y="2309774"/>
            <a:ext cx="3163824" cy="729691"/>
          </a:xfrm>
          <a:prstGeom prst="rect">
            <a:avLst/>
          </a:prstGeom>
          <a:noFill/>
          <a:ln/>
        </p:spPr>
        <p:txBody>
          <a:bodyPr wrap="square" lIns="0" tIns="0" rIns="0" bIns="0" rtlCol="0" anchor="ctr"/>
          <a:lstStyle/>
          <a:p>
            <a:pPr indent="0" marL="0">
              <a:lnSpc>
                <a:spcPts val="1300"/>
              </a:lnSpc>
              <a:buNone/>
            </a:pPr>
            <a:r>
              <a:rPr lang="en-US" sz="1050" dirty="0">
                <a:solidFill>
                  <a:srgbClr val="7A6E68"/>
                </a:solidFill>
                <a:latin typeface="Calibri" pitchFamily="34" charset="0"/>
                <a:ea typeface="Calibri" pitchFamily="34" charset="-122"/>
                <a:cs typeface="Calibri" pitchFamily="34" charset="-120"/>
              </a:rPr>
              <a:t>missing cells, all Banadir in January, a documented collection gap, not a forecast issue</a:t>
            </a:r>
            <a:endParaRPr lang="en-US" sz="1050" dirty="0"/>
          </a:p>
        </p:txBody>
      </p:sp>
      <p:sp>
        <p:nvSpPr>
          <p:cNvPr id="13" name="Shape 11"/>
          <p:cNvSpPr/>
          <p:nvPr/>
        </p:nvSpPr>
        <p:spPr>
          <a:xfrm>
            <a:off x="566928" y="3291840"/>
            <a:ext cx="11027664" cy="1051560"/>
          </a:xfrm>
          <a:prstGeom prst="roundRect">
            <a:avLst>
              <a:gd name="adj" fmla="val 5217"/>
            </a:avLst>
          </a:prstGeom>
          <a:solidFill>
            <a:srgbClr val="E7E8D1"/>
          </a:solidFill>
          <a:ln/>
          <a:effectLst>
            <a:outerShdw sx="100000" sy="100000" kx="0" ky="0" algn="bl" rotWithShape="0" blurRad="76200" dist="381" dir="5400000">
              <a:srgbClr val="000000">
                <a:alpha val="8000"/>
              </a:srgbClr>
            </a:outerShdw>
          </a:effectLst>
        </p:spPr>
      </p:sp>
      <p:sp>
        <p:nvSpPr>
          <p:cNvPr id="14" name="Text 12"/>
          <p:cNvSpPr/>
          <p:nvPr/>
        </p:nvSpPr>
        <p:spPr>
          <a:xfrm>
            <a:off x="804672" y="3438144"/>
            <a:ext cx="10552176" cy="777240"/>
          </a:xfrm>
          <a:prstGeom prst="rect">
            <a:avLst/>
          </a:prstGeom>
          <a:noFill/>
          <a:ln/>
        </p:spPr>
        <p:txBody>
          <a:bodyPr wrap="square" lIns="0" tIns="0" rIns="0" bIns="0" rtlCol="0" anchor="ctr"/>
          <a:lstStyle/>
          <a:p>
            <a:pPr indent="0" marL="0">
              <a:lnSpc>
                <a:spcPts val="1900"/>
              </a:lnSpc>
              <a:buNone/>
            </a:pPr>
            <a:r>
              <a:rPr lang="en-US" sz="1500" b="1" i="1" dirty="0">
                <a:solidFill>
                  <a:srgbClr val="B85042"/>
                </a:solidFill>
                <a:latin typeface="Cambria" pitchFamily="34" charset="0"/>
                <a:ea typeface="Cambria" pitchFamily="34" charset="-122"/>
                <a:cs typeface="Cambria" pitchFamily="34" charset="-120"/>
              </a:rPr>
              <a:t>So: every basket-commodity price this dissertation's panel actually uses for Somalia 2024 is observed, never forecast.</a:t>
            </a:r>
            <a:endParaRPr lang="en-US" sz="1500" dirty="0"/>
          </a:p>
        </p:txBody>
      </p:sp>
      <p:sp>
        <p:nvSpPr>
          <p:cNvPr id="15" name="Shape 13"/>
          <p:cNvSpPr/>
          <p:nvPr/>
        </p:nvSpPr>
        <p:spPr>
          <a:xfrm>
            <a:off x="566928" y="4526280"/>
            <a:ext cx="11027664" cy="1371600"/>
          </a:xfrm>
          <a:prstGeom prst="roundRect">
            <a:avLst>
              <a:gd name="adj" fmla="val 4000"/>
            </a:avLst>
          </a:prstGeom>
          <a:solidFill>
            <a:srgbClr val="2B2523"/>
          </a:solidFill>
          <a:ln/>
          <a:effectLst>
            <a:outerShdw sx="100000" sy="100000" kx="0" ky="0" algn="bl" rotWithShape="0" blurRad="76200" dist="381" dir="5400000">
              <a:srgbClr val="000000">
                <a:alpha val="8000"/>
              </a:srgbClr>
            </a:outerShdw>
          </a:effectLst>
        </p:spPr>
      </p:sp>
      <p:sp>
        <p:nvSpPr>
          <p:cNvPr id="16" name="Text 14"/>
          <p:cNvSpPr/>
          <p:nvPr/>
        </p:nvSpPr>
        <p:spPr>
          <a:xfrm>
            <a:off x="804672" y="4663440"/>
            <a:ext cx="8229600" cy="274320"/>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A precise caveat, so this claim stays exact</a:t>
            </a:r>
            <a:endParaRPr lang="en-US" sz="1350" dirty="0"/>
          </a:p>
        </p:txBody>
      </p:sp>
      <p:sp>
        <p:nvSpPr>
          <p:cNvPr id="17" name="Text 15"/>
          <p:cNvSpPr/>
          <p:nvPr/>
        </p:nvSpPr>
        <p:spPr>
          <a:xfrm>
            <a:off x="804672" y="4956048"/>
            <a:ext cx="10552176" cy="868680"/>
          </a:xfrm>
          <a:prstGeom prst="rect">
            <a:avLst/>
          </a:prstGeom>
          <a:noFill/>
          <a:ln/>
        </p:spPr>
        <p:txBody>
          <a:bodyPr wrap="square" lIns="0" tIns="0" rIns="0" bIns="0" rtlCol="0" anchor="ctr"/>
          <a:lstStyle/>
          <a:p>
            <a:pPr indent="0" marL="0">
              <a:lnSpc>
                <a:spcPts val="1380"/>
              </a:lnSpc>
              <a:buNone/>
            </a:pPr>
            <a:r>
              <a:rPr lang="en-US" sz="1070" dirty="0">
                <a:solidFill>
                  <a:srgbClr val="E7E8D1"/>
                </a:solidFill>
                <a:latin typeface="Calibri" pitchFamily="34" charset="0"/>
                <a:ea typeface="Calibri" pitchFamily="34" charset="-122"/>
                <a:cs typeface="Calibri" pitchFamily="34" charset="-120"/>
              </a:rPr>
              <a:t>Forecast rows do exist for Somalia within 2024 itself: exactly 4, all for sorghum (red and white) in Afmadow, dated November and December 2024. Sorghum is not one of the four basket commodities this pipeline uses, so these rows never enter the panel regardless of any filter. They do not appear anywhere in Table 11.1, because that table's universe is scoped to the 4 basket commodities only, not because they were hidden or excluded after the fact.</a:t>
            </a:r>
            <a:endParaRPr lang="en-US" sz="1070" dirty="0"/>
          </a:p>
        </p:txBody>
      </p:sp>
      <p:sp>
        <p:nvSpPr>
          <p:cNvPr id="18" name="Text 16"/>
          <p:cNvSpPr/>
          <p:nvPr/>
        </p:nvSpPr>
        <p:spPr>
          <a:xfrm>
            <a:off x="566928" y="6016752"/>
            <a:ext cx="11027664" cy="347472"/>
          </a:xfrm>
          <a:prstGeom prst="rect">
            <a:avLst/>
          </a:prstGeom>
          <a:noFill/>
          <a:ln/>
        </p:spPr>
        <p:txBody>
          <a:bodyPr wrap="square" lIns="0" tIns="0" rIns="0" bIns="0" rtlCol="0" anchor="ctr"/>
          <a:lstStyle/>
          <a:p>
            <a:pPr indent="0" marL="0">
              <a:lnSpc>
                <a:spcPts val="1200"/>
              </a:lnSpc>
              <a:buNone/>
            </a:pPr>
            <a:r>
              <a:rPr lang="en-US" sz="1000" i="1" dirty="0">
                <a:solidFill>
                  <a:srgbClr val="7A6E68"/>
                </a:solidFill>
                <a:latin typeface="Calibri" pitchFamily="34" charset="0"/>
                <a:ea typeface="Calibri" pitchFamily="34" charset="-122"/>
                <a:cs typeface="Calibri" pitchFamily="34" charset="-120"/>
              </a:rPr>
              <a:t>This settles the item the previous feedback flagged as most urgent: before trusting the full-year market analysis, this needed to be resolved explicitly, and it now is.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27664" cy="502920"/>
          </a:xfrm>
          <a:prstGeom prst="rect">
            <a:avLst/>
          </a:prstGeom>
          <a:noFill/>
          <a:ln/>
        </p:spPr>
        <p:txBody>
          <a:bodyPr wrap="square" lIns="0" tIns="0" rIns="0" bIns="0" rtlCol="0" anchor="ctr"/>
          <a:lstStyle/>
          <a:p>
            <a:pPr indent="0" marL="0">
              <a:buNone/>
            </a:pPr>
            <a:r>
              <a:rPr lang="en-US" sz="2500" b="1" dirty="0">
                <a:solidFill>
                  <a:srgbClr val="2B2523"/>
                </a:solidFill>
                <a:latin typeface="Cambria" pitchFamily="34" charset="0"/>
                <a:ea typeface="Cambria" pitchFamily="34" charset="-122"/>
                <a:cs typeface="Cambria" pitchFamily="34" charset="-120"/>
              </a:rPr>
              <a:t>Task 12: does Somalia's cleanliness generalise?</a:t>
            </a:r>
            <a:endParaRPr lang="en-US" sz="2500" dirty="0"/>
          </a:p>
        </p:txBody>
      </p:sp>
      <p:sp>
        <p:nvSpPr>
          <p:cNvPr id="3" name="Text 1"/>
          <p:cNvSpPr/>
          <p:nvPr/>
        </p:nvSpPr>
        <p:spPr>
          <a:xfrm>
            <a:off x="566928" y="969264"/>
            <a:ext cx="11027664" cy="310896"/>
          </a:xfrm>
          <a:prstGeom prst="rect">
            <a:avLst/>
          </a:prstGeom>
          <a:noFill/>
          <a:ln/>
        </p:spPr>
        <p:txBody>
          <a:bodyPr wrap="square" lIns="0" tIns="0" rIns="0" bIns="0" rtlCol="0" anchor="ctr"/>
          <a:lstStyle/>
          <a:p>
            <a:pPr indent="0" marL="0">
              <a:buNone/>
            </a:pPr>
            <a:r>
              <a:rPr lang="en-US" sz="1250" i="1" dirty="0">
                <a:solidFill>
                  <a:srgbClr val="7A6E68"/>
                </a:solidFill>
                <a:latin typeface="Calibri" pitchFamily="34" charset="0"/>
                <a:ea typeface="Calibri" pitchFamily="34" charset="-122"/>
                <a:cs typeface="Calibri" pitchFamily="34" charset="-120"/>
              </a:rPr>
              <a:t>All 4 countries, 2015-2024, every commodity WFP tracks: 117,124 rows</a:t>
            </a:r>
            <a:endParaRPr lang="en-US" sz="1250" dirty="0"/>
          </a:p>
        </p:txBody>
      </p:sp>
      <p:sp>
        <p:nvSpPr>
          <p:cNvPr id="4" name="Text 2"/>
          <p:cNvSpPr/>
          <p:nvPr/>
        </p:nvSpPr>
        <p:spPr>
          <a:xfrm>
            <a:off x="566928" y="1353312"/>
            <a:ext cx="11027664" cy="237744"/>
          </a:xfrm>
          <a:prstGeom prst="rect">
            <a:avLst/>
          </a:prstGeom>
          <a:noFill/>
          <a:ln/>
        </p:spPr>
        <p:txBody>
          <a:bodyPr wrap="square" lIns="0" tIns="0" rIns="0" bIns="0" rtlCol="0" anchor="ctr"/>
          <a:lstStyle/>
          <a:p>
            <a:pPr indent="0" marL="0">
              <a:buNone/>
            </a:pPr>
            <a:r>
              <a:rPr lang="en-US" sz="1300" b="1" dirty="0">
                <a:solidFill>
                  <a:srgbClr val="B85042"/>
                </a:solidFill>
                <a:latin typeface="Cambria" pitchFamily="34" charset="0"/>
                <a:ea typeface="Cambria" pitchFamily="34" charset="-122"/>
                <a:cs typeface="Cambria" pitchFamily="34" charset="-120"/>
              </a:rPr>
              <a:t>Why do this at all, given the pilot only uses Somalia's 4 commodities in 2024?</a:t>
            </a:r>
            <a:endParaRPr lang="en-US" sz="1300" dirty="0"/>
          </a:p>
        </p:txBody>
      </p:sp>
      <p:sp>
        <p:nvSpPr>
          <p:cNvPr id="5" name="Text 3"/>
          <p:cNvSpPr/>
          <p:nvPr/>
        </p:nvSpPr>
        <p:spPr>
          <a:xfrm>
            <a:off x="566928" y="1645920"/>
            <a:ext cx="11027664" cy="1051560"/>
          </a:xfrm>
          <a:prstGeom prst="rect">
            <a:avLst/>
          </a:prstGeom>
          <a:noFill/>
          <a:ln/>
        </p:spPr>
        <p:txBody>
          <a:bodyPr wrap="square" lIns="0" tIns="0" rIns="0" bIns="0" rtlCol="0" anchor="ctr"/>
          <a:lstStyle/>
          <a:p>
            <a:pPr marL="342900" indent="-342900">
              <a:lnSpc>
                <a:spcPts val="1500"/>
              </a:lnSpc>
              <a:spcAft>
                <a:spcPts val="500"/>
              </a:spcAft>
              <a:buSzPct val="100000"/>
              <a:buChar char="•"/>
            </a:pPr>
            <a:r>
              <a:rPr lang="en-US" sz="1100" dirty="0">
                <a:solidFill>
                  <a:srgbClr val="2B2523"/>
                </a:solidFill>
                <a:latin typeface="Calibri" pitchFamily="34" charset="0"/>
                <a:ea typeface="Calibri" pitchFamily="34" charset="-122"/>
                <a:cs typeface="Calibri" pitchFamily="34" charset="-120"/>
              </a:rPr>
              <a:t>A 99.8%-observed result for one country in one year could be an accident of timing rather than a general property of WFP data.</a:t>
            </a:r>
            <a:endParaRPr lang="en-US" sz="1100" dirty="0"/>
          </a:p>
          <a:p>
            <a:pPr marL="342900" indent="-342900">
              <a:lnSpc>
                <a:spcPts val="1500"/>
              </a:lnSpc>
              <a:spcAft>
                <a:spcPts val="500"/>
              </a:spcAft>
              <a:buSzPct val="100000"/>
              <a:buChar char="•"/>
            </a:pPr>
            <a:r>
              <a:rPr lang="en-US" sz="1100" dirty="0">
                <a:solidFill>
                  <a:srgbClr val="2B2523"/>
                </a:solidFill>
                <a:latin typeface="Calibri" pitchFamily="34" charset="0"/>
                <a:ea typeface="Calibri" pitchFamily="34" charset="-122"/>
                <a:cs typeface="Calibri" pitchFamily="34" charset="-120"/>
              </a:rPr>
              <a:t>Any future extension of this project to Ethiopia, Kenya or South Sudan, or to years before 2024, would inherit whatever forecast contamination those countries and years carry.</a:t>
            </a:r>
            <a:endParaRPr lang="en-US" sz="1100" dirty="0"/>
          </a:p>
          <a:p>
            <a:pPr marL="342900" indent="-342900">
              <a:lnSpc>
                <a:spcPts val="1500"/>
              </a:lnSpc>
              <a:spcAft>
                <a:spcPts val="500"/>
              </a:spcAft>
              <a:buSzPct val="100000"/>
              <a:buChar char="•"/>
            </a:pPr>
            <a:r>
              <a:rPr lang="en-US" sz="1100" dirty="0">
                <a:solidFill>
                  <a:srgbClr val="2B2523"/>
                </a:solidFill>
                <a:latin typeface="Calibri" pitchFamily="34" charset="0"/>
                <a:ea typeface="Calibri" pitchFamily="34" charset="-122"/>
                <a:cs typeface="Calibri" pitchFamily="34" charset="-120"/>
              </a:rPr>
              <a:t>It directly answers which commodities carry the most forecast-generated data, useful if this basket ever changes.</a:t>
            </a:r>
            <a:endParaRPr lang="en-US" sz="1100" dirty="0"/>
          </a:p>
        </p:txBody>
      </p:sp>
      <p:sp>
        <p:nvSpPr>
          <p:cNvPr id="6" name="Text 4"/>
          <p:cNvSpPr/>
          <p:nvPr/>
        </p:nvSpPr>
        <p:spPr>
          <a:xfrm>
            <a:off x="566928" y="2880360"/>
            <a:ext cx="5486400" cy="237744"/>
          </a:xfrm>
          <a:prstGeom prst="rect">
            <a:avLst/>
          </a:prstGeom>
          <a:noFill/>
          <a:ln/>
        </p:spPr>
        <p:txBody>
          <a:bodyPr wrap="square" lIns="0" tIns="0" rIns="0" bIns="0" rtlCol="0" anchor="ctr"/>
          <a:lstStyle/>
          <a:p>
            <a:pPr indent="0" marL="0">
              <a:buNone/>
            </a:pPr>
            <a:r>
              <a:rPr lang="en-US" sz="1100" b="1" dirty="0">
                <a:solidFill>
                  <a:srgbClr val="B85042"/>
                </a:solidFill>
                <a:latin typeface="Calibri" pitchFamily="34" charset="0"/>
                <a:ea typeface="Calibri" pitchFamily="34" charset="-122"/>
                <a:cs typeface="Calibri" pitchFamily="34" charset="-120"/>
              </a:rPr>
              <a:t>Table 12.1 · observed vs forecast by country, 2015-2024</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66928" y="3200400"/>
          <a:ext cx="7315200" cy="914400"/>
        </p:xfrm>
        <a:graphic>
          <a:graphicData uri="http://schemas.openxmlformats.org/drawingml/2006/table">
            <a:tbl>
              <a:tblPr/>
              <a:tblGrid>
                <a:gridCol w="2011680"/>
                <a:gridCol w="1371600"/>
                <a:gridCol w="1280160"/>
                <a:gridCol w="1280160"/>
                <a:gridCol w="1371600"/>
              </a:tblGrid>
              <a:tr h="38404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Country</a:t>
                      </a:r>
                      <a:endParaRPr lang="en-US" sz="11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Observed</a:t>
                      </a:r>
                      <a:endParaRPr lang="en-US" sz="11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Forecast</a:t>
                      </a:r>
                      <a:endParaRPr lang="en-US" sz="11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Total</a:t>
                      </a:r>
                      <a:endParaRPr lang="en-US" sz="11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 Observed</a:t>
                      </a:r>
                      <a:endParaRPr lang="en-US" sz="11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r>
              <a:tr h="384048">
                <a:tc>
                  <a:txBody>
                    <a:bodyPr/>
                    <a:lstStyle/>
                    <a:p>
                      <a:pPr indent="0" marL="0">
                        <a:buNone/>
                      </a:pPr>
                      <a:r>
                        <a:rPr lang="en-US" sz="1150" dirty="0">
                          <a:solidFill>
                            <a:srgbClr val="2B2523"/>
                          </a:solidFill>
                          <a:latin typeface="Calibri" pitchFamily="34" charset="0"/>
                          <a:ea typeface="Calibri" pitchFamily="34" charset="-122"/>
                          <a:cs typeface="Calibri" pitchFamily="34" charset="-120"/>
                        </a:rPr>
                        <a:t>Kenya</a:t>
                      </a:r>
                      <a:endParaRPr lang="en-US" sz="11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150" dirty="0">
                          <a:solidFill>
                            <a:srgbClr val="2B2523"/>
                          </a:solidFill>
                          <a:latin typeface="Calibri" pitchFamily="34" charset="0"/>
                          <a:ea typeface="Calibri" pitchFamily="34" charset="-122"/>
                          <a:cs typeface="Calibri" pitchFamily="34" charset="-120"/>
                        </a:rPr>
                        <a:t>14,175</a:t>
                      </a:r>
                      <a:endParaRPr lang="en-US" sz="11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150" dirty="0">
                          <a:solidFill>
                            <a:srgbClr val="2B2523"/>
                          </a:solidFill>
                          <a:latin typeface="Calibri" pitchFamily="34" charset="0"/>
                          <a:ea typeface="Calibri" pitchFamily="34" charset="-122"/>
                          <a:cs typeface="Calibri" pitchFamily="34" charset="-120"/>
                        </a:rPr>
                        <a:t>129</a:t>
                      </a:r>
                      <a:endParaRPr lang="en-US" sz="11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150" dirty="0">
                          <a:solidFill>
                            <a:srgbClr val="2B2523"/>
                          </a:solidFill>
                          <a:latin typeface="Calibri" pitchFamily="34" charset="0"/>
                          <a:ea typeface="Calibri" pitchFamily="34" charset="-122"/>
                          <a:cs typeface="Calibri" pitchFamily="34" charset="-120"/>
                        </a:rPr>
                        <a:t>14,304</a:t>
                      </a:r>
                      <a:endParaRPr lang="en-US" sz="11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150" dirty="0">
                          <a:solidFill>
                            <a:srgbClr val="2B2523"/>
                          </a:solidFill>
                          <a:latin typeface="Calibri" pitchFamily="34" charset="0"/>
                          <a:ea typeface="Calibri" pitchFamily="34" charset="-122"/>
                          <a:cs typeface="Calibri" pitchFamily="34" charset="-120"/>
                        </a:rPr>
                        <a:t>99.1%</a:t>
                      </a:r>
                      <a:endParaRPr lang="en-US" sz="11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r>
              <a:tr h="384048">
                <a:tc>
                  <a:txBody>
                    <a:bodyPr/>
                    <a:lstStyle/>
                    <a:p>
                      <a:pPr indent="0" marL="0">
                        <a:buNone/>
                      </a:pPr>
                      <a:r>
                        <a:rPr lang="en-US" sz="1150" dirty="0">
                          <a:solidFill>
                            <a:srgbClr val="2B2523"/>
                          </a:solidFill>
                          <a:latin typeface="Calibri" pitchFamily="34" charset="0"/>
                          <a:ea typeface="Calibri" pitchFamily="34" charset="-122"/>
                          <a:cs typeface="Calibri" pitchFamily="34" charset="-120"/>
                        </a:rPr>
                        <a:t>Somalia</a:t>
                      </a:r>
                      <a:endParaRPr lang="en-US" sz="11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150" dirty="0">
                          <a:solidFill>
                            <a:srgbClr val="2B2523"/>
                          </a:solidFill>
                          <a:latin typeface="Calibri" pitchFamily="34" charset="0"/>
                          <a:ea typeface="Calibri" pitchFamily="34" charset="-122"/>
                          <a:cs typeface="Calibri" pitchFamily="34" charset="-120"/>
                        </a:rPr>
                        <a:t>24,387</a:t>
                      </a:r>
                      <a:endParaRPr lang="en-US" sz="11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150" dirty="0">
                          <a:solidFill>
                            <a:srgbClr val="2B2523"/>
                          </a:solidFill>
                          <a:latin typeface="Calibri" pitchFamily="34" charset="0"/>
                          <a:ea typeface="Calibri" pitchFamily="34" charset="-122"/>
                          <a:cs typeface="Calibri" pitchFamily="34" charset="-120"/>
                        </a:rPr>
                        <a:t>817</a:t>
                      </a:r>
                      <a:endParaRPr lang="en-US" sz="11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150" dirty="0">
                          <a:solidFill>
                            <a:srgbClr val="2B2523"/>
                          </a:solidFill>
                          <a:latin typeface="Calibri" pitchFamily="34" charset="0"/>
                          <a:ea typeface="Calibri" pitchFamily="34" charset="-122"/>
                          <a:cs typeface="Calibri" pitchFamily="34" charset="-120"/>
                        </a:rPr>
                        <a:t>25,204</a:t>
                      </a:r>
                      <a:endParaRPr lang="en-US" sz="11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150" dirty="0">
                          <a:solidFill>
                            <a:srgbClr val="2B2523"/>
                          </a:solidFill>
                          <a:latin typeface="Calibri" pitchFamily="34" charset="0"/>
                          <a:ea typeface="Calibri" pitchFamily="34" charset="-122"/>
                          <a:cs typeface="Calibri" pitchFamily="34" charset="-120"/>
                        </a:rPr>
                        <a:t>96.8%</a:t>
                      </a:r>
                      <a:endParaRPr lang="en-US" sz="11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r>
              <a:tr h="384048">
                <a:tc>
                  <a:txBody>
                    <a:bodyPr/>
                    <a:lstStyle/>
                    <a:p>
                      <a:pPr indent="0" marL="0">
                        <a:buNone/>
                      </a:pPr>
                      <a:r>
                        <a:rPr lang="en-US" sz="1150" dirty="0">
                          <a:solidFill>
                            <a:srgbClr val="2B2523"/>
                          </a:solidFill>
                          <a:latin typeface="Calibri" pitchFamily="34" charset="0"/>
                          <a:ea typeface="Calibri" pitchFamily="34" charset="-122"/>
                          <a:cs typeface="Calibri" pitchFamily="34" charset="-120"/>
                        </a:rPr>
                        <a:t>Ethiopia</a:t>
                      </a:r>
                      <a:endParaRPr lang="en-US" sz="11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150" dirty="0">
                          <a:solidFill>
                            <a:srgbClr val="2B2523"/>
                          </a:solidFill>
                          <a:latin typeface="Calibri" pitchFamily="34" charset="0"/>
                          <a:ea typeface="Calibri" pitchFamily="34" charset="-122"/>
                          <a:cs typeface="Calibri" pitchFamily="34" charset="-120"/>
                        </a:rPr>
                        <a:t>34,310</a:t>
                      </a:r>
                      <a:endParaRPr lang="en-US" sz="11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150" dirty="0">
                          <a:solidFill>
                            <a:srgbClr val="2B2523"/>
                          </a:solidFill>
                          <a:latin typeface="Calibri" pitchFamily="34" charset="0"/>
                          <a:ea typeface="Calibri" pitchFamily="34" charset="-122"/>
                          <a:cs typeface="Calibri" pitchFamily="34" charset="-120"/>
                        </a:rPr>
                        <a:t>1,766</a:t>
                      </a:r>
                      <a:endParaRPr lang="en-US" sz="11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150" dirty="0">
                          <a:solidFill>
                            <a:srgbClr val="2B2523"/>
                          </a:solidFill>
                          <a:latin typeface="Calibri" pitchFamily="34" charset="0"/>
                          <a:ea typeface="Calibri" pitchFamily="34" charset="-122"/>
                          <a:cs typeface="Calibri" pitchFamily="34" charset="-120"/>
                        </a:rPr>
                        <a:t>36,076</a:t>
                      </a:r>
                      <a:endParaRPr lang="en-US" sz="11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150" dirty="0">
                          <a:solidFill>
                            <a:srgbClr val="2B2523"/>
                          </a:solidFill>
                          <a:latin typeface="Calibri" pitchFamily="34" charset="0"/>
                          <a:ea typeface="Calibri" pitchFamily="34" charset="-122"/>
                          <a:cs typeface="Calibri" pitchFamily="34" charset="-120"/>
                        </a:rPr>
                        <a:t>95.1%</a:t>
                      </a:r>
                      <a:endParaRPr lang="en-US" sz="11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r>
              <a:tr h="384048">
                <a:tc>
                  <a:txBody>
                    <a:bodyPr/>
                    <a:lstStyle/>
                    <a:p>
                      <a:pPr indent="0" marL="0">
                        <a:buNone/>
                      </a:pPr>
                      <a:r>
                        <a:rPr lang="en-US" sz="1150" dirty="0">
                          <a:solidFill>
                            <a:srgbClr val="2B2523"/>
                          </a:solidFill>
                          <a:latin typeface="Calibri" pitchFamily="34" charset="0"/>
                          <a:ea typeface="Calibri" pitchFamily="34" charset="-122"/>
                          <a:cs typeface="Calibri" pitchFamily="34" charset="-120"/>
                        </a:rPr>
                        <a:t>South Sudan</a:t>
                      </a:r>
                      <a:endParaRPr lang="en-US" sz="11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150" dirty="0">
                          <a:solidFill>
                            <a:srgbClr val="2B2523"/>
                          </a:solidFill>
                          <a:latin typeface="Calibri" pitchFamily="34" charset="0"/>
                          <a:ea typeface="Calibri" pitchFamily="34" charset="-122"/>
                          <a:cs typeface="Calibri" pitchFamily="34" charset="-120"/>
                        </a:rPr>
                        <a:t>39,303</a:t>
                      </a:r>
                      <a:endParaRPr lang="en-US" sz="11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150" dirty="0">
                          <a:solidFill>
                            <a:srgbClr val="2B2523"/>
                          </a:solidFill>
                          <a:latin typeface="Calibri" pitchFamily="34" charset="0"/>
                          <a:ea typeface="Calibri" pitchFamily="34" charset="-122"/>
                          <a:cs typeface="Calibri" pitchFamily="34" charset="-120"/>
                        </a:rPr>
                        <a:t>2,237</a:t>
                      </a:r>
                      <a:endParaRPr lang="en-US" sz="11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150" dirty="0">
                          <a:solidFill>
                            <a:srgbClr val="2B2523"/>
                          </a:solidFill>
                          <a:latin typeface="Calibri" pitchFamily="34" charset="0"/>
                          <a:ea typeface="Calibri" pitchFamily="34" charset="-122"/>
                          <a:cs typeface="Calibri" pitchFamily="34" charset="-120"/>
                        </a:rPr>
                        <a:t>41,540</a:t>
                      </a:r>
                      <a:endParaRPr lang="en-US" sz="11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150" dirty="0">
                          <a:solidFill>
                            <a:srgbClr val="2B2523"/>
                          </a:solidFill>
                          <a:latin typeface="Calibri" pitchFamily="34" charset="0"/>
                          <a:ea typeface="Calibri" pitchFamily="34" charset="-122"/>
                          <a:cs typeface="Calibri" pitchFamily="34" charset="-120"/>
                        </a:rPr>
                        <a:t>94.6%</a:t>
                      </a:r>
                      <a:endParaRPr lang="en-US" sz="11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r>
            </a:tbl>
          </a:graphicData>
        </a:graphic>
      </p:graphicFrame>
      <p:sp>
        <p:nvSpPr>
          <p:cNvPr id="8" name="Shape 5"/>
          <p:cNvSpPr/>
          <p:nvPr/>
        </p:nvSpPr>
        <p:spPr>
          <a:xfrm>
            <a:off x="8275320" y="3200400"/>
            <a:ext cx="3319272" cy="2148840"/>
          </a:xfrm>
          <a:prstGeom prst="roundRect">
            <a:avLst>
              <a:gd name="adj" fmla="val 2553"/>
            </a:avLst>
          </a:prstGeom>
          <a:solidFill>
            <a:srgbClr val="A7BEAE"/>
          </a:solidFill>
          <a:ln/>
          <a:effectLst>
            <a:outerShdw sx="100000" sy="100000" kx="0" ky="0" algn="bl" rotWithShape="0" blurRad="76200" dist="381" dir="5400000">
              <a:srgbClr val="000000">
                <a:alpha val="8000"/>
              </a:srgbClr>
            </a:outerShdw>
          </a:effectLst>
        </p:spPr>
      </p:sp>
      <p:sp>
        <p:nvSpPr>
          <p:cNvPr id="9" name="Text 6"/>
          <p:cNvSpPr/>
          <p:nvPr/>
        </p:nvSpPr>
        <p:spPr>
          <a:xfrm>
            <a:off x="8503920" y="3328416"/>
            <a:ext cx="3063240" cy="365760"/>
          </a:xfrm>
          <a:prstGeom prst="rect">
            <a:avLst/>
          </a:prstGeom>
          <a:noFill/>
          <a:ln/>
        </p:spPr>
        <p:txBody>
          <a:bodyPr wrap="square" lIns="0" tIns="0" rIns="0" bIns="0" rtlCol="0" anchor="ctr"/>
          <a:lstStyle/>
          <a:p>
            <a:pPr indent="0" marL="0">
              <a:lnSpc>
                <a:spcPts val="1500"/>
              </a:lnSpc>
              <a:buNone/>
            </a:pPr>
            <a:r>
              <a:rPr lang="en-US" sz="1250" b="1" dirty="0">
                <a:solidFill>
                  <a:srgbClr val="3A3330"/>
                </a:solidFill>
                <a:latin typeface="Cambria" pitchFamily="34" charset="0"/>
                <a:ea typeface="Cambria" pitchFamily="34" charset="-122"/>
                <a:cs typeface="Cambria" pitchFamily="34" charset="-120"/>
              </a:rPr>
              <a:t>Somalia sits second-cleanest of the 4</a:t>
            </a:r>
            <a:endParaRPr lang="en-US" sz="1250" dirty="0"/>
          </a:p>
        </p:txBody>
      </p:sp>
      <p:sp>
        <p:nvSpPr>
          <p:cNvPr id="10" name="Text 7"/>
          <p:cNvSpPr/>
          <p:nvPr/>
        </p:nvSpPr>
        <p:spPr>
          <a:xfrm>
            <a:off x="8503920" y="3749040"/>
            <a:ext cx="3063240" cy="1463040"/>
          </a:xfrm>
          <a:prstGeom prst="rect">
            <a:avLst/>
          </a:prstGeom>
          <a:noFill/>
          <a:ln/>
        </p:spPr>
        <p:txBody>
          <a:bodyPr wrap="square" lIns="0" tIns="0" rIns="0" bIns="0" rtlCol="0" anchor="ctr"/>
          <a:lstStyle/>
          <a:p>
            <a:pPr indent="0" marL="0">
              <a:lnSpc>
                <a:spcPts val="1300"/>
              </a:lnSpc>
              <a:buNone/>
            </a:pPr>
            <a:r>
              <a:rPr lang="en-US" sz="1000" dirty="0">
                <a:solidFill>
                  <a:srgbClr val="3A3330"/>
                </a:solidFill>
                <a:latin typeface="Calibri" pitchFamily="34" charset="0"/>
                <a:ea typeface="Calibri" pitchFamily="34" charset="-122"/>
                <a:cs typeface="Calibri" pitchFamily="34" charset="-120"/>
              </a:rPr>
              <a:t>Behind Kenya (99.1%), ahead of Ethiopia (95.1%) and South Sudan (94.6%). Somalia's own 2024, 96.8% observed across all commodities, all year.</a:t>
            </a:r>
            <a:endParaRPr lang="en-US" sz="1000" dirty="0"/>
          </a:p>
        </p:txBody>
      </p:sp>
      <p:sp>
        <p:nvSpPr>
          <p:cNvPr id="11" name="Text 8"/>
          <p:cNvSpPr/>
          <p:nvPr/>
        </p:nvSpPr>
        <p:spPr>
          <a:xfrm>
            <a:off x="566928" y="6016752"/>
            <a:ext cx="11027664" cy="347472"/>
          </a:xfrm>
          <a:prstGeom prst="rect">
            <a:avLst/>
          </a:prstGeom>
          <a:noFill/>
          <a:ln/>
        </p:spPr>
        <p:txBody>
          <a:bodyPr wrap="square" lIns="0" tIns="0" rIns="0" bIns="0" rtlCol="0" anchor="ctr"/>
          <a:lstStyle/>
          <a:p>
            <a:pPr indent="0" marL="0">
              <a:lnSpc>
                <a:spcPts val="1200"/>
              </a:lnSpc>
              <a:buNone/>
            </a:pPr>
            <a:r>
              <a:rPr lang="en-US" sz="1000" i="1" dirty="0">
                <a:solidFill>
                  <a:srgbClr val="7A6E68"/>
                </a:solidFill>
                <a:latin typeface="Calibri" pitchFamily="34" charset="0"/>
                <a:ea typeface="Calibri" pitchFamily="34" charset="-122"/>
                <a:cs typeface="Calibri" pitchFamily="34" charset="-120"/>
              </a:rPr>
              <a:t>This audit uses the newer 2015-2024, all-country export pulled 2026-08-30, closing the gap the pilot's own 2024-2027 export could not.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27664" cy="502920"/>
          </a:xfrm>
          <a:prstGeom prst="rect">
            <a:avLst/>
          </a:prstGeom>
          <a:noFill/>
          <a:ln/>
        </p:spPr>
        <p:txBody>
          <a:bodyPr wrap="square" lIns="0" tIns="0" rIns="0" bIns="0" rtlCol="0" anchor="ctr"/>
          <a:lstStyle/>
          <a:p>
            <a:pPr indent="0" marL="0">
              <a:buNone/>
            </a:pPr>
            <a:r>
              <a:rPr lang="en-US" sz="2500" b="1" dirty="0">
                <a:solidFill>
                  <a:srgbClr val="2B2523"/>
                </a:solidFill>
                <a:latin typeface="Cambria" pitchFamily="34" charset="0"/>
                <a:ea typeface="Cambria" pitchFamily="34" charset="-122"/>
                <a:cs typeface="Cambria" pitchFamily="34" charset="-120"/>
              </a:rPr>
              <a:t>Task 12: by year, and which commodities carry the risk</a:t>
            </a:r>
            <a:endParaRPr lang="en-US" sz="2500" dirty="0"/>
          </a:p>
        </p:txBody>
      </p:sp>
      <p:sp>
        <p:nvSpPr>
          <p:cNvPr id="3" name="Text 1"/>
          <p:cNvSpPr/>
          <p:nvPr/>
        </p:nvSpPr>
        <p:spPr>
          <a:xfrm>
            <a:off x="566928" y="969264"/>
            <a:ext cx="11027664" cy="310896"/>
          </a:xfrm>
          <a:prstGeom prst="rect">
            <a:avLst/>
          </a:prstGeom>
          <a:noFill/>
          <a:ln/>
        </p:spPr>
        <p:txBody>
          <a:bodyPr wrap="square" lIns="0" tIns="0" rIns="0" bIns="0" rtlCol="0" anchor="ctr"/>
          <a:lstStyle/>
          <a:p>
            <a:pPr indent="0" marL="0">
              <a:buNone/>
            </a:pPr>
            <a:r>
              <a:rPr lang="en-US" sz="1250" i="1" dirty="0">
                <a:solidFill>
                  <a:srgbClr val="7A6E68"/>
                </a:solidFill>
                <a:latin typeface="Calibri" pitchFamily="34" charset="0"/>
                <a:ea typeface="Calibri" pitchFamily="34" charset="-122"/>
                <a:cs typeface="Calibri" pitchFamily="34" charset="-120"/>
              </a:rPr>
              <a:t>2024 turns out to be the least clean year on record, not the most</a:t>
            </a:r>
            <a:endParaRPr lang="en-US" sz="1250" dirty="0"/>
          </a:p>
        </p:txBody>
      </p:sp>
      <p:sp>
        <p:nvSpPr>
          <p:cNvPr id="4" name="Text 2"/>
          <p:cNvSpPr/>
          <p:nvPr/>
        </p:nvSpPr>
        <p:spPr>
          <a:xfrm>
            <a:off x="566928" y="1353312"/>
            <a:ext cx="5486400" cy="237744"/>
          </a:xfrm>
          <a:prstGeom prst="rect">
            <a:avLst/>
          </a:prstGeom>
          <a:noFill/>
          <a:ln/>
        </p:spPr>
        <p:txBody>
          <a:bodyPr wrap="square" lIns="0" tIns="0" rIns="0" bIns="0" rtlCol="0" anchor="ctr"/>
          <a:lstStyle/>
          <a:p>
            <a:pPr indent="0" marL="0">
              <a:buNone/>
            </a:pPr>
            <a:r>
              <a:rPr lang="en-US" sz="1100" b="1" dirty="0">
                <a:solidFill>
                  <a:srgbClr val="B85042"/>
                </a:solidFill>
                <a:latin typeface="Calibri" pitchFamily="34" charset="0"/>
                <a:ea typeface="Calibri" pitchFamily="34" charset="-122"/>
                <a:cs typeface="Calibri" pitchFamily="34" charset="-120"/>
              </a:rPr>
              <a:t>Table 12.1b · observed vs forecast by year, all 4 countries</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66928" y="1664208"/>
          <a:ext cx="6766560" cy="914400"/>
        </p:xfrm>
        <a:graphic>
          <a:graphicData uri="http://schemas.openxmlformats.org/drawingml/2006/table">
            <a:tbl>
              <a:tblPr/>
              <a:tblGrid>
                <a:gridCol w="1097280"/>
                <a:gridCol w="1463040"/>
                <a:gridCol w="1280160"/>
                <a:gridCol w="1463040"/>
                <a:gridCol w="1463040"/>
              </a:tblGrid>
              <a:tr h="29260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Year</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Observed</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Forecast</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Total</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 Observed</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r>
              <a:tr h="292608">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2015</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2,412</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192</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2,604</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92.6%</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r>
              <a:tr h="292608">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2016</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2,184</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26</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2,210</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98.8%</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r>
              <a:tr h="292608">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2017</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3,254</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40</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3,294</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98.8%</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r>
              <a:tr h="292608">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2018</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3,734</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30</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3,764</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99.2%</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r>
              <a:tr h="292608">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2019</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3,439</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30</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3,469</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99.1%</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r>
              <a:tr h="292608">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2020</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13,560</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381</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13,941</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97.3%</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r>
              <a:tr h="292608">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2021</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17,157</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168</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17,325</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99.0%</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r>
              <a:tr h="292608">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2022</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18,578</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247</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18,825</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98.7%</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r>
              <a:tr h="292608">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2023</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21,960</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972</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22,932</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95.8%</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r>
              <a:tr h="292608">
                <a:tc>
                  <a:txBody>
                    <a:bodyPr/>
                    <a:lstStyle/>
                    <a:p>
                      <a:pPr indent="0" marL="0">
                        <a:buNone/>
                      </a:pPr>
                      <a:r>
                        <a:rPr lang="en-US" sz="1050" b="1" dirty="0">
                          <a:solidFill>
                            <a:srgbClr val="2B2523"/>
                          </a:solidFill>
                          <a:latin typeface="Calibri" pitchFamily="34" charset="0"/>
                          <a:ea typeface="Calibri" pitchFamily="34" charset="-122"/>
                          <a:cs typeface="Calibri" pitchFamily="34" charset="-120"/>
                        </a:rPr>
                        <a:t>2024</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50" b="1" dirty="0">
                          <a:solidFill>
                            <a:srgbClr val="2B2523"/>
                          </a:solidFill>
                          <a:latin typeface="Calibri" pitchFamily="34" charset="0"/>
                          <a:ea typeface="Calibri" pitchFamily="34" charset="-122"/>
                          <a:cs typeface="Calibri" pitchFamily="34" charset="-120"/>
                        </a:rPr>
                        <a:t>25,897</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50" b="1" dirty="0">
                          <a:solidFill>
                            <a:srgbClr val="B85042"/>
                          </a:solidFill>
                          <a:latin typeface="Calibri" pitchFamily="34" charset="0"/>
                          <a:ea typeface="Calibri" pitchFamily="34" charset="-122"/>
                          <a:cs typeface="Calibri" pitchFamily="34" charset="-120"/>
                        </a:rPr>
                        <a:t>2,863</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50" b="1" dirty="0">
                          <a:solidFill>
                            <a:srgbClr val="2B2523"/>
                          </a:solidFill>
                          <a:latin typeface="Calibri" pitchFamily="34" charset="0"/>
                          <a:ea typeface="Calibri" pitchFamily="34" charset="-122"/>
                          <a:cs typeface="Calibri" pitchFamily="34" charset="-120"/>
                        </a:rPr>
                        <a:t>28,760</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50" b="1" dirty="0">
                          <a:solidFill>
                            <a:srgbClr val="B85042"/>
                          </a:solidFill>
                          <a:latin typeface="Calibri" pitchFamily="34" charset="0"/>
                          <a:ea typeface="Calibri" pitchFamily="34" charset="-122"/>
                          <a:cs typeface="Calibri" pitchFamily="34" charset="-120"/>
                        </a:rPr>
                        <a:t>90.0%</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r>
            </a:tbl>
          </a:graphicData>
        </a:graphic>
      </p:graphicFrame>
      <p:sp>
        <p:nvSpPr>
          <p:cNvPr id="6" name="Shape 3"/>
          <p:cNvSpPr/>
          <p:nvPr/>
        </p:nvSpPr>
        <p:spPr>
          <a:xfrm>
            <a:off x="7543800" y="1664208"/>
            <a:ext cx="4050792" cy="3200400"/>
          </a:xfrm>
          <a:prstGeom prst="roundRect">
            <a:avLst>
              <a:gd name="adj" fmla="val 1714"/>
            </a:avLst>
          </a:prstGeom>
          <a:solidFill>
            <a:srgbClr val="2B2523"/>
          </a:solidFill>
          <a:ln/>
          <a:effectLst>
            <a:outerShdw sx="100000" sy="100000" kx="0" ky="0" algn="bl" rotWithShape="0" blurRad="76200" dist="381" dir="5400000">
              <a:srgbClr val="000000">
                <a:alpha val="8000"/>
              </a:srgbClr>
            </a:outerShdw>
          </a:effectLst>
        </p:spPr>
      </p:sp>
      <p:sp>
        <p:nvSpPr>
          <p:cNvPr id="7" name="Text 4"/>
          <p:cNvSpPr/>
          <p:nvPr/>
        </p:nvSpPr>
        <p:spPr>
          <a:xfrm>
            <a:off x="7772400" y="1792224"/>
            <a:ext cx="3657600" cy="274320"/>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2015-2019 average 97-99% observed</a:t>
            </a:r>
            <a:endParaRPr lang="en-US" sz="1350" dirty="0"/>
          </a:p>
        </p:txBody>
      </p:sp>
      <p:sp>
        <p:nvSpPr>
          <p:cNvPr id="8" name="Text 5"/>
          <p:cNvSpPr/>
          <p:nvPr/>
        </p:nvSpPr>
        <p:spPr>
          <a:xfrm>
            <a:off x="7772400" y="2103120"/>
            <a:ext cx="3749040" cy="1417320"/>
          </a:xfrm>
          <a:prstGeom prst="rect">
            <a:avLst/>
          </a:prstGeom>
          <a:noFill/>
          <a:ln/>
        </p:spPr>
        <p:txBody>
          <a:bodyPr wrap="square" lIns="0" tIns="0" rIns="0" bIns="0" rtlCol="0" anchor="ctr"/>
          <a:lstStyle/>
          <a:p>
            <a:pPr indent="0" marL="0">
              <a:lnSpc>
                <a:spcPts val="1350"/>
              </a:lnSpc>
              <a:buNone/>
            </a:pPr>
            <a:r>
              <a:rPr lang="en-US" sz="1050" dirty="0">
                <a:solidFill>
                  <a:srgbClr val="E7E8D1"/>
                </a:solidFill>
                <a:latin typeface="Calibri" pitchFamily="34" charset="0"/>
                <a:ea typeface="Calibri" pitchFamily="34" charset="-122"/>
                <a:cs typeface="Calibri" pitchFamily="34" charset="-120"/>
              </a:rPr>
              <a:t>2024 alone drops to 90.0% (2,863 of 28,760 rows forecast), the lowest of any year in the decade. Even so, Somalia's own 4-commodity 2024 slice sits at 100% for 11 of 12 months (Task 11): the general decline elsewhere in the export does not touch the specific slice this pipeline uses.</a:t>
            </a:r>
            <a:endParaRPr lang="en-US" sz="1050" dirty="0"/>
          </a:p>
        </p:txBody>
      </p:sp>
      <p:sp>
        <p:nvSpPr>
          <p:cNvPr id="9" name="Text 6"/>
          <p:cNvSpPr/>
          <p:nvPr/>
        </p:nvSpPr>
        <p:spPr>
          <a:xfrm>
            <a:off x="7772400" y="3611880"/>
            <a:ext cx="3657600" cy="274320"/>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Which commodities carry the risk</a:t>
            </a:r>
            <a:endParaRPr lang="en-US" sz="1350" dirty="0"/>
          </a:p>
        </p:txBody>
      </p:sp>
      <p:sp>
        <p:nvSpPr>
          <p:cNvPr id="10" name="Text 7"/>
          <p:cNvSpPr/>
          <p:nvPr/>
        </p:nvSpPr>
        <p:spPr>
          <a:xfrm>
            <a:off x="7772400" y="3913632"/>
            <a:ext cx="3749040" cy="868680"/>
          </a:xfrm>
          <a:prstGeom prst="rect">
            <a:avLst/>
          </a:prstGeom>
          <a:noFill/>
          <a:ln/>
        </p:spPr>
        <p:txBody>
          <a:bodyPr wrap="square" lIns="0" tIns="0" rIns="0" bIns="0" rtlCol="0" anchor="ctr"/>
          <a:lstStyle/>
          <a:p>
            <a:pPr indent="0" marL="0">
              <a:lnSpc>
                <a:spcPts val="1350"/>
              </a:lnSpc>
              <a:buNone/>
            </a:pPr>
            <a:r>
              <a:rPr lang="en-US" sz="1050" dirty="0">
                <a:solidFill>
                  <a:srgbClr val="E7E8D1"/>
                </a:solidFill>
                <a:latin typeface="Calibri" pitchFamily="34" charset="0"/>
                <a:ea typeface="Calibri" pitchFamily="34" charset="-122"/>
                <a:cs typeface="Calibri" pitchFamily="34" charset="-120"/>
              </a:rPr>
              <a:t>Maize (white), Sorghum, Wheat and Fuel (Super Petrol) carry the most forecast rows of any commodity, 2015-2024. None are in this dissertation's own basket (wheat flour, rice, sugar, oil).</a:t>
            </a:r>
            <a:endParaRPr lang="en-US" sz="1050" dirty="0"/>
          </a:p>
        </p:txBody>
      </p:sp>
      <p:sp>
        <p:nvSpPr>
          <p:cNvPr id="11" name="Shape 8"/>
          <p:cNvSpPr/>
          <p:nvPr/>
        </p:nvSpPr>
        <p:spPr>
          <a:xfrm>
            <a:off x="566928" y="5074920"/>
            <a:ext cx="11027664" cy="822960"/>
          </a:xfrm>
          <a:prstGeom prst="roundRect">
            <a:avLst>
              <a:gd name="adj" fmla="val 6667"/>
            </a:avLst>
          </a:prstGeom>
          <a:solidFill>
            <a:srgbClr val="E7E8D1"/>
          </a:solidFill>
          <a:ln/>
          <a:effectLst>
            <a:outerShdw sx="100000" sy="100000" kx="0" ky="0" algn="bl" rotWithShape="0" blurRad="76200" dist="381" dir="5400000">
              <a:srgbClr val="000000">
                <a:alpha val="8000"/>
              </a:srgbClr>
            </a:outerShdw>
          </a:effectLst>
        </p:spPr>
      </p:sp>
      <p:sp>
        <p:nvSpPr>
          <p:cNvPr id="12" name="Text 9"/>
          <p:cNvSpPr/>
          <p:nvPr/>
        </p:nvSpPr>
        <p:spPr>
          <a:xfrm>
            <a:off x="786384" y="5175504"/>
            <a:ext cx="10588752" cy="640080"/>
          </a:xfrm>
          <a:prstGeom prst="rect">
            <a:avLst/>
          </a:prstGeom>
          <a:noFill/>
          <a:ln/>
        </p:spPr>
        <p:txBody>
          <a:bodyPr wrap="square" lIns="0" tIns="0" rIns="0" bIns="0" rtlCol="0" anchor="ctr"/>
          <a:lstStyle/>
          <a:p>
            <a:pPr indent="0" marL="0">
              <a:lnSpc>
                <a:spcPts val="1380"/>
              </a:lnSpc>
              <a:buNone/>
            </a:pPr>
            <a:r>
              <a:rPr lang="en-US" sz="1070" b="1" dirty="0">
                <a:solidFill>
                  <a:srgbClr val="B85042"/>
                </a:solidFill>
                <a:latin typeface="Calibri" pitchFamily="34" charset="0"/>
                <a:ea typeface="Calibri" pitchFamily="34" charset="-122"/>
                <a:cs typeface="Calibri" pitchFamily="34" charset="-120"/>
              </a:rPr>
              <a:t>Result: 112,175 of 117,124 rows (95.8%) are observed across the full decade, all 4 countries. This settles the question from above: Somalia's cleanliness is not an accident of timing, and the data used throughout this dissertation is mostly made up of observed values, not forecast ones, at every scale checked.</a:t>
            </a:r>
            <a:endParaRPr lang="en-US" sz="1070" dirty="0"/>
          </a:p>
        </p:txBody>
      </p:sp>
      <p:sp>
        <p:nvSpPr>
          <p:cNvPr id="13" name="Text 10"/>
          <p:cNvSpPr/>
          <p:nvPr/>
        </p:nvSpPr>
        <p:spPr>
          <a:xfrm>
            <a:off x="566928" y="6016752"/>
            <a:ext cx="11027664" cy="347472"/>
          </a:xfrm>
          <a:prstGeom prst="rect">
            <a:avLst/>
          </a:prstGeom>
          <a:noFill/>
          <a:ln/>
        </p:spPr>
        <p:txBody>
          <a:bodyPr wrap="square" lIns="0" tIns="0" rIns="0" bIns="0" rtlCol="0" anchor="ctr"/>
          <a:lstStyle/>
          <a:p>
            <a:pPr indent="0" marL="0">
              <a:lnSpc>
                <a:spcPts val="1200"/>
              </a:lnSpc>
              <a:buNone/>
            </a:pPr>
            <a:r>
              <a:rPr lang="en-US" sz="1000" i="1" dirty="0">
                <a:solidFill>
                  <a:srgbClr val="7A6E68"/>
                </a:solidFill>
                <a:latin typeface="Calibri" pitchFamily="34" charset="0"/>
                <a:ea typeface="Calibri" pitchFamily="34" charset="-122"/>
                <a:cs typeface="Calibri" pitchFamily="34" charset="-120"/>
              </a:rPr>
              <a:t>Forecast volume for Somalia grows sharply from 2025 onward (6,908 rows in 2025), outside this dissertation's window, a separate fact from the one this audit needed to establish.</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B2523"/>
        </a:solidFill>
      </p:bgPr>
    </p:bg>
    <p:spTree>
      <p:nvGrpSpPr>
        <p:cNvPr id="1" name=""/>
        <p:cNvGrpSpPr/>
        <p:nvPr/>
      </p:nvGrpSpPr>
      <p:grpSpPr>
        <a:xfrm>
          <a:off x="0" y="0"/>
          <a:ext cx="0" cy="0"/>
          <a:chOff x="0" y="0"/>
          <a:chExt cx="0" cy="0"/>
        </a:xfrm>
      </p:grpSpPr>
      <p:sp>
        <p:nvSpPr>
          <p:cNvPr id="2" name="Shape 0"/>
          <p:cNvSpPr/>
          <p:nvPr/>
        </p:nvSpPr>
        <p:spPr>
          <a:xfrm>
            <a:off x="9235440" y="-1554480"/>
            <a:ext cx="4937760" cy="4937760"/>
          </a:xfrm>
          <a:prstGeom prst="ellipse">
            <a:avLst/>
          </a:prstGeom>
          <a:solidFill>
            <a:srgbClr val="B85042"/>
          </a:solidFill>
          <a:ln/>
        </p:spPr>
      </p:sp>
      <p:sp>
        <p:nvSpPr>
          <p:cNvPr id="3" name="Shape 1"/>
          <p:cNvSpPr/>
          <p:nvPr/>
        </p:nvSpPr>
        <p:spPr>
          <a:xfrm>
            <a:off x="-1280160" y="4206240"/>
            <a:ext cx="3291840" cy="3291840"/>
          </a:xfrm>
          <a:prstGeom prst="ellipse">
            <a:avLst/>
          </a:prstGeom>
          <a:solidFill>
            <a:srgbClr val="A7BEAE"/>
          </a:solidFill>
          <a:ln/>
        </p:spPr>
      </p:sp>
      <p:sp>
        <p:nvSpPr>
          <p:cNvPr id="4" name="Text 2"/>
          <p:cNvSpPr/>
          <p:nvPr/>
        </p:nvSpPr>
        <p:spPr>
          <a:xfrm>
            <a:off x="566928" y="2331720"/>
            <a:ext cx="9144000" cy="310896"/>
          </a:xfrm>
          <a:prstGeom prst="rect">
            <a:avLst/>
          </a:prstGeom>
          <a:noFill/>
          <a:ln/>
        </p:spPr>
        <p:txBody>
          <a:bodyPr wrap="square" lIns="0" tIns="0" rIns="0" bIns="0" rtlCol="0" anchor="ctr"/>
          <a:lstStyle/>
          <a:p>
            <a:pPr indent="0" marL="0">
              <a:buNone/>
            </a:pPr>
            <a:r>
              <a:rPr lang="en-US" sz="1300" b="1" spc="300" kern="0" dirty="0">
                <a:solidFill>
                  <a:srgbClr val="A7BEAE"/>
                </a:solidFill>
                <a:latin typeface="Calibri" pitchFamily="34" charset="0"/>
                <a:ea typeface="Calibri" pitchFamily="34" charset="-122"/>
                <a:cs typeface="Calibri" pitchFamily="34" charset="-120"/>
              </a:rPr>
              <a:t>TASK 13</a:t>
            </a:r>
            <a:endParaRPr lang="en-US" sz="1300" dirty="0"/>
          </a:p>
        </p:txBody>
      </p:sp>
      <p:sp>
        <p:nvSpPr>
          <p:cNvPr id="5" name="Text 3"/>
          <p:cNvSpPr/>
          <p:nvPr/>
        </p:nvSpPr>
        <p:spPr>
          <a:xfrm>
            <a:off x="566928" y="2743200"/>
            <a:ext cx="10241280" cy="1371600"/>
          </a:xfrm>
          <a:prstGeom prst="rect">
            <a:avLst/>
          </a:prstGeom>
          <a:noFill/>
          <a:ln/>
        </p:spPr>
        <p:txBody>
          <a:bodyPr wrap="square" lIns="0" tIns="0" rIns="0" bIns="0" rtlCol="0" anchor="ctr"/>
          <a:lstStyle/>
          <a:p>
            <a:pPr indent="0" marL="0">
              <a:lnSpc>
                <a:spcPts val="3800"/>
              </a:lnSpc>
              <a:buNone/>
            </a:pPr>
            <a:r>
              <a:rPr lang="en-US" sz="3200" b="1" dirty="0">
                <a:solidFill>
                  <a:srgbClr val="FFFFFF"/>
                </a:solidFill>
                <a:latin typeface="Cambria" pitchFamily="34" charset="0"/>
                <a:ea typeface="Cambria" pitchFamily="34" charset="-122"/>
                <a:cs typeface="Cambria" pitchFamily="34" charset="-120"/>
              </a:rPr>
              <a:t>One model comparing conflict</a:t>
            </a:r>
            <a:endParaRPr lang="en-US" sz="3200" dirty="0"/>
          </a:p>
          <a:p>
            <a:pPr indent="0" marL="0">
              <a:lnSpc>
                <a:spcPts val="3800"/>
              </a:lnSpc>
              <a:buNone/>
            </a:pPr>
            <a:r>
              <a:rPr lang="en-US" sz="3200" b="1" dirty="0">
                <a:solidFill>
                  <a:srgbClr val="FFFFFF"/>
                </a:solidFill>
                <a:latin typeface="Cambria" pitchFamily="34" charset="0"/>
                <a:ea typeface="Cambria" pitchFamily="34" charset="-122"/>
                <a:cs typeface="Cambria" pitchFamily="34" charset="-120"/>
              </a:rPr>
              <a:t>and vegetation stress directly</a:t>
            </a:r>
            <a:endParaRPr lang="en-US" sz="3200" dirty="0"/>
          </a:p>
        </p:txBody>
      </p:sp>
      <p:sp>
        <p:nvSpPr>
          <p:cNvPr id="6" name="Text 4"/>
          <p:cNvSpPr/>
          <p:nvPr/>
        </p:nvSpPr>
        <p:spPr>
          <a:xfrm>
            <a:off x="566928" y="4114800"/>
            <a:ext cx="8961120" cy="1005840"/>
          </a:xfrm>
          <a:prstGeom prst="rect">
            <a:avLst/>
          </a:prstGeom>
          <a:noFill/>
          <a:ln/>
        </p:spPr>
        <p:txBody>
          <a:bodyPr wrap="square" lIns="0" tIns="0" rIns="0" bIns="0" rtlCol="0" anchor="ctr"/>
          <a:lstStyle/>
          <a:p>
            <a:pPr indent="0" marL="0">
              <a:lnSpc>
                <a:spcPts val="1900"/>
              </a:lnSpc>
              <a:buNone/>
            </a:pPr>
            <a:r>
              <a:rPr lang="en-US" sz="1400" dirty="0">
                <a:solidFill>
                  <a:srgbClr val="E7E8D1"/>
                </a:solidFill>
                <a:latin typeface="Calibri" pitchFamily="34" charset="0"/>
                <a:ea typeface="Calibri" pitchFamily="34" charset="-122"/>
                <a:cs typeface="Calibri" pitchFamily="34" charset="-120"/>
              </a:rPr>
              <a:t>A negative binomial model, compared throughout against the logistic regression built earlier in this notebook, and detailed here step by step.</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27664" cy="502920"/>
          </a:xfrm>
          <a:prstGeom prst="rect">
            <a:avLst/>
          </a:prstGeom>
          <a:noFill/>
          <a:ln/>
        </p:spPr>
        <p:txBody>
          <a:bodyPr wrap="square" lIns="0" tIns="0" rIns="0" bIns="0" rtlCol="0" anchor="ctr"/>
          <a:lstStyle/>
          <a:p>
            <a:pPr indent="0" marL="0">
              <a:buNone/>
            </a:pPr>
            <a:r>
              <a:rPr lang="en-US" sz="2500" b="1" dirty="0">
                <a:solidFill>
                  <a:srgbClr val="2B2523"/>
                </a:solidFill>
                <a:latin typeface="Cambria" pitchFamily="34" charset="0"/>
                <a:ea typeface="Cambria" pitchFamily="34" charset="-122"/>
                <a:cs typeface="Cambria" pitchFamily="34" charset="-120"/>
              </a:rPr>
              <a:t>Task 13: two different models, answering two different questions</a:t>
            </a:r>
            <a:endParaRPr lang="en-US" sz="2500" dirty="0"/>
          </a:p>
        </p:txBody>
      </p:sp>
      <p:sp>
        <p:nvSpPr>
          <p:cNvPr id="3" name="Text 1"/>
          <p:cNvSpPr/>
          <p:nvPr/>
        </p:nvSpPr>
        <p:spPr>
          <a:xfrm>
            <a:off x="566928" y="969264"/>
            <a:ext cx="11027664" cy="310896"/>
          </a:xfrm>
          <a:prstGeom prst="rect">
            <a:avLst/>
          </a:prstGeom>
          <a:noFill/>
          <a:ln/>
        </p:spPr>
        <p:txBody>
          <a:bodyPr wrap="square" lIns="0" tIns="0" rIns="0" bIns="0" rtlCol="0" anchor="ctr"/>
          <a:lstStyle/>
          <a:p>
            <a:pPr indent="0" marL="0">
              <a:buNone/>
            </a:pPr>
            <a:r>
              <a:rPr lang="en-US" sz="1250" i="1" dirty="0">
                <a:solidFill>
                  <a:srgbClr val="7A6E68"/>
                </a:solidFill>
                <a:latin typeface="Calibri" pitchFamily="34" charset="0"/>
                <a:ea typeface="Calibri" pitchFamily="34" charset="-122"/>
                <a:cs typeface="Calibri" pitchFamily="34" charset="-120"/>
              </a:rPr>
              <a:t>Why a second model was needed at all, given the logistic regression already built</a:t>
            </a:r>
            <a:endParaRPr lang="en-US" sz="1250" dirty="0"/>
          </a:p>
        </p:txBody>
      </p:sp>
      <p:sp>
        <p:nvSpPr>
          <p:cNvPr id="4" name="Shape 2"/>
          <p:cNvSpPr/>
          <p:nvPr/>
        </p:nvSpPr>
        <p:spPr>
          <a:xfrm>
            <a:off x="566928" y="1371600"/>
            <a:ext cx="5440680" cy="4480560"/>
          </a:xfrm>
          <a:prstGeom prst="roundRect">
            <a:avLst>
              <a:gd name="adj" fmla="val 1224"/>
            </a:avLst>
          </a:prstGeom>
          <a:solidFill>
            <a:srgbClr val="F7F5F1"/>
          </a:solidFill>
          <a:ln/>
          <a:effectLst>
            <a:outerShdw sx="100000" sy="100000" kx="0" ky="0" algn="bl" rotWithShape="0" blurRad="76200" dist="381" dir="5400000">
              <a:srgbClr val="000000">
                <a:alpha val="8000"/>
              </a:srgbClr>
            </a:outerShdw>
          </a:effectLst>
        </p:spPr>
      </p:sp>
      <p:sp>
        <p:nvSpPr>
          <p:cNvPr id="5" name="Text 3"/>
          <p:cNvSpPr/>
          <p:nvPr/>
        </p:nvSpPr>
        <p:spPr>
          <a:xfrm>
            <a:off x="804672" y="1536192"/>
            <a:ext cx="4937760" cy="274320"/>
          </a:xfrm>
          <a:prstGeom prst="rect">
            <a:avLst/>
          </a:prstGeom>
          <a:noFill/>
          <a:ln/>
        </p:spPr>
        <p:txBody>
          <a:bodyPr wrap="square" lIns="0" tIns="0" rIns="0" bIns="0" rtlCol="0" anchor="ctr"/>
          <a:lstStyle/>
          <a:p>
            <a:pPr indent="0" marL="0">
              <a:buNone/>
            </a:pPr>
            <a:r>
              <a:rPr lang="en-US" sz="1350" b="1" dirty="0">
                <a:solidFill>
                  <a:srgbClr val="2B2523"/>
                </a:solidFill>
                <a:latin typeface="Cambria" pitchFamily="34" charset="0"/>
                <a:ea typeface="Cambria" pitchFamily="34" charset="-122"/>
                <a:cs typeface="Cambria" pitchFamily="34" charset="-120"/>
              </a:rPr>
              <a:t>Earlier: logistic regression</a:t>
            </a:r>
            <a:endParaRPr lang="en-US" sz="1350" dirty="0"/>
          </a:p>
        </p:txBody>
      </p:sp>
      <p:sp>
        <p:nvSpPr>
          <p:cNvPr id="6" name="Text 4"/>
          <p:cNvSpPr/>
          <p:nvPr/>
        </p:nvSpPr>
        <p:spPr>
          <a:xfrm>
            <a:off x="804672" y="1828800"/>
            <a:ext cx="4937760" cy="256032"/>
          </a:xfrm>
          <a:prstGeom prst="rect">
            <a:avLst/>
          </a:prstGeom>
          <a:noFill/>
          <a:ln/>
        </p:spPr>
        <p:txBody>
          <a:bodyPr wrap="square" lIns="0" tIns="0" rIns="0" bIns="0" rtlCol="0" anchor="ctr"/>
          <a:lstStyle/>
          <a:p>
            <a:pPr indent="0" marL="0">
              <a:buNone/>
            </a:pPr>
            <a:r>
              <a:rPr lang="en-US" sz="1100" i="1" dirty="0">
                <a:solidFill>
                  <a:srgbClr val="7A6E68"/>
                </a:solidFill>
                <a:latin typeface="Calibri" pitchFamily="34" charset="0"/>
                <a:ea typeface="Calibri" pitchFamily="34" charset="-122"/>
                <a:cs typeface="Calibri" pitchFamily="34" charset="-120"/>
              </a:rPr>
              <a:t>"Which districts get observed"</a:t>
            </a:r>
            <a:endParaRPr lang="en-US" sz="1100" dirty="0"/>
          </a:p>
        </p:txBody>
      </p:sp>
      <p:sp>
        <p:nvSpPr>
          <p:cNvPr id="7" name="Text 5"/>
          <p:cNvSpPr/>
          <p:nvPr/>
        </p:nvSpPr>
        <p:spPr>
          <a:xfrm>
            <a:off x="804672" y="2157984"/>
            <a:ext cx="5029200" cy="3383280"/>
          </a:xfrm>
          <a:prstGeom prst="rect">
            <a:avLst/>
          </a:prstGeom>
          <a:noFill/>
          <a:ln/>
        </p:spPr>
        <p:txBody>
          <a:bodyPr wrap="square" lIns="0" tIns="0" rIns="0" bIns="0" rtlCol="0" anchor="ctr"/>
          <a:lstStyle/>
          <a:p>
            <a:pPr marL="342900" indent="-342900">
              <a:lnSpc>
                <a:spcPts val="1500"/>
              </a:lnSpc>
              <a:spcAft>
                <a:spcPts val="900"/>
              </a:spcAft>
              <a:buSzPct val="100000"/>
              <a:buChar char="•"/>
            </a:pPr>
            <a:r>
              <a:rPr lang="en-US" sz="1100" dirty="0">
                <a:solidFill>
                  <a:srgbClr val="2B2523"/>
                </a:solidFill>
                <a:latin typeface="Calibri" pitchFamily="34" charset="0"/>
                <a:ea typeface="Calibri" pitchFamily="34" charset="-122"/>
                <a:cs typeface="Calibri" pitchFamily="34" charset="-120"/>
              </a:rPr>
              <a:t>Outcome: was the district mentioned at all that month (binary, 0/1).</a:t>
            </a:r>
            <a:endParaRPr lang="en-US" sz="1100" dirty="0"/>
          </a:p>
          <a:p>
            <a:pPr marL="342900" indent="-342900">
              <a:lnSpc>
                <a:spcPts val="1500"/>
              </a:lnSpc>
              <a:spcAft>
                <a:spcPts val="900"/>
              </a:spcAft>
              <a:buSzPct val="100000"/>
              <a:buChar char="•"/>
            </a:pPr>
            <a:r>
              <a:rPr lang="en-US" sz="1100" dirty="0">
                <a:solidFill>
                  <a:srgbClr val="2B2523"/>
                </a:solidFill>
                <a:latin typeface="Calibri" pitchFamily="34" charset="0"/>
                <a:ea typeface="Calibri" pitchFamily="34" charset="-122"/>
                <a:cs typeface="Calibri" pitchFamily="34" charset="-120"/>
              </a:rPr>
              <a:t>Predictors, all together: conflict activity, market coverage, rainfall, vegetation health, region, month. Cluster-robust SEs by district.</a:t>
            </a:r>
            <a:endParaRPr lang="en-US" sz="1100" dirty="0"/>
          </a:p>
          <a:p>
            <a:pPr marL="342900" indent="-342900">
              <a:lnSpc>
                <a:spcPts val="1500"/>
              </a:lnSpc>
              <a:spcAft>
                <a:spcPts val="900"/>
              </a:spcAft>
              <a:buSzPct val="100000"/>
              <a:buChar char="•"/>
            </a:pPr>
            <a:r>
              <a:rPr lang="en-US" sz="1100" dirty="0">
                <a:solidFill>
                  <a:srgbClr val="2B2523"/>
                </a:solidFill>
                <a:latin typeface="Calibri" pitchFamily="34" charset="0"/>
                <a:ea typeface="Calibri" pitchFamily="34" charset="-122"/>
                <a:cs typeface="Calibri" pitchFamily="34" charset="-120"/>
              </a:rPr>
              <a:t>Built to test whether coverage gaps are systematic: can a handful of district characteristics predict whether a district gets covered at all?</a:t>
            </a:r>
            <a:endParaRPr lang="en-US" sz="1100" dirty="0"/>
          </a:p>
          <a:p>
            <a:pPr marL="342900" indent="-342900">
              <a:lnSpc>
                <a:spcPts val="1500"/>
              </a:lnSpc>
              <a:spcAft>
                <a:spcPts val="900"/>
              </a:spcAft>
              <a:buSzPct val="100000"/>
              <a:buChar char="•"/>
            </a:pPr>
            <a:r>
              <a:rPr lang="en-US" sz="1100" dirty="0">
                <a:solidFill>
                  <a:srgbClr val="2B2523"/>
                </a:solidFill>
                <a:latin typeface="Calibri" pitchFamily="34" charset="0"/>
                <a:ea typeface="Calibri" pitchFamily="34" charset="-122"/>
                <a:cs typeface="Calibri" pitchFamily="34" charset="-120"/>
              </a:rPr>
              <a:t>Result: conflict OR 2.01, market-coverage OR 3.20, both climate variables OR ~1.00 (not significant). Out-of-sample AUC 0.715.</a:t>
            </a:r>
            <a:endParaRPr lang="en-US" sz="1100" dirty="0"/>
          </a:p>
        </p:txBody>
      </p:sp>
      <p:sp>
        <p:nvSpPr>
          <p:cNvPr id="8" name="Shape 6"/>
          <p:cNvSpPr/>
          <p:nvPr/>
        </p:nvSpPr>
        <p:spPr>
          <a:xfrm>
            <a:off x="6172200" y="1371600"/>
            <a:ext cx="5422392" cy="4480560"/>
          </a:xfrm>
          <a:prstGeom prst="roundRect">
            <a:avLst>
              <a:gd name="adj" fmla="val 1224"/>
            </a:avLst>
          </a:prstGeom>
          <a:solidFill>
            <a:srgbClr val="2B2523"/>
          </a:solidFill>
          <a:ln/>
          <a:effectLst>
            <a:outerShdw sx="100000" sy="100000" kx="0" ky="0" algn="bl" rotWithShape="0" blurRad="76200" dist="381" dir="5400000">
              <a:srgbClr val="000000">
                <a:alpha val="8000"/>
              </a:srgbClr>
            </a:outerShdw>
          </a:effectLst>
        </p:spPr>
      </p:sp>
      <p:sp>
        <p:nvSpPr>
          <p:cNvPr id="9" name="Text 7"/>
          <p:cNvSpPr/>
          <p:nvPr/>
        </p:nvSpPr>
        <p:spPr>
          <a:xfrm>
            <a:off x="6400800" y="1536192"/>
            <a:ext cx="4937760" cy="274320"/>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Now: negative binomial (Task 13)</a:t>
            </a:r>
            <a:endParaRPr lang="en-US" sz="1350" dirty="0"/>
          </a:p>
        </p:txBody>
      </p:sp>
      <p:sp>
        <p:nvSpPr>
          <p:cNvPr id="10" name="Text 8"/>
          <p:cNvSpPr/>
          <p:nvPr/>
        </p:nvSpPr>
        <p:spPr>
          <a:xfrm>
            <a:off x="6400800" y="1828800"/>
            <a:ext cx="4937760" cy="365760"/>
          </a:xfrm>
          <a:prstGeom prst="rect">
            <a:avLst/>
          </a:prstGeom>
          <a:noFill/>
          <a:ln/>
        </p:spPr>
        <p:txBody>
          <a:bodyPr wrap="square" lIns="0" tIns="0" rIns="0" bIns="0" rtlCol="0" anchor="ctr"/>
          <a:lstStyle/>
          <a:p>
            <a:pPr indent="0" marL="0">
              <a:buNone/>
            </a:pPr>
            <a:r>
              <a:rPr lang="en-US" sz="1100" i="1" dirty="0">
                <a:solidFill>
                  <a:srgbClr val="E7E8D1"/>
                </a:solidFill>
                <a:latin typeface="Calibri" pitchFamily="34" charset="0"/>
                <a:ea typeface="Calibri" pitchFamily="34" charset="-122"/>
                <a:cs typeface="Calibri" pitchFamily="34" charset="-120"/>
              </a:rPr>
              <a:t>"When conflict rises versus when vegetation stress rises, does reporting react equally?"</a:t>
            </a:r>
            <a:endParaRPr lang="en-US" sz="1100" dirty="0"/>
          </a:p>
        </p:txBody>
      </p:sp>
      <p:sp>
        <p:nvSpPr>
          <p:cNvPr id="11" name="Text 9"/>
          <p:cNvSpPr/>
          <p:nvPr/>
        </p:nvSpPr>
        <p:spPr>
          <a:xfrm>
            <a:off x="6400800" y="2231136"/>
            <a:ext cx="4937760" cy="3291840"/>
          </a:xfrm>
          <a:prstGeom prst="rect">
            <a:avLst/>
          </a:prstGeom>
          <a:noFill/>
          <a:ln/>
        </p:spPr>
        <p:txBody>
          <a:bodyPr wrap="square" lIns="0" tIns="0" rIns="0" bIns="0" rtlCol="0" anchor="ctr"/>
          <a:lstStyle/>
          <a:p>
            <a:pPr marL="342900" indent="-342900">
              <a:lnSpc>
                <a:spcPts val="1500"/>
              </a:lnSpc>
              <a:spcAft>
                <a:spcPts val="900"/>
              </a:spcAft>
              <a:buSzPct val="100000"/>
              <a:buChar char="•"/>
            </a:pPr>
            <a:r>
              <a:rPr lang="en-US" sz="1100" dirty="0">
                <a:solidFill>
                  <a:srgbClr val="E7E8D1"/>
                </a:solidFill>
                <a:latin typeface="Calibri" pitchFamily="34" charset="0"/>
                <a:ea typeface="Calibri" pitchFamily="34" charset="-122"/>
                <a:cs typeface="Calibri" pitchFamily="34" charset="-120"/>
              </a:rPr>
              <a:t>Outcome: how many reports that month (a count, not a yes/no).</a:t>
            </a:r>
            <a:endParaRPr lang="en-US" sz="1100" dirty="0"/>
          </a:p>
          <a:p>
            <a:pPr marL="342900" indent="-342900">
              <a:lnSpc>
                <a:spcPts val="1500"/>
              </a:lnSpc>
              <a:spcAft>
                <a:spcPts val="900"/>
              </a:spcAft>
              <a:buSzPct val="100000"/>
              <a:buChar char="•"/>
            </a:pPr>
            <a:r>
              <a:rPr lang="en-US" sz="1100" dirty="0">
                <a:solidFill>
                  <a:srgbClr val="E7E8D1"/>
                </a:solidFill>
                <a:latin typeface="Calibri" pitchFamily="34" charset="0"/>
                <a:ea typeface="Calibri" pitchFamily="34" charset="-122"/>
                <a:cs typeface="Calibri" pitchFamily="34" charset="-120"/>
              </a:rPr>
              <a:t>Predictors: only conflict intensity and vegetation stress, standardised onto the same scale, plus month as a control. No market, region or rainfall: they would only dilute a direct, two-way comparison.</a:t>
            </a:r>
            <a:endParaRPr lang="en-US" sz="1100" dirty="0"/>
          </a:p>
          <a:p>
            <a:pPr marL="342900" indent="-342900">
              <a:lnSpc>
                <a:spcPts val="1500"/>
              </a:lnSpc>
              <a:spcAft>
                <a:spcPts val="900"/>
              </a:spcAft>
              <a:buSzPct val="100000"/>
              <a:buChar char="•"/>
            </a:pPr>
            <a:r>
              <a:rPr lang="en-US" sz="1100" dirty="0">
                <a:solidFill>
                  <a:srgbClr val="E7E8D1"/>
                </a:solidFill>
                <a:latin typeface="Calibri" pitchFamily="34" charset="0"/>
                <a:ea typeface="Calibri" pitchFamily="34" charset="-122"/>
                <a:cs typeface="Calibri" pitchFamily="34" charset="-120"/>
              </a:rPr>
              <a:t>Built to ask a narrower, sharper question the logistic model was never designed for: are these two specific crisis signals answered by the same amount of attention, notch for notch?</a:t>
            </a:r>
            <a:endParaRPr lang="en-US" sz="1100" dirty="0"/>
          </a:p>
          <a:p>
            <a:pPr marL="342900" indent="-342900">
              <a:lnSpc>
                <a:spcPts val="1500"/>
              </a:lnSpc>
              <a:spcAft>
                <a:spcPts val="900"/>
              </a:spcAft>
              <a:buSzPct val="100000"/>
              <a:buChar char="•"/>
            </a:pPr>
            <a:r>
              <a:rPr lang="en-US" sz="1100" dirty="0">
                <a:solidFill>
                  <a:srgbClr val="E7E8D1"/>
                </a:solidFill>
                <a:latin typeface="Calibri" pitchFamily="34" charset="0"/>
                <a:ea typeface="Calibri" pitchFamily="34" charset="-122"/>
                <a:cs typeface="Calibri" pitchFamily="34" charset="-120"/>
              </a:rPr>
              <a:t>This is the model the 2026-08-27 feedback specifically asked for.</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27664" cy="502920"/>
          </a:xfrm>
          <a:prstGeom prst="rect">
            <a:avLst/>
          </a:prstGeom>
          <a:noFill/>
          <a:ln/>
        </p:spPr>
        <p:txBody>
          <a:bodyPr wrap="square" lIns="0" tIns="0" rIns="0" bIns="0" rtlCol="0" anchor="ctr"/>
          <a:lstStyle/>
          <a:p>
            <a:pPr indent="0" marL="0">
              <a:buNone/>
            </a:pPr>
            <a:r>
              <a:rPr lang="en-US" sz="2500" b="1" dirty="0">
                <a:solidFill>
                  <a:srgbClr val="2B2523"/>
                </a:solidFill>
                <a:latin typeface="Cambria" pitchFamily="34" charset="0"/>
                <a:ea typeface="Cambria" pitchFamily="34" charset="-122"/>
                <a:cs typeface="Cambria" pitchFamily="34" charset="-120"/>
              </a:rPr>
              <a:t>Task 13: model specification, in full</a:t>
            </a:r>
            <a:endParaRPr lang="en-US" sz="2500" dirty="0"/>
          </a:p>
        </p:txBody>
      </p:sp>
      <p:sp>
        <p:nvSpPr>
          <p:cNvPr id="3" name="Text 1"/>
          <p:cNvSpPr/>
          <p:nvPr/>
        </p:nvSpPr>
        <p:spPr>
          <a:xfrm>
            <a:off x="566928" y="969264"/>
            <a:ext cx="11027664" cy="310896"/>
          </a:xfrm>
          <a:prstGeom prst="rect">
            <a:avLst/>
          </a:prstGeom>
          <a:noFill/>
          <a:ln/>
        </p:spPr>
        <p:txBody>
          <a:bodyPr wrap="square" lIns="0" tIns="0" rIns="0" bIns="0" rtlCol="0" anchor="ctr"/>
          <a:lstStyle/>
          <a:p>
            <a:pPr indent="0" marL="0">
              <a:buNone/>
            </a:pPr>
            <a:r>
              <a:rPr lang="en-US" sz="1250" i="1" dirty="0">
                <a:solidFill>
                  <a:srgbClr val="7A6E68"/>
                </a:solidFill>
                <a:latin typeface="Calibri" pitchFamily="34" charset="0"/>
                <a:ea typeface="Calibri" pitchFamily="34" charset="-122"/>
                <a:cs typeface="Calibri" pitchFamily="34" charset="-120"/>
              </a:rPr>
              <a:t>What goes in, how it is standardised, and why that makes a notch of either predictor comparable</a:t>
            </a:r>
            <a:endParaRPr lang="en-US" sz="1250" dirty="0"/>
          </a:p>
        </p:txBody>
      </p:sp>
      <p:sp>
        <p:nvSpPr>
          <p:cNvPr id="4" name="Shape 2"/>
          <p:cNvSpPr/>
          <p:nvPr/>
        </p:nvSpPr>
        <p:spPr>
          <a:xfrm>
            <a:off x="566928" y="1371600"/>
            <a:ext cx="11027664" cy="1371600"/>
          </a:xfrm>
          <a:prstGeom prst="roundRect">
            <a:avLst>
              <a:gd name="adj" fmla="val 4000"/>
            </a:avLst>
          </a:prstGeom>
          <a:solidFill>
            <a:srgbClr val="F7F5F1"/>
          </a:solidFill>
          <a:ln/>
          <a:effectLst>
            <a:outerShdw sx="100000" sy="100000" kx="0" ky="0" algn="bl" rotWithShape="0" blurRad="76200" dist="381" dir="5400000">
              <a:srgbClr val="000000">
                <a:alpha val="8000"/>
              </a:srgbClr>
            </a:outerShdw>
          </a:effectLst>
        </p:spPr>
      </p:sp>
      <p:sp>
        <p:nvSpPr>
          <p:cNvPr id="5" name="Text 3"/>
          <p:cNvSpPr/>
          <p:nvPr/>
        </p:nvSpPr>
        <p:spPr>
          <a:xfrm>
            <a:off x="786384" y="1517904"/>
            <a:ext cx="9144000" cy="274320"/>
          </a:xfrm>
          <a:prstGeom prst="rect">
            <a:avLst/>
          </a:prstGeom>
          <a:noFill/>
          <a:ln/>
        </p:spPr>
        <p:txBody>
          <a:bodyPr wrap="square" lIns="0" tIns="0" rIns="0" bIns="0" rtlCol="0" anchor="ctr"/>
          <a:lstStyle/>
          <a:p>
            <a:pPr indent="0" marL="0">
              <a:buNone/>
            </a:pPr>
            <a:r>
              <a:rPr lang="en-US" sz="1350" b="1" dirty="0">
                <a:solidFill>
                  <a:srgbClr val="B85042"/>
                </a:solidFill>
                <a:latin typeface="Cambria" pitchFamily="34" charset="0"/>
                <a:ea typeface="Cambria" pitchFamily="34" charset="-122"/>
                <a:cs typeface="Cambria" pitchFamily="34" charset="-120"/>
              </a:rPr>
              <a:t>Why negative binomial, not linear regression or Poisson</a:t>
            </a:r>
            <a:endParaRPr lang="en-US" sz="1350" dirty="0"/>
          </a:p>
        </p:txBody>
      </p:sp>
      <p:sp>
        <p:nvSpPr>
          <p:cNvPr id="6" name="Text 4"/>
          <p:cNvSpPr/>
          <p:nvPr/>
        </p:nvSpPr>
        <p:spPr>
          <a:xfrm>
            <a:off x="786384" y="1792224"/>
            <a:ext cx="10588752" cy="868680"/>
          </a:xfrm>
          <a:prstGeom prst="rect">
            <a:avLst/>
          </a:prstGeom>
          <a:noFill/>
          <a:ln/>
        </p:spPr>
        <p:txBody>
          <a:bodyPr wrap="square" lIns="0" tIns="0" rIns="0" bIns="0" rtlCol="0" anchor="ctr"/>
          <a:lstStyle/>
          <a:p>
            <a:pPr indent="0" marL="0">
              <a:lnSpc>
                <a:spcPts val="1450"/>
              </a:lnSpc>
              <a:buNone/>
            </a:pPr>
            <a:r>
              <a:rPr lang="en-US" sz="1100" dirty="0">
                <a:solidFill>
                  <a:srgbClr val="7A6E68"/>
                </a:solidFill>
                <a:latin typeface="Calibri" pitchFamily="34" charset="0"/>
                <a:ea typeface="Calibri" pitchFamily="34" charset="-122"/>
                <a:cs typeface="Calibri" pitchFamily="34" charset="-120"/>
              </a:rPr>
              <a:t>The outcome, `reports_mentioning_district_count`, is a count: 0, 1, 2 and so on, never negative. Ordinary linear regression would happily predict a negative number of reports, so it is the wrong tool. Poisson regression is built for counts, but assumes the variance equals the mean; here the variance is over 6 times the mean, a large overdispersion, so negative binomial regression, which allows variance to exceed the mean, is the correct choice.</a:t>
            </a:r>
            <a:endParaRPr lang="en-US" sz="1100" dirty="0"/>
          </a:p>
        </p:txBody>
      </p:sp>
      <p:sp>
        <p:nvSpPr>
          <p:cNvPr id="7" name="Shape 5"/>
          <p:cNvSpPr/>
          <p:nvPr/>
        </p:nvSpPr>
        <p:spPr>
          <a:xfrm>
            <a:off x="566928" y="2926080"/>
            <a:ext cx="11027664" cy="1005840"/>
          </a:xfrm>
          <a:prstGeom prst="roundRect">
            <a:avLst>
              <a:gd name="adj" fmla="val 5455"/>
            </a:avLst>
          </a:prstGeom>
          <a:solidFill>
            <a:srgbClr val="2B2523"/>
          </a:solidFill>
          <a:ln/>
          <a:effectLst>
            <a:outerShdw sx="100000" sy="100000" kx="0" ky="0" algn="bl" rotWithShape="0" blurRad="76200" dist="381" dir="5400000">
              <a:srgbClr val="000000">
                <a:alpha val="8000"/>
              </a:srgbClr>
            </a:outerShdw>
          </a:effectLst>
        </p:spPr>
      </p:sp>
      <p:sp>
        <p:nvSpPr>
          <p:cNvPr id="8" name="Text 6"/>
          <p:cNvSpPr/>
          <p:nvPr/>
        </p:nvSpPr>
        <p:spPr>
          <a:xfrm>
            <a:off x="786384" y="3072384"/>
            <a:ext cx="8229600" cy="365760"/>
          </a:xfrm>
          <a:prstGeom prst="rect">
            <a:avLst/>
          </a:prstGeom>
          <a:noFill/>
          <a:ln/>
        </p:spPr>
        <p:txBody>
          <a:bodyPr wrap="square" lIns="0" tIns="0" rIns="0" bIns="0" rtlCol="0" anchor="ctr"/>
          <a:lstStyle/>
          <a:p>
            <a:pPr indent="0" marL="0">
              <a:buNone/>
            </a:pPr>
            <a:r>
              <a:rPr lang="en-US" sz="1500" b="1" dirty="0">
                <a:solidFill>
                  <a:srgbClr val="FFFFFF"/>
                </a:solidFill>
                <a:latin typeface="Courier New" pitchFamily="34" charset="0"/>
                <a:ea typeface="Courier New" pitchFamily="34" charset="-122"/>
                <a:cs typeface="Courier New" pitchFamily="34" charset="-120"/>
              </a:rPr>
              <a:t>reports ~ conflict_z + vhi_stress_z + C(month)</a:t>
            </a:r>
            <a:endParaRPr lang="en-US" sz="1500" dirty="0"/>
          </a:p>
        </p:txBody>
      </p:sp>
      <p:sp>
        <p:nvSpPr>
          <p:cNvPr id="9" name="Text 7"/>
          <p:cNvSpPr/>
          <p:nvPr/>
        </p:nvSpPr>
        <p:spPr>
          <a:xfrm>
            <a:off x="786384" y="3456432"/>
            <a:ext cx="10588752" cy="457200"/>
          </a:xfrm>
          <a:prstGeom prst="rect">
            <a:avLst/>
          </a:prstGeom>
          <a:noFill/>
          <a:ln/>
        </p:spPr>
        <p:txBody>
          <a:bodyPr wrap="square" lIns="0" tIns="0" rIns="0" bIns="0" rtlCol="0" anchor="ctr"/>
          <a:lstStyle/>
          <a:p>
            <a:pPr indent="0" marL="0">
              <a:lnSpc>
                <a:spcPts val="1350"/>
              </a:lnSpc>
              <a:buNone/>
            </a:pPr>
            <a:r>
              <a:rPr lang="en-US" sz="1050" dirty="0">
                <a:solidFill>
                  <a:srgbClr val="E7E8D1"/>
                </a:solidFill>
                <a:latin typeface="Calibri" pitchFamily="34" charset="0"/>
                <a:ea typeface="Calibri" pitchFamily="34" charset="-122"/>
                <a:cs typeface="Calibri" pitchFamily="34" charset="-120"/>
              </a:rPr>
              <a:t>Month controls seasonality (some months attract more reporting nationwide for reasons unrelated to conflict or vegetation). Standard errors are clustered by district (n=74): each district contributes 12 correlated rows, not 12 independent ones, and clustering corrects the uncertainty estimates for that.</a:t>
            </a:r>
            <a:endParaRPr lang="en-US" sz="1050" dirty="0"/>
          </a:p>
        </p:txBody>
      </p:sp>
      <p:sp>
        <p:nvSpPr>
          <p:cNvPr id="10" name="Shape 8"/>
          <p:cNvSpPr/>
          <p:nvPr/>
        </p:nvSpPr>
        <p:spPr>
          <a:xfrm>
            <a:off x="566928" y="4069080"/>
            <a:ext cx="11027664" cy="1737360"/>
          </a:xfrm>
          <a:prstGeom prst="roundRect">
            <a:avLst>
              <a:gd name="adj" fmla="val 3158"/>
            </a:avLst>
          </a:prstGeom>
          <a:solidFill>
            <a:srgbClr val="E7E8D1"/>
          </a:solidFill>
          <a:ln/>
          <a:effectLst>
            <a:outerShdw sx="100000" sy="100000" kx="0" ky="0" algn="bl" rotWithShape="0" blurRad="76200" dist="381" dir="5400000">
              <a:srgbClr val="000000">
                <a:alpha val="8000"/>
              </a:srgbClr>
            </a:outerShdw>
          </a:effectLst>
        </p:spPr>
      </p:sp>
      <p:sp>
        <p:nvSpPr>
          <p:cNvPr id="11" name="Text 9"/>
          <p:cNvSpPr/>
          <p:nvPr/>
        </p:nvSpPr>
        <p:spPr>
          <a:xfrm>
            <a:off x="786384" y="4206240"/>
            <a:ext cx="9144000" cy="274320"/>
          </a:xfrm>
          <a:prstGeom prst="rect">
            <a:avLst/>
          </a:prstGeom>
          <a:noFill/>
          <a:ln/>
        </p:spPr>
        <p:txBody>
          <a:bodyPr wrap="square" lIns="0" tIns="0" rIns="0" bIns="0" rtlCol="0" anchor="ctr"/>
          <a:lstStyle/>
          <a:p>
            <a:pPr indent="0" marL="0">
              <a:buNone/>
            </a:pPr>
            <a:r>
              <a:rPr lang="en-US" sz="1350" b="1" dirty="0">
                <a:solidFill>
                  <a:srgbClr val="B85042"/>
                </a:solidFill>
                <a:latin typeface="Cambria" pitchFamily="34" charset="0"/>
                <a:ea typeface="Cambria" pitchFamily="34" charset="-122"/>
                <a:cs typeface="Cambria" pitchFamily="34" charset="-120"/>
              </a:rPr>
              <a:t>Standardisation: why "one notch" means the same thing on both axes</a:t>
            </a:r>
            <a:endParaRPr lang="en-US" sz="1350" dirty="0"/>
          </a:p>
        </p:txBody>
      </p:sp>
      <p:sp>
        <p:nvSpPr>
          <p:cNvPr id="12" name="Text 10"/>
          <p:cNvSpPr/>
          <p:nvPr/>
        </p:nvSpPr>
        <p:spPr>
          <a:xfrm>
            <a:off x="786384" y="4480560"/>
            <a:ext cx="10588752" cy="777240"/>
          </a:xfrm>
          <a:prstGeom prst="rect">
            <a:avLst/>
          </a:prstGeom>
          <a:noFill/>
          <a:ln/>
        </p:spPr>
        <p:txBody>
          <a:bodyPr wrap="square" lIns="0" tIns="0" rIns="0" bIns="0" rtlCol="0" anchor="ctr"/>
          <a:lstStyle/>
          <a:p>
            <a:pPr indent="0" marL="0">
              <a:lnSpc>
                <a:spcPts val="1380"/>
              </a:lnSpc>
              <a:buNone/>
            </a:pPr>
            <a:r>
              <a:rPr lang="en-US" sz="1070" dirty="0">
                <a:solidFill>
                  <a:srgbClr val="2B2523"/>
                </a:solidFill>
                <a:latin typeface="Calibri" pitchFamily="34" charset="0"/>
                <a:ea typeface="Calibri" pitchFamily="34" charset="-122"/>
                <a:cs typeface="Calibri" pitchFamily="34" charset="-120"/>
              </a:rPr>
              <a:t>Conflict: `log1p(conflict_event_count)`, then z-scored (mean 0, standard deviation 1). The log1p transform removes heavy right-skew, and log1p rather than plain log because a district can genuinely have 0 events in a month, and log(0) is undefined. Vegetation stress: `-vegetation_health_index_mean`, sign-flipped so that higher always means worse, then z-scored the same way.</a:t>
            </a:r>
            <a:endParaRPr lang="en-US" sz="1070" dirty="0"/>
          </a:p>
        </p:txBody>
      </p:sp>
      <p:sp>
        <p:nvSpPr>
          <p:cNvPr id="13" name="Text 11"/>
          <p:cNvSpPr/>
          <p:nvPr/>
        </p:nvSpPr>
        <p:spPr>
          <a:xfrm>
            <a:off x="786384" y="5285232"/>
            <a:ext cx="10588752" cy="502920"/>
          </a:xfrm>
          <a:prstGeom prst="rect">
            <a:avLst/>
          </a:prstGeom>
          <a:noFill/>
          <a:ln/>
        </p:spPr>
        <p:txBody>
          <a:bodyPr wrap="square" lIns="0" tIns="0" rIns="0" bIns="0" rtlCol="0" anchor="ctr"/>
          <a:lstStyle/>
          <a:p>
            <a:pPr indent="0" marL="0">
              <a:lnSpc>
                <a:spcPts val="1380"/>
              </a:lnSpc>
              <a:buNone/>
            </a:pPr>
            <a:r>
              <a:rPr lang="en-US" sz="1070" i="1" dirty="0">
                <a:solidFill>
                  <a:srgbClr val="B85042"/>
                </a:solidFill>
                <a:latin typeface="Calibri" pitchFamily="34" charset="0"/>
                <a:ea typeface="Calibri" pitchFamily="34" charset="-122"/>
                <a:cs typeface="Calibri" pitchFamily="34" charset="-120"/>
              </a:rPr>
              <a:t>Because both predictors are built the same way, a district-month can sit, for example, 2.9 conflict notches above the Somalia-wide average (Afgooye, August 2024, 41 events) or 1.4 vegetation-stress notches below it, and "one notch" of either is a directly comparable movement, which is exactly what a fair effect-size comparison requires.</a:t>
            </a:r>
            <a:endParaRPr lang="en-US" sz="107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27664" cy="502920"/>
          </a:xfrm>
          <a:prstGeom prst="rect">
            <a:avLst/>
          </a:prstGeom>
          <a:noFill/>
          <a:ln/>
        </p:spPr>
        <p:txBody>
          <a:bodyPr wrap="square" lIns="0" tIns="0" rIns="0" bIns="0" rtlCol="0" anchor="ctr"/>
          <a:lstStyle/>
          <a:p>
            <a:pPr indent="0" marL="0">
              <a:buNone/>
            </a:pPr>
            <a:r>
              <a:rPr lang="en-US" sz="2500" b="1" dirty="0">
                <a:solidFill>
                  <a:srgbClr val="2B2523"/>
                </a:solidFill>
                <a:latin typeface="Cambria" pitchFamily="34" charset="0"/>
                <a:ea typeface="Cambria" pitchFamily="34" charset="-122"/>
                <a:cs typeface="Cambria" pitchFamily="34" charset="-120"/>
              </a:rPr>
              <a:t>Task 13: results, and what each number means</a:t>
            </a:r>
            <a:endParaRPr lang="en-US" sz="2500" dirty="0"/>
          </a:p>
        </p:txBody>
      </p:sp>
      <p:sp>
        <p:nvSpPr>
          <p:cNvPr id="3" name="Text 1"/>
          <p:cNvSpPr/>
          <p:nvPr/>
        </p:nvSpPr>
        <p:spPr>
          <a:xfrm>
            <a:off x="566928" y="969264"/>
            <a:ext cx="11027664" cy="310896"/>
          </a:xfrm>
          <a:prstGeom prst="rect">
            <a:avLst/>
          </a:prstGeom>
          <a:noFill/>
          <a:ln/>
        </p:spPr>
        <p:txBody>
          <a:bodyPr wrap="square" lIns="0" tIns="0" rIns="0" bIns="0" rtlCol="0" anchor="ctr"/>
          <a:lstStyle/>
          <a:p>
            <a:pPr indent="0" marL="0">
              <a:buNone/>
            </a:pPr>
            <a:r>
              <a:rPr lang="en-US" sz="1250" i="1" dirty="0">
                <a:solidFill>
                  <a:srgbClr val="7A6E68"/>
                </a:solidFill>
                <a:latin typeface="Calibri" pitchFamily="34" charset="0"/>
                <a:ea typeface="Calibri" pitchFamily="34" charset="-122"/>
                <a:cs typeface="Calibri" pitchFamily="34" charset="-120"/>
              </a:rPr>
              <a:t>An incidence rate ratio (IRR), then a direct test of the two effects against each other</a:t>
            </a:r>
            <a:endParaRPr lang="en-US" sz="12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66928" y="1371600"/>
          <a:ext cx="5852160" cy="914400"/>
        </p:xfrm>
        <a:graphic>
          <a:graphicData uri="http://schemas.openxmlformats.org/drawingml/2006/table">
            <a:tbl>
              <a:tblPr/>
              <a:tblGrid>
                <a:gridCol w="2194560"/>
                <a:gridCol w="1097280"/>
                <a:gridCol w="1554480"/>
                <a:gridCol w="1005840"/>
              </a:tblGrid>
              <a:tr h="43891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Predictor</a:t>
                      </a:r>
                      <a:endParaRPr lang="en-US" sz="12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IRR</a:t>
                      </a:r>
                      <a:endParaRPr lang="en-US" sz="12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95% CI</a:t>
                      </a:r>
                      <a:endParaRPr lang="en-US" sz="12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a:t>
                      </a:r>
                      <a:endParaRPr lang="en-US" sz="12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r>
              <a:tr h="438912">
                <a:tc>
                  <a:txBody>
                    <a:bodyPr/>
                    <a:lstStyle/>
                    <a:p>
                      <a:pPr indent="0" marL="0">
                        <a:buNone/>
                      </a:pPr>
                      <a:r>
                        <a:rPr lang="en-US" sz="1200" dirty="0">
                          <a:solidFill>
                            <a:srgbClr val="2B2523"/>
                          </a:solidFill>
                          <a:latin typeface="Calibri" pitchFamily="34" charset="0"/>
                          <a:ea typeface="Calibri" pitchFamily="34" charset="-122"/>
                          <a:cs typeface="Calibri" pitchFamily="34" charset="-120"/>
                        </a:rPr>
                        <a:t>Conflict intensity</a:t>
                      </a:r>
                      <a:endParaRPr lang="en-US" sz="12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200" b="1" dirty="0">
                          <a:solidFill>
                            <a:srgbClr val="B85042"/>
                          </a:solidFill>
                          <a:latin typeface="Calibri" pitchFamily="34" charset="0"/>
                          <a:ea typeface="Calibri" pitchFamily="34" charset="-122"/>
                          <a:cs typeface="Calibri" pitchFamily="34" charset="-120"/>
                        </a:rPr>
                        <a:t>1.69</a:t>
                      </a:r>
                      <a:endParaRPr lang="en-US" sz="12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200" dirty="0">
                          <a:solidFill>
                            <a:srgbClr val="2B2523"/>
                          </a:solidFill>
                          <a:latin typeface="Calibri" pitchFamily="34" charset="0"/>
                          <a:ea typeface="Calibri" pitchFamily="34" charset="-122"/>
                          <a:cs typeface="Calibri" pitchFamily="34" charset="-120"/>
                        </a:rPr>
                        <a:t>[1.42, 2.01]</a:t>
                      </a:r>
                      <a:endParaRPr lang="en-US" sz="12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200" dirty="0">
                          <a:solidFill>
                            <a:srgbClr val="2B2523"/>
                          </a:solidFill>
                          <a:latin typeface="Calibri" pitchFamily="34" charset="0"/>
                          <a:ea typeface="Calibri" pitchFamily="34" charset="-122"/>
                          <a:cs typeface="Calibri" pitchFamily="34" charset="-120"/>
                        </a:rPr>
                        <a:t>&lt; 0.0001</a:t>
                      </a:r>
                      <a:endParaRPr lang="en-US" sz="12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r>
              <a:tr h="438912">
                <a:tc>
                  <a:txBody>
                    <a:bodyPr/>
                    <a:lstStyle/>
                    <a:p>
                      <a:pPr indent="0" marL="0">
                        <a:buNone/>
                      </a:pPr>
                      <a:r>
                        <a:rPr lang="en-US" sz="1200" dirty="0">
                          <a:solidFill>
                            <a:srgbClr val="2B2523"/>
                          </a:solidFill>
                          <a:latin typeface="Calibri" pitchFamily="34" charset="0"/>
                          <a:ea typeface="Calibri" pitchFamily="34" charset="-122"/>
                          <a:cs typeface="Calibri" pitchFamily="34" charset="-120"/>
                        </a:rPr>
                        <a:t>Vegetation stress</a:t>
                      </a:r>
                      <a:endParaRPr lang="en-US" sz="12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200" dirty="0">
                          <a:solidFill>
                            <a:srgbClr val="2B2523"/>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200" dirty="0">
                          <a:solidFill>
                            <a:srgbClr val="2B2523"/>
                          </a:solidFill>
                          <a:latin typeface="Calibri" pitchFamily="34" charset="0"/>
                          <a:ea typeface="Calibri" pitchFamily="34" charset="-122"/>
                          <a:cs typeface="Calibri" pitchFamily="34" charset="-120"/>
                        </a:rPr>
                        <a:t>straddles 1.0</a:t>
                      </a:r>
                      <a:endParaRPr lang="en-US" sz="12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200" dirty="0">
                          <a:solidFill>
                            <a:srgbClr val="2B2523"/>
                          </a:solidFill>
                          <a:latin typeface="Calibri" pitchFamily="34" charset="0"/>
                          <a:ea typeface="Calibri" pitchFamily="34" charset="-122"/>
                          <a:cs typeface="Calibri" pitchFamily="34" charset="-120"/>
                        </a:rPr>
                        <a:t>not significant</a:t>
                      </a:r>
                      <a:endParaRPr lang="en-US" sz="12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r>
            </a:tbl>
          </a:graphicData>
        </a:graphic>
      </p:graphicFrame>
      <p:sp>
        <p:nvSpPr>
          <p:cNvPr id="5" name="Text 2"/>
          <p:cNvSpPr/>
          <p:nvPr/>
        </p:nvSpPr>
        <p:spPr>
          <a:xfrm>
            <a:off x="566928" y="2880360"/>
            <a:ext cx="5852160" cy="1600200"/>
          </a:xfrm>
          <a:prstGeom prst="rect">
            <a:avLst/>
          </a:prstGeom>
          <a:noFill/>
          <a:ln/>
        </p:spPr>
        <p:txBody>
          <a:bodyPr wrap="square" lIns="0" tIns="0" rIns="0" bIns="0" rtlCol="0" anchor="ctr"/>
          <a:lstStyle/>
          <a:p>
            <a:pPr indent="0" marL="0">
              <a:lnSpc>
                <a:spcPts val="1450"/>
              </a:lnSpc>
              <a:buNone/>
            </a:pPr>
            <a:r>
              <a:rPr lang="en-US" sz="1100" dirty="0">
                <a:solidFill>
                  <a:srgbClr val="7A6E68"/>
                </a:solidFill>
                <a:latin typeface="Calibri" pitchFamily="34" charset="0"/>
                <a:ea typeface="Calibri" pitchFamily="34" charset="-122"/>
                <a:cs typeface="Calibri" pitchFamily="34" charset="-120"/>
              </a:rPr>
              <a:t>An IRR of 1.0 means no effect at all; above 1.0 means reports go up; below 1.0 means reports go down. A one-notch rise in conflict multiplies the expected number of reports by 1.69, an increase of about 69%, holding vegetation stress and month fixed. This is far from zero (the 95% CI sits entirely above 1.0) and highly unlikely to be chance. A one-notch rise in vegetation stress does not move expected reports at all, once conflict and month are held fixed.</a:t>
            </a:r>
            <a:endParaRPr lang="en-US" sz="1100" dirty="0"/>
          </a:p>
        </p:txBody>
      </p:sp>
      <p:sp>
        <p:nvSpPr>
          <p:cNvPr id="6" name="Shape 3"/>
          <p:cNvSpPr/>
          <p:nvPr/>
        </p:nvSpPr>
        <p:spPr>
          <a:xfrm>
            <a:off x="6492240" y="1371600"/>
            <a:ext cx="5102352" cy="3108960"/>
          </a:xfrm>
          <a:prstGeom prst="roundRect">
            <a:avLst>
              <a:gd name="adj" fmla="val 1765"/>
            </a:avLst>
          </a:prstGeom>
          <a:solidFill>
            <a:srgbClr val="B85042"/>
          </a:solidFill>
          <a:ln/>
          <a:effectLst>
            <a:outerShdw sx="100000" sy="100000" kx="0" ky="0" algn="bl" rotWithShape="0" blurRad="76200" dist="381" dir="5400000">
              <a:srgbClr val="000000">
                <a:alpha val="8000"/>
              </a:srgbClr>
            </a:outerShdw>
          </a:effectLst>
        </p:spPr>
      </p:sp>
      <p:sp>
        <p:nvSpPr>
          <p:cNvPr id="7" name="Text 4"/>
          <p:cNvSpPr/>
          <p:nvPr/>
        </p:nvSpPr>
        <p:spPr>
          <a:xfrm>
            <a:off x="6729984" y="1536192"/>
            <a:ext cx="4754880" cy="274320"/>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Comparing the two effect sizes directly</a:t>
            </a:r>
            <a:endParaRPr lang="en-US" sz="1350" dirty="0"/>
          </a:p>
        </p:txBody>
      </p:sp>
      <p:sp>
        <p:nvSpPr>
          <p:cNvPr id="8" name="Text 5"/>
          <p:cNvSpPr/>
          <p:nvPr/>
        </p:nvSpPr>
        <p:spPr>
          <a:xfrm>
            <a:off x="6729984" y="1920240"/>
            <a:ext cx="4572000" cy="45720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chi2 = 9.04, p = 0.0026</a:t>
            </a:r>
            <a:endParaRPr lang="en-US" sz="2200" dirty="0"/>
          </a:p>
        </p:txBody>
      </p:sp>
      <p:sp>
        <p:nvSpPr>
          <p:cNvPr id="9" name="Text 6"/>
          <p:cNvSpPr/>
          <p:nvPr/>
        </p:nvSpPr>
        <p:spPr>
          <a:xfrm>
            <a:off x="6729984" y="2468880"/>
            <a:ext cx="4572000" cy="1737360"/>
          </a:xfrm>
          <a:prstGeom prst="rect">
            <a:avLst/>
          </a:prstGeom>
          <a:noFill/>
          <a:ln/>
        </p:spPr>
        <p:txBody>
          <a:bodyPr wrap="square" lIns="0" tIns="0" rIns="0" bIns="0" rtlCol="0" anchor="ctr"/>
          <a:lstStyle/>
          <a:p>
            <a:pPr indent="0" marL="0">
              <a:lnSpc>
                <a:spcPts val="1350"/>
              </a:lnSpc>
              <a:buNone/>
            </a:pPr>
            <a:r>
              <a:rPr lang="en-US" sz="1050" dirty="0">
                <a:solidFill>
                  <a:srgbClr val="FBEAE7"/>
                </a:solidFill>
                <a:latin typeface="Calibri" pitchFamily="34" charset="0"/>
                <a:ea typeface="Calibri" pitchFamily="34" charset="-122"/>
                <a:cs typeface="Calibri" pitchFamily="34" charset="-120"/>
              </a:rPr>
              <a:t>A Wald test of conflict_z coefficient = vhi_stress_z coefficient, tested directly against each other, not each against zero separately. Everything so far tests each predictor against zero, separately: conflict has an effect, vegetation stress does not. That is not quite the same claim as "reporting reacts more strongly to conflict"; two effects can both individually clear a significance threshold and still not differ from each other. This test closes that gap.</a:t>
            </a:r>
            <a:endParaRPr lang="en-US" sz="1050" dirty="0"/>
          </a:p>
        </p:txBody>
      </p:sp>
      <p:sp>
        <p:nvSpPr>
          <p:cNvPr id="10" name="Shape 7"/>
          <p:cNvSpPr/>
          <p:nvPr/>
        </p:nvSpPr>
        <p:spPr>
          <a:xfrm>
            <a:off x="566928" y="4709160"/>
            <a:ext cx="11027664" cy="1188720"/>
          </a:xfrm>
          <a:prstGeom prst="roundRect">
            <a:avLst>
              <a:gd name="adj" fmla="val 4615"/>
            </a:avLst>
          </a:prstGeom>
          <a:solidFill>
            <a:srgbClr val="E7E8D1"/>
          </a:solidFill>
          <a:ln/>
          <a:effectLst>
            <a:outerShdw sx="100000" sy="100000" kx="0" ky="0" algn="bl" rotWithShape="0" blurRad="76200" dist="381" dir="5400000">
              <a:srgbClr val="000000">
                <a:alpha val="8000"/>
              </a:srgbClr>
            </a:outerShdw>
          </a:effectLst>
        </p:spPr>
      </p:sp>
      <p:sp>
        <p:nvSpPr>
          <p:cNvPr id="11" name="Text 8"/>
          <p:cNvSpPr/>
          <p:nvPr/>
        </p:nvSpPr>
        <p:spPr>
          <a:xfrm>
            <a:off x="786384" y="4846320"/>
            <a:ext cx="10588752" cy="914400"/>
          </a:xfrm>
          <a:prstGeom prst="rect">
            <a:avLst/>
          </a:prstGeom>
          <a:noFill/>
          <a:ln/>
        </p:spPr>
        <p:txBody>
          <a:bodyPr wrap="square" lIns="0" tIns="0" rIns="0" bIns="0" rtlCol="0" anchor="ctr"/>
          <a:lstStyle/>
          <a:p>
            <a:pPr indent="0" marL="0">
              <a:lnSpc>
                <a:spcPts val="1550"/>
              </a:lnSpc>
              <a:buNone/>
            </a:pPr>
            <a:r>
              <a:rPr lang="en-US" sz="1200" b="1" i="1" dirty="0">
                <a:solidFill>
                  <a:srgbClr val="B85042"/>
                </a:solidFill>
                <a:latin typeface="Calibri" pitchFamily="34" charset="0"/>
                <a:ea typeface="Calibri" pitchFamily="34" charset="-122"/>
                <a:cs typeface="Calibri" pitchFamily="34" charset="-120"/>
              </a:rPr>
              <a:t>Result: the conflict coefficient is about 1.70 times the size of the vegetation-stress coefficient, and this difference is itself statistically significant, not merely a difference in whether each cleared its own threshold.</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27664" cy="502920"/>
          </a:xfrm>
          <a:prstGeom prst="rect">
            <a:avLst/>
          </a:prstGeom>
          <a:noFill/>
          <a:ln/>
        </p:spPr>
        <p:txBody>
          <a:bodyPr wrap="square" lIns="0" tIns="0" rIns="0" bIns="0" rtlCol="0" anchor="ctr"/>
          <a:lstStyle/>
          <a:p>
            <a:pPr indent="0" marL="0">
              <a:buNone/>
            </a:pPr>
            <a:r>
              <a:rPr lang="en-US" sz="2500" b="1" dirty="0">
                <a:solidFill>
                  <a:srgbClr val="2B2523"/>
                </a:solidFill>
                <a:latin typeface="Cambria" pitchFamily="34" charset="0"/>
                <a:ea typeface="Cambria" pitchFamily="34" charset="-122"/>
                <a:cs typeface="Cambria" pitchFamily="34" charset="-120"/>
              </a:rPr>
              <a:t>Task 13: robustness, checked two ways</a:t>
            </a:r>
            <a:endParaRPr lang="en-US" sz="2500" dirty="0"/>
          </a:p>
        </p:txBody>
      </p:sp>
      <p:sp>
        <p:nvSpPr>
          <p:cNvPr id="3" name="Text 1"/>
          <p:cNvSpPr/>
          <p:nvPr/>
        </p:nvSpPr>
        <p:spPr>
          <a:xfrm>
            <a:off x="566928" y="969264"/>
            <a:ext cx="11027664" cy="310896"/>
          </a:xfrm>
          <a:prstGeom prst="rect">
            <a:avLst/>
          </a:prstGeom>
          <a:noFill/>
          <a:ln/>
        </p:spPr>
        <p:txBody>
          <a:bodyPr wrap="square" lIns="0" tIns="0" rIns="0" bIns="0" rtlCol="0" anchor="ctr"/>
          <a:lstStyle/>
          <a:p>
            <a:pPr indent="0" marL="0">
              <a:buNone/>
            </a:pPr>
            <a:r>
              <a:rPr lang="en-US" sz="1250" i="1" dirty="0">
                <a:solidFill>
                  <a:srgbClr val="7A6E68"/>
                </a:solidFill>
                <a:latin typeface="Calibri" pitchFamily="34" charset="0"/>
                <a:ea typeface="Calibri" pitchFamily="34" charset="-122"/>
                <a:cs typeface="Calibri" pitchFamily="34" charset="-120"/>
              </a:rPr>
              <a:t>Does the Banadir exclusion matter, and does the underlying pattern generalise out of sample?</a:t>
            </a:r>
            <a:endParaRPr lang="en-US" sz="1250" dirty="0"/>
          </a:p>
        </p:txBody>
      </p:sp>
      <p:sp>
        <p:nvSpPr>
          <p:cNvPr id="4" name="Shape 2"/>
          <p:cNvSpPr/>
          <p:nvPr/>
        </p:nvSpPr>
        <p:spPr>
          <a:xfrm>
            <a:off x="566928" y="1371600"/>
            <a:ext cx="11027664" cy="2103120"/>
          </a:xfrm>
          <a:prstGeom prst="roundRect">
            <a:avLst>
              <a:gd name="adj" fmla="val 2609"/>
            </a:avLst>
          </a:prstGeom>
          <a:solidFill>
            <a:srgbClr val="F7F5F1"/>
          </a:solidFill>
          <a:ln/>
          <a:effectLst>
            <a:outerShdw sx="100000" sy="100000" kx="0" ky="0" algn="bl" rotWithShape="0" blurRad="76200" dist="381" dir="5400000">
              <a:srgbClr val="000000">
                <a:alpha val="8000"/>
              </a:srgbClr>
            </a:outerShdw>
          </a:effectLst>
        </p:spPr>
      </p:sp>
      <p:sp>
        <p:nvSpPr>
          <p:cNvPr id="5" name="Text 3"/>
          <p:cNvSpPr/>
          <p:nvPr/>
        </p:nvSpPr>
        <p:spPr>
          <a:xfrm>
            <a:off x="804672" y="1536192"/>
            <a:ext cx="9144000" cy="274320"/>
          </a:xfrm>
          <a:prstGeom prst="rect">
            <a:avLst/>
          </a:prstGeom>
          <a:noFill/>
          <a:ln/>
        </p:spPr>
        <p:txBody>
          <a:bodyPr wrap="square" lIns="0" tIns="0" rIns="0" bIns="0" rtlCol="0" anchor="ctr"/>
          <a:lstStyle/>
          <a:p>
            <a:pPr indent="0" marL="0">
              <a:buNone/>
            </a:pPr>
            <a:r>
              <a:rPr lang="en-US" sz="1350" b="1" dirty="0">
                <a:solidFill>
                  <a:srgbClr val="B85042"/>
                </a:solidFill>
                <a:latin typeface="Cambria" pitchFamily="34" charset="0"/>
                <a:ea typeface="Cambria" pitchFamily="34" charset="-122"/>
                <a:cs typeface="Cambria" pitchFamily="34" charset="-120"/>
              </a:rPr>
              <a:t>Does excluding Banadir change the result?</a:t>
            </a:r>
            <a:endParaRPr lang="en-US" sz="1350" dirty="0"/>
          </a:p>
        </p:txBody>
      </p:sp>
      <p:sp>
        <p:nvSpPr>
          <p:cNvPr id="6" name="Text 4"/>
          <p:cNvSpPr/>
          <p:nvPr/>
        </p:nvSpPr>
        <p:spPr>
          <a:xfrm>
            <a:off x="804672" y="1847088"/>
            <a:ext cx="10552176" cy="457200"/>
          </a:xfrm>
          <a:prstGeom prst="rect">
            <a:avLst/>
          </a:prstGeom>
          <a:noFill/>
          <a:ln/>
        </p:spPr>
        <p:txBody>
          <a:bodyPr wrap="square" lIns="0" tIns="0" rIns="0" bIns="0" rtlCol="0" anchor="ctr"/>
          <a:lstStyle/>
          <a:p>
            <a:pPr indent="0" marL="0">
              <a:lnSpc>
                <a:spcPts val="1450"/>
              </a:lnSpc>
              <a:buNone/>
            </a:pPr>
            <a:r>
              <a:rPr lang="en-US" sz="1100" dirty="0">
                <a:solidFill>
                  <a:srgbClr val="7A6E68"/>
                </a:solidFill>
                <a:latin typeface="Calibri" pitchFamily="34" charset="0"/>
                <a:ea typeface="Calibri" pitchFamily="34" charset="-122"/>
                <a:cs typeface="Calibri" pitchFamily="34" charset="-120"/>
              </a:rPr>
              <a:t>Banadir is mentioned in 12 of 12 months, which causes perfect separation in the main fit, so it is excluded there and checked separately with an L2-penalised model that can include it.</a:t>
            </a:r>
            <a:endParaRPr lang="en-US" sz="11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804672" y="2377440"/>
          <a:ext cx="8686800" cy="914400"/>
        </p:xfrm>
        <a:graphic>
          <a:graphicData uri="http://schemas.openxmlformats.org/drawingml/2006/table">
            <a:tbl>
              <a:tblPr/>
              <a:tblGrid>
                <a:gridCol w="4297680"/>
                <a:gridCol w="2194560"/>
                <a:gridCol w="2194560"/>
              </a:tblGrid>
              <a:tr h="365760">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Conflict IRR</a:t>
                      </a:r>
                      <a:endParaRPr lang="en-US" sz="11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Vegetation-stress IRR</a:t>
                      </a:r>
                      <a:endParaRPr lang="en-US" sz="11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r>
              <a:tr h="365760">
                <a:tc>
                  <a:txBody>
                    <a:bodyPr/>
                    <a:lstStyle/>
                    <a:p>
                      <a:pPr indent="0" marL="0">
                        <a:buNone/>
                      </a:pPr>
                      <a:r>
                        <a:rPr lang="en-US" sz="1100" dirty="0">
                          <a:solidFill>
                            <a:srgbClr val="2B2523"/>
                          </a:solidFill>
                          <a:latin typeface="Calibri" pitchFamily="34" charset="0"/>
                          <a:ea typeface="Calibri" pitchFamily="34" charset="-122"/>
                          <a:cs typeface="Calibri" pitchFamily="34" charset="-120"/>
                        </a:rPr>
                        <a:t>Main fit (Banadir excluded)</a:t>
                      </a:r>
                      <a:endParaRPr lang="en-US" sz="11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100" dirty="0">
                          <a:solidFill>
                            <a:srgbClr val="2B2523"/>
                          </a:solidFill>
                          <a:latin typeface="Calibri" pitchFamily="34" charset="0"/>
                          <a:ea typeface="Calibri" pitchFamily="34" charset="-122"/>
                          <a:cs typeface="Calibri" pitchFamily="34" charset="-120"/>
                        </a:rPr>
                        <a:t>1.69</a:t>
                      </a:r>
                      <a:endParaRPr lang="en-US" sz="11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100" dirty="0">
                          <a:solidFill>
                            <a:srgbClr val="2B2523"/>
                          </a:solidFill>
                          <a:latin typeface="Calibri" pitchFamily="34" charset="0"/>
                          <a:ea typeface="Calibri" pitchFamily="34" charset="-122"/>
                          <a:cs typeface="Calibri" pitchFamily="34" charset="-120"/>
                        </a:rPr>
                        <a:t>1.00</a:t>
                      </a:r>
                      <a:endParaRPr lang="en-US" sz="11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r>
              <a:tr h="365760">
                <a:tc>
                  <a:txBody>
                    <a:bodyPr/>
                    <a:lstStyle/>
                    <a:p>
                      <a:pPr indent="0" marL="0">
                        <a:buNone/>
                      </a:pPr>
                      <a:r>
                        <a:rPr lang="en-US" sz="1100" dirty="0">
                          <a:solidFill>
                            <a:srgbClr val="2B2523"/>
                          </a:solidFill>
                          <a:latin typeface="Calibri" pitchFamily="34" charset="0"/>
                          <a:ea typeface="Calibri" pitchFamily="34" charset="-122"/>
                          <a:cs typeface="Calibri" pitchFamily="34" charset="-120"/>
                        </a:rPr>
                        <a:t>Robustness fit (Banadir included, L2-penalised)</a:t>
                      </a:r>
                      <a:endParaRPr lang="en-US" sz="11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100" dirty="0">
                          <a:solidFill>
                            <a:srgbClr val="B85042"/>
                          </a:solidFill>
                          <a:latin typeface="Calibri" pitchFamily="34" charset="0"/>
                          <a:ea typeface="Calibri" pitchFamily="34" charset="-122"/>
                          <a:cs typeface="Calibri" pitchFamily="34" charset="-120"/>
                        </a:rPr>
                        <a:t>1.82</a:t>
                      </a:r>
                      <a:endParaRPr lang="en-US" sz="11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100" dirty="0">
                          <a:solidFill>
                            <a:srgbClr val="B85042"/>
                          </a:solidFill>
                          <a:latin typeface="Calibri" pitchFamily="34" charset="0"/>
                          <a:ea typeface="Calibri" pitchFamily="34" charset="-122"/>
                          <a:cs typeface="Calibri" pitchFamily="34" charset="-120"/>
                        </a:rPr>
                        <a:t>1.06</a:t>
                      </a:r>
                      <a:endParaRPr lang="en-US" sz="11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r>
            </a:tbl>
          </a:graphicData>
        </a:graphic>
      </p:graphicFrame>
      <p:sp>
        <p:nvSpPr>
          <p:cNvPr id="8" name="Text 5"/>
          <p:cNvSpPr/>
          <p:nvPr/>
        </p:nvSpPr>
        <p:spPr>
          <a:xfrm>
            <a:off x="804672" y="3200400"/>
            <a:ext cx="8686800" cy="274320"/>
          </a:xfrm>
          <a:prstGeom prst="rect">
            <a:avLst/>
          </a:prstGeom>
          <a:noFill/>
          <a:ln/>
        </p:spPr>
        <p:txBody>
          <a:bodyPr wrap="square" lIns="0" tIns="0" rIns="0" bIns="0" rtlCol="0" anchor="ctr"/>
          <a:lstStyle/>
          <a:p>
            <a:pPr indent="0" marL="0">
              <a:buNone/>
            </a:pPr>
            <a:r>
              <a:rPr lang="en-US" sz="1070" i="1" dirty="0">
                <a:solidFill>
                  <a:srgbClr val="A7BEAE"/>
                </a:solidFill>
                <a:latin typeface="Calibri" pitchFamily="34" charset="0"/>
                <a:ea typeface="Calibri" pitchFamily="34" charset="-122"/>
                <a:cs typeface="Calibri" pitchFamily="34" charset="-120"/>
              </a:rPr>
              <a:t>Barely moves either estimate: the exclusion is not doing hidden work, it is a clean, low-stakes choice.</a:t>
            </a:r>
            <a:endParaRPr lang="en-US" sz="1070" dirty="0"/>
          </a:p>
        </p:txBody>
      </p:sp>
      <p:sp>
        <p:nvSpPr>
          <p:cNvPr id="9" name="Shape 6"/>
          <p:cNvSpPr/>
          <p:nvPr/>
        </p:nvSpPr>
        <p:spPr>
          <a:xfrm>
            <a:off x="566928" y="3657600"/>
            <a:ext cx="11027664" cy="1828800"/>
          </a:xfrm>
          <a:prstGeom prst="roundRect">
            <a:avLst>
              <a:gd name="adj" fmla="val 3000"/>
            </a:avLst>
          </a:prstGeom>
          <a:solidFill>
            <a:srgbClr val="2B2523"/>
          </a:solidFill>
          <a:ln/>
          <a:effectLst>
            <a:outerShdw sx="100000" sy="100000" kx="0" ky="0" algn="bl" rotWithShape="0" blurRad="76200" dist="381" dir="5400000">
              <a:srgbClr val="000000">
                <a:alpha val="8000"/>
              </a:srgbClr>
            </a:outerShdw>
          </a:effectLst>
        </p:spPr>
      </p:sp>
      <p:sp>
        <p:nvSpPr>
          <p:cNvPr id="10" name="Text 7"/>
          <p:cNvSpPr/>
          <p:nvPr/>
        </p:nvSpPr>
        <p:spPr>
          <a:xfrm>
            <a:off x="804672" y="3803904"/>
            <a:ext cx="9144000" cy="274320"/>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Does this generalise out of sample?</a:t>
            </a:r>
            <a:endParaRPr lang="en-US" sz="1350" dirty="0"/>
          </a:p>
        </p:txBody>
      </p:sp>
      <p:sp>
        <p:nvSpPr>
          <p:cNvPr id="11" name="Text 8"/>
          <p:cNvSpPr/>
          <p:nvPr/>
        </p:nvSpPr>
        <p:spPr>
          <a:xfrm>
            <a:off x="804672" y="4114800"/>
            <a:ext cx="10552176" cy="777240"/>
          </a:xfrm>
          <a:prstGeom prst="rect">
            <a:avLst/>
          </a:prstGeom>
          <a:noFill/>
          <a:ln/>
        </p:spPr>
        <p:txBody>
          <a:bodyPr wrap="square" lIns="0" tIns="0" rIns="0" bIns="0" rtlCol="0" anchor="ctr"/>
          <a:lstStyle/>
          <a:p>
            <a:pPr indent="0" marL="0">
              <a:lnSpc>
                <a:spcPts val="1450"/>
              </a:lnSpc>
              <a:buNone/>
            </a:pPr>
            <a:r>
              <a:rPr lang="en-US" sz="1100" dirty="0">
                <a:solidFill>
                  <a:srgbClr val="E7E8D1"/>
                </a:solidFill>
                <a:latin typeface="Calibri" pitchFamily="34" charset="0"/>
                <a:ea typeface="Calibri" pitchFamily="34" charset="-122"/>
                <a:cs typeface="Calibri" pitchFamily="34" charset="-120"/>
              </a:rPr>
              <a:t>A companion check uses a logistic-regression version of the underlying question (does a district get mentioned at all that month), holding out entire districts (5-fold cross-validation), so the model must generalise to places it has never seen rather than to new months of familiar places.</a:t>
            </a:r>
            <a:endParaRPr lang="en-US" sz="1100" dirty="0"/>
          </a:p>
        </p:txBody>
      </p:sp>
      <p:sp>
        <p:nvSpPr>
          <p:cNvPr id="12" name="Text 9"/>
          <p:cNvSpPr/>
          <p:nvPr/>
        </p:nvSpPr>
        <p:spPr>
          <a:xfrm>
            <a:off x="804672" y="4956048"/>
            <a:ext cx="10552176" cy="457200"/>
          </a:xfrm>
          <a:prstGeom prst="rect">
            <a:avLst/>
          </a:prstGeom>
          <a:noFill/>
          <a:ln/>
        </p:spPr>
        <p:txBody>
          <a:bodyPr wrap="square" lIns="0" tIns="0" rIns="0" bIns="0" rtlCol="0" anchor="ctr"/>
          <a:lstStyle/>
          <a:p>
            <a:pPr indent="0" marL="0">
              <a:lnSpc>
                <a:spcPts val="1450"/>
              </a:lnSpc>
              <a:buNone/>
            </a:pPr>
            <a:r>
              <a:rPr lang="en-US" sz="1100" b="1" dirty="0">
                <a:solidFill>
                  <a:srgbClr val="A7BEAE"/>
                </a:solidFill>
                <a:latin typeface="Calibri" pitchFamily="34" charset="0"/>
                <a:ea typeface="Calibri" pitchFamily="34" charset="-122"/>
                <a:cs typeface="Calibri" pitchFamily="34" charset="-120"/>
              </a:rPr>
              <a:t>AUC 0.715, against 0.640 with region dummies removed the naive way. Region genuinely helps generalisation once done properly, and a district's own recent history predicts coverage better than either crisis-severity variable on its own.</a:t>
            </a:r>
            <a:endParaRPr lang="en-US" sz="1100" dirty="0"/>
          </a:p>
        </p:txBody>
      </p:sp>
      <p:sp>
        <p:nvSpPr>
          <p:cNvPr id="13" name="Text 10"/>
          <p:cNvSpPr/>
          <p:nvPr/>
        </p:nvSpPr>
        <p:spPr>
          <a:xfrm>
            <a:off x="566928" y="6016752"/>
            <a:ext cx="11027664" cy="347472"/>
          </a:xfrm>
          <a:prstGeom prst="rect">
            <a:avLst/>
          </a:prstGeom>
          <a:noFill/>
          <a:ln/>
        </p:spPr>
        <p:txBody>
          <a:bodyPr wrap="square" lIns="0" tIns="0" rIns="0" bIns="0" rtlCol="0" anchor="ctr"/>
          <a:lstStyle/>
          <a:p>
            <a:pPr indent="0" marL="0">
              <a:lnSpc>
                <a:spcPts val="1200"/>
              </a:lnSpc>
              <a:buNone/>
            </a:pPr>
            <a:r>
              <a:rPr lang="en-US" sz="1000" i="1" dirty="0">
                <a:solidFill>
                  <a:srgbClr val="7A6E68"/>
                </a:solidFill>
                <a:latin typeface="Calibri" pitchFamily="34" charset="0"/>
                <a:ea typeface="Calibri" pitchFamily="34" charset="-122"/>
                <a:cs typeface="Calibri" pitchFamily="34" charset="-120"/>
              </a:rPr>
              <a:t>The interpretation stays narrow: a statement about what one reporting platform, in one country, in one year, responds to, not a general claim about humanitarian priorities.</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27664" cy="502920"/>
          </a:xfrm>
          <a:prstGeom prst="rect">
            <a:avLst/>
          </a:prstGeom>
          <a:noFill/>
          <a:ln/>
        </p:spPr>
        <p:txBody>
          <a:bodyPr wrap="square" lIns="0" tIns="0" rIns="0" bIns="0" rtlCol="0" anchor="ctr"/>
          <a:lstStyle/>
          <a:p>
            <a:pPr indent="0" marL="0">
              <a:buNone/>
            </a:pPr>
            <a:r>
              <a:rPr lang="en-US" sz="2500" b="1" dirty="0">
                <a:solidFill>
                  <a:srgbClr val="2B2523"/>
                </a:solidFill>
                <a:latin typeface="Cambria" pitchFamily="34" charset="0"/>
                <a:ea typeface="Cambria" pitchFamily="34" charset="-122"/>
                <a:cs typeface="Cambria" pitchFamily="34" charset="-120"/>
              </a:rPr>
              <a:t>Task 14: does the result survive a narrower, more relevant outcome?</a:t>
            </a:r>
            <a:endParaRPr lang="en-US" sz="2500" dirty="0"/>
          </a:p>
        </p:txBody>
      </p:sp>
      <p:sp>
        <p:nvSpPr>
          <p:cNvPr id="3" name="Text 1"/>
          <p:cNvSpPr/>
          <p:nvPr/>
        </p:nvSpPr>
        <p:spPr>
          <a:xfrm>
            <a:off x="566928" y="969264"/>
            <a:ext cx="11027664" cy="310896"/>
          </a:xfrm>
          <a:prstGeom prst="rect">
            <a:avLst/>
          </a:prstGeom>
          <a:noFill/>
          <a:ln/>
        </p:spPr>
        <p:txBody>
          <a:bodyPr wrap="square" lIns="0" tIns="0" rIns="0" bIns="0" rtlCol="0" anchor="ctr"/>
          <a:lstStyle/>
          <a:p>
            <a:pPr indent="0" marL="0">
              <a:buNone/>
            </a:pPr>
            <a:r>
              <a:rPr lang="en-US" sz="1250" i="1" dirty="0">
                <a:solidFill>
                  <a:srgbClr val="7A6E68"/>
                </a:solidFill>
                <a:latin typeface="Calibri" pitchFamily="34" charset="0"/>
                <a:ea typeface="Calibri" pitchFamily="34" charset="-122"/>
                <a:cs typeface="Calibri" pitchFamily="34" charset="-120"/>
              </a:rPr>
              <a:t>Identical model and predictors to Task 13; only the outcome column changes</a:t>
            </a:r>
            <a:endParaRPr lang="en-US" sz="1250" dirty="0"/>
          </a:p>
        </p:txBody>
      </p:sp>
      <p:sp>
        <p:nvSpPr>
          <p:cNvPr id="4" name="Shape 2"/>
          <p:cNvSpPr/>
          <p:nvPr/>
        </p:nvSpPr>
        <p:spPr>
          <a:xfrm>
            <a:off x="566928" y="1371600"/>
            <a:ext cx="11027664" cy="1920240"/>
          </a:xfrm>
          <a:prstGeom prst="roundRect">
            <a:avLst>
              <a:gd name="adj" fmla="val 2857"/>
            </a:avLst>
          </a:prstGeom>
          <a:solidFill>
            <a:srgbClr val="F7F5F1"/>
          </a:solidFill>
          <a:ln/>
          <a:effectLst>
            <a:outerShdw sx="100000" sy="100000" kx="0" ky="0" algn="bl" rotWithShape="0" blurRad="76200" dist="381" dir="5400000">
              <a:srgbClr val="000000">
                <a:alpha val="8000"/>
              </a:srgbClr>
            </a:outerShdw>
          </a:effectLst>
        </p:spPr>
      </p:sp>
      <p:sp>
        <p:nvSpPr>
          <p:cNvPr id="5" name="Text 3"/>
          <p:cNvSpPr/>
          <p:nvPr/>
        </p:nvSpPr>
        <p:spPr>
          <a:xfrm>
            <a:off x="804672" y="1536192"/>
            <a:ext cx="9144000" cy="274320"/>
          </a:xfrm>
          <a:prstGeom prst="rect">
            <a:avLst/>
          </a:prstGeom>
          <a:noFill/>
          <a:ln/>
        </p:spPr>
        <p:txBody>
          <a:bodyPr wrap="square" lIns="0" tIns="0" rIns="0" bIns="0" rtlCol="0" anchor="ctr"/>
          <a:lstStyle/>
          <a:p>
            <a:pPr indent="0" marL="0">
              <a:buNone/>
            </a:pPr>
            <a:r>
              <a:rPr lang="en-US" sz="1350" b="1" dirty="0">
                <a:solidFill>
                  <a:srgbClr val="B85042"/>
                </a:solidFill>
                <a:latin typeface="Cambria" pitchFamily="34" charset="0"/>
                <a:ea typeface="Cambria" pitchFamily="34" charset="-122"/>
                <a:cs typeface="Cambria" pitchFamily="34" charset="-120"/>
              </a:rPr>
              <a:t>Why repeat the identical test at all</a:t>
            </a:r>
            <a:endParaRPr lang="en-US" sz="1350" dirty="0"/>
          </a:p>
        </p:txBody>
      </p:sp>
      <p:sp>
        <p:nvSpPr>
          <p:cNvPr id="6" name="Text 4"/>
          <p:cNvSpPr/>
          <p:nvPr/>
        </p:nvSpPr>
        <p:spPr>
          <a:xfrm>
            <a:off x="804672" y="1847088"/>
            <a:ext cx="10552176" cy="685800"/>
          </a:xfrm>
          <a:prstGeom prst="rect">
            <a:avLst/>
          </a:prstGeom>
          <a:noFill/>
          <a:ln/>
        </p:spPr>
        <p:txBody>
          <a:bodyPr wrap="square" lIns="0" tIns="0" rIns="0" bIns="0" rtlCol="0" anchor="ctr"/>
          <a:lstStyle/>
          <a:p>
            <a:pPr indent="0" marL="0">
              <a:lnSpc>
                <a:spcPts val="1500"/>
              </a:lnSpc>
              <a:buNone/>
            </a:pPr>
            <a:r>
              <a:rPr lang="en-US" sz="1150" dirty="0">
                <a:solidFill>
                  <a:srgbClr val="7A6E68"/>
                </a:solidFill>
                <a:latin typeface="Calibri" pitchFamily="34" charset="0"/>
                <a:ea typeface="Calibri" pitchFamily="34" charset="-122"/>
                <a:cs typeface="Calibri" pitchFamily="34" charset="-120"/>
              </a:rPr>
              <a:t>An obvious alternative explanation for Task 13's result: perhaps conflict receives more ReliefWeb attention simply because many ReliefWeb reports are about conflict in general, regardless of humanitarian relevance. If that were the whole story, restricting the outcome to reports specifically about food and nutrition should weaken or erase the effect.</a:t>
            </a:r>
            <a:endParaRPr lang="en-US" sz="1150" dirty="0"/>
          </a:p>
        </p:txBody>
      </p:sp>
      <p:sp>
        <p:nvSpPr>
          <p:cNvPr id="7" name="Text 5"/>
          <p:cNvSpPr/>
          <p:nvPr/>
        </p:nvSpPr>
        <p:spPr>
          <a:xfrm>
            <a:off x="804672" y="2606040"/>
            <a:ext cx="10552176" cy="548640"/>
          </a:xfrm>
          <a:prstGeom prst="rect">
            <a:avLst/>
          </a:prstGeom>
          <a:noFill/>
          <a:ln/>
        </p:spPr>
        <p:txBody>
          <a:bodyPr wrap="square" lIns="0" tIns="0" rIns="0" bIns="0" rtlCol="0" anchor="ctr"/>
          <a:lstStyle/>
          <a:p>
            <a:pPr indent="0" marL="0">
              <a:lnSpc>
                <a:spcPts val="1500"/>
              </a:lnSpc>
              <a:buNone/>
            </a:pPr>
            <a:r>
              <a:rPr lang="en-US" sz="1150" dirty="0">
                <a:solidFill>
                  <a:srgbClr val="7A6E68"/>
                </a:solidFill>
                <a:latin typeface="Calibri" pitchFamily="34" charset="0"/>
                <a:ea typeface="Calibri" pitchFamily="34" charset="-122"/>
                <a:cs typeface="Calibri" pitchFamily="34" charset="-120"/>
              </a:rPr>
              <a:t>This is testable cheaply because `food_nutrition_report_count` already exists in the panel: the subset of reports ReliefWeb itself tags with the theme Food and Nutrition.</a:t>
            </a:r>
            <a:endParaRPr lang="en-US" sz="1150" dirty="0"/>
          </a:p>
        </p:txBody>
      </p:sp>
      <p:sp>
        <p:nvSpPr>
          <p:cNvPr id="8" name="Shape 6"/>
          <p:cNvSpPr/>
          <p:nvPr/>
        </p:nvSpPr>
        <p:spPr>
          <a:xfrm>
            <a:off x="566928" y="3520440"/>
            <a:ext cx="11027664" cy="1737360"/>
          </a:xfrm>
          <a:prstGeom prst="roundRect">
            <a:avLst>
              <a:gd name="adj" fmla="val 3158"/>
            </a:avLst>
          </a:prstGeom>
          <a:solidFill>
            <a:srgbClr val="2B2523"/>
          </a:solidFill>
          <a:ln/>
          <a:effectLst>
            <a:outerShdw sx="100000" sy="100000" kx="0" ky="0" algn="bl" rotWithShape="0" blurRad="76200" dist="381" dir="5400000">
              <a:srgbClr val="000000">
                <a:alpha val="8000"/>
              </a:srgbClr>
            </a:outerShdw>
          </a:effectLst>
        </p:spPr>
      </p:sp>
      <p:sp>
        <p:nvSpPr>
          <p:cNvPr id="9" name="Text 7"/>
          <p:cNvSpPr/>
          <p:nvPr/>
        </p:nvSpPr>
        <p:spPr>
          <a:xfrm>
            <a:off x="804672" y="3675888"/>
            <a:ext cx="9144000" cy="274320"/>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Same specification, new outcome column</a:t>
            </a:r>
            <a:endParaRPr lang="en-US" sz="1350" dirty="0"/>
          </a:p>
        </p:txBody>
      </p:sp>
      <p:sp>
        <p:nvSpPr>
          <p:cNvPr id="10" name="Text 8"/>
          <p:cNvSpPr/>
          <p:nvPr/>
        </p:nvSpPr>
        <p:spPr>
          <a:xfrm>
            <a:off x="804672" y="3986784"/>
            <a:ext cx="8229600" cy="365760"/>
          </a:xfrm>
          <a:prstGeom prst="rect">
            <a:avLst/>
          </a:prstGeom>
          <a:noFill/>
          <a:ln/>
        </p:spPr>
        <p:txBody>
          <a:bodyPr wrap="square" lIns="0" tIns="0" rIns="0" bIns="0" rtlCol="0" anchor="ctr"/>
          <a:lstStyle/>
          <a:p>
            <a:pPr indent="0" marL="0">
              <a:buNone/>
            </a:pPr>
            <a:r>
              <a:rPr lang="en-US" sz="1400" b="1" dirty="0">
                <a:solidFill>
                  <a:srgbClr val="FFFFFF"/>
                </a:solidFill>
                <a:latin typeface="Courier New" pitchFamily="34" charset="0"/>
                <a:ea typeface="Courier New" pitchFamily="34" charset="-122"/>
                <a:cs typeface="Courier New" pitchFamily="34" charset="-120"/>
              </a:rPr>
              <a:t>food_nutrition_reports ~ conflict_z + vhi_stress_z + C(month)</a:t>
            </a:r>
            <a:endParaRPr lang="en-US" sz="1400" dirty="0"/>
          </a:p>
        </p:txBody>
      </p:sp>
      <p:sp>
        <p:nvSpPr>
          <p:cNvPr id="11" name="Text 9"/>
          <p:cNvSpPr/>
          <p:nvPr/>
        </p:nvSpPr>
        <p:spPr>
          <a:xfrm>
            <a:off x="804672" y="4434840"/>
            <a:ext cx="10552176" cy="731520"/>
          </a:xfrm>
          <a:prstGeom prst="rect">
            <a:avLst/>
          </a:prstGeom>
          <a:noFill/>
          <a:ln/>
        </p:spPr>
        <p:txBody>
          <a:bodyPr wrap="square" lIns="0" tIns="0" rIns="0" bIns="0" rtlCol="0" anchor="ctr"/>
          <a:lstStyle/>
          <a:p>
            <a:pPr indent="0" marL="0">
              <a:lnSpc>
                <a:spcPts val="1450"/>
              </a:lnSpc>
              <a:buNone/>
            </a:pPr>
            <a:r>
              <a:rPr lang="en-US" sz="1100" dirty="0">
                <a:solidFill>
                  <a:srgbClr val="E7E8D1"/>
                </a:solidFill>
                <a:latin typeface="Calibri" pitchFamily="34" charset="0"/>
                <a:ea typeface="Calibri" pitchFamily="34" charset="-122"/>
                <a:cs typeface="Calibri" pitchFamily="34" charset="-120"/>
              </a:rPr>
              <a:t>Same standardisation (log1p + z-score for conflict, sign-flipped + z-score for vegetation stress), same month controls, same cluster-robust SEs by district, same Banadir exclusion. Nothing about the model changed, only which reports count toward the outcome.</a:t>
            </a:r>
            <a:endParaRPr lang="en-US" sz="1100" dirty="0"/>
          </a:p>
        </p:txBody>
      </p:sp>
      <p:sp>
        <p:nvSpPr>
          <p:cNvPr id="12" name="Text 10"/>
          <p:cNvSpPr/>
          <p:nvPr/>
        </p:nvSpPr>
        <p:spPr>
          <a:xfrm>
            <a:off x="566928" y="6016752"/>
            <a:ext cx="11027664" cy="347472"/>
          </a:xfrm>
          <a:prstGeom prst="rect">
            <a:avLst/>
          </a:prstGeom>
          <a:noFill/>
          <a:ln/>
        </p:spPr>
        <p:txBody>
          <a:bodyPr wrap="square" lIns="0" tIns="0" rIns="0" bIns="0" rtlCol="0" anchor="ctr"/>
          <a:lstStyle/>
          <a:p>
            <a:pPr indent="0" marL="0">
              <a:lnSpc>
                <a:spcPts val="1200"/>
              </a:lnSpc>
              <a:buNone/>
            </a:pPr>
            <a:r>
              <a:rPr lang="en-US" sz="1000" i="1" dirty="0">
                <a:solidFill>
                  <a:srgbClr val="7A6E68"/>
                </a:solidFill>
                <a:latin typeface="Calibri" pitchFamily="34" charset="0"/>
                <a:ea typeface="Calibri" pitchFamily="34" charset="-122"/>
                <a:cs typeface="Calibri" pitchFamily="34" charset="-120"/>
              </a:rPr>
              <a:t>If conflict still dominates within this narrower, more directly relevant subset, the alternative explanation is ruled out.</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27664" cy="502920"/>
          </a:xfrm>
          <a:prstGeom prst="rect">
            <a:avLst/>
          </a:prstGeom>
          <a:noFill/>
          <a:ln/>
        </p:spPr>
        <p:txBody>
          <a:bodyPr wrap="square" lIns="0" tIns="0" rIns="0" bIns="0" rtlCol="0" anchor="ctr"/>
          <a:lstStyle/>
          <a:p>
            <a:pPr indent="0" marL="0">
              <a:buNone/>
            </a:pPr>
            <a:r>
              <a:rPr lang="en-US" sz="2500" b="1" dirty="0">
                <a:solidFill>
                  <a:srgbClr val="2B2523"/>
                </a:solidFill>
                <a:latin typeface="Cambria" pitchFamily="34" charset="0"/>
                <a:ea typeface="Cambria" pitchFamily="34" charset="-122"/>
                <a:cs typeface="Cambria" pitchFamily="34" charset="-120"/>
              </a:rPr>
              <a:t>Task 14: the pattern survives fully, and the gap is if anything wider</a:t>
            </a:r>
            <a:endParaRPr lang="en-US" sz="2500" dirty="0"/>
          </a:p>
        </p:txBody>
      </p:sp>
      <p:sp>
        <p:nvSpPr>
          <p:cNvPr id="3" name="Text 1"/>
          <p:cNvSpPr/>
          <p:nvPr/>
        </p:nvSpPr>
        <p:spPr>
          <a:xfrm>
            <a:off x="566928" y="969264"/>
            <a:ext cx="11027664" cy="310896"/>
          </a:xfrm>
          <a:prstGeom prst="rect">
            <a:avLst/>
          </a:prstGeom>
          <a:noFill/>
          <a:ln/>
        </p:spPr>
        <p:txBody>
          <a:bodyPr wrap="square" lIns="0" tIns="0" rIns="0" bIns="0" rtlCol="0" anchor="ctr"/>
          <a:lstStyle/>
          <a:p>
            <a:pPr indent="0" marL="0">
              <a:buNone/>
            </a:pPr>
            <a:r>
              <a:rPr lang="en-US" sz="1250" i="1" dirty="0">
                <a:solidFill>
                  <a:srgbClr val="7A6E68"/>
                </a:solidFill>
                <a:latin typeface="Calibri" pitchFamily="34" charset="0"/>
                <a:ea typeface="Calibri" pitchFamily="34" charset="-122"/>
                <a:cs typeface="Calibri" pitchFamily="34" charset="-120"/>
              </a:rPr>
              <a:t>Restricting to Food and Nutrition reporting only</a:t>
            </a:r>
            <a:endParaRPr lang="en-US" sz="12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66928" y="1371600"/>
          <a:ext cx="11027664" cy="914400"/>
        </p:xfrm>
        <a:graphic>
          <a:graphicData uri="http://schemas.openxmlformats.org/drawingml/2006/table">
            <a:tbl>
              <a:tblPr/>
              <a:tblGrid>
                <a:gridCol w="3383280"/>
                <a:gridCol w="3474720"/>
                <a:gridCol w="4352544"/>
              </a:tblGrid>
              <a:tr h="475488">
                <a:tc>
                  <a:txBody>
                    <a:bodyPr/>
                    <a:lstStyle/>
                    <a:p>
                      <a:pPr indent="0" marL="0">
                        <a:buNone/>
                      </a:pPr>
                      <a:endParaRPr lang="en-US" sz="11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Task 13 (all reports)</a:t>
                      </a:r>
                      <a:endParaRPr lang="en-US" sz="11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Task 14 (Food &amp; Nutrition only)</a:t>
                      </a:r>
                      <a:endParaRPr lang="en-US" sz="11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r>
              <a:tr h="475488">
                <a:tc>
                  <a:txBody>
                    <a:bodyPr/>
                    <a:lstStyle/>
                    <a:p>
                      <a:pPr indent="0" marL="0">
                        <a:buNone/>
                      </a:pPr>
                      <a:r>
                        <a:rPr lang="en-US" sz="1250" dirty="0">
                          <a:solidFill>
                            <a:srgbClr val="2B2523"/>
                          </a:solidFill>
                          <a:latin typeface="Calibri" pitchFamily="34" charset="0"/>
                          <a:ea typeface="Calibri" pitchFamily="34" charset="-122"/>
                          <a:cs typeface="Calibri" pitchFamily="34" charset="-120"/>
                        </a:rPr>
                        <a:t>Conflict IRR</a:t>
                      </a:r>
                      <a:endParaRPr lang="en-US" sz="12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250" dirty="0">
                          <a:solidFill>
                            <a:srgbClr val="2B2523"/>
                          </a:solidFill>
                          <a:latin typeface="Calibri" pitchFamily="34" charset="0"/>
                          <a:ea typeface="Calibri" pitchFamily="34" charset="-122"/>
                          <a:cs typeface="Calibri" pitchFamily="34" charset="-120"/>
                        </a:rPr>
                        <a:t>1.69, p &lt; 0.0001</a:t>
                      </a:r>
                      <a:endParaRPr lang="en-US" sz="12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250" b="1" dirty="0">
                          <a:solidFill>
                            <a:srgbClr val="B85042"/>
                          </a:solidFill>
                          <a:latin typeface="Calibri" pitchFamily="34" charset="0"/>
                          <a:ea typeface="Calibri" pitchFamily="34" charset="-122"/>
                          <a:cs typeface="Calibri" pitchFamily="34" charset="-120"/>
                        </a:rPr>
                        <a:t>1.77, p &lt; 0.0001</a:t>
                      </a:r>
                      <a:endParaRPr lang="en-US" sz="12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r>
              <a:tr h="475488">
                <a:tc>
                  <a:txBody>
                    <a:bodyPr/>
                    <a:lstStyle/>
                    <a:p>
                      <a:pPr indent="0" marL="0">
                        <a:buNone/>
                      </a:pPr>
                      <a:r>
                        <a:rPr lang="en-US" sz="1250" dirty="0">
                          <a:solidFill>
                            <a:srgbClr val="2B2523"/>
                          </a:solidFill>
                          <a:latin typeface="Calibri" pitchFamily="34" charset="0"/>
                          <a:ea typeface="Calibri" pitchFamily="34" charset="-122"/>
                          <a:cs typeface="Calibri" pitchFamily="34" charset="-120"/>
                        </a:rPr>
                        <a:t>Vegetation-stress IRR</a:t>
                      </a:r>
                      <a:endParaRPr lang="en-US" sz="12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250" dirty="0">
                          <a:solidFill>
                            <a:srgbClr val="2B2523"/>
                          </a:solidFill>
                          <a:latin typeface="Calibri" pitchFamily="34" charset="0"/>
                          <a:ea typeface="Calibri" pitchFamily="34" charset="-122"/>
                          <a:cs typeface="Calibri" pitchFamily="34" charset="-120"/>
                        </a:rPr>
                        <a:t>1.00, not significant</a:t>
                      </a:r>
                      <a:endParaRPr lang="en-US" sz="12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250" dirty="0">
                          <a:solidFill>
                            <a:srgbClr val="2B2523"/>
                          </a:solidFill>
                          <a:latin typeface="Calibri" pitchFamily="34" charset="0"/>
                          <a:ea typeface="Calibri" pitchFamily="34" charset="-122"/>
                          <a:cs typeface="Calibri" pitchFamily="34" charset="-120"/>
                        </a:rPr>
                        <a:t>1.04, p = 0.78, not significant</a:t>
                      </a:r>
                      <a:endParaRPr lang="en-US" sz="12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r>
              <a:tr h="475488">
                <a:tc>
                  <a:txBody>
                    <a:bodyPr/>
                    <a:lstStyle/>
                    <a:p>
                      <a:pPr indent="0" marL="0">
                        <a:buNone/>
                      </a:pPr>
                      <a:r>
                        <a:rPr lang="en-US" sz="1250" dirty="0">
                          <a:solidFill>
                            <a:srgbClr val="2B2523"/>
                          </a:solidFill>
                          <a:latin typeface="Calibri" pitchFamily="34" charset="0"/>
                          <a:ea typeface="Calibri" pitchFamily="34" charset="-122"/>
                          <a:cs typeface="Calibri" pitchFamily="34" charset="-120"/>
                        </a:rPr>
                        <a:t>Effect-size test (Wald)</a:t>
                      </a:r>
                      <a:endParaRPr lang="en-US" sz="12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250" dirty="0">
                          <a:solidFill>
                            <a:srgbClr val="2B2523"/>
                          </a:solidFill>
                          <a:latin typeface="Calibri" pitchFamily="34" charset="0"/>
                          <a:ea typeface="Calibri" pitchFamily="34" charset="-122"/>
                          <a:cs typeface="Calibri" pitchFamily="34" charset="-120"/>
                        </a:rPr>
                        <a:t>chi2 = 9.04, p = 0.0026</a:t>
                      </a:r>
                      <a:endParaRPr lang="en-US" sz="12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250" b="1" dirty="0">
                          <a:solidFill>
                            <a:srgbClr val="B85042"/>
                          </a:solidFill>
                          <a:latin typeface="Calibri" pitchFamily="34" charset="0"/>
                          <a:ea typeface="Calibri" pitchFamily="34" charset="-122"/>
                          <a:cs typeface="Calibri" pitchFamily="34" charset="-120"/>
                        </a:rPr>
                        <a:t>chi2 = 8.41, p = 0.0037</a:t>
                      </a:r>
                      <a:endParaRPr lang="en-US" sz="12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r>
            </a:tbl>
          </a:graphicData>
        </a:graphic>
      </p:graphicFrame>
      <p:sp>
        <p:nvSpPr>
          <p:cNvPr id="5" name="Shape 2"/>
          <p:cNvSpPr/>
          <p:nvPr/>
        </p:nvSpPr>
        <p:spPr>
          <a:xfrm>
            <a:off x="566928" y="3520440"/>
            <a:ext cx="11027664" cy="1554480"/>
          </a:xfrm>
          <a:prstGeom prst="roundRect">
            <a:avLst>
              <a:gd name="adj" fmla="val 3529"/>
            </a:avLst>
          </a:prstGeom>
          <a:solidFill>
            <a:srgbClr val="E7E8D1"/>
          </a:solidFill>
          <a:ln/>
          <a:effectLst>
            <a:outerShdw sx="100000" sy="100000" kx="0" ky="0" algn="bl" rotWithShape="0" blurRad="76200" dist="381" dir="5400000">
              <a:srgbClr val="000000">
                <a:alpha val="8000"/>
              </a:srgbClr>
            </a:outerShdw>
          </a:effectLst>
        </p:spPr>
      </p:sp>
      <p:sp>
        <p:nvSpPr>
          <p:cNvPr id="6" name="Text 3"/>
          <p:cNvSpPr/>
          <p:nvPr/>
        </p:nvSpPr>
        <p:spPr>
          <a:xfrm>
            <a:off x="804672" y="3657600"/>
            <a:ext cx="10552176" cy="1280160"/>
          </a:xfrm>
          <a:prstGeom prst="rect">
            <a:avLst/>
          </a:prstGeom>
          <a:noFill/>
          <a:ln/>
        </p:spPr>
        <p:txBody>
          <a:bodyPr wrap="square" lIns="0" tIns="0" rIns="0" bIns="0" rtlCol="0" anchor="ctr"/>
          <a:lstStyle/>
          <a:p>
            <a:pPr indent="0" marL="0">
              <a:lnSpc>
                <a:spcPts val="1550"/>
              </a:lnSpc>
              <a:buNone/>
            </a:pPr>
            <a:r>
              <a:rPr lang="en-US" sz="1200" dirty="0">
                <a:solidFill>
                  <a:srgbClr val="2B2523"/>
                </a:solidFill>
                <a:latin typeface="Calibri" pitchFamily="34" charset="0"/>
                <a:ea typeface="Calibri" pitchFamily="34" charset="-122"/>
                <a:cs typeface="Calibri" pitchFamily="34" charset="-120"/>
              </a:rPr>
              <a:t>Restricting to only Food and Nutrition reporting gives conflict's IRR at 1.77 against vegetation stress's 1.04, both close to the all-reports figures, with essentially the same strength of evidence for the two effects differing from each other (p = 0.0037 against p = 0.0026 in Task 13). This rules out the concern that Task 13's result is simply an artefact of ReliefWeb publishing more conflict-themed content overall: even within reporting directly about food security, conflict still dominates vegetation stress by roughly the same margin.</a:t>
            </a:r>
            <a:endParaRPr lang="en-US" sz="1200" dirty="0"/>
          </a:p>
        </p:txBody>
      </p:sp>
      <p:sp>
        <p:nvSpPr>
          <p:cNvPr id="7" name="Shape 4"/>
          <p:cNvSpPr/>
          <p:nvPr/>
        </p:nvSpPr>
        <p:spPr>
          <a:xfrm>
            <a:off x="566928" y="5212080"/>
            <a:ext cx="11027664" cy="777240"/>
          </a:xfrm>
          <a:prstGeom prst="roundRect">
            <a:avLst>
              <a:gd name="adj" fmla="val 7059"/>
            </a:avLst>
          </a:prstGeom>
          <a:solidFill>
            <a:srgbClr val="B85042"/>
          </a:solidFill>
          <a:ln/>
          <a:effectLst>
            <a:outerShdw sx="100000" sy="100000" kx="0" ky="0" algn="bl" rotWithShape="0" blurRad="76200" dist="381" dir="5400000">
              <a:srgbClr val="000000">
                <a:alpha val="8000"/>
              </a:srgbClr>
            </a:outerShdw>
          </a:effectLst>
        </p:spPr>
      </p:sp>
      <p:sp>
        <p:nvSpPr>
          <p:cNvPr id="8" name="Text 5"/>
          <p:cNvSpPr/>
          <p:nvPr/>
        </p:nvSpPr>
        <p:spPr>
          <a:xfrm>
            <a:off x="804672" y="5303520"/>
            <a:ext cx="10552176" cy="594360"/>
          </a:xfrm>
          <a:prstGeom prst="rect">
            <a:avLst/>
          </a:prstGeom>
          <a:noFill/>
          <a:ln/>
        </p:spPr>
        <p:txBody>
          <a:bodyPr wrap="square" lIns="0" tIns="0" rIns="0" bIns="0" rtlCol="0" anchor="ctr"/>
          <a:lstStyle/>
          <a:p>
            <a:pPr indent="0" marL="0">
              <a:lnSpc>
                <a:spcPts val="1400"/>
              </a:lnSpc>
              <a:buNone/>
            </a:pPr>
            <a:r>
              <a:rPr lang="en-US" sz="1100" b="1" i="1" dirty="0">
                <a:solidFill>
                  <a:srgbClr val="FFFFFF"/>
                </a:solidFill>
                <a:latin typeface="Calibri" pitchFamily="34" charset="0"/>
                <a:ea typeface="Calibri" pitchFamily="34" charset="-122"/>
                <a:cs typeface="Calibri" pitchFamily="34" charset="-120"/>
              </a:rPr>
              <a:t>Taken together across Tasks 13 and 14: humanitarian reporting attention in Somalia during 2024 responds clearly to conflict intensity and shows no measurable response to vegetation stress, whether the outcome is all reporting or only reporting specifically about food and nutrition.</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27664" cy="502920"/>
          </a:xfrm>
          <a:prstGeom prst="rect">
            <a:avLst/>
          </a:prstGeom>
          <a:noFill/>
          <a:ln/>
        </p:spPr>
        <p:txBody>
          <a:bodyPr wrap="square" lIns="0" tIns="0" rIns="0" bIns="0" rtlCol="0" anchor="ctr"/>
          <a:lstStyle/>
          <a:p>
            <a:pPr indent="0" marL="0">
              <a:buNone/>
            </a:pPr>
            <a:r>
              <a:rPr lang="en-US" sz="2500" b="1" dirty="0">
                <a:solidFill>
                  <a:srgbClr val="2B2523"/>
                </a:solidFill>
                <a:latin typeface="Cambria" pitchFamily="34" charset="0"/>
                <a:ea typeface="Cambria" pitchFamily="34" charset="-122"/>
                <a:cs typeface="Cambria" pitchFamily="34" charset="-120"/>
              </a:rPr>
              <a:t>Task 15: one figure for the whole result</a:t>
            </a:r>
            <a:endParaRPr lang="en-US" sz="2500" dirty="0"/>
          </a:p>
        </p:txBody>
      </p:sp>
      <p:sp>
        <p:nvSpPr>
          <p:cNvPr id="3" name="Text 1"/>
          <p:cNvSpPr/>
          <p:nvPr/>
        </p:nvSpPr>
        <p:spPr>
          <a:xfrm>
            <a:off x="566928" y="969264"/>
            <a:ext cx="11027664" cy="310896"/>
          </a:xfrm>
          <a:prstGeom prst="rect">
            <a:avLst/>
          </a:prstGeom>
          <a:noFill/>
          <a:ln/>
        </p:spPr>
        <p:txBody>
          <a:bodyPr wrap="square" lIns="0" tIns="0" rIns="0" bIns="0" rtlCol="0" anchor="ctr"/>
          <a:lstStyle/>
          <a:p>
            <a:pPr indent="0" marL="0">
              <a:buNone/>
            </a:pPr>
            <a:r>
              <a:rPr lang="en-US" sz="1250" i="1" dirty="0">
                <a:solidFill>
                  <a:srgbClr val="7A6E68"/>
                </a:solidFill>
                <a:latin typeface="Calibri" pitchFamily="34" charset="0"/>
                <a:ea typeface="Calibri" pitchFamily="34" charset="-122"/>
                <a:cs typeface="Calibri" pitchFamily="34" charset="-120"/>
              </a:rPr>
              <a:t>The same fitted model from Task 13, turned into a picture instead of a table of coefficients</a:t>
            </a:r>
            <a:endParaRPr lang="en-US" sz="1250" dirty="0"/>
          </a:p>
        </p:txBody>
      </p:sp>
      <p:pic>
        <p:nvPicPr>
          <p:cNvPr id="4" name="Image 0" descr="/home/user/Dissertation---Samuel-Aracena/data/processed/attention_response_curve.png">    </p:cNvPr>
          <p:cNvPicPr>
            <a:picLocks noChangeAspect="1"/>
          </p:cNvPicPr>
          <p:nvPr/>
        </p:nvPicPr>
        <p:blipFill>
          <a:blip r:embed="rId1"/>
          <a:stretch>
            <a:fillRect/>
          </a:stretch>
        </p:blipFill>
        <p:spPr>
          <a:xfrm>
            <a:off x="566928" y="1371600"/>
            <a:ext cx="6309360" cy="3803904"/>
          </a:xfrm>
          <a:prstGeom prst="rect">
            <a:avLst/>
          </a:prstGeom>
        </p:spPr>
      </p:pic>
      <p:sp>
        <p:nvSpPr>
          <p:cNvPr id="5" name="Shape 2"/>
          <p:cNvSpPr/>
          <p:nvPr/>
        </p:nvSpPr>
        <p:spPr>
          <a:xfrm>
            <a:off x="6995160" y="1371600"/>
            <a:ext cx="4599432" cy="4480560"/>
          </a:xfrm>
          <a:prstGeom prst="roundRect">
            <a:avLst>
              <a:gd name="adj" fmla="val 1224"/>
            </a:avLst>
          </a:prstGeom>
          <a:solidFill>
            <a:srgbClr val="2B2523"/>
          </a:solidFill>
          <a:ln/>
          <a:effectLst>
            <a:outerShdw sx="100000" sy="100000" kx="0" ky="0" algn="bl" rotWithShape="0" blurRad="76200" dist="381" dir="5400000">
              <a:srgbClr val="000000">
                <a:alpha val="8000"/>
              </a:srgbClr>
            </a:outerShdw>
          </a:effectLst>
        </p:spPr>
      </p:sp>
      <p:sp>
        <p:nvSpPr>
          <p:cNvPr id="6" name="Text 3"/>
          <p:cNvSpPr/>
          <p:nvPr/>
        </p:nvSpPr>
        <p:spPr>
          <a:xfrm>
            <a:off x="7223760" y="1536192"/>
            <a:ext cx="4297680" cy="274320"/>
          </a:xfrm>
          <a:prstGeom prst="rect">
            <a:avLst/>
          </a:prstGeom>
          <a:noFill/>
          <a:ln/>
        </p:spPr>
        <p:txBody>
          <a:bodyPr wrap="square" lIns="0" tIns="0" rIns="0" bIns="0" rtlCol="0" anchor="ctr"/>
          <a:lstStyle/>
          <a:p>
            <a:pPr indent="0" marL="0">
              <a:buNone/>
            </a:pPr>
            <a:r>
              <a:rPr lang="en-US" sz="1350" b="1" dirty="0">
                <a:solidFill>
                  <a:srgbClr val="A7BEAE"/>
                </a:solidFill>
                <a:latin typeface="Cambria" pitchFamily="34" charset="0"/>
                <a:ea typeface="Cambria" pitchFamily="34" charset="-122"/>
                <a:cs typeface="Cambria" pitchFamily="34" charset="-120"/>
              </a:rPr>
              <a:t>How it was built, step by step</a:t>
            </a:r>
            <a:endParaRPr lang="en-US" sz="1350" dirty="0"/>
          </a:p>
        </p:txBody>
      </p:sp>
      <p:sp>
        <p:nvSpPr>
          <p:cNvPr id="7" name="Text 4"/>
          <p:cNvSpPr/>
          <p:nvPr/>
        </p:nvSpPr>
        <p:spPr>
          <a:xfrm>
            <a:off x="7223760" y="1810512"/>
            <a:ext cx="4297680" cy="3566160"/>
          </a:xfrm>
          <a:prstGeom prst="rect">
            <a:avLst/>
          </a:prstGeom>
          <a:noFill/>
          <a:ln/>
        </p:spPr>
        <p:txBody>
          <a:bodyPr wrap="square" lIns="0" tIns="0" rIns="0" bIns="0" rtlCol="0" anchor="ctr"/>
          <a:lstStyle/>
          <a:p>
            <a:pPr marL="342900" indent="-342900">
              <a:lnSpc>
                <a:spcPts val="1500"/>
              </a:lnSpc>
              <a:spcAft>
                <a:spcPts val="900"/>
              </a:spcAft>
              <a:buSzPct val="100000"/>
              <a:buChar char="•"/>
            </a:pPr>
            <a:r>
              <a:rPr lang="en-US" sz="1050" dirty="0">
                <a:solidFill>
                  <a:srgbClr val="E7E8D1"/>
                </a:solidFill>
                <a:latin typeface="Calibri" pitchFamily="34" charset="0"/>
                <a:ea typeface="Calibri" pitchFamily="34" charset="-122"/>
                <a:cs typeface="Calibri" pitchFamily="34" charset="-120"/>
              </a:rPr>
              <a:t>Rank all 876 modelling-sample district-months by conflict, from calmest to most violent.</a:t>
            </a:r>
            <a:endParaRPr lang="en-US" sz="1050" dirty="0"/>
          </a:p>
          <a:p>
            <a:pPr marL="342900" indent="-342900">
              <a:lnSpc>
                <a:spcPts val="1500"/>
              </a:lnSpc>
              <a:spcAft>
                <a:spcPts val="900"/>
              </a:spcAft>
              <a:buSzPct val="100000"/>
              <a:buChar char="•"/>
            </a:pPr>
            <a:r>
              <a:rPr lang="en-US" sz="1050" dirty="0">
                <a:solidFill>
                  <a:srgbClr val="E7E8D1"/>
                </a:solidFill>
                <a:latin typeface="Calibri" pitchFamily="34" charset="0"/>
                <a:ea typeface="Calibri" pitchFamily="34" charset="-122"/>
                <a:cs typeface="Calibri" pitchFamily="34" charset="-120"/>
              </a:rPr>
              <a:t>Do the identical ranking a second time, completely separately, for vegetation stress. A district-month's position in one ranking has no bearing on its position in the other.</a:t>
            </a:r>
            <a:endParaRPr lang="en-US" sz="1050" dirty="0"/>
          </a:p>
          <a:p>
            <a:pPr marL="342900" indent="-342900">
              <a:lnSpc>
                <a:spcPts val="1500"/>
              </a:lnSpc>
              <a:spcAft>
                <a:spcPts val="900"/>
              </a:spcAft>
              <a:buSzPct val="100000"/>
              <a:buChar char="•"/>
            </a:pPr>
            <a:r>
              <a:rPr lang="en-US" sz="1050" dirty="0">
                <a:solidFill>
                  <a:srgbClr val="E7E8D1"/>
                </a:solidFill>
                <a:latin typeface="Calibri" pitchFamily="34" charset="0"/>
                <a:ea typeface="Calibri" pitchFamily="34" charset="-122"/>
                <a:cs typeface="Calibri" pitchFamily="34" charset="-120"/>
              </a:rPr>
              <a:t>For each of the 99 percentiles of each ranking, look up the actual standardised value (conflict_z or vhi_stress_z) a district-month at that percentile would have.</a:t>
            </a:r>
            <a:endParaRPr lang="en-US" sz="1050" dirty="0"/>
          </a:p>
          <a:p>
            <a:pPr marL="342900" indent="-342900">
              <a:lnSpc>
                <a:spcPts val="1500"/>
              </a:lnSpc>
              <a:spcAft>
                <a:spcPts val="900"/>
              </a:spcAft>
              <a:buSzPct val="100000"/>
              <a:buChar char="•"/>
            </a:pPr>
            <a:r>
              <a:rPr lang="en-US" sz="1050" dirty="0">
                <a:solidFill>
                  <a:srgbClr val="E7E8D1"/>
                </a:solidFill>
                <a:latin typeface="Calibri" pitchFamily="34" charset="0"/>
                <a:ea typeface="Calibri" pitchFamily="34" charset="-122"/>
                <a:cs typeface="Calibri" pitchFamily="34" charset="-120"/>
              </a:rPr>
              <a:t>Feed that value into the fitted Task 13 model, holding the other predictor at its sample average, and ask for the predicted report count.</a:t>
            </a:r>
            <a:endParaRPr lang="en-US" sz="1050" dirty="0"/>
          </a:p>
          <a:p>
            <a:pPr marL="342900" indent="-342900">
              <a:lnSpc>
                <a:spcPts val="1500"/>
              </a:lnSpc>
              <a:spcAft>
                <a:spcPts val="900"/>
              </a:spcAft>
              <a:buSzPct val="100000"/>
              <a:buChar char="•"/>
            </a:pPr>
            <a:r>
              <a:rPr lang="en-US" sz="1050" dirty="0">
                <a:solidFill>
                  <a:srgbClr val="E7E8D1"/>
                </a:solidFill>
                <a:latin typeface="Calibri" pitchFamily="34" charset="0"/>
                <a:ea typeface="Calibri" pitchFamily="34" charset="-122"/>
                <a:cs typeface="Calibri" pitchFamily="34" charset="-120"/>
              </a:rPr>
              <a:t>Average that prediction across all 12 months, so the curve reflects a typical month rather than one arbitrarily chosen one.</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27664" cy="502920"/>
          </a:xfrm>
          <a:prstGeom prst="rect">
            <a:avLst/>
          </a:prstGeom>
          <a:noFill/>
          <a:ln/>
        </p:spPr>
        <p:txBody>
          <a:bodyPr wrap="square" lIns="0" tIns="0" rIns="0" bIns="0" rtlCol="0" anchor="ctr"/>
          <a:lstStyle/>
          <a:p>
            <a:pPr indent="0" marL="0">
              <a:buNone/>
            </a:pPr>
            <a:r>
              <a:rPr lang="en-US" sz="2500" b="1" dirty="0">
                <a:solidFill>
                  <a:srgbClr val="2B2523"/>
                </a:solidFill>
                <a:latin typeface="Cambria" pitchFamily="34" charset="0"/>
                <a:ea typeface="Cambria" pitchFamily="34" charset="-122"/>
                <a:cs typeface="Cambria" pitchFamily="34" charset="-120"/>
              </a:rPr>
              <a:t>Task 15: what each axis means, and how to read it</a:t>
            </a:r>
            <a:endParaRPr lang="en-US" sz="2500" dirty="0"/>
          </a:p>
        </p:txBody>
      </p:sp>
      <p:sp>
        <p:nvSpPr>
          <p:cNvPr id="3" name="Shape 1"/>
          <p:cNvSpPr/>
          <p:nvPr/>
        </p:nvSpPr>
        <p:spPr>
          <a:xfrm>
            <a:off x="566928" y="1371600"/>
            <a:ext cx="11027664" cy="1554480"/>
          </a:xfrm>
          <a:prstGeom prst="roundRect">
            <a:avLst>
              <a:gd name="adj" fmla="val 3529"/>
            </a:avLst>
          </a:prstGeom>
          <a:solidFill>
            <a:srgbClr val="F7F5F1"/>
          </a:solidFill>
          <a:ln/>
          <a:effectLst>
            <a:outerShdw sx="100000" sy="100000" kx="0" ky="0" algn="bl" rotWithShape="0" blurRad="76200" dist="381" dir="5400000">
              <a:srgbClr val="000000">
                <a:alpha val="8000"/>
              </a:srgbClr>
            </a:outerShdw>
          </a:effectLst>
        </p:spPr>
      </p:sp>
      <p:sp>
        <p:nvSpPr>
          <p:cNvPr id="4" name="Text 2"/>
          <p:cNvSpPr/>
          <p:nvPr/>
        </p:nvSpPr>
        <p:spPr>
          <a:xfrm>
            <a:off x="804672" y="1517904"/>
            <a:ext cx="9144000" cy="274320"/>
          </a:xfrm>
          <a:prstGeom prst="rect">
            <a:avLst/>
          </a:prstGeom>
          <a:noFill/>
          <a:ln/>
        </p:spPr>
        <p:txBody>
          <a:bodyPr wrap="square" lIns="0" tIns="0" rIns="0" bIns="0" rtlCol="0" anchor="ctr"/>
          <a:lstStyle/>
          <a:p>
            <a:pPr indent="0" marL="0">
              <a:buNone/>
            </a:pPr>
            <a:r>
              <a:rPr lang="en-US" sz="1350" b="1" dirty="0">
                <a:solidFill>
                  <a:srgbClr val="B85042"/>
                </a:solidFill>
                <a:latin typeface="Cambria" pitchFamily="34" charset="0"/>
                <a:ea typeface="Cambria" pitchFamily="34" charset="-122"/>
                <a:cs typeface="Cambria" pitchFamily="34" charset="-120"/>
              </a:rPr>
              <a:t>What each axis means</a:t>
            </a:r>
            <a:endParaRPr lang="en-US" sz="1350" dirty="0"/>
          </a:p>
        </p:txBody>
      </p:sp>
      <p:sp>
        <p:nvSpPr>
          <p:cNvPr id="5" name="Text 3"/>
          <p:cNvSpPr/>
          <p:nvPr/>
        </p:nvSpPr>
        <p:spPr>
          <a:xfrm>
            <a:off x="804672" y="1828800"/>
            <a:ext cx="10552176" cy="1005840"/>
          </a:xfrm>
          <a:prstGeom prst="rect">
            <a:avLst/>
          </a:prstGeom>
          <a:noFill/>
          <a:ln/>
        </p:spPr>
        <p:txBody>
          <a:bodyPr wrap="square" lIns="0" tIns="0" rIns="0" bIns="0" rtlCol="0" anchor="ctr"/>
          <a:lstStyle/>
          <a:p>
            <a:pPr indent="0" marL="0">
              <a:lnSpc>
                <a:spcPts val="1500"/>
              </a:lnSpc>
              <a:buNone/>
            </a:pPr>
            <a:r>
              <a:rPr lang="en-US" sz="1150" dirty="0">
                <a:solidFill>
                  <a:srgbClr val="7A6E68"/>
                </a:solidFill>
                <a:latin typeface="Calibri" pitchFamily="34" charset="0"/>
                <a:ea typeface="Calibri" pitchFamily="34" charset="-122"/>
                <a:cs typeface="Calibri" pitchFamily="34" charset="-120"/>
              </a:rPr>
              <a:t>X-axis: percentile position within each predictor's own 2024 distribution (1 = calmest, 99 = most extreme), not a fixed, externally-defined severity scale. Y-axis: the model's predicted expected report count for a district-month sitting at that percentile, holding the other signal at its sample average.</a:t>
            </a:r>
            <a:endParaRPr lang="en-US" sz="1150" dirty="0"/>
          </a:p>
        </p:txBody>
      </p:sp>
      <p:sp>
        <p:nvSpPr>
          <p:cNvPr id="6" name="Shape 4"/>
          <p:cNvSpPr/>
          <p:nvPr/>
        </p:nvSpPr>
        <p:spPr>
          <a:xfrm>
            <a:off x="566928" y="3063240"/>
            <a:ext cx="11027664" cy="1737360"/>
          </a:xfrm>
          <a:prstGeom prst="roundRect">
            <a:avLst>
              <a:gd name="adj" fmla="val 3158"/>
            </a:avLst>
          </a:prstGeom>
          <a:solidFill>
            <a:srgbClr val="2B2523"/>
          </a:solidFill>
          <a:ln/>
          <a:effectLst>
            <a:outerShdw sx="100000" sy="100000" kx="0" ky="0" algn="bl" rotWithShape="0" blurRad="76200" dist="381" dir="5400000">
              <a:srgbClr val="000000">
                <a:alpha val="8000"/>
              </a:srgbClr>
            </a:outerShdw>
          </a:effectLst>
        </p:spPr>
      </p:sp>
      <p:sp>
        <p:nvSpPr>
          <p:cNvPr id="7" name="Text 5"/>
          <p:cNvSpPr/>
          <p:nvPr/>
        </p:nvSpPr>
        <p:spPr>
          <a:xfrm>
            <a:off x="804672" y="3218688"/>
            <a:ext cx="9144000" cy="274320"/>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How to interpret it</a:t>
            </a:r>
            <a:endParaRPr lang="en-US" sz="1350" dirty="0"/>
          </a:p>
        </p:txBody>
      </p:sp>
      <p:sp>
        <p:nvSpPr>
          <p:cNvPr id="8" name="Text 6"/>
          <p:cNvSpPr/>
          <p:nvPr/>
        </p:nvSpPr>
        <p:spPr>
          <a:xfrm>
            <a:off x="804672" y="3529584"/>
            <a:ext cx="10552176" cy="1188720"/>
          </a:xfrm>
          <a:prstGeom prst="rect">
            <a:avLst/>
          </a:prstGeom>
          <a:noFill/>
          <a:ln/>
        </p:spPr>
        <p:txBody>
          <a:bodyPr wrap="square" lIns="0" tIns="0" rIns="0" bIns="0" rtlCol="0" anchor="ctr"/>
          <a:lstStyle/>
          <a:p>
            <a:pPr indent="0" marL="0">
              <a:lnSpc>
                <a:spcPts val="1450"/>
              </a:lnSpc>
              <a:buNone/>
            </a:pPr>
            <a:r>
              <a:rPr lang="en-US" sz="1100" dirty="0">
                <a:solidFill>
                  <a:srgbClr val="E7E8D1"/>
                </a:solidFill>
                <a:latin typeface="Calibri" pitchFamily="34" charset="0"/>
                <a:ea typeface="Calibri" pitchFamily="34" charset="-122"/>
                <a:cs typeface="Calibri" pitchFamily="34" charset="-120"/>
              </a:rPr>
              <a:t>Both curves start at the same point on the left: an average district-month, with the other signal held at average. Moving right along the conflict curve (blue, circular markers), the expected report count climbs from about 1.2 at the calmest percentiles to about 7.6 at the most extreme, a roughly six-fold rise. Moving right along the vegetation-stress curve (orange, dashed, square markers) instead, the expected count stays close to a flat 2 reports throughout, never rising meaningfully above where it starts. The steepness of the slope, not the starting point, is the whole finding.</a:t>
            </a:r>
            <a:endParaRPr lang="en-US" sz="1100" dirty="0"/>
          </a:p>
        </p:txBody>
      </p:sp>
      <p:sp>
        <p:nvSpPr>
          <p:cNvPr id="9" name="Shape 7"/>
          <p:cNvSpPr/>
          <p:nvPr/>
        </p:nvSpPr>
        <p:spPr>
          <a:xfrm>
            <a:off x="566928" y="4983480"/>
            <a:ext cx="11027664" cy="1005840"/>
          </a:xfrm>
          <a:prstGeom prst="roundRect">
            <a:avLst>
              <a:gd name="adj" fmla="val 5455"/>
            </a:avLst>
          </a:prstGeom>
          <a:solidFill>
            <a:srgbClr val="E7E8D1"/>
          </a:solidFill>
          <a:ln/>
          <a:effectLst>
            <a:outerShdw sx="100000" sy="100000" kx="0" ky="0" algn="bl" rotWithShape="0" blurRad="76200" dist="381" dir="5400000">
              <a:srgbClr val="000000">
                <a:alpha val="8000"/>
              </a:srgbClr>
            </a:outerShdw>
          </a:effectLst>
        </p:spPr>
      </p:sp>
      <p:sp>
        <p:nvSpPr>
          <p:cNvPr id="10" name="Text 8"/>
          <p:cNvSpPr/>
          <p:nvPr/>
        </p:nvSpPr>
        <p:spPr>
          <a:xfrm>
            <a:off x="804672" y="5102352"/>
            <a:ext cx="10552176" cy="822960"/>
          </a:xfrm>
          <a:prstGeom prst="rect">
            <a:avLst/>
          </a:prstGeom>
          <a:noFill/>
          <a:ln/>
        </p:spPr>
        <p:txBody>
          <a:bodyPr wrap="square" lIns="0" tIns="0" rIns="0" bIns="0" rtlCol="0" anchor="ctr"/>
          <a:lstStyle/>
          <a:p>
            <a:pPr indent="0" marL="0">
              <a:lnSpc>
                <a:spcPts val="1380"/>
              </a:lnSpc>
              <a:buNone/>
            </a:pPr>
            <a:r>
              <a:rPr lang="en-US" sz="1070" dirty="0">
                <a:solidFill>
                  <a:srgbClr val="B85042"/>
                </a:solidFill>
                <a:latin typeface="Calibri" pitchFamily="34" charset="0"/>
                <a:ea typeface="Calibri" pitchFamily="34" charset="-122"/>
                <a:cs typeface="Calibri" pitchFamily="34" charset="-120"/>
              </a:rPr>
              <a:t>Why the conflict curve looks like a staircase rather than a smooth line: a genuine feature of the data, not a plotting artefact. About 40% of district-months have zero recorded conflict events, so all of those share the same conflict_z value and land on the same flat step at the low end. The vegetation-stress curve is smoother because VHI varies continuously rather than piling up at one value.</a:t>
            </a:r>
            <a:endParaRPr lang="en-US" sz="107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2B2523"/>
        </a:solidFill>
      </p:bgPr>
    </p:bg>
    <p:spTree>
      <p:nvGrpSpPr>
        <p:cNvPr id="1" name=""/>
        <p:cNvGrpSpPr/>
        <p:nvPr/>
      </p:nvGrpSpPr>
      <p:grpSpPr>
        <a:xfrm>
          <a:off x="0" y="0"/>
          <a:ext cx="0" cy="0"/>
          <a:chOff x="0" y="0"/>
          <a:chExt cx="0" cy="0"/>
        </a:xfrm>
      </p:grpSpPr>
      <p:sp>
        <p:nvSpPr>
          <p:cNvPr id="2" name="Shape 0"/>
          <p:cNvSpPr/>
          <p:nvPr/>
        </p:nvSpPr>
        <p:spPr>
          <a:xfrm>
            <a:off x="9235440" y="-1554480"/>
            <a:ext cx="4937760" cy="4937760"/>
          </a:xfrm>
          <a:prstGeom prst="ellipse">
            <a:avLst/>
          </a:prstGeom>
          <a:solidFill>
            <a:srgbClr val="A7BEAE"/>
          </a:solidFill>
          <a:ln/>
        </p:spPr>
      </p:sp>
      <p:sp>
        <p:nvSpPr>
          <p:cNvPr id="3" name="Shape 1"/>
          <p:cNvSpPr/>
          <p:nvPr/>
        </p:nvSpPr>
        <p:spPr>
          <a:xfrm>
            <a:off x="-1280160" y="4206240"/>
            <a:ext cx="3291840" cy="3291840"/>
          </a:xfrm>
          <a:prstGeom prst="ellipse">
            <a:avLst/>
          </a:prstGeom>
          <a:solidFill>
            <a:srgbClr val="A7BEAE"/>
          </a:solidFill>
          <a:ln/>
        </p:spPr>
      </p:sp>
      <p:sp>
        <p:nvSpPr>
          <p:cNvPr id="4" name="Text 2"/>
          <p:cNvSpPr/>
          <p:nvPr/>
        </p:nvSpPr>
        <p:spPr>
          <a:xfrm>
            <a:off x="566928" y="2331720"/>
            <a:ext cx="9144000" cy="310896"/>
          </a:xfrm>
          <a:prstGeom prst="rect">
            <a:avLst/>
          </a:prstGeom>
          <a:noFill/>
          <a:ln/>
        </p:spPr>
        <p:txBody>
          <a:bodyPr wrap="square" lIns="0" tIns="0" rIns="0" bIns="0" rtlCol="0" anchor="ctr"/>
          <a:lstStyle/>
          <a:p>
            <a:pPr indent="0" marL="0">
              <a:buNone/>
            </a:pPr>
            <a:r>
              <a:rPr lang="en-US" sz="1300" b="1" spc="300" kern="0" dirty="0">
                <a:solidFill>
                  <a:srgbClr val="A7BEAE"/>
                </a:solidFill>
                <a:latin typeface="Calibri" pitchFamily="34" charset="0"/>
                <a:ea typeface="Calibri" pitchFamily="34" charset="-122"/>
                <a:cs typeface="Calibri" pitchFamily="34" charset="-120"/>
              </a:rPr>
              <a:t>TASK 16</a:t>
            </a:r>
            <a:endParaRPr lang="en-US" sz="1300" dirty="0"/>
          </a:p>
        </p:txBody>
      </p:sp>
      <p:sp>
        <p:nvSpPr>
          <p:cNvPr id="5" name="Text 3"/>
          <p:cNvSpPr/>
          <p:nvPr/>
        </p:nvSpPr>
        <p:spPr>
          <a:xfrm>
            <a:off x="566928" y="2743200"/>
            <a:ext cx="10241280" cy="1371600"/>
          </a:xfrm>
          <a:prstGeom prst="rect">
            <a:avLst/>
          </a:prstGeom>
          <a:noFill/>
          <a:ln/>
        </p:spPr>
        <p:txBody>
          <a:bodyPr wrap="square" lIns="0" tIns="0" rIns="0" bIns="0" rtlCol="0" anchor="ctr"/>
          <a:lstStyle/>
          <a:p>
            <a:pPr indent="0" marL="0">
              <a:lnSpc>
                <a:spcPts val="3800"/>
              </a:lnSpc>
              <a:buNone/>
            </a:pPr>
            <a:r>
              <a:rPr lang="en-US" sz="3200" b="1" dirty="0">
                <a:solidFill>
                  <a:srgbClr val="FFFFFF"/>
                </a:solidFill>
                <a:latin typeface="Cambria" pitchFamily="34" charset="0"/>
                <a:ea typeface="Cambria" pitchFamily="34" charset="-122"/>
                <a:cs typeface="Cambria" pitchFamily="34" charset="-120"/>
              </a:rPr>
              <a:t>Humanitarian blind spots</a:t>
            </a:r>
            <a:endParaRPr lang="en-US" sz="3200" dirty="0"/>
          </a:p>
        </p:txBody>
      </p:sp>
      <p:sp>
        <p:nvSpPr>
          <p:cNvPr id="6" name="Text 4"/>
          <p:cNvSpPr/>
          <p:nvPr/>
        </p:nvSpPr>
        <p:spPr>
          <a:xfrm>
            <a:off x="566928" y="4114800"/>
            <a:ext cx="8961120" cy="1005840"/>
          </a:xfrm>
          <a:prstGeom prst="rect">
            <a:avLst/>
          </a:prstGeom>
          <a:noFill/>
          <a:ln/>
        </p:spPr>
        <p:txBody>
          <a:bodyPr wrap="square" lIns="0" tIns="0" rIns="0" bIns="0" rtlCol="0" anchor="ctr"/>
          <a:lstStyle/>
          <a:p>
            <a:pPr indent="0" marL="0">
              <a:lnSpc>
                <a:spcPts val="1900"/>
              </a:lnSpc>
              <a:buNone/>
            </a:pPr>
            <a:r>
              <a:rPr lang="en-US" sz="1400" dirty="0">
                <a:solidFill>
                  <a:srgbClr val="E7E8D1"/>
                </a:solidFill>
                <a:latin typeface="Calibri" pitchFamily="34" charset="0"/>
                <a:ea typeface="Calibri" pitchFamily="34" charset="-122"/>
                <a:cs typeface="Calibri" pitchFamily="34" charset="-120"/>
              </a:rPr>
              <a:t>Are there places experiencing a real, severe crisis signal that neither human-generated source, market monitoring or reporting, shows up in at all?</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27664" cy="502920"/>
          </a:xfrm>
          <a:prstGeom prst="rect">
            <a:avLst/>
          </a:prstGeom>
          <a:noFill/>
          <a:ln/>
        </p:spPr>
        <p:txBody>
          <a:bodyPr wrap="square" lIns="0" tIns="0" rIns="0" bIns="0" rtlCol="0" anchor="ctr"/>
          <a:lstStyle/>
          <a:p>
            <a:pPr indent="0" marL="0">
              <a:buNone/>
            </a:pPr>
            <a:r>
              <a:rPr lang="en-US" sz="2500" b="1" dirty="0">
                <a:solidFill>
                  <a:srgbClr val="2B2523"/>
                </a:solidFill>
                <a:latin typeface="Cambria" pitchFamily="34" charset="0"/>
                <a:ea typeface="Cambria" pitchFamily="34" charset="-122"/>
                <a:cs typeface="Cambria" pitchFamily="34" charset="-120"/>
              </a:rPr>
              <a:t>Task 16: defining a blind spot, and finding 18 of them</a:t>
            </a:r>
            <a:endParaRPr lang="en-US" sz="2500" dirty="0"/>
          </a:p>
        </p:txBody>
      </p:sp>
      <p:sp>
        <p:nvSpPr>
          <p:cNvPr id="3" name="Text 1"/>
          <p:cNvSpPr/>
          <p:nvPr/>
        </p:nvSpPr>
        <p:spPr>
          <a:xfrm>
            <a:off x="566928" y="969264"/>
            <a:ext cx="11027664" cy="310896"/>
          </a:xfrm>
          <a:prstGeom prst="rect">
            <a:avLst/>
          </a:prstGeom>
          <a:noFill/>
          <a:ln/>
        </p:spPr>
        <p:txBody>
          <a:bodyPr wrap="square" lIns="0" tIns="0" rIns="0" bIns="0" rtlCol="0" anchor="ctr"/>
          <a:lstStyle/>
          <a:p>
            <a:pPr indent="0" marL="0">
              <a:buNone/>
            </a:pPr>
            <a:r>
              <a:rPr lang="en-US" sz="1250" i="1" dirty="0">
                <a:solidFill>
                  <a:srgbClr val="7A6E68"/>
                </a:solidFill>
                <a:latin typeface="Calibri" pitchFamily="34" charset="0"/>
                <a:ea typeface="Calibri" pitchFamily="34" charset="-122"/>
                <a:cs typeface="Calibri" pitchFamily="34" charset="-120"/>
              </a:rPr>
              <a:t>Severe on conflict or vegetation stress, and simultaneously silent on both market and reporting</a:t>
            </a:r>
            <a:endParaRPr lang="en-US" sz="1250" dirty="0"/>
          </a:p>
        </p:txBody>
      </p:sp>
      <p:pic>
        <p:nvPicPr>
          <p:cNvPr id="4" name="Image 0" descr="/home/user/Dissertation---Samuel-Aracena/data/processed/blind_spots_map.png">    </p:cNvPr>
          <p:cNvPicPr>
            <a:picLocks noChangeAspect="1"/>
          </p:cNvPicPr>
          <p:nvPr/>
        </p:nvPicPr>
        <p:blipFill>
          <a:blip r:embed="rId1"/>
          <a:stretch>
            <a:fillRect/>
          </a:stretch>
        </p:blipFill>
        <p:spPr>
          <a:xfrm>
            <a:off x="566928" y="1371600"/>
            <a:ext cx="3566160" cy="4974336"/>
          </a:xfrm>
          <a:prstGeom prst="rect">
            <a:avLst/>
          </a:prstGeom>
        </p:spPr>
      </p:pic>
      <p:sp>
        <p:nvSpPr>
          <p:cNvPr id="5" name="Shape 2"/>
          <p:cNvSpPr/>
          <p:nvPr/>
        </p:nvSpPr>
        <p:spPr>
          <a:xfrm>
            <a:off x="4251960" y="1371600"/>
            <a:ext cx="7342632" cy="1371600"/>
          </a:xfrm>
          <a:prstGeom prst="roundRect">
            <a:avLst>
              <a:gd name="adj" fmla="val 4000"/>
            </a:avLst>
          </a:prstGeom>
          <a:solidFill>
            <a:srgbClr val="F7F5F1"/>
          </a:solidFill>
          <a:ln/>
          <a:effectLst>
            <a:outerShdw sx="100000" sy="100000" kx="0" ky="0" algn="bl" rotWithShape="0" blurRad="76200" dist="381" dir="5400000">
              <a:srgbClr val="000000">
                <a:alpha val="8000"/>
              </a:srgbClr>
            </a:outerShdw>
          </a:effectLst>
        </p:spPr>
      </p:sp>
      <p:sp>
        <p:nvSpPr>
          <p:cNvPr id="6" name="Text 3"/>
          <p:cNvSpPr/>
          <p:nvPr/>
        </p:nvSpPr>
        <p:spPr>
          <a:xfrm>
            <a:off x="4480560" y="1517904"/>
            <a:ext cx="7040880" cy="274320"/>
          </a:xfrm>
          <a:prstGeom prst="rect">
            <a:avLst/>
          </a:prstGeom>
          <a:noFill/>
          <a:ln/>
        </p:spPr>
        <p:txBody>
          <a:bodyPr wrap="square" lIns="0" tIns="0" rIns="0" bIns="0" rtlCol="0" anchor="ctr"/>
          <a:lstStyle/>
          <a:p>
            <a:pPr indent="0" marL="0">
              <a:buNone/>
            </a:pPr>
            <a:r>
              <a:rPr lang="en-US" sz="1350" b="1" dirty="0">
                <a:solidFill>
                  <a:srgbClr val="B85042"/>
                </a:solidFill>
                <a:latin typeface="Cambria" pitchFamily="34" charset="0"/>
                <a:ea typeface="Cambria" pitchFamily="34" charset="-122"/>
                <a:cs typeface="Cambria" pitchFamily="34" charset="-120"/>
              </a:rPr>
              <a:t>Definition</a:t>
            </a:r>
            <a:endParaRPr lang="en-US" sz="1350" dirty="0"/>
          </a:p>
        </p:txBody>
      </p:sp>
      <p:sp>
        <p:nvSpPr>
          <p:cNvPr id="7" name="Text 4"/>
          <p:cNvSpPr/>
          <p:nvPr/>
        </p:nvSpPr>
        <p:spPr>
          <a:xfrm>
            <a:off x="4480560" y="1810512"/>
            <a:ext cx="7223760" cy="868680"/>
          </a:xfrm>
          <a:prstGeom prst="rect">
            <a:avLst/>
          </a:prstGeom>
          <a:noFill/>
          <a:ln/>
        </p:spPr>
        <p:txBody>
          <a:bodyPr wrap="square" lIns="0" tIns="0" rIns="0" bIns="0" rtlCol="0" anchor="ctr"/>
          <a:lstStyle/>
          <a:p>
            <a:pPr indent="0" marL="0">
              <a:lnSpc>
                <a:spcPts val="1380"/>
              </a:lnSpc>
              <a:buNone/>
            </a:pPr>
            <a:r>
              <a:rPr lang="en-US" sz="1070" dirty="0">
                <a:solidFill>
                  <a:srgbClr val="7A6E68"/>
                </a:solidFill>
                <a:latin typeface="Calibri" pitchFamily="34" charset="0"/>
                <a:ea typeface="Calibri" pitchFamily="34" charset="-122"/>
                <a:cs typeface="Calibri" pitchFamily="34" charset="-120"/>
              </a:rPr>
              <a:t>A district-month is a blind spot when it has no WFP market reading and no ReliefWeb report that same month, AND is simultaneously in the worst decile of either conflict events or vegetation stress. Conflict and climate data are always present by construction, so a blind spot here means specifically invisible to the two sources that depend on human infrastructure, not invisible in an absolute sense.</a:t>
            </a:r>
            <a:endParaRPr lang="en-US" sz="1070" dirty="0"/>
          </a:p>
        </p:txBody>
      </p:sp>
      <p:sp>
        <p:nvSpPr>
          <p:cNvPr id="8" name="Shape 5"/>
          <p:cNvSpPr/>
          <p:nvPr/>
        </p:nvSpPr>
        <p:spPr>
          <a:xfrm>
            <a:off x="4251960" y="2880360"/>
            <a:ext cx="2377440" cy="1600200"/>
          </a:xfrm>
          <a:prstGeom prst="roundRect">
            <a:avLst>
              <a:gd name="adj" fmla="val 3429"/>
            </a:avLst>
          </a:prstGeom>
          <a:solidFill>
            <a:srgbClr val="F7F5F1"/>
          </a:solidFill>
          <a:ln/>
          <a:effectLst>
            <a:outerShdw sx="100000" sy="100000" kx="0" ky="0" algn="bl" rotWithShape="0" blurRad="76200" dist="381" dir="5400000">
              <a:srgbClr val="000000">
                <a:alpha val="8000"/>
              </a:srgbClr>
            </a:outerShdw>
          </a:effectLst>
        </p:spPr>
      </p:sp>
      <p:sp>
        <p:nvSpPr>
          <p:cNvPr id="9" name="Text 6"/>
          <p:cNvSpPr/>
          <p:nvPr/>
        </p:nvSpPr>
        <p:spPr>
          <a:xfrm>
            <a:off x="4453128" y="2990088"/>
            <a:ext cx="1975104" cy="800100"/>
          </a:xfrm>
          <a:prstGeom prst="rect">
            <a:avLst/>
          </a:prstGeom>
          <a:noFill/>
          <a:ln/>
        </p:spPr>
        <p:txBody>
          <a:bodyPr wrap="square" lIns="0" tIns="0" rIns="0" bIns="0" rtlCol="0" anchor="ctr"/>
          <a:lstStyle/>
          <a:p>
            <a:pPr indent="0" marL="0">
              <a:buNone/>
            </a:pPr>
            <a:r>
              <a:rPr lang="en-US" sz="2800" b="1" dirty="0">
                <a:solidFill>
                  <a:srgbClr val="B85042"/>
                </a:solidFill>
                <a:latin typeface="Cambria" pitchFamily="34" charset="0"/>
                <a:ea typeface="Cambria" pitchFamily="34" charset="-122"/>
                <a:cs typeface="Cambria" pitchFamily="34" charset="-120"/>
              </a:rPr>
              <a:t>27</a:t>
            </a:r>
            <a:endParaRPr lang="en-US" sz="2800" dirty="0"/>
          </a:p>
        </p:txBody>
      </p:sp>
      <p:sp>
        <p:nvSpPr>
          <p:cNvPr id="10" name="Text 7"/>
          <p:cNvSpPr/>
          <p:nvPr/>
        </p:nvSpPr>
        <p:spPr>
          <a:xfrm>
            <a:off x="4453128" y="3744468"/>
            <a:ext cx="1975104" cy="672084"/>
          </a:xfrm>
          <a:prstGeom prst="rect">
            <a:avLst/>
          </a:prstGeom>
          <a:noFill/>
          <a:ln/>
        </p:spPr>
        <p:txBody>
          <a:bodyPr wrap="square" lIns="0" tIns="0" rIns="0" bIns="0" rtlCol="0" anchor="ctr"/>
          <a:lstStyle/>
          <a:p>
            <a:pPr indent="0" marL="0">
              <a:lnSpc>
                <a:spcPts val="1300"/>
              </a:lnSpc>
              <a:buNone/>
            </a:pPr>
            <a:r>
              <a:rPr lang="en-US" sz="1050" dirty="0">
                <a:solidFill>
                  <a:srgbClr val="7A6E68"/>
                </a:solidFill>
                <a:latin typeface="Calibri" pitchFamily="34" charset="0"/>
                <a:ea typeface="Calibri" pitchFamily="34" charset="-122"/>
                <a:cs typeface="Calibri" pitchFamily="34" charset="-120"/>
              </a:rPr>
              <a:t>district-months (3.0% of the 888-row panel) meet both conditions at once</a:t>
            </a:r>
            <a:endParaRPr lang="en-US" sz="1050" dirty="0"/>
          </a:p>
        </p:txBody>
      </p:sp>
      <p:sp>
        <p:nvSpPr>
          <p:cNvPr id="11" name="Shape 8"/>
          <p:cNvSpPr/>
          <p:nvPr/>
        </p:nvSpPr>
        <p:spPr>
          <a:xfrm>
            <a:off x="6739128" y="2880360"/>
            <a:ext cx="2377440" cy="1600200"/>
          </a:xfrm>
          <a:prstGeom prst="roundRect">
            <a:avLst>
              <a:gd name="adj" fmla="val 3429"/>
            </a:avLst>
          </a:prstGeom>
          <a:solidFill>
            <a:srgbClr val="F7F5F1"/>
          </a:solidFill>
          <a:ln/>
          <a:effectLst>
            <a:outerShdw sx="100000" sy="100000" kx="0" ky="0" algn="bl" rotWithShape="0" blurRad="76200" dist="381" dir="5400000">
              <a:srgbClr val="000000">
                <a:alpha val="8000"/>
              </a:srgbClr>
            </a:outerShdw>
          </a:effectLst>
        </p:spPr>
      </p:sp>
      <p:sp>
        <p:nvSpPr>
          <p:cNvPr id="12" name="Text 9"/>
          <p:cNvSpPr/>
          <p:nvPr/>
        </p:nvSpPr>
        <p:spPr>
          <a:xfrm>
            <a:off x="6940296" y="2990088"/>
            <a:ext cx="1975104" cy="800100"/>
          </a:xfrm>
          <a:prstGeom prst="rect">
            <a:avLst/>
          </a:prstGeom>
          <a:noFill/>
          <a:ln/>
        </p:spPr>
        <p:txBody>
          <a:bodyPr wrap="square" lIns="0" tIns="0" rIns="0" bIns="0" rtlCol="0" anchor="ctr"/>
          <a:lstStyle/>
          <a:p>
            <a:pPr indent="0" marL="0">
              <a:buNone/>
            </a:pPr>
            <a:r>
              <a:rPr lang="en-US" sz="2800" b="1" dirty="0">
                <a:solidFill>
                  <a:srgbClr val="B85042"/>
                </a:solidFill>
                <a:latin typeface="Cambria" pitchFamily="34" charset="0"/>
                <a:ea typeface="Cambria" pitchFamily="34" charset="-122"/>
                <a:cs typeface="Cambria" pitchFamily="34" charset="-120"/>
              </a:rPr>
              <a:t>18</a:t>
            </a:r>
            <a:endParaRPr lang="en-US" sz="2800" dirty="0"/>
          </a:p>
        </p:txBody>
      </p:sp>
      <p:sp>
        <p:nvSpPr>
          <p:cNvPr id="13" name="Text 10"/>
          <p:cNvSpPr/>
          <p:nvPr/>
        </p:nvSpPr>
        <p:spPr>
          <a:xfrm>
            <a:off x="6940296" y="3744468"/>
            <a:ext cx="1975104" cy="672084"/>
          </a:xfrm>
          <a:prstGeom prst="rect">
            <a:avLst/>
          </a:prstGeom>
          <a:noFill/>
          <a:ln/>
        </p:spPr>
        <p:txBody>
          <a:bodyPr wrap="square" lIns="0" tIns="0" rIns="0" bIns="0" rtlCol="0" anchor="ctr"/>
          <a:lstStyle/>
          <a:p>
            <a:pPr indent="0" marL="0">
              <a:lnSpc>
                <a:spcPts val="1300"/>
              </a:lnSpc>
              <a:buNone/>
            </a:pPr>
            <a:r>
              <a:rPr lang="en-US" sz="1050" dirty="0">
                <a:solidFill>
                  <a:srgbClr val="7A6E68"/>
                </a:solidFill>
                <a:latin typeface="Calibri" pitchFamily="34" charset="0"/>
                <a:ea typeface="Calibri" pitchFamily="34" charset="-122"/>
                <a:cs typeface="Calibri" pitchFamily="34" charset="-120"/>
              </a:rPr>
              <a:t>distinct districts affected, every one with no WFP market at all, ever</a:t>
            </a:r>
            <a:endParaRPr lang="en-US" sz="1050" dirty="0"/>
          </a:p>
        </p:txBody>
      </p:sp>
      <p:sp>
        <p:nvSpPr>
          <p:cNvPr id="14" name="Shape 11"/>
          <p:cNvSpPr/>
          <p:nvPr/>
        </p:nvSpPr>
        <p:spPr>
          <a:xfrm>
            <a:off x="9226296" y="2880360"/>
            <a:ext cx="2377440" cy="1600200"/>
          </a:xfrm>
          <a:prstGeom prst="roundRect">
            <a:avLst>
              <a:gd name="adj" fmla="val 3429"/>
            </a:avLst>
          </a:prstGeom>
          <a:solidFill>
            <a:srgbClr val="F7F5F1"/>
          </a:solidFill>
          <a:ln/>
          <a:effectLst>
            <a:outerShdw sx="100000" sy="100000" kx="0" ky="0" algn="bl" rotWithShape="0" blurRad="76200" dist="381" dir="5400000">
              <a:srgbClr val="000000">
                <a:alpha val="8000"/>
              </a:srgbClr>
            </a:outerShdw>
          </a:effectLst>
        </p:spPr>
      </p:sp>
      <p:sp>
        <p:nvSpPr>
          <p:cNvPr id="15" name="Text 12"/>
          <p:cNvSpPr/>
          <p:nvPr/>
        </p:nvSpPr>
        <p:spPr>
          <a:xfrm>
            <a:off x="9427464" y="2990088"/>
            <a:ext cx="1975104" cy="800100"/>
          </a:xfrm>
          <a:prstGeom prst="rect">
            <a:avLst/>
          </a:prstGeom>
          <a:noFill/>
          <a:ln/>
        </p:spPr>
        <p:txBody>
          <a:bodyPr wrap="square" lIns="0" tIns="0" rIns="0" bIns="0" rtlCol="0" anchor="ctr"/>
          <a:lstStyle/>
          <a:p>
            <a:pPr indent="0" marL="0">
              <a:buNone/>
            </a:pPr>
            <a:r>
              <a:rPr lang="en-US" sz="2800" b="1" dirty="0">
                <a:solidFill>
                  <a:srgbClr val="B85042"/>
                </a:solidFill>
                <a:latin typeface="Cambria" pitchFamily="34" charset="0"/>
                <a:ea typeface="Cambria" pitchFamily="34" charset="-122"/>
                <a:cs typeface="Cambria" pitchFamily="34" charset="-120"/>
              </a:rPr>
              <a:t>19 / 9 / 1</a:t>
            </a:r>
            <a:endParaRPr lang="en-US" sz="2800" dirty="0"/>
          </a:p>
        </p:txBody>
      </p:sp>
      <p:sp>
        <p:nvSpPr>
          <p:cNvPr id="16" name="Text 13"/>
          <p:cNvSpPr/>
          <p:nvPr/>
        </p:nvSpPr>
        <p:spPr>
          <a:xfrm>
            <a:off x="9427464" y="3744468"/>
            <a:ext cx="1975104" cy="672084"/>
          </a:xfrm>
          <a:prstGeom prst="rect">
            <a:avLst/>
          </a:prstGeom>
          <a:noFill/>
          <a:ln/>
        </p:spPr>
        <p:txBody>
          <a:bodyPr wrap="square" lIns="0" tIns="0" rIns="0" bIns="0" rtlCol="0" anchor="ctr"/>
          <a:lstStyle/>
          <a:p>
            <a:pPr indent="0" marL="0">
              <a:lnSpc>
                <a:spcPts val="1300"/>
              </a:lnSpc>
              <a:buNone/>
            </a:pPr>
            <a:r>
              <a:rPr lang="en-US" sz="1050" dirty="0">
                <a:solidFill>
                  <a:srgbClr val="7A6E68"/>
                </a:solidFill>
                <a:latin typeface="Calibri" pitchFamily="34" charset="0"/>
                <a:ea typeface="Calibri" pitchFamily="34" charset="-122"/>
                <a:cs typeface="Calibri" pitchFamily="34" charset="-120"/>
              </a:rPr>
              <a:t>of the 27 driven by vegetation stress / by conflict / severe on both</a:t>
            </a:r>
            <a:endParaRPr lang="en-US" sz="1050" dirty="0"/>
          </a:p>
        </p:txBody>
      </p:sp>
      <p:sp>
        <p:nvSpPr>
          <p:cNvPr id="17" name="Shape 14"/>
          <p:cNvSpPr/>
          <p:nvPr/>
        </p:nvSpPr>
        <p:spPr>
          <a:xfrm>
            <a:off x="4251960" y="4617720"/>
            <a:ext cx="7342632" cy="1737360"/>
          </a:xfrm>
          <a:prstGeom prst="roundRect">
            <a:avLst>
              <a:gd name="adj" fmla="val 3158"/>
            </a:avLst>
          </a:prstGeom>
          <a:solidFill>
            <a:srgbClr val="2B2523"/>
          </a:solidFill>
          <a:ln/>
          <a:effectLst>
            <a:outerShdw sx="100000" sy="100000" kx="0" ky="0" algn="bl" rotWithShape="0" blurRad="76200" dist="381" dir="5400000">
              <a:srgbClr val="000000">
                <a:alpha val="8000"/>
              </a:srgbClr>
            </a:outerShdw>
          </a:effectLst>
        </p:spPr>
      </p:sp>
      <p:sp>
        <p:nvSpPr>
          <p:cNvPr id="18" name="Text 15"/>
          <p:cNvSpPr/>
          <p:nvPr/>
        </p:nvSpPr>
        <p:spPr>
          <a:xfrm>
            <a:off x="4480560" y="4773168"/>
            <a:ext cx="7040880" cy="274320"/>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Severity is real, not borderline</a:t>
            </a:r>
            <a:endParaRPr lang="en-US" sz="1350" dirty="0"/>
          </a:p>
        </p:txBody>
      </p:sp>
      <p:sp>
        <p:nvSpPr>
          <p:cNvPr id="19" name="Text 16"/>
          <p:cNvSpPr/>
          <p:nvPr/>
        </p:nvSpPr>
        <p:spPr>
          <a:xfrm>
            <a:off x="4480560" y="5084064"/>
            <a:ext cx="7223760" cy="1188720"/>
          </a:xfrm>
          <a:prstGeom prst="rect">
            <a:avLst/>
          </a:prstGeom>
          <a:noFill/>
          <a:ln/>
        </p:spPr>
        <p:txBody>
          <a:bodyPr wrap="square" lIns="0" tIns="0" rIns="0" bIns="0" rtlCol="0" anchor="ctr"/>
          <a:lstStyle/>
          <a:p>
            <a:pPr indent="0" marL="0">
              <a:lnSpc>
                <a:spcPts val="1400"/>
              </a:lnSpc>
              <a:buNone/>
            </a:pPr>
            <a:r>
              <a:rPr lang="en-US" sz="1080" dirty="0">
                <a:solidFill>
                  <a:srgbClr val="E7E8D1"/>
                </a:solidFill>
                <a:latin typeface="Calibri" pitchFamily="34" charset="0"/>
                <a:ea typeface="Calibri" pitchFamily="34" charset="-122"/>
                <a:cs typeface="Calibri" pitchFamily="34" charset="-120"/>
              </a:rPr>
              <a:t>Conflict-driven blind spots average 16.8 events that month, well above the 3.9 national average. Vegetation-stress-driven ones average a vegetation-health score of 27.8, well below the 46.7 national average. These are genuinely extreme district-months, not marginal cases that happen to fall on the wrong side of a threshold.</a:t>
            </a:r>
            <a:endParaRPr lang="en-US" sz="108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27664" cy="502920"/>
          </a:xfrm>
          <a:prstGeom prst="rect">
            <a:avLst/>
          </a:prstGeom>
          <a:noFill/>
          <a:ln/>
        </p:spPr>
        <p:txBody>
          <a:bodyPr wrap="square" lIns="0" tIns="0" rIns="0" bIns="0" rtlCol="0" anchor="ctr"/>
          <a:lstStyle/>
          <a:p>
            <a:pPr indent="0" marL="0">
              <a:buNone/>
            </a:pPr>
            <a:r>
              <a:rPr lang="en-US" sz="2500" b="1" dirty="0">
                <a:solidFill>
                  <a:srgbClr val="2B2523"/>
                </a:solidFill>
                <a:latin typeface="Cambria" pitchFamily="34" charset="0"/>
                <a:ea typeface="Cambria" pitchFamily="34" charset="-122"/>
                <a:cs typeface="Cambria" pitchFamily="34" charset="-120"/>
              </a:rPr>
              <a:t>Task 16: a genuine cluster, and the picture underneath it</a:t>
            </a:r>
            <a:endParaRPr lang="en-US" sz="2500" dirty="0"/>
          </a:p>
        </p:txBody>
      </p:sp>
      <p:sp>
        <p:nvSpPr>
          <p:cNvPr id="3" name="Text 1"/>
          <p:cNvSpPr/>
          <p:nvPr/>
        </p:nvSpPr>
        <p:spPr>
          <a:xfrm>
            <a:off x="566928" y="969264"/>
            <a:ext cx="11027664" cy="310896"/>
          </a:xfrm>
          <a:prstGeom prst="rect">
            <a:avLst/>
          </a:prstGeom>
          <a:noFill/>
          <a:ln/>
        </p:spPr>
        <p:txBody>
          <a:bodyPr wrap="square" lIns="0" tIns="0" rIns="0" bIns="0" rtlCol="0" anchor="ctr"/>
          <a:lstStyle/>
          <a:p>
            <a:pPr indent="0" marL="0">
              <a:buNone/>
            </a:pPr>
            <a:r>
              <a:rPr lang="en-US" sz="1250" i="1" dirty="0">
                <a:solidFill>
                  <a:srgbClr val="7A6E68"/>
                </a:solidFill>
                <a:latin typeface="Calibri" pitchFamily="34" charset="0"/>
                <a:ea typeface="Calibri" pitchFamily="34" charset="-122"/>
                <a:cs typeface="Calibri" pitchFamily="34" charset="-120"/>
              </a:rPr>
              <a:t>Both the geography of the month-specific blind spots and the permanent, year-round structural gaps</a:t>
            </a:r>
            <a:endParaRPr lang="en-US" sz="1250" dirty="0"/>
          </a:p>
        </p:txBody>
      </p:sp>
      <p:sp>
        <p:nvSpPr>
          <p:cNvPr id="4" name="Shape 2"/>
          <p:cNvSpPr/>
          <p:nvPr/>
        </p:nvSpPr>
        <p:spPr>
          <a:xfrm>
            <a:off x="566928" y="1371600"/>
            <a:ext cx="11027664" cy="1828800"/>
          </a:xfrm>
          <a:prstGeom prst="roundRect">
            <a:avLst>
              <a:gd name="adj" fmla="val 3000"/>
            </a:avLst>
          </a:prstGeom>
          <a:solidFill>
            <a:srgbClr val="F7F5F1"/>
          </a:solidFill>
          <a:ln/>
          <a:effectLst>
            <a:outerShdw sx="100000" sy="100000" kx="0" ky="0" algn="bl" rotWithShape="0" blurRad="76200" dist="381" dir="5400000">
              <a:srgbClr val="000000">
                <a:alpha val="8000"/>
              </a:srgbClr>
            </a:outerShdw>
          </a:effectLst>
        </p:spPr>
      </p:sp>
      <p:sp>
        <p:nvSpPr>
          <p:cNvPr id="5" name="Text 3"/>
          <p:cNvSpPr/>
          <p:nvPr/>
        </p:nvSpPr>
        <p:spPr>
          <a:xfrm>
            <a:off x="804672" y="1517904"/>
            <a:ext cx="9144000" cy="274320"/>
          </a:xfrm>
          <a:prstGeom prst="rect">
            <a:avLst/>
          </a:prstGeom>
          <a:noFill/>
          <a:ln/>
        </p:spPr>
        <p:txBody>
          <a:bodyPr wrap="square" lIns="0" tIns="0" rIns="0" bIns="0" rtlCol="0" anchor="ctr"/>
          <a:lstStyle/>
          <a:p>
            <a:pPr indent="0" marL="0">
              <a:buNone/>
            </a:pPr>
            <a:r>
              <a:rPr lang="en-US" sz="1350" b="1" dirty="0">
                <a:solidFill>
                  <a:srgbClr val="B85042"/>
                </a:solidFill>
                <a:latin typeface="Cambria" pitchFamily="34" charset="0"/>
                <a:ea typeface="Cambria" pitchFamily="34" charset="-122"/>
                <a:cs typeface="Cambria" pitchFamily="34" charset="-120"/>
              </a:rPr>
              <a:t>A genuine geographic cluster, not scattered coincidences</a:t>
            </a:r>
            <a:endParaRPr lang="en-US" sz="1350" dirty="0"/>
          </a:p>
        </p:txBody>
      </p:sp>
      <p:sp>
        <p:nvSpPr>
          <p:cNvPr id="6" name="Text 4"/>
          <p:cNvSpPr/>
          <p:nvPr/>
        </p:nvSpPr>
        <p:spPr>
          <a:xfrm>
            <a:off x="804672" y="1828800"/>
            <a:ext cx="10552176" cy="914400"/>
          </a:xfrm>
          <a:prstGeom prst="rect">
            <a:avLst/>
          </a:prstGeom>
          <a:noFill/>
          <a:ln/>
        </p:spPr>
        <p:txBody>
          <a:bodyPr wrap="square" lIns="0" tIns="0" rIns="0" bIns="0" rtlCol="0" anchor="ctr"/>
          <a:lstStyle/>
          <a:p>
            <a:pPr indent="0" marL="0">
              <a:lnSpc>
                <a:spcPts val="1400"/>
              </a:lnSpc>
              <a:buNone/>
            </a:pPr>
            <a:r>
              <a:rPr lang="en-US" sz="1080" dirty="0">
                <a:solidFill>
                  <a:srgbClr val="7A6E68"/>
                </a:solidFill>
                <a:latin typeface="Calibri" pitchFamily="34" charset="0"/>
                <a:ea typeface="Calibri" pitchFamily="34" charset="-122"/>
                <a:cs typeface="Calibri" pitchFamily="34" charset="-120"/>
              </a:rPr>
              <a:t>The central cluster, Ceel Dheer, Xarardheere and Aadan (dark blue on the map), sits in adjacent districts rather than scattered ones, the clearest visual evidence this is a genuine geographic pattern rather than 18 unrelated coincidences. It is a geographic cluster, not an administrative one: the three districts actually span three different regions (Galguduud, Mudug, Shabeellaha Dhexe) that happen to meet at one point, so the pattern cannot be explained by one region's own reporting or market-monitoring behaviour.</a:t>
            </a:r>
            <a:endParaRPr lang="en-US" sz="1080" dirty="0"/>
          </a:p>
        </p:txBody>
      </p:sp>
      <p:sp>
        <p:nvSpPr>
          <p:cNvPr id="7" name="Text 5"/>
          <p:cNvSpPr/>
          <p:nvPr/>
        </p:nvSpPr>
        <p:spPr>
          <a:xfrm>
            <a:off x="804672" y="2743200"/>
            <a:ext cx="10552176" cy="411480"/>
          </a:xfrm>
          <a:prstGeom prst="rect">
            <a:avLst/>
          </a:prstGeom>
          <a:noFill/>
          <a:ln/>
        </p:spPr>
        <p:txBody>
          <a:bodyPr wrap="square" lIns="0" tIns="0" rIns="0" bIns="0" rtlCol="0" anchor="ctr"/>
          <a:lstStyle/>
          <a:p>
            <a:pPr indent="0" marL="0">
              <a:lnSpc>
                <a:spcPts val="1400"/>
              </a:lnSpc>
              <a:buNone/>
            </a:pPr>
            <a:r>
              <a:rPr lang="en-US" sz="1080" dirty="0">
                <a:solidFill>
                  <a:srgbClr val="7A6E68"/>
                </a:solidFill>
                <a:latin typeface="Calibri" pitchFamily="34" charset="0"/>
                <a:ea typeface="Calibri" pitchFamily="34" charset="-122"/>
                <a:cs typeface="Calibri" pitchFamily="34" charset="-120"/>
              </a:rPr>
              <a:t>A second, more diffuse cluster runs along the southern districts (Baraawe, Qoryooley, Sablale, Wanla Weyn, Buaale, Jilib, Saakow), each appearing once but forming a visible corridor rather than isolated dots.</a:t>
            </a:r>
            <a:endParaRPr lang="en-US" sz="1080" dirty="0"/>
          </a:p>
        </p:txBody>
      </p:sp>
      <p:sp>
        <p:nvSpPr>
          <p:cNvPr id="8" name="Shape 6"/>
          <p:cNvSpPr/>
          <p:nvPr/>
        </p:nvSpPr>
        <p:spPr>
          <a:xfrm>
            <a:off x="566928" y="3429000"/>
            <a:ext cx="11027664" cy="1828800"/>
          </a:xfrm>
          <a:prstGeom prst="roundRect">
            <a:avLst>
              <a:gd name="adj" fmla="val 3000"/>
            </a:avLst>
          </a:prstGeom>
          <a:solidFill>
            <a:srgbClr val="2B2523"/>
          </a:solidFill>
          <a:ln/>
          <a:effectLst>
            <a:outerShdw sx="100000" sy="100000" kx="0" ky="0" algn="bl" rotWithShape="0" blurRad="76200" dist="381" dir="5400000">
              <a:srgbClr val="000000">
                <a:alpha val="8000"/>
              </a:srgbClr>
            </a:outerShdw>
          </a:effectLst>
        </p:spPr>
      </p:sp>
      <p:sp>
        <p:nvSpPr>
          <p:cNvPr id="9" name="Text 7"/>
          <p:cNvSpPr/>
          <p:nvPr/>
        </p:nvSpPr>
        <p:spPr>
          <a:xfrm>
            <a:off x="804672" y="3584448"/>
            <a:ext cx="9144000" cy="274320"/>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The structural picture underneath: dropping severity entirely</a:t>
            </a:r>
            <a:endParaRPr lang="en-US" sz="1350" dirty="0"/>
          </a:p>
        </p:txBody>
      </p:sp>
      <p:sp>
        <p:nvSpPr>
          <p:cNvPr id="10" name="Text 8"/>
          <p:cNvSpPr/>
          <p:nvPr/>
        </p:nvSpPr>
        <p:spPr>
          <a:xfrm>
            <a:off x="804672" y="3895344"/>
            <a:ext cx="10552176" cy="685800"/>
          </a:xfrm>
          <a:prstGeom prst="rect">
            <a:avLst/>
          </a:prstGeom>
          <a:noFill/>
          <a:ln/>
        </p:spPr>
        <p:txBody>
          <a:bodyPr wrap="square" lIns="0" tIns="0" rIns="0" bIns="0" rtlCol="0" anchor="ctr"/>
          <a:lstStyle/>
          <a:p>
            <a:pPr indent="0" marL="0">
              <a:lnSpc>
                <a:spcPts val="1400"/>
              </a:lnSpc>
              <a:buNone/>
            </a:pPr>
            <a:r>
              <a:rPr lang="en-US" sz="1080" dirty="0">
                <a:solidFill>
                  <a:srgbClr val="E7E8D1"/>
                </a:solidFill>
                <a:latin typeface="Calibri" pitchFamily="34" charset="0"/>
                <a:ea typeface="Calibri" pitchFamily="34" charset="-122"/>
                <a:cs typeface="Calibri" pitchFamily="34" charset="-120"/>
              </a:rPr>
              <a:t>The blind spots above are month-specific: a district only appears there if, in one particular month, severity and silence coincided. The plainer, permanent question underneath asks: across the whole year, regardless of what was happening on the ground, which districts simply never have market data or reporting at all?</a:t>
            </a:r>
            <a:endParaRPr lang="en-US" sz="1080" dirty="0"/>
          </a:p>
        </p:txBody>
      </p:sp>
      <p:sp>
        <p:nvSpPr>
          <p:cNvPr id="11" name="Text 9"/>
          <p:cNvSpPr/>
          <p:nvPr/>
        </p:nvSpPr>
        <p:spPr>
          <a:xfrm>
            <a:off x="804672" y="4617720"/>
            <a:ext cx="10552176" cy="548640"/>
          </a:xfrm>
          <a:prstGeom prst="rect">
            <a:avLst/>
          </a:prstGeom>
          <a:noFill/>
          <a:ln/>
        </p:spPr>
        <p:txBody>
          <a:bodyPr wrap="square" lIns="0" tIns="0" rIns="0" bIns="0" rtlCol="0" anchor="ctr"/>
          <a:lstStyle/>
          <a:p>
            <a:pPr indent="0" marL="0">
              <a:lnSpc>
                <a:spcPts val="1400"/>
              </a:lnSpc>
              <a:buNone/>
            </a:pPr>
            <a:r>
              <a:rPr lang="en-US" sz="1080" b="1" dirty="0">
                <a:solidFill>
                  <a:srgbClr val="A7BEAE"/>
                </a:solidFill>
                <a:latin typeface="Calibri" pitchFamily="34" charset="0"/>
                <a:ea typeface="Calibri" pitchFamily="34" charset="-122"/>
                <a:cs typeface="Calibri" pitchFamily="34" charset="-120"/>
              </a:rPr>
              <a:t>39 of 74 districts (53%) have no WFP market data at all, for any month of 2024. Only one, Bander Beyla (Bari region), has zero ReliefWeb reports across the entire year, and it also has no market: the single district neither human-generated source reaches at all, in any month.</a:t>
            </a:r>
            <a:endParaRPr lang="en-US" sz="1080" dirty="0"/>
          </a:p>
        </p:txBody>
      </p:sp>
      <p:sp>
        <p:nvSpPr>
          <p:cNvPr id="12" name="Text 10"/>
          <p:cNvSpPr/>
          <p:nvPr/>
        </p:nvSpPr>
        <p:spPr>
          <a:xfrm>
            <a:off x="566928" y="6016752"/>
            <a:ext cx="11027664" cy="347472"/>
          </a:xfrm>
          <a:prstGeom prst="rect">
            <a:avLst/>
          </a:prstGeom>
          <a:noFill/>
          <a:ln/>
        </p:spPr>
        <p:txBody>
          <a:bodyPr wrap="square" lIns="0" tIns="0" rIns="0" bIns="0" rtlCol="0" anchor="ctr"/>
          <a:lstStyle/>
          <a:p>
            <a:pPr indent="0" marL="0">
              <a:lnSpc>
                <a:spcPts val="1200"/>
              </a:lnSpc>
              <a:buNone/>
            </a:pPr>
            <a:r>
              <a:rPr lang="en-US" sz="1000" i="1" dirty="0">
                <a:solidFill>
                  <a:srgbClr val="7A6E68"/>
                </a:solidFill>
                <a:latin typeface="Calibri" pitchFamily="34" charset="0"/>
                <a:ea typeface="Calibri" pitchFamily="34" charset="-122"/>
                <a:cs typeface="Calibri" pitchFamily="34" charset="-120"/>
              </a:rPr>
              <a:t>The market side of this behaves the same way in both framings (structural, year-round); the reporting side does not, since "no report this specific month" affects many otherwise well-covered districts.</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2B2523"/>
        </a:solidFill>
      </p:bgPr>
    </p:bg>
    <p:spTree>
      <p:nvGrpSpPr>
        <p:cNvPr id="1" name=""/>
        <p:cNvGrpSpPr/>
        <p:nvPr/>
      </p:nvGrpSpPr>
      <p:grpSpPr>
        <a:xfrm>
          <a:off x="0" y="0"/>
          <a:ext cx="0" cy="0"/>
          <a:chOff x="0" y="0"/>
          <a:chExt cx="0" cy="0"/>
        </a:xfrm>
      </p:grpSpPr>
      <p:sp>
        <p:nvSpPr>
          <p:cNvPr id="2" name="Shape 0"/>
          <p:cNvSpPr/>
          <p:nvPr/>
        </p:nvSpPr>
        <p:spPr>
          <a:xfrm>
            <a:off x="9235440" y="-1554480"/>
            <a:ext cx="4937760" cy="4937760"/>
          </a:xfrm>
          <a:prstGeom prst="ellipse">
            <a:avLst/>
          </a:prstGeom>
          <a:solidFill>
            <a:srgbClr val="A7BEAE"/>
          </a:solidFill>
          <a:ln/>
        </p:spPr>
      </p:sp>
      <p:sp>
        <p:nvSpPr>
          <p:cNvPr id="3" name="Shape 1"/>
          <p:cNvSpPr/>
          <p:nvPr/>
        </p:nvSpPr>
        <p:spPr>
          <a:xfrm>
            <a:off x="-1280160" y="4206240"/>
            <a:ext cx="3291840" cy="3291840"/>
          </a:xfrm>
          <a:prstGeom prst="ellipse">
            <a:avLst/>
          </a:prstGeom>
          <a:solidFill>
            <a:srgbClr val="A7BEAE"/>
          </a:solidFill>
          <a:ln/>
        </p:spPr>
      </p:sp>
      <p:sp>
        <p:nvSpPr>
          <p:cNvPr id="4" name="Text 2"/>
          <p:cNvSpPr/>
          <p:nvPr/>
        </p:nvSpPr>
        <p:spPr>
          <a:xfrm>
            <a:off x="566928" y="2331720"/>
            <a:ext cx="9144000" cy="310896"/>
          </a:xfrm>
          <a:prstGeom prst="rect">
            <a:avLst/>
          </a:prstGeom>
          <a:noFill/>
          <a:ln/>
        </p:spPr>
        <p:txBody>
          <a:bodyPr wrap="square" lIns="0" tIns="0" rIns="0" bIns="0" rtlCol="0" anchor="ctr"/>
          <a:lstStyle/>
          <a:p>
            <a:pPr indent="0" marL="0">
              <a:buNone/>
            </a:pPr>
            <a:r>
              <a:rPr lang="en-US" sz="1300" b="1" spc="300" kern="0" dirty="0">
                <a:solidFill>
                  <a:srgbClr val="A7BEAE"/>
                </a:solidFill>
                <a:latin typeface="Calibri" pitchFamily="34" charset="0"/>
                <a:ea typeface="Calibri" pitchFamily="34" charset="-122"/>
                <a:cs typeface="Calibri" pitchFamily="34" charset="-120"/>
              </a:rPr>
              <a:t>TASK 17</a:t>
            </a:r>
            <a:endParaRPr lang="en-US" sz="1300" dirty="0"/>
          </a:p>
        </p:txBody>
      </p:sp>
      <p:sp>
        <p:nvSpPr>
          <p:cNvPr id="5" name="Text 3"/>
          <p:cNvSpPr/>
          <p:nvPr/>
        </p:nvSpPr>
        <p:spPr>
          <a:xfrm>
            <a:off x="566928" y="2743200"/>
            <a:ext cx="10241280" cy="1371600"/>
          </a:xfrm>
          <a:prstGeom prst="rect">
            <a:avLst/>
          </a:prstGeom>
          <a:noFill/>
          <a:ln/>
        </p:spPr>
        <p:txBody>
          <a:bodyPr wrap="square" lIns="0" tIns="0" rIns="0" bIns="0" rtlCol="0" anchor="ctr"/>
          <a:lstStyle/>
          <a:p>
            <a:pPr indent="0" marL="0">
              <a:lnSpc>
                <a:spcPts val="3800"/>
              </a:lnSpc>
              <a:buNone/>
            </a:pPr>
            <a:r>
              <a:rPr lang="en-US" sz="3200" b="1" dirty="0">
                <a:solidFill>
                  <a:srgbClr val="FFFFFF"/>
                </a:solidFill>
                <a:latin typeface="Cambria" pitchFamily="34" charset="0"/>
                <a:ea typeface="Cambria" pitchFamily="34" charset="-122"/>
                <a:cs typeface="Cambria" pitchFamily="34" charset="-120"/>
              </a:rPr>
              <a:t>Validating the geoparser</a:t>
            </a:r>
            <a:endParaRPr lang="en-US" sz="3200" dirty="0"/>
          </a:p>
          <a:p>
            <a:pPr indent="0" marL="0">
              <a:lnSpc>
                <a:spcPts val="3800"/>
              </a:lnSpc>
              <a:buNone/>
            </a:pPr>
            <a:r>
              <a:rPr lang="en-US" sz="3200" b="1" dirty="0">
                <a:solidFill>
                  <a:srgbClr val="FFFFFF"/>
                </a:solidFill>
                <a:latin typeface="Cambria" pitchFamily="34" charset="0"/>
                <a:ea typeface="Cambria" pitchFamily="34" charset="-122"/>
                <a:cs typeface="Cambria" pitchFamily="34" charset="-120"/>
              </a:rPr>
              <a:t>correctly</a:t>
            </a:r>
            <a:endParaRPr lang="en-US" sz="3200" dirty="0"/>
          </a:p>
        </p:txBody>
      </p:sp>
      <p:sp>
        <p:nvSpPr>
          <p:cNvPr id="6" name="Text 4"/>
          <p:cNvSpPr/>
          <p:nvPr/>
        </p:nvSpPr>
        <p:spPr>
          <a:xfrm>
            <a:off x="566928" y="4114800"/>
            <a:ext cx="8961120" cy="1005840"/>
          </a:xfrm>
          <a:prstGeom prst="rect">
            <a:avLst/>
          </a:prstGeom>
          <a:noFill/>
          <a:ln/>
        </p:spPr>
        <p:txBody>
          <a:bodyPr wrap="square" lIns="0" tIns="0" rIns="0" bIns="0" rtlCol="0" anchor="ctr"/>
          <a:lstStyle/>
          <a:p>
            <a:pPr indent="0" marL="0">
              <a:lnSpc>
                <a:spcPts val="1900"/>
              </a:lnSpc>
              <a:buNone/>
            </a:pPr>
            <a:r>
              <a:rPr lang="en-US" sz="1400" dirty="0">
                <a:solidFill>
                  <a:srgbClr val="E7E8D1"/>
                </a:solidFill>
                <a:latin typeface="Calibri" pitchFamily="34" charset="0"/>
                <a:ea typeface="Calibri" pitchFamily="34" charset="-122"/>
                <a:cs typeface="Calibri" pitchFamily="34" charset="-120"/>
              </a:rPr>
              <a:t>100 reports, blind-labelled, scored against a stratified sample corrected for how it was actually drawn.</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27664" cy="502920"/>
          </a:xfrm>
          <a:prstGeom prst="rect">
            <a:avLst/>
          </a:prstGeom>
          <a:noFill/>
          <a:ln/>
        </p:spPr>
        <p:txBody>
          <a:bodyPr wrap="square" lIns="0" tIns="0" rIns="0" bIns="0" rtlCol="0" anchor="ctr"/>
          <a:lstStyle/>
          <a:p>
            <a:pPr indent="0" marL="0">
              <a:buNone/>
            </a:pPr>
            <a:r>
              <a:rPr lang="en-US" sz="2500" b="1" dirty="0">
                <a:solidFill>
                  <a:srgbClr val="2B2523"/>
                </a:solidFill>
                <a:latin typeface="Cambria" pitchFamily="34" charset="0"/>
                <a:ea typeface="Cambria" pitchFamily="34" charset="-122"/>
                <a:cs typeface="Cambria" pitchFamily="34" charset="-120"/>
              </a:rPr>
              <a:t>Task 17: correcting for how the validation sample was drawn</a:t>
            </a:r>
            <a:endParaRPr lang="en-US" sz="2500" dirty="0"/>
          </a:p>
        </p:txBody>
      </p:sp>
      <p:sp>
        <p:nvSpPr>
          <p:cNvPr id="3" name="Text 1"/>
          <p:cNvSpPr/>
          <p:nvPr/>
        </p:nvSpPr>
        <p:spPr>
          <a:xfrm>
            <a:off x="566928" y="969264"/>
            <a:ext cx="11027664" cy="310896"/>
          </a:xfrm>
          <a:prstGeom prst="rect">
            <a:avLst/>
          </a:prstGeom>
          <a:noFill/>
          <a:ln/>
        </p:spPr>
        <p:txBody>
          <a:bodyPr wrap="square" lIns="0" tIns="0" rIns="0" bIns="0" rtlCol="0" anchor="ctr"/>
          <a:lstStyle/>
          <a:p>
            <a:pPr indent="0" marL="0">
              <a:buNone/>
            </a:pPr>
            <a:r>
              <a:rPr lang="en-US" sz="1250" i="1" dirty="0">
                <a:solidFill>
                  <a:srgbClr val="7A6E68"/>
                </a:solidFill>
                <a:latin typeface="Calibri" pitchFamily="34" charset="0"/>
                <a:ea typeface="Calibri" pitchFamily="34" charset="-122"/>
                <a:cs typeface="Calibri" pitchFamily="34" charset="-120"/>
              </a:rPr>
              <a:t>The final geoparser needed a fresh, blind validation, on a sample corrected for its own design</a:t>
            </a:r>
            <a:endParaRPr lang="en-US" sz="1250" dirty="0"/>
          </a:p>
        </p:txBody>
      </p:sp>
      <p:sp>
        <p:nvSpPr>
          <p:cNvPr id="4" name="Shape 2"/>
          <p:cNvSpPr/>
          <p:nvPr/>
        </p:nvSpPr>
        <p:spPr>
          <a:xfrm>
            <a:off x="566928" y="1371600"/>
            <a:ext cx="11027664" cy="1737360"/>
          </a:xfrm>
          <a:prstGeom prst="roundRect">
            <a:avLst>
              <a:gd name="adj" fmla="val 3158"/>
            </a:avLst>
          </a:prstGeom>
          <a:solidFill>
            <a:srgbClr val="F7F5F1"/>
          </a:solidFill>
          <a:ln/>
          <a:effectLst>
            <a:outerShdw sx="100000" sy="100000" kx="0" ky="0" algn="bl" rotWithShape="0" blurRad="76200" dist="381" dir="5400000">
              <a:srgbClr val="000000">
                <a:alpha val="8000"/>
              </a:srgbClr>
            </a:outerShdw>
          </a:effectLst>
        </p:spPr>
      </p:sp>
      <p:sp>
        <p:nvSpPr>
          <p:cNvPr id="5" name="Text 3"/>
          <p:cNvSpPr/>
          <p:nvPr/>
        </p:nvSpPr>
        <p:spPr>
          <a:xfrm>
            <a:off x="804672" y="1517904"/>
            <a:ext cx="9144000" cy="274320"/>
          </a:xfrm>
          <a:prstGeom prst="rect">
            <a:avLst/>
          </a:prstGeom>
          <a:noFill/>
          <a:ln/>
        </p:spPr>
        <p:txBody>
          <a:bodyPr wrap="square" lIns="0" tIns="0" rIns="0" bIns="0" rtlCol="0" anchor="ctr"/>
          <a:lstStyle/>
          <a:p>
            <a:pPr indent="0" marL="0">
              <a:buNone/>
            </a:pPr>
            <a:r>
              <a:rPr lang="en-US" sz="1350" b="1" dirty="0">
                <a:solidFill>
                  <a:srgbClr val="B85042"/>
                </a:solidFill>
                <a:latin typeface="Cambria" pitchFamily="34" charset="0"/>
                <a:ea typeface="Cambria" pitchFamily="34" charset="-122"/>
                <a:cs typeface="Cambria" pitchFamily="34" charset="-120"/>
              </a:rPr>
              <a:t>Why this needed correcting</a:t>
            </a:r>
            <a:endParaRPr lang="en-US" sz="1350" dirty="0"/>
          </a:p>
        </p:txBody>
      </p:sp>
      <p:sp>
        <p:nvSpPr>
          <p:cNvPr id="6" name="Text 4"/>
          <p:cNvSpPr/>
          <p:nvPr/>
        </p:nvSpPr>
        <p:spPr>
          <a:xfrm>
            <a:off x="804672" y="1828800"/>
            <a:ext cx="10552176" cy="1188720"/>
          </a:xfrm>
          <a:prstGeom prst="rect">
            <a:avLst/>
          </a:prstGeom>
          <a:noFill/>
          <a:ln/>
        </p:spPr>
        <p:txBody>
          <a:bodyPr wrap="square" lIns="0" tIns="0" rIns="0" bIns="0" rtlCol="0" anchor="ctr"/>
          <a:lstStyle/>
          <a:p>
            <a:pPr indent="0" marL="0">
              <a:lnSpc>
                <a:spcPts val="1450"/>
              </a:lnSpc>
              <a:buNone/>
            </a:pPr>
            <a:r>
              <a:rPr lang="en-US" sz="1100" dirty="0">
                <a:solidFill>
                  <a:srgbClr val="7A6E68"/>
                </a:solidFill>
                <a:latin typeface="Calibri" pitchFamily="34" charset="0"/>
                <a:ea typeface="Calibri" pitchFamily="34" charset="-122"/>
                <a:cs typeface="Calibri" pitchFamily="34" charset="-120"/>
              </a:rPr>
              <a:t>The 100-report validation sample was split 50/50 matched vs unmatched, good for finding enough examples of both outcomes to inspect, but not representative: the real population of Somalia reports (March-December 2024) is not matched/unmatched 50/50, it is 46.5% / 53.5%. Precision does not need correcting, since it is computed entirely from the reports the geoparser matched to something, which can be treated as a random draw from the population of matched reports. Recall's denominator draws from both strata, matched reports the geoparser partially missed and unmatched reports it entirely missed, so it does.</a:t>
            </a:r>
            <a:endParaRPr lang="en-US" sz="11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66928" y="3291840"/>
          <a:ext cx="7315200" cy="914400"/>
        </p:xfrm>
        <a:graphic>
          <a:graphicData uri="http://schemas.openxmlformats.org/drawingml/2006/table">
            <a:tbl>
              <a:tblPr/>
              <a:tblGrid>
                <a:gridCol w="2011680"/>
                <a:gridCol w="1645920"/>
                <a:gridCol w="1737360"/>
                <a:gridCol w="1920240"/>
              </a:tblGrid>
              <a:tr h="402336">
                <a:tc>
                  <a:txBody>
                    <a:bodyPr/>
                    <a:lstStyle/>
                    <a:p>
                      <a:pPr indent="0" marL="0">
                        <a:buNone/>
                      </a:pPr>
                      <a:endParaRPr lang="en-US" sz="12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Precision</a:t>
                      </a:r>
                      <a:endParaRPr lang="en-US" sz="12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Recall (naive)</a:t>
                      </a:r>
                      <a:endParaRPr lang="en-US" sz="12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Recall (corrected)</a:t>
                      </a:r>
                      <a:endParaRPr lang="en-US" sz="12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r>
              <a:tr h="402336">
                <a:tc>
                  <a:txBody>
                    <a:bodyPr/>
                    <a:lstStyle/>
                    <a:p>
                      <a:pPr indent="0" marL="0">
                        <a:buNone/>
                      </a:pPr>
                      <a:r>
                        <a:rPr lang="en-US" sz="1200" dirty="0">
                          <a:solidFill>
                            <a:srgbClr val="2B2523"/>
                          </a:solidFill>
                          <a:latin typeface="Calibri" pitchFamily="34" charset="0"/>
                          <a:ea typeface="Calibri" pitchFamily="34" charset="-122"/>
                          <a:cs typeface="Calibri" pitchFamily="34" charset="-120"/>
                        </a:rPr>
                        <a:t>Report x district pair</a:t>
                      </a:r>
                      <a:endParaRPr lang="en-US" sz="12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200" dirty="0">
                          <a:solidFill>
                            <a:srgbClr val="2B2523"/>
                          </a:solidFill>
                          <a:latin typeface="Calibri" pitchFamily="34" charset="0"/>
                          <a:ea typeface="Calibri" pitchFamily="34" charset="-122"/>
                          <a:cs typeface="Calibri" pitchFamily="34" charset="-120"/>
                        </a:rPr>
                        <a:t>81.1%</a:t>
                      </a:r>
                      <a:endParaRPr lang="en-US" sz="12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200" dirty="0">
                          <a:solidFill>
                            <a:srgbClr val="2B2523"/>
                          </a:solidFill>
                          <a:latin typeface="Calibri" pitchFamily="34" charset="0"/>
                          <a:ea typeface="Calibri" pitchFamily="34" charset="-122"/>
                          <a:cs typeface="Calibri" pitchFamily="34" charset="-120"/>
                        </a:rPr>
                        <a:t>19.4%</a:t>
                      </a:r>
                      <a:endParaRPr lang="en-US" sz="12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200" b="1" dirty="0">
                          <a:solidFill>
                            <a:srgbClr val="B85042"/>
                          </a:solidFill>
                          <a:latin typeface="Calibri" pitchFamily="34" charset="0"/>
                          <a:ea typeface="Calibri" pitchFamily="34" charset="-122"/>
                          <a:cs typeface="Calibri" pitchFamily="34" charset="-120"/>
                        </a:rPr>
                        <a:t>17.1%</a:t>
                      </a:r>
                      <a:endParaRPr lang="en-US" sz="12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r>
              <a:tr h="402336">
                <a:tc>
                  <a:txBody>
                    <a:bodyPr/>
                    <a:lstStyle/>
                    <a:p>
                      <a:pPr indent="0" marL="0">
                        <a:buNone/>
                      </a:pPr>
                      <a:r>
                        <a:rPr lang="en-US" sz="1200" dirty="0">
                          <a:solidFill>
                            <a:srgbClr val="2B2523"/>
                          </a:solidFill>
                          <a:latin typeface="Calibri" pitchFamily="34" charset="0"/>
                          <a:ea typeface="Calibri" pitchFamily="34" charset="-122"/>
                          <a:cs typeface="Calibri" pitchFamily="34" charset="-120"/>
                        </a:rPr>
                        <a:t>Report level</a:t>
                      </a:r>
                      <a:endParaRPr lang="en-US" sz="12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200" dirty="0">
                          <a:solidFill>
                            <a:srgbClr val="2B2523"/>
                          </a:solidFill>
                          <a:latin typeface="Calibri" pitchFamily="34" charset="0"/>
                          <a:ea typeface="Calibri" pitchFamily="34" charset="-122"/>
                          <a:cs typeface="Calibri" pitchFamily="34" charset="-120"/>
                        </a:rPr>
                        <a:t>78.8%</a:t>
                      </a:r>
                      <a:endParaRPr lang="en-US" sz="12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200" dirty="0">
                          <a:solidFill>
                            <a:srgbClr val="2B2523"/>
                          </a:solidFill>
                          <a:latin typeface="Calibri" pitchFamily="34" charset="0"/>
                          <a:ea typeface="Calibri" pitchFamily="34" charset="-122"/>
                          <a:cs typeface="Calibri" pitchFamily="34" charset="-120"/>
                        </a:rPr>
                        <a:t>63.1%</a:t>
                      </a:r>
                      <a:endParaRPr lang="en-US" sz="12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200" b="1" dirty="0">
                          <a:solidFill>
                            <a:srgbClr val="B85042"/>
                          </a:solidFill>
                          <a:latin typeface="Calibri" pitchFamily="34" charset="0"/>
                          <a:ea typeface="Calibri" pitchFamily="34" charset="-122"/>
                          <a:cs typeface="Calibri" pitchFamily="34" charset="-120"/>
                        </a:rPr>
                        <a:t>57.8%</a:t>
                      </a:r>
                      <a:endParaRPr lang="en-US" sz="12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r>
            </a:tbl>
          </a:graphicData>
        </a:graphic>
      </p:graphicFrame>
      <p:sp>
        <p:nvSpPr>
          <p:cNvPr id="8" name="Shape 5"/>
          <p:cNvSpPr/>
          <p:nvPr/>
        </p:nvSpPr>
        <p:spPr>
          <a:xfrm>
            <a:off x="8275320" y="3291840"/>
            <a:ext cx="3319272" cy="2651760"/>
          </a:xfrm>
          <a:prstGeom prst="roundRect">
            <a:avLst>
              <a:gd name="adj" fmla="val 2069"/>
            </a:avLst>
          </a:prstGeom>
          <a:solidFill>
            <a:srgbClr val="2B2523"/>
          </a:solidFill>
          <a:ln/>
          <a:effectLst>
            <a:outerShdw sx="100000" sy="100000" kx="0" ky="0" algn="bl" rotWithShape="0" blurRad="76200" dist="381" dir="5400000">
              <a:srgbClr val="000000">
                <a:alpha val="8000"/>
              </a:srgbClr>
            </a:outerShdw>
          </a:effectLst>
        </p:spPr>
      </p:sp>
      <p:sp>
        <p:nvSpPr>
          <p:cNvPr id="9" name="Text 6"/>
          <p:cNvSpPr/>
          <p:nvPr/>
        </p:nvSpPr>
        <p:spPr>
          <a:xfrm>
            <a:off x="8503920" y="3438144"/>
            <a:ext cx="3063240" cy="274320"/>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Why pair-level recall is lower</a:t>
            </a:r>
            <a:endParaRPr lang="en-US" sz="1350" dirty="0"/>
          </a:p>
        </p:txBody>
      </p:sp>
      <p:sp>
        <p:nvSpPr>
          <p:cNvPr id="10" name="Text 7"/>
          <p:cNvSpPr/>
          <p:nvPr/>
        </p:nvSpPr>
        <p:spPr>
          <a:xfrm>
            <a:off x="8503920" y="3749040"/>
            <a:ext cx="3063240" cy="2103120"/>
          </a:xfrm>
          <a:prstGeom prst="rect">
            <a:avLst/>
          </a:prstGeom>
          <a:noFill/>
          <a:ln/>
        </p:spPr>
        <p:txBody>
          <a:bodyPr wrap="square" lIns="0" tIns="0" rIns="0" bIns="0" rtlCol="0" anchor="ctr"/>
          <a:lstStyle/>
          <a:p>
            <a:pPr indent="0" marL="0">
              <a:lnSpc>
                <a:spcPts val="1350"/>
              </a:lnSpc>
              <a:buNone/>
            </a:pPr>
            <a:r>
              <a:rPr lang="en-US" sz="1030" dirty="0">
                <a:solidFill>
                  <a:srgbClr val="E7E8D1"/>
                </a:solidFill>
                <a:latin typeface="Calibri" pitchFamily="34" charset="0"/>
                <a:ea typeface="Calibri" pitchFamily="34" charset="-122"/>
                <a:cs typeface="Calibri" pitchFamily="34" charset="-120"/>
              </a:rPr>
              <a:t>The geoparser can only read a report's exported title and body text, never attachments or embedded tables. It is usually right that a report concerns at least one district (57.8%), but often misses other districts that same report also covers if those only appear inside an attachment (17.1%). A structural limitation, not a matching defect.</a:t>
            </a:r>
            <a:endParaRPr lang="en-US" sz="1030" dirty="0"/>
          </a:p>
        </p:txBody>
      </p:sp>
      <p:sp>
        <p:nvSpPr>
          <p:cNvPr id="11" name="Text 8"/>
          <p:cNvSpPr/>
          <p:nvPr/>
        </p:nvSpPr>
        <p:spPr>
          <a:xfrm>
            <a:off x="566928" y="6016752"/>
            <a:ext cx="11027664" cy="347472"/>
          </a:xfrm>
          <a:prstGeom prst="rect">
            <a:avLst/>
          </a:prstGeom>
          <a:noFill/>
          <a:ln/>
        </p:spPr>
        <p:txBody>
          <a:bodyPr wrap="square" lIns="0" tIns="0" rIns="0" bIns="0" rtlCol="0" anchor="ctr"/>
          <a:lstStyle/>
          <a:p>
            <a:pPr indent="0" marL="0">
              <a:lnSpc>
                <a:spcPts val="1200"/>
              </a:lnSpc>
              <a:buNone/>
            </a:pPr>
            <a:r>
              <a:rPr lang="en-US" sz="1000" i="1" dirty="0">
                <a:solidFill>
                  <a:srgbClr val="7A6E68"/>
                </a:solidFill>
                <a:latin typeface="Calibri" pitchFamily="34" charset="0"/>
                <a:ea typeface="Calibri" pitchFamily="34" charset="-122"/>
                <a:cs typeface="Calibri" pitchFamily="34" charset="-120"/>
              </a:rPr>
              <a:t>Precision (about 80% at either level) was always trustworthy, and is unaffected by the correction; the corrected recall figures are what this dissertation cites going forward.</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27664" cy="502920"/>
          </a:xfrm>
          <a:prstGeom prst="rect">
            <a:avLst/>
          </a:prstGeom>
          <a:noFill/>
          <a:ln/>
        </p:spPr>
        <p:txBody>
          <a:bodyPr wrap="square" lIns="0" tIns="0" rIns="0" bIns="0" rtlCol="0" anchor="ctr"/>
          <a:lstStyle/>
          <a:p>
            <a:pPr indent="0" marL="0">
              <a:buNone/>
            </a:pPr>
            <a:r>
              <a:rPr lang="en-US" sz="2500" b="1" dirty="0">
                <a:solidFill>
                  <a:srgbClr val="2B2523"/>
                </a:solidFill>
                <a:latin typeface="Cambria" pitchFamily="34" charset="0"/>
                <a:ea typeface="Cambria" pitchFamily="34" charset="-122"/>
                <a:cs typeface="Cambria" pitchFamily="34" charset="-120"/>
              </a:rPr>
              <a:t>Task 17: what was investigated to raise recall further</a:t>
            </a:r>
            <a:endParaRPr lang="en-US" sz="2500" dirty="0"/>
          </a:p>
        </p:txBody>
      </p:sp>
      <p:sp>
        <p:nvSpPr>
          <p:cNvPr id="3" name="Text 1"/>
          <p:cNvSpPr/>
          <p:nvPr/>
        </p:nvSpPr>
        <p:spPr>
          <a:xfrm>
            <a:off x="566928" y="969264"/>
            <a:ext cx="11027664" cy="310896"/>
          </a:xfrm>
          <a:prstGeom prst="rect">
            <a:avLst/>
          </a:prstGeom>
          <a:noFill/>
          <a:ln/>
        </p:spPr>
        <p:txBody>
          <a:bodyPr wrap="square" lIns="0" tIns="0" rIns="0" bIns="0" rtlCol="0" anchor="ctr"/>
          <a:lstStyle/>
          <a:p>
            <a:pPr indent="0" marL="0">
              <a:buNone/>
            </a:pPr>
            <a:r>
              <a:rPr lang="en-US" sz="1250" i="1" dirty="0">
                <a:solidFill>
                  <a:srgbClr val="7A6E68"/>
                </a:solidFill>
                <a:latin typeface="Calibri" pitchFamily="34" charset="0"/>
                <a:ea typeface="Calibri" pitchFamily="34" charset="-122"/>
                <a:cs typeface="Calibri" pitchFamily="34" charset="-120"/>
              </a:rPr>
              <a:t>Two options considered; one tested and found insufficient, one named as an open decision rather than made unilaterally</a:t>
            </a:r>
            <a:endParaRPr lang="en-US" sz="1250" dirty="0"/>
          </a:p>
        </p:txBody>
      </p:sp>
      <p:sp>
        <p:nvSpPr>
          <p:cNvPr id="4" name="Shape 2"/>
          <p:cNvSpPr/>
          <p:nvPr/>
        </p:nvSpPr>
        <p:spPr>
          <a:xfrm>
            <a:off x="566928" y="1371600"/>
            <a:ext cx="5486400" cy="4480560"/>
          </a:xfrm>
          <a:prstGeom prst="roundRect">
            <a:avLst>
              <a:gd name="adj" fmla="val 1224"/>
            </a:avLst>
          </a:prstGeom>
          <a:solidFill>
            <a:srgbClr val="B85042"/>
          </a:solidFill>
          <a:ln/>
          <a:effectLst>
            <a:outerShdw sx="100000" sy="100000" kx="0" ky="0" algn="bl" rotWithShape="0" blurRad="76200" dist="381" dir="5400000">
              <a:srgbClr val="000000">
                <a:alpha val="8000"/>
              </a:srgbClr>
            </a:outerShdw>
          </a:effectLst>
        </p:spPr>
      </p:sp>
      <p:sp>
        <p:nvSpPr>
          <p:cNvPr id="5" name="Text 3"/>
          <p:cNvSpPr/>
          <p:nvPr/>
        </p:nvSpPr>
        <p:spPr>
          <a:xfrm>
            <a:off x="804672" y="1536192"/>
            <a:ext cx="5029200" cy="274320"/>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Tested: expanding the alias map</a:t>
            </a:r>
            <a:endParaRPr lang="en-US" sz="1350" dirty="0"/>
          </a:p>
        </p:txBody>
      </p:sp>
      <p:sp>
        <p:nvSpPr>
          <p:cNvPr id="6" name="Text 4"/>
          <p:cNvSpPr/>
          <p:nvPr/>
        </p:nvSpPr>
        <p:spPr>
          <a:xfrm>
            <a:off x="804672" y="1883664"/>
            <a:ext cx="5029200" cy="868680"/>
          </a:xfrm>
          <a:prstGeom prst="rect">
            <a:avLst/>
          </a:prstGeom>
          <a:noFill/>
          <a:ln/>
        </p:spPr>
        <p:txBody>
          <a:bodyPr wrap="square" lIns="0" tIns="0" rIns="0" bIns="0" rtlCol="0" anchor="ctr"/>
          <a:lstStyle/>
          <a:p>
            <a:pPr indent="0" marL="0">
              <a:lnSpc>
                <a:spcPts val="1450"/>
              </a:lnSpc>
              <a:buNone/>
            </a:pPr>
            <a:r>
              <a:rPr lang="en-US" sz="1100" dirty="0">
                <a:solidFill>
                  <a:srgbClr val="FBEAE7"/>
                </a:solidFill>
                <a:latin typeface="Calibri" pitchFamily="34" charset="0"/>
                <a:ea typeface="Calibri" pitchFamily="34" charset="-122"/>
                <a:cs typeface="Calibri" pitchFamily="34" charset="-120"/>
              </a:rPr>
              <a:t>110 spelling variants surfaced by the validation labels, across 44 districts, were added to the pipeline's own matching vocabulary and re-run against the actual report title and body text of the 100 validation reports.</a:t>
            </a:r>
            <a:endParaRPr lang="en-US" sz="1100" dirty="0"/>
          </a:p>
        </p:txBody>
      </p:sp>
      <p:sp>
        <p:nvSpPr>
          <p:cNvPr id="7" name="Text 5"/>
          <p:cNvSpPr/>
          <p:nvPr/>
        </p:nvSpPr>
        <p:spPr>
          <a:xfrm>
            <a:off x="804672" y="2834640"/>
            <a:ext cx="2286000" cy="5029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+2.2pp</a:t>
            </a:r>
            <a:endParaRPr lang="en-US" sz="3000" dirty="0"/>
          </a:p>
        </p:txBody>
      </p:sp>
      <p:sp>
        <p:nvSpPr>
          <p:cNvPr id="8" name="Text 6"/>
          <p:cNvSpPr/>
          <p:nvPr/>
        </p:nvSpPr>
        <p:spPr>
          <a:xfrm>
            <a:off x="804672" y="3337560"/>
            <a:ext cx="4754880" cy="320040"/>
          </a:xfrm>
          <a:prstGeom prst="rect">
            <a:avLst/>
          </a:prstGeom>
          <a:noFill/>
          <a:ln/>
        </p:spPr>
        <p:txBody>
          <a:bodyPr wrap="square" lIns="0" tIns="0" rIns="0" bIns="0" rtlCol="0" anchor="ctr"/>
          <a:lstStyle/>
          <a:p>
            <a:pPr indent="0" marL="0">
              <a:buNone/>
            </a:pPr>
            <a:r>
              <a:rPr lang="en-US" sz="1050" dirty="0">
                <a:solidFill>
                  <a:srgbClr val="FBEAE7"/>
                </a:solidFill>
                <a:latin typeface="Calibri" pitchFamily="34" charset="0"/>
                <a:ea typeface="Calibri" pitchFamily="34" charset="-122"/>
                <a:cs typeface="Calibri" pitchFamily="34" charset="-120"/>
              </a:rPr>
              <a:t>pair-level recall gain (19.4% -&gt; 21.5%)</a:t>
            </a:r>
            <a:endParaRPr lang="en-US" sz="1050" dirty="0"/>
          </a:p>
        </p:txBody>
      </p:sp>
      <p:sp>
        <p:nvSpPr>
          <p:cNvPr id="9" name="Text 7"/>
          <p:cNvSpPr/>
          <p:nvPr/>
        </p:nvSpPr>
        <p:spPr>
          <a:xfrm>
            <a:off x="804672" y="3749040"/>
            <a:ext cx="2286000" cy="5029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2.7%</a:t>
            </a:r>
            <a:endParaRPr lang="en-US" sz="3000" dirty="0"/>
          </a:p>
        </p:txBody>
      </p:sp>
      <p:sp>
        <p:nvSpPr>
          <p:cNvPr id="10" name="Text 8"/>
          <p:cNvSpPr/>
          <p:nvPr/>
        </p:nvSpPr>
        <p:spPr>
          <a:xfrm>
            <a:off x="804672" y="4251960"/>
            <a:ext cx="4754880" cy="320040"/>
          </a:xfrm>
          <a:prstGeom prst="rect">
            <a:avLst/>
          </a:prstGeom>
          <a:noFill/>
          <a:ln/>
        </p:spPr>
        <p:txBody>
          <a:bodyPr wrap="square" lIns="0" tIns="0" rIns="0" bIns="0" rtlCol="0" anchor="ctr"/>
          <a:lstStyle/>
          <a:p>
            <a:pPr indent="0" marL="0">
              <a:buNone/>
            </a:pPr>
            <a:r>
              <a:rPr lang="en-US" sz="1050" dirty="0">
                <a:solidFill>
                  <a:srgbClr val="FBEAE7"/>
                </a:solidFill>
                <a:latin typeface="Calibri" pitchFamily="34" charset="0"/>
                <a:ea typeface="Calibri" pitchFamily="34" charset="-122"/>
                <a:cs typeface="Calibri" pitchFamily="34" charset="-120"/>
              </a:rPr>
              <a:t>of the 771 originally-missed genuine pairs recovered</a:t>
            </a:r>
            <a:endParaRPr lang="en-US" sz="1050" dirty="0"/>
          </a:p>
        </p:txBody>
      </p:sp>
      <p:sp>
        <p:nvSpPr>
          <p:cNvPr id="11" name="Text 9"/>
          <p:cNvSpPr/>
          <p:nvPr/>
        </p:nvSpPr>
        <p:spPr>
          <a:xfrm>
            <a:off x="804672" y="4709160"/>
            <a:ext cx="5029200" cy="1005840"/>
          </a:xfrm>
          <a:prstGeom prst="rect">
            <a:avLst/>
          </a:prstGeom>
          <a:noFill/>
          <a:ln/>
        </p:spPr>
        <p:txBody>
          <a:bodyPr wrap="square" lIns="0" tIns="0" rIns="0" bIns="0" rtlCol="0" anchor="ctr"/>
          <a:lstStyle/>
          <a:p>
            <a:pPr indent="0" marL="0">
              <a:lnSpc>
                <a:spcPts val="1350"/>
              </a:lnSpc>
              <a:buNone/>
            </a:pPr>
            <a:r>
              <a:rPr lang="en-US" sz="1030" i="1" dirty="0">
                <a:solidFill>
                  <a:srgbClr val="FBEAE7"/>
                </a:solidFill>
                <a:latin typeface="Calibri" pitchFamily="34" charset="0"/>
                <a:ea typeface="Calibri" pitchFamily="34" charset="-122"/>
                <a:cs typeface="Calibri" pitchFamily="34" charset="-120"/>
              </a:rPr>
              <a:t>Conclusion: spelling was never the main reason for the misses. Not folded into the pipeline; the gain is too small to justify a change to a component (final_alias_map) that Task 10's own reporting-coverage figures already depend on.</a:t>
            </a:r>
            <a:endParaRPr lang="en-US" sz="1030" dirty="0"/>
          </a:p>
        </p:txBody>
      </p:sp>
      <p:sp>
        <p:nvSpPr>
          <p:cNvPr id="12" name="Shape 10"/>
          <p:cNvSpPr/>
          <p:nvPr/>
        </p:nvSpPr>
        <p:spPr>
          <a:xfrm>
            <a:off x="6172200" y="1371600"/>
            <a:ext cx="5422392" cy="4480560"/>
          </a:xfrm>
          <a:prstGeom prst="roundRect">
            <a:avLst>
              <a:gd name="adj" fmla="val 1224"/>
            </a:avLst>
          </a:prstGeom>
          <a:solidFill>
            <a:srgbClr val="2B2523"/>
          </a:solidFill>
          <a:ln/>
          <a:effectLst>
            <a:outerShdw sx="100000" sy="100000" kx="0" ky="0" algn="bl" rotWithShape="0" blurRad="76200" dist="381" dir="5400000">
              <a:srgbClr val="000000">
                <a:alpha val="8000"/>
              </a:srgbClr>
            </a:outerShdw>
          </a:effectLst>
        </p:spPr>
      </p:sp>
      <p:sp>
        <p:nvSpPr>
          <p:cNvPr id="13" name="Text 11"/>
          <p:cNvSpPr/>
          <p:nvPr/>
        </p:nvSpPr>
        <p:spPr>
          <a:xfrm>
            <a:off x="6400800" y="1536192"/>
            <a:ext cx="4937760" cy="274320"/>
          </a:xfrm>
          <a:prstGeom prst="rect">
            <a:avLst/>
          </a:prstGeom>
          <a:noFill/>
          <a:ln/>
        </p:spPr>
        <p:txBody>
          <a:bodyPr wrap="square" lIns="0" tIns="0" rIns="0" bIns="0" rtlCol="0" anchor="ctr"/>
          <a:lstStyle/>
          <a:p>
            <a:pPr indent="0" marL="0">
              <a:buNone/>
            </a:pPr>
            <a:r>
              <a:rPr lang="en-US" sz="1350" b="1" dirty="0">
                <a:solidFill>
                  <a:srgbClr val="A7BEAE"/>
                </a:solidFill>
                <a:latin typeface="Cambria" pitchFamily="34" charset="0"/>
                <a:ea typeface="Cambria" pitchFamily="34" charset="-122"/>
                <a:cs typeface="Cambria" pitchFamily="34" charset="-120"/>
              </a:rPr>
              <a:t>Not attempted: reading attachments</a:t>
            </a:r>
            <a:endParaRPr lang="en-US" sz="1350" dirty="0"/>
          </a:p>
        </p:txBody>
      </p:sp>
      <p:sp>
        <p:nvSpPr>
          <p:cNvPr id="14" name="Text 12"/>
          <p:cNvSpPr/>
          <p:nvPr/>
        </p:nvSpPr>
        <p:spPr>
          <a:xfrm>
            <a:off x="6400800" y="1883664"/>
            <a:ext cx="4937760" cy="777240"/>
          </a:xfrm>
          <a:prstGeom prst="rect">
            <a:avLst/>
          </a:prstGeom>
          <a:noFill/>
          <a:ln/>
        </p:spPr>
        <p:txBody>
          <a:bodyPr wrap="square" lIns="0" tIns="0" rIns="0" bIns="0" rtlCol="0" anchor="ctr"/>
          <a:lstStyle/>
          <a:p>
            <a:pPr indent="0" marL="0">
              <a:lnSpc>
                <a:spcPts val="1450"/>
              </a:lnSpc>
              <a:buNone/>
            </a:pPr>
            <a:r>
              <a:rPr lang="en-US" sz="1100" dirty="0">
                <a:solidFill>
                  <a:srgbClr val="E7E8D1"/>
                </a:solidFill>
                <a:latin typeface="Calibri" pitchFamily="34" charset="0"/>
                <a:ea typeface="Calibri" pitchFamily="34" charset="-122"/>
                <a:cs typeface="Calibri" pitchFamily="34" charset="-120"/>
              </a:rPr>
              <a:t>The larger fix would be a document-reading step that downloads each report's attachment (PDF, spreadsheet or embedded table) from ReliefWeb and geoparses its text the same way the title and body already are.</a:t>
            </a:r>
            <a:endParaRPr lang="en-US" sz="1100" dirty="0"/>
          </a:p>
        </p:txBody>
      </p:sp>
      <p:sp>
        <p:nvSpPr>
          <p:cNvPr id="15" name="Text 13"/>
          <p:cNvSpPr/>
          <p:nvPr/>
        </p:nvSpPr>
        <p:spPr>
          <a:xfrm>
            <a:off x="6400800" y="2743200"/>
            <a:ext cx="4937760" cy="1463040"/>
          </a:xfrm>
          <a:prstGeom prst="rect">
            <a:avLst/>
          </a:prstGeom>
          <a:noFill/>
          <a:ln/>
        </p:spPr>
        <p:txBody>
          <a:bodyPr wrap="square" lIns="0" tIns="0" rIns="0" bIns="0" rtlCol="0" anchor="ctr"/>
          <a:lstStyle/>
          <a:p>
            <a:pPr marL="342900" indent="-342900">
              <a:lnSpc>
                <a:spcPts val="1500"/>
              </a:lnSpc>
              <a:spcAft>
                <a:spcPts val="800"/>
              </a:spcAft>
              <a:buSzPct val="100000"/>
              <a:buChar char="•"/>
            </a:pPr>
            <a:r>
              <a:rPr lang="en-US" sz="1050" dirty="0">
                <a:solidFill>
                  <a:srgbClr val="E7E8D1"/>
                </a:solidFill>
                <a:latin typeface="Calibri" pitchFamily="34" charset="0"/>
                <a:ea typeface="Calibri" pitchFamily="34" charset="-122"/>
                <a:cs typeface="Calibri" pitchFamily="34" charset="-120"/>
              </a:rPr>
              <a:t>api.reliefweb.int is one of the hosts this environment's network proxy blocks outright, so even a minimal version cannot be built or tested here without a different access route.</a:t>
            </a:r>
            <a:endParaRPr lang="en-US" sz="1050" dirty="0"/>
          </a:p>
          <a:p>
            <a:pPr marL="342900" indent="-342900">
              <a:lnSpc>
                <a:spcPts val="1500"/>
              </a:lnSpc>
              <a:spcAft>
                <a:spcPts val="800"/>
              </a:spcAft>
              <a:buSzPct val="100000"/>
              <a:buChar char="•"/>
            </a:pPr>
            <a:r>
              <a:rPr lang="en-US" sz="1050" dirty="0">
                <a:solidFill>
                  <a:srgbClr val="E7E8D1"/>
                </a:solidFill>
                <a:latin typeface="Calibri" pitchFamily="34" charset="0"/>
                <a:ea typeface="Calibri" pitchFamily="34" charset="-122"/>
                <a:cs typeface="Calibri" pitchFamily="34" charset="-120"/>
              </a:rPr>
              <a:t>Independently of that access problem, building a new document-ingestion component is a substantial addition to the pipeline, not a correction to something already built.</a:t>
            </a:r>
            <a:endParaRPr lang="en-US" sz="1050" dirty="0"/>
          </a:p>
        </p:txBody>
      </p:sp>
      <p:sp>
        <p:nvSpPr>
          <p:cNvPr id="16" name="Shape 14"/>
          <p:cNvSpPr/>
          <p:nvPr/>
        </p:nvSpPr>
        <p:spPr>
          <a:xfrm>
            <a:off x="6400800" y="4297680"/>
            <a:ext cx="4709160" cy="1371600"/>
          </a:xfrm>
          <a:prstGeom prst="roundRect">
            <a:avLst>
              <a:gd name="adj" fmla="val 4000"/>
            </a:avLst>
          </a:prstGeom>
          <a:solidFill>
            <a:srgbClr val="A7BEAE"/>
          </a:solidFill>
          <a:ln/>
          <a:effectLst>
            <a:outerShdw sx="100000" sy="100000" kx="0" ky="0" algn="bl" rotWithShape="0" blurRad="76200" dist="381" dir="5400000">
              <a:srgbClr val="000000">
                <a:alpha val="8000"/>
              </a:srgbClr>
            </a:outerShdw>
          </a:effectLst>
        </p:spPr>
      </p:sp>
      <p:sp>
        <p:nvSpPr>
          <p:cNvPr id="17" name="Text 15"/>
          <p:cNvSpPr/>
          <p:nvPr/>
        </p:nvSpPr>
        <p:spPr>
          <a:xfrm>
            <a:off x="6583680" y="4434840"/>
            <a:ext cx="4343400" cy="1097280"/>
          </a:xfrm>
          <a:prstGeom prst="rect">
            <a:avLst/>
          </a:prstGeom>
          <a:noFill/>
          <a:ln/>
        </p:spPr>
        <p:txBody>
          <a:bodyPr wrap="square" lIns="0" tIns="0" rIns="0" bIns="0" rtlCol="0" anchor="ctr"/>
          <a:lstStyle/>
          <a:p>
            <a:pPr indent="0" marL="0">
              <a:lnSpc>
                <a:spcPts val="1450"/>
              </a:lnSpc>
              <a:buNone/>
            </a:pPr>
            <a:r>
              <a:rPr lang="en-US" sz="1100" b="1" dirty="0">
                <a:solidFill>
                  <a:srgbClr val="3A3330"/>
                </a:solidFill>
                <a:latin typeface="Calibri" pitchFamily="34" charset="0"/>
                <a:ea typeface="Calibri" pitchFamily="34" charset="-122"/>
                <a:cs typeface="Calibri" pitchFamily="34" charset="-120"/>
              </a:rPr>
              <a:t>Raised here rather than decided unilaterally: is this worth pursuing, given the scope it adds against the instruction to move toward writing?</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27664" cy="502920"/>
          </a:xfrm>
          <a:prstGeom prst="rect">
            <a:avLst/>
          </a:prstGeom>
          <a:noFill/>
          <a:ln/>
        </p:spPr>
        <p:txBody>
          <a:bodyPr wrap="square" lIns="0" tIns="0" rIns="0" bIns="0" rtlCol="0" anchor="ctr"/>
          <a:lstStyle/>
          <a:p>
            <a:pPr indent="0" marL="0">
              <a:buNone/>
            </a:pPr>
            <a:r>
              <a:rPr lang="en-US" sz="2500" b="1" dirty="0">
                <a:solidFill>
                  <a:srgbClr val="2B2523"/>
                </a:solidFill>
                <a:latin typeface="Cambria" pitchFamily="34" charset="0"/>
                <a:ea typeface="Cambria" pitchFamily="34" charset="-122"/>
                <a:cs typeface="Cambria" pitchFamily="34" charset="-120"/>
              </a:rPr>
              <a:t>Task 18: the source-quality table, in plain language (1 of 2)</a:t>
            </a:r>
            <a:endParaRPr lang="en-US" sz="2500" dirty="0"/>
          </a:p>
        </p:txBody>
      </p:sp>
      <p:sp>
        <p:nvSpPr>
          <p:cNvPr id="3" name="Text 1"/>
          <p:cNvSpPr/>
          <p:nvPr/>
        </p:nvSpPr>
        <p:spPr>
          <a:xfrm>
            <a:off x="566928" y="969264"/>
            <a:ext cx="11027664" cy="310896"/>
          </a:xfrm>
          <a:prstGeom prst="rect">
            <a:avLst/>
          </a:prstGeom>
          <a:noFill/>
          <a:ln/>
        </p:spPr>
        <p:txBody>
          <a:bodyPr wrap="square" lIns="0" tIns="0" rIns="0" bIns="0" rtlCol="0" anchor="ctr"/>
          <a:lstStyle/>
          <a:p>
            <a:pPr indent="0" marL="0">
              <a:buNone/>
            </a:pPr>
            <a:r>
              <a:rPr lang="en-US" sz="1250" i="1" dirty="0">
                <a:solidFill>
                  <a:srgbClr val="7A6E68"/>
                </a:solidFill>
                <a:latin typeface="Calibri" pitchFamily="34" charset="0"/>
                <a:ea typeface="Calibri" pitchFamily="34" charset="-122"/>
                <a:cs typeface="Calibri" pitchFamily="34" charset="-120"/>
              </a:rPr>
              <a:t>How precise each source is, how often it updates, and how it's actually collected</a:t>
            </a:r>
            <a:endParaRPr lang="en-US" sz="125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66928" y="1371600"/>
          <a:ext cx="11027664" cy="914400"/>
        </p:xfrm>
        <a:graphic>
          <a:graphicData uri="http://schemas.openxmlformats.org/drawingml/2006/table">
            <a:tbl>
              <a:tblPr/>
              <a:tblGrid>
                <a:gridCol w="1874520"/>
                <a:gridCol w="2651760"/>
                <a:gridCol w="2194560"/>
                <a:gridCol w="1965960"/>
                <a:gridCol w="2331720"/>
              </a:tblGrid>
              <a:tr h="41148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Question</a:t>
                      </a:r>
                      <a:endParaRPr lang="en-US" sz="1100" dirty="0">
                        <a:latin typeface="Calibri" charset="0"/>
                        <a:ea typeface="Calibri" charset="0"/>
                        <a:cs typeface="Calibri" charset="0"/>
                      </a:endParaRPr>
                    </a:p>
                  </a:txBody>
                  <a:tcPr marL="91440" marR="91440" marT="45720" marB="45720" anchor="t">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Conflict (ACLED)</a:t>
                      </a:r>
                      <a:endParaRPr lang="en-US" sz="1100" dirty="0">
                        <a:latin typeface="Calibri" charset="0"/>
                        <a:ea typeface="Calibri" charset="0"/>
                        <a:cs typeface="Calibri" charset="0"/>
                      </a:endParaRPr>
                    </a:p>
                  </a:txBody>
                  <a:tcPr marL="91440" marR="91440" marT="45720" marB="45720" anchor="t">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Climate (CHIRPS/VHI)</a:t>
                      </a:r>
                      <a:endParaRPr lang="en-US" sz="1100" dirty="0">
                        <a:latin typeface="Calibri" charset="0"/>
                        <a:ea typeface="Calibri" charset="0"/>
                        <a:cs typeface="Calibri" charset="0"/>
                      </a:endParaRPr>
                    </a:p>
                  </a:txBody>
                  <a:tcPr marL="91440" marR="91440" marT="45720" marB="45720" anchor="t">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Market (WFP/PEWI)</a:t>
                      </a:r>
                      <a:endParaRPr lang="en-US" sz="1100" dirty="0">
                        <a:latin typeface="Calibri" charset="0"/>
                        <a:ea typeface="Calibri" charset="0"/>
                        <a:cs typeface="Calibri" charset="0"/>
                      </a:endParaRPr>
                    </a:p>
                  </a:txBody>
                  <a:tcPr marL="91440" marR="91440" marT="45720" marB="45720" anchor="t">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Reporting (ReliefWeb)</a:t>
                      </a:r>
                      <a:endParaRPr lang="en-US" sz="1100" dirty="0">
                        <a:latin typeface="Calibri" charset="0"/>
                        <a:ea typeface="Calibri" charset="0"/>
                        <a:cs typeface="Calibri" charset="0"/>
                      </a:endParaRPr>
                    </a:p>
                  </a:txBody>
                  <a:tcPr marL="91440" marR="91440" marT="45720" marB="45720" anchor="t">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r>
              <a:tr h="1554480">
                <a:tc>
                  <a:txBody>
                    <a:bodyPr/>
                    <a:lstStyle/>
                    <a:p>
                      <a:pPr indent="0" marL="0">
                        <a:buNone/>
                      </a:pPr>
                      <a:r>
                        <a:rPr lang="en-US" sz="1000" b="1" dirty="0">
                          <a:solidFill>
                            <a:srgbClr val="2B2523"/>
                          </a:solidFill>
                          <a:latin typeface="Calibri" pitchFamily="34" charset="0"/>
                          <a:ea typeface="Calibri" pitchFamily="34" charset="-122"/>
                          <a:cs typeface="Calibri" pitchFamily="34" charset="-120"/>
                        </a:rPr>
                        <a:t>How precise is the location?</a:t>
                      </a:r>
                      <a:endParaRPr lang="en-US" sz="1000" dirty="0">
                        <a:latin typeface="Calibri" charset="0"/>
                        <a:ea typeface="Calibri" charset="0"/>
                        <a:cs typeface="Calibri" charset="0"/>
                      </a:endParaRPr>
                    </a:p>
                  </a:txBody>
                  <a:tcPr marL="91440" marR="91440" marT="45720" marB="45720" anchor="t">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00" dirty="0">
                          <a:solidFill>
                            <a:srgbClr val="2B2523"/>
                          </a:solidFill>
                          <a:latin typeface="Calibri" pitchFamily="34" charset="0"/>
                          <a:ea typeface="Calibri" pitchFamily="34" charset="-122"/>
                          <a:cs typeface="Calibri" pitchFamily="34" charset="-120"/>
                        </a:rPr>
                        <a:t>Each event has coordinates, but they are not always accurate: 77.5% are pinned to the real site, 22.4% only to an approximate location nearby, and 0.1% to just the general area (2,673 / 772 / 3 of 3,448 events)</a:t>
                      </a:r>
                      <a:endParaRPr lang="en-US" sz="1000" dirty="0">
                        <a:latin typeface="Calibri" charset="0"/>
                        <a:ea typeface="Calibri" charset="0"/>
                        <a:cs typeface="Calibri" charset="0"/>
                      </a:endParaRPr>
                    </a:p>
                  </a:txBody>
                  <a:tcPr marL="91440" marR="91440" marT="45720" marB="45720" anchor="t">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00" dirty="0">
                          <a:solidFill>
                            <a:srgbClr val="2B2523"/>
                          </a:solidFill>
                          <a:latin typeface="Calibri" pitchFamily="34" charset="0"/>
                          <a:ea typeface="Calibri" pitchFamily="34" charset="-122"/>
                          <a:cs typeface="Calibri" pitchFamily="34" charset="-120"/>
                        </a:rPr>
                        <a:t>A grid of small squares: about 5.5km across for rainfall, about 4km for vegetation health</a:t>
                      </a:r>
                      <a:endParaRPr lang="en-US" sz="1000" dirty="0">
                        <a:latin typeface="Calibri" charset="0"/>
                        <a:ea typeface="Calibri" charset="0"/>
                        <a:cs typeface="Calibri" charset="0"/>
                      </a:endParaRPr>
                    </a:p>
                  </a:txBody>
                  <a:tcPr marL="91440" marR="91440" marT="45720" marB="45720" anchor="t">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00" dirty="0">
                          <a:solidFill>
                            <a:srgbClr val="2B2523"/>
                          </a:solidFill>
                          <a:latin typeface="Calibri" pitchFamily="34" charset="0"/>
                          <a:ea typeface="Calibri" pitchFamily="34" charset="-122"/>
                          <a:cs typeface="Calibri" pitchFamily="34" charset="-120"/>
                        </a:rPr>
                        <a:t>A specific, named market stall, the most precise of the four sources</a:t>
                      </a:r>
                      <a:endParaRPr lang="en-US" sz="1000" dirty="0">
                        <a:latin typeface="Calibri" charset="0"/>
                        <a:ea typeface="Calibri" charset="0"/>
                        <a:cs typeface="Calibri" charset="0"/>
                      </a:endParaRPr>
                    </a:p>
                  </a:txBody>
                  <a:tcPr marL="91440" marR="91440" marT="45720" marB="45720" anchor="t">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00" dirty="0">
                          <a:solidFill>
                            <a:srgbClr val="2B2523"/>
                          </a:solidFill>
                          <a:latin typeface="Calibri" pitchFamily="34" charset="0"/>
                          <a:ea typeface="Calibri" pitchFamily="34" charset="-122"/>
                          <a:cs typeface="Calibri" pitchFamily="34" charset="-120"/>
                        </a:rPr>
                        <a:t>A whole written report; it can only say a district is mentioned, never anything more exact</a:t>
                      </a:r>
                      <a:endParaRPr lang="en-US" sz="1000" dirty="0">
                        <a:latin typeface="Calibri" charset="0"/>
                        <a:ea typeface="Calibri" charset="0"/>
                        <a:cs typeface="Calibri" charset="0"/>
                      </a:endParaRPr>
                    </a:p>
                  </a:txBody>
                  <a:tcPr marL="91440" marR="91440" marT="45720" marB="45720" anchor="t">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r>
              <a:tr h="1188720">
                <a:tc>
                  <a:txBody>
                    <a:bodyPr/>
                    <a:lstStyle/>
                    <a:p>
                      <a:pPr indent="0" marL="0">
                        <a:buNone/>
                      </a:pPr>
                      <a:r>
                        <a:rPr lang="en-US" sz="1000" b="1" dirty="0">
                          <a:solidFill>
                            <a:srgbClr val="2B2523"/>
                          </a:solidFill>
                          <a:latin typeface="Calibri" pitchFamily="34" charset="0"/>
                          <a:ea typeface="Calibri" pitchFamily="34" charset="-122"/>
                          <a:cs typeface="Calibri" pitchFamily="34" charset="-120"/>
                        </a:rPr>
                        <a:t>How often is it updated?</a:t>
                      </a:r>
                      <a:endParaRPr lang="en-US" sz="1000" dirty="0">
                        <a:latin typeface="Calibri" charset="0"/>
                        <a:ea typeface="Calibri" charset="0"/>
                        <a:cs typeface="Calibri" charset="0"/>
                      </a:endParaRPr>
                    </a:p>
                  </a:txBody>
                  <a:tcPr marL="91440" marR="91440" marT="45720" marB="45720" anchor="t">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00" dirty="0">
                          <a:solidFill>
                            <a:srgbClr val="2B2523"/>
                          </a:solidFill>
                          <a:latin typeface="Calibri" pitchFamily="34" charset="0"/>
                          <a:ea typeface="Calibri" pitchFamily="34" charset="-122"/>
                          <a:cs typeface="Calibri" pitchFamily="34" charset="-120"/>
                        </a:rPr>
                        <a:t>Every event has its own date, later grouped into months for this project</a:t>
                      </a:r>
                      <a:endParaRPr lang="en-US" sz="1000" dirty="0">
                        <a:latin typeface="Calibri" charset="0"/>
                        <a:ea typeface="Calibri" charset="0"/>
                        <a:cs typeface="Calibri" charset="0"/>
                      </a:endParaRPr>
                    </a:p>
                  </a:txBody>
                  <a:tcPr marL="91440" marR="91440" marT="45720" marB="45720" anchor="t">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00" dirty="0">
                          <a:solidFill>
                            <a:srgbClr val="2B2523"/>
                          </a:solidFill>
                          <a:latin typeface="Calibri" pitchFamily="34" charset="0"/>
                          <a:ea typeface="Calibri" pitchFamily="34" charset="-122"/>
                          <a:cs typeface="Calibri" pitchFamily="34" charset="-120"/>
                        </a:rPr>
                        <a:t>Rainfall is a monthly figure; vegetation health is measured weekly, then averaged into months</a:t>
                      </a:r>
                      <a:endParaRPr lang="en-US" sz="1000" dirty="0">
                        <a:latin typeface="Calibri" charset="0"/>
                        <a:ea typeface="Calibri" charset="0"/>
                        <a:cs typeface="Calibri" charset="0"/>
                      </a:endParaRPr>
                    </a:p>
                  </a:txBody>
                  <a:tcPr marL="91440" marR="91440" marT="45720" marB="45720" anchor="t">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00" dirty="0">
                          <a:solidFill>
                            <a:srgbClr val="2B2523"/>
                          </a:solidFill>
                          <a:latin typeface="Calibri" pitchFamily="34" charset="0"/>
                          <a:ea typeface="Calibri" pitchFamily="34" charset="-122"/>
                          <a:cs typeface="Calibri" pitchFamily="34" charset="-120"/>
                        </a:rPr>
                        <a:t>Enumerators visit markets roughly every week; those visits are averaged into a monthly figure</a:t>
                      </a:r>
                      <a:endParaRPr lang="en-US" sz="1000" dirty="0">
                        <a:latin typeface="Calibri" charset="0"/>
                        <a:ea typeface="Calibri" charset="0"/>
                        <a:cs typeface="Calibri" charset="0"/>
                      </a:endParaRPr>
                    </a:p>
                  </a:txBody>
                  <a:tcPr marL="91440" marR="91440" marT="45720" marB="45720" anchor="t">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00" dirty="0">
                          <a:solidFill>
                            <a:srgbClr val="2B2523"/>
                          </a:solidFill>
                          <a:latin typeface="Calibri" pitchFamily="34" charset="0"/>
                          <a:ea typeface="Calibri" pitchFamily="34" charset="-122"/>
                          <a:cs typeface="Calibri" pitchFamily="34" charset="-120"/>
                        </a:rPr>
                        <a:t>Whenever a report happens to be published; there is no set schedule</a:t>
                      </a:r>
                      <a:endParaRPr lang="en-US" sz="1000" dirty="0">
                        <a:latin typeface="Calibri" charset="0"/>
                        <a:ea typeface="Calibri" charset="0"/>
                        <a:cs typeface="Calibri" charset="0"/>
                      </a:endParaRPr>
                    </a:p>
                  </a:txBody>
                  <a:tcPr marL="91440" marR="91440" marT="45720" marB="45720" anchor="t">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r>
              <a:tr h="1188720">
                <a:tc>
                  <a:txBody>
                    <a:bodyPr/>
                    <a:lstStyle/>
                    <a:p>
                      <a:pPr indent="0" marL="0">
                        <a:buNone/>
                      </a:pPr>
                      <a:r>
                        <a:rPr lang="en-US" sz="1000" b="1" dirty="0">
                          <a:solidFill>
                            <a:srgbClr val="2B2523"/>
                          </a:solidFill>
                          <a:latin typeface="Calibri" pitchFamily="34" charset="0"/>
                          <a:ea typeface="Calibri" pitchFamily="34" charset="-122"/>
                          <a:cs typeface="Calibri" pitchFamily="34" charset="-120"/>
                        </a:rPr>
                        <a:t>How is it collected?</a:t>
                      </a:r>
                      <a:endParaRPr lang="en-US" sz="1000" dirty="0">
                        <a:latin typeface="Calibri" charset="0"/>
                        <a:ea typeface="Calibri" charset="0"/>
                        <a:cs typeface="Calibri" charset="0"/>
                      </a:endParaRPr>
                    </a:p>
                  </a:txBody>
                  <a:tcPr marL="91440" marR="91440" marT="45720" marB="45720" anchor="t">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00" dirty="0">
                          <a:solidFill>
                            <a:srgbClr val="2B2523"/>
                          </a:solidFill>
                          <a:latin typeface="Calibri" pitchFamily="34" charset="0"/>
                          <a:ea typeface="Calibri" pitchFamily="34" charset="-122"/>
                          <a:cs typeface="Calibri" pitchFamily="34" charset="-120"/>
                        </a:rPr>
                        <a:t>Compiled from local media and monitoring partners: 65.3% of events name a local partner as the source, 31.2% cite no source at all</a:t>
                      </a:r>
                      <a:endParaRPr lang="en-US" sz="1000" dirty="0">
                        <a:latin typeface="Calibri" charset="0"/>
                        <a:ea typeface="Calibri" charset="0"/>
                        <a:cs typeface="Calibri" charset="0"/>
                      </a:endParaRPr>
                    </a:p>
                  </a:txBody>
                  <a:tcPr marL="91440" marR="91440" marT="45720" marB="45720" anchor="t">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00" dirty="0">
                          <a:solidFill>
                            <a:srgbClr val="2B2523"/>
                          </a:solidFill>
                          <a:latin typeface="Calibri" pitchFamily="34" charset="0"/>
                          <a:ea typeface="Calibri" pitchFamily="34" charset="-122"/>
                          <a:cs typeface="Calibri" pitchFamily="34" charset="-120"/>
                        </a:rPr>
                        <a:t>From satellite images; no one needs to visit the area</a:t>
                      </a:r>
                      <a:endParaRPr lang="en-US" sz="1000" dirty="0">
                        <a:latin typeface="Calibri" charset="0"/>
                        <a:ea typeface="Calibri" charset="0"/>
                        <a:cs typeface="Calibri" charset="0"/>
                      </a:endParaRPr>
                    </a:p>
                  </a:txBody>
                  <a:tcPr marL="91440" marR="91440" marT="45720" marB="45720" anchor="t">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00" dirty="0">
                          <a:solidFill>
                            <a:srgbClr val="2B2523"/>
                          </a:solidFill>
                          <a:latin typeface="Calibri" pitchFamily="34" charset="0"/>
                          <a:ea typeface="Calibri" pitchFamily="34" charset="-122"/>
                          <a:cs typeface="Calibri" pitchFamily="34" charset="-120"/>
                        </a:rPr>
                        <a:t>WFP staff physically visit markets and record prices every week</a:t>
                      </a:r>
                      <a:endParaRPr lang="en-US" sz="1000" dirty="0">
                        <a:latin typeface="Calibri" charset="0"/>
                        <a:ea typeface="Calibri" charset="0"/>
                        <a:cs typeface="Calibri" charset="0"/>
                      </a:endParaRPr>
                    </a:p>
                  </a:txBody>
                  <a:tcPr marL="91440" marR="91440" marT="45720" marB="45720" anchor="t">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00" dirty="0">
                          <a:solidFill>
                            <a:srgbClr val="2B2523"/>
                          </a:solidFill>
                          <a:latin typeface="Calibri" pitchFamily="34" charset="0"/>
                          <a:ea typeface="Calibri" pitchFamily="34" charset="-122"/>
                          <a:cs typeface="Calibri" pitchFamily="34" charset="-120"/>
                        </a:rPr>
                        <a:t>Aid organisations write and publish their own reports; nobody is required to report on any district</a:t>
                      </a:r>
                      <a:endParaRPr lang="en-US" sz="1000" dirty="0">
                        <a:latin typeface="Calibri" charset="0"/>
                        <a:ea typeface="Calibri" charset="0"/>
                        <a:cs typeface="Calibri" charset="0"/>
                      </a:endParaRPr>
                    </a:p>
                  </a:txBody>
                  <a:tcPr marL="91440" marR="91440" marT="45720" marB="45720" anchor="t">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r>
            </a:tbl>
          </a:graphicData>
        </a:graphic>
      </p:graphicFrame>
      <p:sp>
        <p:nvSpPr>
          <p:cNvPr id="5" name="Shape 2"/>
          <p:cNvSpPr/>
          <p:nvPr/>
        </p:nvSpPr>
        <p:spPr>
          <a:xfrm>
            <a:off x="566928" y="5623560"/>
            <a:ext cx="11027664" cy="685800"/>
          </a:xfrm>
          <a:prstGeom prst="roundRect">
            <a:avLst>
              <a:gd name="adj" fmla="val 8000"/>
            </a:avLst>
          </a:prstGeom>
          <a:solidFill>
            <a:srgbClr val="E7E8D1"/>
          </a:solidFill>
          <a:ln/>
          <a:effectLst>
            <a:outerShdw sx="100000" sy="100000" kx="0" ky="0" algn="bl" rotWithShape="0" blurRad="76200" dist="381" dir="5400000">
              <a:srgbClr val="000000">
                <a:alpha val="8000"/>
              </a:srgbClr>
            </a:outerShdw>
          </a:effectLst>
        </p:spPr>
      </p:sp>
      <p:sp>
        <p:nvSpPr>
          <p:cNvPr id="6" name="Text 3"/>
          <p:cNvSpPr/>
          <p:nvPr/>
        </p:nvSpPr>
        <p:spPr>
          <a:xfrm>
            <a:off x="786384" y="5705856"/>
            <a:ext cx="10588752" cy="530352"/>
          </a:xfrm>
          <a:prstGeom prst="rect">
            <a:avLst/>
          </a:prstGeom>
          <a:noFill/>
          <a:ln/>
        </p:spPr>
        <p:txBody>
          <a:bodyPr wrap="square" lIns="0" tIns="0" rIns="0" bIns="0" rtlCol="0" anchor="ctr"/>
          <a:lstStyle/>
          <a:p>
            <a:pPr indent="0" marL="0">
              <a:lnSpc>
                <a:spcPts val="1250"/>
              </a:lnSpc>
              <a:buNone/>
            </a:pPr>
            <a:r>
              <a:rPr lang="en-US" sz="1000" dirty="0">
                <a:solidFill>
                  <a:srgbClr val="B85042"/>
                </a:solidFill>
                <a:latin typeface="Calibri" pitchFamily="34" charset="0"/>
                <a:ea typeface="Calibri" pitchFamily="34" charset="-122"/>
                <a:cs typeface="Calibri" pitchFamily="34" charset="-120"/>
              </a:rPr>
              <a:t>The fix: we no longer say ACLED locations are always exact GPS points. Instead we give the full three-level breakdown above, so this row no longer contradicts the precision numbers found elsewhere in the analysis.</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27664" cy="502920"/>
          </a:xfrm>
          <a:prstGeom prst="rect">
            <a:avLst/>
          </a:prstGeom>
          <a:noFill/>
          <a:ln/>
        </p:spPr>
        <p:txBody>
          <a:bodyPr wrap="square" lIns="0" tIns="0" rIns="0" bIns="0" rtlCol="0" anchor="ctr"/>
          <a:lstStyle/>
          <a:p>
            <a:pPr indent="0" marL="0">
              <a:buNone/>
            </a:pPr>
            <a:r>
              <a:rPr lang="en-US" sz="2500" b="1" dirty="0">
                <a:solidFill>
                  <a:srgbClr val="2B2523"/>
                </a:solidFill>
                <a:latin typeface="Cambria" pitchFamily="34" charset="0"/>
                <a:ea typeface="Cambria" pitchFamily="34" charset="-122"/>
                <a:cs typeface="Cambria" pitchFamily="34" charset="-120"/>
              </a:rPr>
              <a:t>Task 18: the source-quality table, in plain language (2 of 2)</a:t>
            </a:r>
            <a:endParaRPr lang="en-US" sz="2500" dirty="0"/>
          </a:p>
        </p:txBody>
      </p:sp>
      <p:sp>
        <p:nvSpPr>
          <p:cNvPr id="3" name="Text 1"/>
          <p:cNvSpPr/>
          <p:nvPr/>
        </p:nvSpPr>
        <p:spPr>
          <a:xfrm>
            <a:off x="566928" y="969264"/>
            <a:ext cx="11027664" cy="310896"/>
          </a:xfrm>
          <a:prstGeom prst="rect">
            <a:avLst/>
          </a:prstGeom>
          <a:noFill/>
          <a:ln/>
        </p:spPr>
        <p:txBody>
          <a:bodyPr wrap="square" lIns="0" tIns="0" rIns="0" bIns="0" rtlCol="0" anchor="ctr"/>
          <a:lstStyle/>
          <a:p>
            <a:pPr indent="0" marL="0">
              <a:buNone/>
            </a:pPr>
            <a:r>
              <a:rPr lang="en-US" sz="1250" i="1" dirty="0">
                <a:solidFill>
                  <a:srgbClr val="7A6E68"/>
                </a:solidFill>
                <a:latin typeface="Calibri" pitchFamily="34" charset="0"/>
                <a:ea typeface="Calibri" pitchFamily="34" charset="-122"/>
                <a:cs typeface="Calibri" pitchFamily="34" charset="-120"/>
              </a:rPr>
              <a:t>Where each source could possibly reach, where it actually has data, and what a zero or a gap really means</a:t>
            </a:r>
            <a:endParaRPr lang="en-US" sz="125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66928" y="1371600"/>
          <a:ext cx="11027664" cy="914400"/>
        </p:xfrm>
        <a:graphic>
          <a:graphicData uri="http://schemas.openxmlformats.org/drawingml/2006/table">
            <a:tbl>
              <a:tblPr/>
              <a:tblGrid>
                <a:gridCol w="1874520"/>
                <a:gridCol w="2286000"/>
                <a:gridCol w="2331720"/>
                <a:gridCol w="2194560"/>
                <a:gridCol w="2331720"/>
              </a:tblGrid>
              <a:tr h="45720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Question</a:t>
                      </a:r>
                      <a:endParaRPr lang="en-US" sz="1050" dirty="0">
                        <a:latin typeface="Calibri" charset="0"/>
                        <a:ea typeface="Calibri" charset="0"/>
                        <a:cs typeface="Calibri" charset="0"/>
                      </a:endParaRPr>
                    </a:p>
                  </a:txBody>
                  <a:tcPr marL="91440" marR="91440" marT="45720" marB="45720" anchor="t">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Conflict</a:t>
                      </a:r>
                      <a:endParaRPr lang="en-US" sz="1050" dirty="0">
                        <a:latin typeface="Calibri" charset="0"/>
                        <a:ea typeface="Calibri" charset="0"/>
                        <a:cs typeface="Calibri" charset="0"/>
                      </a:endParaRPr>
                    </a:p>
                  </a:txBody>
                  <a:tcPr marL="91440" marR="91440" marT="45720" marB="45720" anchor="t">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Climate</a:t>
                      </a:r>
                      <a:endParaRPr lang="en-US" sz="1050" dirty="0">
                        <a:latin typeface="Calibri" charset="0"/>
                        <a:ea typeface="Calibri" charset="0"/>
                        <a:cs typeface="Calibri" charset="0"/>
                      </a:endParaRPr>
                    </a:p>
                  </a:txBody>
                  <a:tcPr marL="91440" marR="91440" marT="45720" marB="45720" anchor="t">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Market</a:t>
                      </a:r>
                      <a:endParaRPr lang="en-US" sz="1050" dirty="0">
                        <a:latin typeface="Calibri" charset="0"/>
                        <a:ea typeface="Calibri" charset="0"/>
                        <a:cs typeface="Calibri" charset="0"/>
                      </a:endParaRPr>
                    </a:p>
                  </a:txBody>
                  <a:tcPr marL="91440" marR="91440" marT="45720" marB="45720" anchor="t">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Reporting</a:t>
                      </a:r>
                      <a:endParaRPr lang="en-US" sz="1050" dirty="0">
                        <a:latin typeface="Calibri" charset="0"/>
                        <a:ea typeface="Calibri" charset="0"/>
                        <a:cs typeface="Calibri" charset="0"/>
                      </a:endParaRPr>
                    </a:p>
                  </a:txBody>
                  <a:tcPr marL="91440" marR="91440" marT="45720" marB="45720" anchor="t">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r>
              <a:tr h="868680">
                <a:tc>
                  <a:txBody>
                    <a:bodyPr/>
                    <a:lstStyle/>
                    <a:p>
                      <a:pPr indent="0" marL="0">
                        <a:buNone/>
                      </a:pPr>
                      <a:r>
                        <a:rPr lang="en-US" sz="940" b="1" dirty="0">
                          <a:solidFill>
                            <a:srgbClr val="2B2523"/>
                          </a:solidFill>
                          <a:latin typeface="Calibri" pitchFamily="34" charset="0"/>
                          <a:ea typeface="Calibri" pitchFamily="34" charset="-122"/>
                          <a:cs typeface="Calibri" pitchFamily="34" charset="-120"/>
                        </a:rPr>
                        <a:t>Where could it possibly reach?</a:t>
                      </a:r>
                      <a:endParaRPr lang="en-US" sz="940" dirty="0">
                        <a:latin typeface="Calibri" charset="0"/>
                        <a:ea typeface="Calibri" charset="0"/>
                        <a:cs typeface="Calibri" charset="0"/>
                      </a:endParaRPr>
                    </a:p>
                  </a:txBody>
                  <a:tcPr marL="91440" marR="91440" marT="45720" marB="45720" anchor="t">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940" dirty="0">
                          <a:solidFill>
                            <a:srgbClr val="2B2523"/>
                          </a:solidFill>
                          <a:latin typeface="Calibri" pitchFamily="34" charset="0"/>
                          <a:ea typeface="Calibri" pitchFamily="34" charset="-122"/>
                          <a:cs typeface="Calibri" pitchFamily="34" charset="-120"/>
                        </a:rPr>
                        <a:t>All 74 districts, since events get recorded no matter where they happen</a:t>
                      </a:r>
                      <a:endParaRPr lang="en-US" sz="940" dirty="0">
                        <a:latin typeface="Calibri" charset="0"/>
                        <a:ea typeface="Calibri" charset="0"/>
                        <a:cs typeface="Calibri" charset="0"/>
                      </a:endParaRPr>
                    </a:p>
                  </a:txBody>
                  <a:tcPr marL="91440" marR="91440" marT="45720" marB="45720" anchor="t">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940" dirty="0">
                          <a:solidFill>
                            <a:srgbClr val="2B2523"/>
                          </a:solidFill>
                          <a:latin typeface="Calibri" pitchFamily="34" charset="0"/>
                          <a:ea typeface="Calibri" pitchFamily="34" charset="-122"/>
                          <a:cs typeface="Calibri" pitchFamily="34" charset="-120"/>
                        </a:rPr>
                        <a:t>All 74 districts equally; satellites see everywhere the same way</a:t>
                      </a:r>
                      <a:endParaRPr lang="en-US" sz="940" dirty="0">
                        <a:latin typeface="Calibri" charset="0"/>
                        <a:ea typeface="Calibri" charset="0"/>
                        <a:cs typeface="Calibri" charset="0"/>
                      </a:endParaRPr>
                    </a:p>
                  </a:txBody>
                  <a:tcPr marL="91440" marR="91440" marT="45720" marB="45720" anchor="t">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940" dirty="0">
                          <a:solidFill>
                            <a:srgbClr val="2B2523"/>
                          </a:solidFill>
                          <a:latin typeface="Calibri" pitchFamily="34" charset="0"/>
                          <a:ea typeface="Calibri" pitchFamily="34" charset="-122"/>
                          <a:cs typeface="Calibri" pitchFamily="34" charset="-120"/>
                        </a:rPr>
                        <a:t>Only 35 of 74 districts (47.3%) actually have a monitored market at all</a:t>
                      </a:r>
                      <a:endParaRPr lang="en-US" sz="940" dirty="0">
                        <a:latin typeface="Calibri" charset="0"/>
                        <a:ea typeface="Calibri" charset="0"/>
                        <a:cs typeface="Calibri" charset="0"/>
                      </a:endParaRPr>
                    </a:p>
                  </a:txBody>
                  <a:tcPr marL="91440" marR="91440" marT="45720" marB="45720" anchor="t">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940" dirty="0">
                          <a:solidFill>
                            <a:srgbClr val="2B2523"/>
                          </a:solidFill>
                          <a:latin typeface="Calibri" pitchFamily="34" charset="0"/>
                          <a:ea typeface="Calibri" pitchFamily="34" charset="-122"/>
                          <a:cs typeface="Calibri" pitchFamily="34" charset="-120"/>
                        </a:rPr>
                        <a:t>In theory any of the 74, but in practice limited by attention and what the text-reading tool can pick up</a:t>
                      </a:r>
                      <a:endParaRPr lang="en-US" sz="940" dirty="0">
                        <a:latin typeface="Calibri" charset="0"/>
                        <a:ea typeface="Calibri" charset="0"/>
                        <a:cs typeface="Calibri" charset="0"/>
                      </a:endParaRPr>
                    </a:p>
                  </a:txBody>
                  <a:tcPr marL="91440" marR="91440" marT="45720" marB="45720" anchor="t">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r>
              <a:tr h="777240">
                <a:tc>
                  <a:txBody>
                    <a:bodyPr/>
                    <a:lstStyle/>
                    <a:p>
                      <a:pPr indent="0" marL="0">
                        <a:buNone/>
                      </a:pPr>
                      <a:r>
                        <a:rPr lang="en-US" sz="940" b="1" dirty="0">
                          <a:solidFill>
                            <a:srgbClr val="2B2523"/>
                          </a:solidFill>
                          <a:latin typeface="Calibri" pitchFamily="34" charset="0"/>
                          <a:ea typeface="Calibri" pitchFamily="34" charset="-122"/>
                          <a:cs typeface="Calibri" pitchFamily="34" charset="-120"/>
                        </a:rPr>
                        <a:t>Where does it actually have data?</a:t>
                      </a:r>
                      <a:endParaRPr lang="en-US" sz="940" dirty="0">
                        <a:latin typeface="Calibri" charset="0"/>
                        <a:ea typeface="Calibri" charset="0"/>
                        <a:cs typeface="Calibri" charset="0"/>
                      </a:endParaRPr>
                    </a:p>
                  </a:txBody>
                  <a:tcPr marL="91440" marR="91440" marT="45720" marB="45720" anchor="t">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940" dirty="0">
                          <a:solidFill>
                            <a:srgbClr val="2B2523"/>
                          </a:solidFill>
                          <a:latin typeface="Calibri" pitchFamily="34" charset="0"/>
                          <a:ea typeface="Calibri" pitchFamily="34" charset="-122"/>
                          <a:cs typeface="Calibri" pitchFamily="34" charset="-120"/>
                        </a:rPr>
                        <a:t>Every district-month has a number, even if that number is zero</a:t>
                      </a:r>
                      <a:endParaRPr lang="en-US" sz="940" dirty="0">
                        <a:latin typeface="Calibri" charset="0"/>
                        <a:ea typeface="Calibri" charset="0"/>
                        <a:cs typeface="Calibri" charset="0"/>
                      </a:endParaRPr>
                    </a:p>
                  </a:txBody>
                  <a:tcPr marL="91440" marR="91440" marT="45720" marB="45720" anchor="t">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940" dirty="0">
                          <a:solidFill>
                            <a:srgbClr val="2B2523"/>
                          </a:solidFill>
                          <a:latin typeface="Calibri" pitchFamily="34" charset="0"/>
                          <a:ea typeface="Calibri" pitchFamily="34" charset="-122"/>
                          <a:cs typeface="Calibri" pitchFamily="34" charset="-120"/>
                        </a:rPr>
                        <a:t>Every district-month has a reading; never missing</a:t>
                      </a:r>
                      <a:endParaRPr lang="en-US" sz="940" dirty="0">
                        <a:latin typeface="Calibri" charset="0"/>
                        <a:ea typeface="Calibri" charset="0"/>
                        <a:cs typeface="Calibri" charset="0"/>
                      </a:endParaRPr>
                    </a:p>
                  </a:txBody>
                  <a:tcPr marL="91440" marR="91440" marT="45720" marB="45720" anchor="t">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940" dirty="0">
                          <a:solidFill>
                            <a:srgbClr val="2B2523"/>
                          </a:solidFill>
                          <a:latin typeface="Calibri" pitchFamily="34" charset="0"/>
                          <a:ea typeface="Calibri" pitchFamily="34" charset="-122"/>
                          <a:cs typeface="Calibri" pitchFamily="34" charset="-120"/>
                        </a:rPr>
                        <a:t>47.2% of district-months have a price on record, 43.1% have a PEWI score</a:t>
                      </a:r>
                      <a:endParaRPr lang="en-US" sz="940" dirty="0">
                        <a:latin typeface="Calibri" charset="0"/>
                        <a:ea typeface="Calibri" charset="0"/>
                        <a:cs typeface="Calibri" charset="0"/>
                      </a:endParaRPr>
                    </a:p>
                  </a:txBody>
                  <a:tcPr marL="91440" marR="91440" marT="45720" marB="45720" anchor="t">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940" dirty="0">
                          <a:solidFill>
                            <a:srgbClr val="2B2523"/>
                          </a:solidFill>
                          <a:latin typeface="Calibri" pitchFamily="34" charset="0"/>
                          <a:ea typeface="Calibri" pitchFamily="34" charset="-122"/>
                          <a:cs typeface="Calibri" pitchFamily="34" charset="-120"/>
                        </a:rPr>
                        <a:t>60.1% of district-months have at least one matching report; 73 of 74 districts are mentioned at least once all year</a:t>
                      </a:r>
                      <a:endParaRPr lang="en-US" sz="940" dirty="0">
                        <a:latin typeface="Calibri" charset="0"/>
                        <a:ea typeface="Calibri" charset="0"/>
                        <a:cs typeface="Calibri" charset="0"/>
                      </a:endParaRPr>
                    </a:p>
                  </a:txBody>
                  <a:tcPr marL="91440" marR="91440" marT="45720" marB="45720" anchor="t">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r>
              <a:tr h="960120">
                <a:tc>
                  <a:txBody>
                    <a:bodyPr/>
                    <a:lstStyle/>
                    <a:p>
                      <a:pPr indent="0" marL="0">
                        <a:buNone/>
                      </a:pPr>
                      <a:r>
                        <a:rPr lang="en-US" sz="940" b="1" dirty="0">
                          <a:solidFill>
                            <a:srgbClr val="2B2523"/>
                          </a:solidFill>
                          <a:latin typeface="Calibri" pitchFamily="34" charset="0"/>
                          <a:ea typeface="Calibri" pitchFamily="34" charset="-122"/>
                          <a:cs typeface="Calibri" pitchFamily="34" charset="-120"/>
                        </a:rPr>
                        <a:t>What does a zero mean?</a:t>
                      </a:r>
                      <a:endParaRPr lang="en-US" sz="940" dirty="0">
                        <a:latin typeface="Calibri" charset="0"/>
                        <a:ea typeface="Calibri" charset="0"/>
                        <a:cs typeface="Calibri" charset="0"/>
                      </a:endParaRPr>
                    </a:p>
                  </a:txBody>
                  <a:tcPr marL="91440" marR="91440" marT="45720" marB="45720" anchor="t">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940" dirty="0">
                          <a:solidFill>
                            <a:srgbClr val="2B2523"/>
                          </a:solidFill>
                          <a:latin typeface="Calibri" pitchFamily="34" charset="0"/>
                          <a:ea typeface="Calibri" pitchFamily="34" charset="-122"/>
                          <a:cs typeface="Calibri" pitchFamily="34" charset="-120"/>
                        </a:rPr>
                        <a:t>No event was recorded, but that could mean nothing happened, or it could mean something happened and nobody reported it; the two look identical</a:t>
                      </a:r>
                      <a:endParaRPr lang="en-US" sz="940" dirty="0">
                        <a:latin typeface="Calibri" charset="0"/>
                        <a:ea typeface="Calibri" charset="0"/>
                        <a:cs typeface="Calibri" charset="0"/>
                      </a:endParaRPr>
                    </a:p>
                  </a:txBody>
                  <a:tcPr marL="91440" marR="91440" marT="45720" marB="45720" anchor="t">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940" dirty="0">
                          <a:solidFill>
                            <a:srgbClr val="2B2523"/>
                          </a:solidFill>
                          <a:latin typeface="Calibri" pitchFamily="34" charset="0"/>
                          <a:ea typeface="Calibri" pitchFamily="34" charset="-122"/>
                          <a:cs typeface="Calibri" pitchFamily="34" charset="-120"/>
                        </a:rPr>
                        <a:t>A real, meaningful reading (a low number is genuine vegetation stress), not a sign of missing data</a:t>
                      </a:r>
                      <a:endParaRPr lang="en-US" sz="940" dirty="0">
                        <a:latin typeface="Calibri" charset="0"/>
                        <a:ea typeface="Calibri" charset="0"/>
                        <a:cs typeface="Calibri" charset="0"/>
                      </a:endParaRPr>
                    </a:p>
                  </a:txBody>
                  <a:tcPr marL="91440" marR="91440" marT="45720" marB="45720" anchor="t">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940" dirty="0">
                          <a:solidFill>
                            <a:srgbClr val="2B2523"/>
                          </a:solidFill>
                          <a:latin typeface="Calibri" pitchFamily="34" charset="0"/>
                          <a:ea typeface="Calibri" pitchFamily="34" charset="-122"/>
                          <a:cs typeface="Calibri" pitchFamily="34" charset="-120"/>
                        </a:rPr>
                        <a:t>A price is never genuinely zero; only the summary counts can validly be zero</a:t>
                      </a:r>
                      <a:endParaRPr lang="en-US" sz="940" dirty="0">
                        <a:latin typeface="Calibri" charset="0"/>
                        <a:ea typeface="Calibri" charset="0"/>
                        <a:cs typeface="Calibri" charset="0"/>
                      </a:endParaRPr>
                    </a:p>
                  </a:txBody>
                  <a:tcPr marL="91440" marR="91440" marT="45720" marB="45720" anchor="t">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940" dirty="0">
                          <a:solidFill>
                            <a:srgbClr val="2B2523"/>
                          </a:solidFill>
                          <a:latin typeface="Calibri" pitchFamily="34" charset="0"/>
                          <a:ea typeface="Calibri" pitchFamily="34" charset="-122"/>
                          <a:cs typeface="Calibri" pitchFamily="34" charset="-120"/>
                        </a:rPr>
                        <a:t>The clearest zero of the four: it simply means no report's text matched that district</a:t>
                      </a:r>
                      <a:endParaRPr lang="en-US" sz="940" dirty="0">
                        <a:latin typeface="Calibri" charset="0"/>
                        <a:ea typeface="Calibri" charset="0"/>
                        <a:cs typeface="Calibri" charset="0"/>
                      </a:endParaRPr>
                    </a:p>
                  </a:txBody>
                  <a:tcPr marL="91440" marR="91440" marT="45720" marB="45720" anchor="t">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r>
              <a:tr h="914400">
                <a:tc>
                  <a:txBody>
                    <a:bodyPr/>
                    <a:lstStyle/>
                    <a:p>
                      <a:pPr indent="0" marL="0">
                        <a:buNone/>
                      </a:pPr>
                      <a:r>
                        <a:rPr lang="en-US" sz="940" b="1" dirty="0">
                          <a:solidFill>
                            <a:srgbClr val="2B2523"/>
                          </a:solidFill>
                          <a:latin typeface="Calibri" pitchFamily="34" charset="0"/>
                          <a:ea typeface="Calibri" pitchFamily="34" charset="-122"/>
                          <a:cs typeface="Calibri" pitchFamily="34" charset="-120"/>
                        </a:rPr>
                        <a:t>What does missing mean?</a:t>
                      </a:r>
                      <a:endParaRPr lang="en-US" sz="940" dirty="0">
                        <a:latin typeface="Calibri" charset="0"/>
                        <a:ea typeface="Calibri" charset="0"/>
                        <a:cs typeface="Calibri" charset="0"/>
                      </a:endParaRPr>
                    </a:p>
                  </a:txBody>
                  <a:tcPr marL="91440" marR="91440" marT="45720" marB="45720" anchor="t">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940" dirty="0">
                          <a:solidFill>
                            <a:srgbClr val="2B2523"/>
                          </a:solidFill>
                          <a:latin typeface="Calibri" pitchFamily="34" charset="0"/>
                          <a:ea typeface="Calibri" pitchFamily="34" charset="-122"/>
                          <a:cs typeface="Calibri" pitchFamily="34" charset="-120"/>
                        </a:rPr>
                        <a:t>Never happens: every district-month is filled in, even when the value is zero</a:t>
                      </a:r>
                      <a:endParaRPr lang="en-US" sz="940" dirty="0">
                        <a:latin typeface="Calibri" charset="0"/>
                        <a:ea typeface="Calibri" charset="0"/>
                        <a:cs typeface="Calibri" charset="0"/>
                      </a:endParaRPr>
                    </a:p>
                  </a:txBody>
                  <a:tcPr marL="91440" marR="91440" marT="45720" marB="45720" anchor="t">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940" dirty="0">
                          <a:solidFill>
                            <a:srgbClr val="2B2523"/>
                          </a:solidFill>
                          <a:latin typeface="Calibri" pitchFamily="34" charset="0"/>
                          <a:ea typeface="Calibri" pitchFamily="34" charset="-122"/>
                          <a:cs typeface="Calibri" pitchFamily="34" charset="-120"/>
                        </a:rPr>
                        <a:t>Never happens in this data; every district-month has a reading</a:t>
                      </a:r>
                      <a:endParaRPr lang="en-US" sz="940" dirty="0">
                        <a:latin typeface="Calibri" charset="0"/>
                        <a:ea typeface="Calibri" charset="0"/>
                        <a:cs typeface="Calibri" charset="0"/>
                      </a:endParaRPr>
                    </a:p>
                  </a:txBody>
                  <a:tcPr marL="91440" marR="91440" marT="45720" marB="45720" anchor="t">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940" dirty="0">
                          <a:solidFill>
                            <a:srgbClr val="2B2523"/>
                          </a:solidFill>
                          <a:latin typeface="Calibri" pitchFamily="34" charset="0"/>
                          <a:ea typeface="Calibri" pitchFamily="34" charset="-122"/>
                          <a:cs typeface="Calibri" pitchFamily="34" charset="-120"/>
                        </a:rPr>
                        <a:t>Either that district has no market to monitor, or, more rarely, a real market's reading just wasn't available that month</a:t>
                      </a:r>
                      <a:endParaRPr lang="en-US" sz="940" dirty="0">
                        <a:latin typeface="Calibri" charset="0"/>
                        <a:ea typeface="Calibri" charset="0"/>
                        <a:cs typeface="Calibri" charset="0"/>
                      </a:endParaRPr>
                    </a:p>
                  </a:txBody>
                  <a:tcPr marL="91440" marR="91440" marT="45720" marB="45720" anchor="t">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940" dirty="0">
                          <a:solidFill>
                            <a:srgbClr val="2B2523"/>
                          </a:solidFill>
                          <a:latin typeface="Calibri" pitchFamily="34" charset="0"/>
                          <a:ea typeface="Calibri" pitchFamily="34" charset="-122"/>
                          <a:cs typeface="Calibri" pitchFamily="34" charset="-120"/>
                        </a:rPr>
                        <a:t>Not really separate from zero: there is always a definite count, so the real limitation is what gets covered, not missing values</a:t>
                      </a:r>
                      <a:endParaRPr lang="en-US" sz="940" dirty="0">
                        <a:latin typeface="Calibri" charset="0"/>
                        <a:ea typeface="Calibri" charset="0"/>
                        <a:cs typeface="Calibri" charset="0"/>
                      </a:endParaRPr>
                    </a:p>
                  </a:txBody>
                  <a:tcPr marL="91440" marR="91440" marT="45720" marB="45720" anchor="t">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r>
              <a:tr h="1051560">
                <a:tc>
                  <a:txBody>
                    <a:bodyPr/>
                    <a:lstStyle/>
                    <a:p>
                      <a:pPr indent="0" marL="0">
                        <a:buNone/>
                      </a:pPr>
                      <a:r>
                        <a:rPr lang="en-US" sz="940" b="1" dirty="0">
                          <a:solidFill>
                            <a:srgbClr val="2B2523"/>
                          </a:solidFill>
                          <a:latin typeface="Calibri" pitchFamily="34" charset="0"/>
                          <a:ea typeface="Calibri" pitchFamily="34" charset="-122"/>
                          <a:cs typeface="Calibri" pitchFamily="34" charset="-120"/>
                        </a:rPr>
                        <a:t>Biggest weakness?</a:t>
                      </a:r>
                      <a:endParaRPr lang="en-US" sz="940" dirty="0">
                        <a:latin typeface="Calibri" charset="0"/>
                        <a:ea typeface="Calibri" charset="0"/>
                        <a:cs typeface="Calibri" charset="0"/>
                      </a:endParaRPr>
                    </a:p>
                  </a:txBody>
                  <a:tcPr marL="91440" marR="91440" marT="45720" marB="45720" anchor="t">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940" dirty="0">
                          <a:solidFill>
                            <a:srgbClr val="2B2523"/>
                          </a:solidFill>
                          <a:latin typeface="Calibri" pitchFamily="34" charset="0"/>
                          <a:ea typeface="Calibri" pitchFamily="34" charset="-122"/>
                          <a:cs typeface="Calibri" pitchFamily="34" charset="-120"/>
                        </a:rPr>
                        <a:t>Reflects how much media and monitoring-partner presence there is, almost as much as it reflects actual violence</a:t>
                      </a:r>
                      <a:endParaRPr lang="en-US" sz="940" dirty="0">
                        <a:latin typeface="Calibri" charset="0"/>
                        <a:ea typeface="Calibri" charset="0"/>
                        <a:cs typeface="Calibri" charset="0"/>
                      </a:endParaRPr>
                    </a:p>
                  </a:txBody>
                  <a:tcPr marL="91440" marR="91440" marT="45720" marB="45720" anchor="t">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940" dirty="0">
                          <a:solidFill>
                            <a:srgbClr val="2B2523"/>
                          </a:solidFill>
                          <a:latin typeface="Calibri" pitchFamily="34" charset="0"/>
                          <a:ea typeface="Calibri" pitchFamily="34" charset="-122"/>
                          <a:cs typeface="Calibri" pitchFamily="34" charset="-120"/>
                        </a:rPr>
                        <a:t>The most reliable of the four sources, though slightly less accurate in areas with fewer ground weather stations to check it against</a:t>
                      </a:r>
                      <a:endParaRPr lang="en-US" sz="940" dirty="0">
                        <a:latin typeface="Calibri" charset="0"/>
                        <a:ea typeface="Calibri" charset="0"/>
                        <a:cs typeface="Calibri" charset="0"/>
                      </a:endParaRPr>
                    </a:p>
                  </a:txBody>
                  <a:tcPr marL="91440" marR="91440" marT="45720" marB="45720" anchor="t">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940" dirty="0">
                          <a:solidFill>
                            <a:srgbClr val="2B2523"/>
                          </a:solidFill>
                          <a:latin typeface="Calibri" pitchFamily="34" charset="0"/>
                          <a:ea typeface="Calibri" pitchFamily="34" charset="-122"/>
                          <a:cs typeface="Calibri" pitchFamily="34" charset="-120"/>
                        </a:rPr>
                        <a:t>Reflects markets that are safe and easy for enumerators to reach, not a random sample of the whole country</a:t>
                      </a:r>
                      <a:endParaRPr lang="en-US" sz="940" dirty="0">
                        <a:latin typeface="Calibri" charset="0"/>
                        <a:ea typeface="Calibri" charset="0"/>
                        <a:cs typeface="Calibri" charset="0"/>
                      </a:endParaRPr>
                    </a:p>
                  </a:txBody>
                  <a:tcPr marL="91440" marR="91440" marT="45720" marB="45720" anchor="t">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940" dirty="0">
                          <a:solidFill>
                            <a:srgbClr val="2B2523"/>
                          </a:solidFill>
                          <a:latin typeface="Calibri" pitchFamily="34" charset="0"/>
                          <a:ea typeface="Calibri" pitchFamily="34" charset="-122"/>
                          <a:cs typeface="Calibri" pitchFamily="34" charset="-120"/>
                        </a:rPr>
                        <a:t>Limited by what's in the exported text; Task 17 shows most of what's missed is hiding in attachments, not a matching mistake</a:t>
                      </a:r>
                      <a:endParaRPr lang="en-US" sz="940" dirty="0">
                        <a:latin typeface="Calibri" charset="0"/>
                        <a:ea typeface="Calibri" charset="0"/>
                        <a:cs typeface="Calibri" charset="0"/>
                      </a:endParaRPr>
                    </a:p>
                  </a:txBody>
                  <a:tcPr marL="91440" marR="91440" marT="45720" marB="45720" anchor="t">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r>
            </a:tbl>
          </a:graphicData>
        </a:graphic>
      </p:graphicFrame>
      <p:sp>
        <p:nvSpPr>
          <p:cNvPr id="5" name="Text 2"/>
          <p:cNvSpPr/>
          <p:nvPr/>
        </p:nvSpPr>
        <p:spPr>
          <a:xfrm>
            <a:off x="566928" y="6053328"/>
            <a:ext cx="11027664" cy="347472"/>
          </a:xfrm>
          <a:prstGeom prst="rect">
            <a:avLst/>
          </a:prstGeom>
          <a:noFill/>
          <a:ln/>
        </p:spPr>
        <p:txBody>
          <a:bodyPr wrap="square" lIns="0" tIns="0" rIns="0" bIns="0" rtlCol="0" anchor="ctr"/>
          <a:lstStyle/>
          <a:p>
            <a:pPr indent="0" marL="0">
              <a:lnSpc>
                <a:spcPts val="1200"/>
              </a:lnSpc>
              <a:buNone/>
            </a:pPr>
            <a:r>
              <a:rPr lang="en-US" sz="1000" i="1" dirty="0">
                <a:solidFill>
                  <a:srgbClr val="7A6E68"/>
                </a:solidFill>
                <a:latin typeface="Calibri" pitchFamily="34" charset="0"/>
                <a:ea typeface="Calibri" pitchFamily="34" charset="-122"/>
                <a:cs typeface="Calibri" pitchFamily="34" charset="-120"/>
              </a:rPr>
              <a:t>The key distinction: ACLED and the satellite data reach 100% recorded coverage, but that is not the same as fully observing reality. A zero-filled ACLED entry and a genuinely calm district look exactly the same in the data.</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27664" cy="502920"/>
          </a:xfrm>
          <a:prstGeom prst="rect">
            <a:avLst/>
          </a:prstGeom>
          <a:noFill/>
          <a:ln/>
        </p:spPr>
        <p:txBody>
          <a:bodyPr wrap="square" lIns="0" tIns="0" rIns="0" bIns="0" rtlCol="0" anchor="ctr"/>
          <a:lstStyle/>
          <a:p>
            <a:pPr indent="0" marL="0">
              <a:buNone/>
            </a:pPr>
            <a:r>
              <a:rPr lang="en-US" sz="2500" b="1" dirty="0">
                <a:solidFill>
                  <a:srgbClr val="2B2523"/>
                </a:solidFill>
                <a:latin typeface="Cambria" pitchFamily="34" charset="0"/>
                <a:ea typeface="Cambria" pitchFamily="34" charset="-122"/>
                <a:cs typeface="Cambria" pitchFamily="34" charset="-120"/>
              </a:rPr>
              <a:t>Task 19: the remaining terminology, corrected</a:t>
            </a:r>
            <a:endParaRPr lang="en-US" sz="2500" dirty="0"/>
          </a:p>
        </p:txBody>
      </p:sp>
      <p:sp>
        <p:nvSpPr>
          <p:cNvPr id="3" name="Text 1"/>
          <p:cNvSpPr/>
          <p:nvPr/>
        </p:nvSpPr>
        <p:spPr>
          <a:xfrm>
            <a:off x="566928" y="969264"/>
            <a:ext cx="11027664" cy="310896"/>
          </a:xfrm>
          <a:prstGeom prst="rect">
            <a:avLst/>
          </a:prstGeom>
          <a:noFill/>
          <a:ln/>
        </p:spPr>
        <p:txBody>
          <a:bodyPr wrap="square" lIns="0" tIns="0" rIns="0" bIns="0" rtlCol="0" anchor="ctr"/>
          <a:lstStyle/>
          <a:p>
            <a:pPr indent="0" marL="0">
              <a:buNone/>
            </a:pPr>
            <a:r>
              <a:rPr lang="en-US" sz="1250" i="1" dirty="0">
                <a:solidFill>
                  <a:srgbClr val="7A6E68"/>
                </a:solidFill>
                <a:latin typeface="Calibri" pitchFamily="34" charset="0"/>
                <a:ea typeface="Calibri" pitchFamily="34" charset="-122"/>
                <a:cs typeface="Calibri" pitchFamily="34" charset="-120"/>
              </a:rPr>
              <a:t>Four items requested; three already resolved elsewhere, one named clearly here for the first time</a:t>
            </a:r>
            <a:endParaRPr lang="en-US" sz="1250" dirty="0"/>
          </a:p>
        </p:txBody>
      </p:sp>
      <p:sp>
        <p:nvSpPr>
          <p:cNvPr id="4" name="Shape 2"/>
          <p:cNvSpPr/>
          <p:nvPr/>
        </p:nvSpPr>
        <p:spPr>
          <a:xfrm>
            <a:off x="566928" y="1371600"/>
            <a:ext cx="11027664" cy="841248"/>
          </a:xfrm>
          <a:prstGeom prst="roundRect">
            <a:avLst>
              <a:gd name="adj" fmla="val 6522"/>
            </a:avLst>
          </a:prstGeom>
          <a:solidFill>
            <a:srgbClr val="F7F5F1"/>
          </a:solidFill>
          <a:ln/>
          <a:effectLst>
            <a:outerShdw sx="100000" sy="100000" kx="0" ky="0" algn="bl" rotWithShape="0" blurRad="76200" dist="381" dir="5400000">
              <a:srgbClr val="000000">
                <a:alpha val="8000"/>
              </a:srgbClr>
            </a:outerShdw>
          </a:effectLst>
        </p:spPr>
      </p:sp>
      <p:sp>
        <p:nvSpPr>
          <p:cNvPr id="5" name="Text 3"/>
          <p:cNvSpPr/>
          <p:nvPr/>
        </p:nvSpPr>
        <p:spPr>
          <a:xfrm>
            <a:off x="804672" y="1481328"/>
            <a:ext cx="4572000" cy="640080"/>
          </a:xfrm>
          <a:prstGeom prst="rect">
            <a:avLst/>
          </a:prstGeom>
          <a:noFill/>
          <a:ln/>
        </p:spPr>
        <p:txBody>
          <a:bodyPr wrap="square" lIns="0" tIns="0" rIns="0" bIns="0" rtlCol="0" anchor="ctr"/>
          <a:lstStyle/>
          <a:p>
            <a:pPr indent="0" marL="0">
              <a:lnSpc>
                <a:spcPts val="1500"/>
              </a:lnSpc>
              <a:buNone/>
            </a:pPr>
            <a:r>
              <a:rPr lang="en-US" sz="1250" b="1" dirty="0">
                <a:solidFill>
                  <a:srgbClr val="2B2523"/>
                </a:solidFill>
                <a:latin typeface="Cambria" pitchFamily="34" charset="0"/>
                <a:ea typeface="Cambria" pitchFamily="34" charset="-122"/>
                <a:cs typeface="Cambria" pitchFamily="34" charset="-120"/>
              </a:rPr>
              <a:t>market_stress_count renamed</a:t>
            </a:r>
            <a:endParaRPr lang="en-US" sz="1250" dirty="0"/>
          </a:p>
        </p:txBody>
      </p:sp>
      <p:sp>
        <p:nvSpPr>
          <p:cNvPr id="6" name="Text 4"/>
          <p:cNvSpPr/>
          <p:nvPr/>
        </p:nvSpPr>
        <p:spPr>
          <a:xfrm>
            <a:off x="5458968" y="1463040"/>
            <a:ext cx="4297680" cy="685800"/>
          </a:xfrm>
          <a:prstGeom prst="rect">
            <a:avLst/>
          </a:prstGeom>
          <a:noFill/>
          <a:ln/>
        </p:spPr>
        <p:txBody>
          <a:bodyPr wrap="square" lIns="0" tIns="0" rIns="0" bIns="0" rtlCol="0" anchor="ctr"/>
          <a:lstStyle/>
          <a:p>
            <a:pPr indent="0" marL="0">
              <a:lnSpc>
                <a:spcPts val="1200"/>
              </a:lnSpc>
              <a:buNone/>
            </a:pPr>
            <a:r>
              <a:rPr lang="en-US" sz="930" dirty="0">
                <a:solidFill>
                  <a:srgbClr val="7A6E68"/>
                </a:solidFill>
                <a:latin typeface="Calibri" pitchFamily="34" charset="0"/>
                <a:ea typeface="Calibri" pitchFamily="34" charset="-122"/>
                <a:cs typeface="Calibri" pitchFamily="34" charset="-120"/>
              </a:rPr>
              <a:t>market_alert_or_crisis_count: the feature counts WFP's Alert-or-Crisis phase (PEWI &gt; 1.0), not its Stress phase (0.25-1.0)</a:t>
            </a:r>
            <a:endParaRPr lang="en-US" sz="930" dirty="0"/>
          </a:p>
        </p:txBody>
      </p:sp>
      <p:sp>
        <p:nvSpPr>
          <p:cNvPr id="7" name="Text 5"/>
          <p:cNvSpPr/>
          <p:nvPr/>
        </p:nvSpPr>
        <p:spPr>
          <a:xfrm>
            <a:off x="9902952" y="1682496"/>
            <a:ext cx="1645920" cy="256032"/>
          </a:xfrm>
          <a:prstGeom prst="rect">
            <a:avLst/>
          </a:prstGeom>
          <a:noFill/>
          <a:ln/>
        </p:spPr>
        <p:txBody>
          <a:bodyPr wrap="square" lIns="0" tIns="0" rIns="0" bIns="0" rtlCol="0" anchor="ctr"/>
          <a:lstStyle/>
          <a:p>
            <a:pPr algn="r" indent="0" marL="0">
              <a:buNone/>
            </a:pPr>
            <a:r>
              <a:rPr lang="en-US" sz="900" b="1" spc="40" kern="0" dirty="0">
                <a:solidFill>
                  <a:srgbClr val="A7BEAE"/>
                </a:solidFill>
                <a:latin typeface="Calibri" pitchFamily="34" charset="0"/>
                <a:ea typeface="Calibri" pitchFamily="34" charset="-122"/>
                <a:cs typeface="Calibri" pitchFamily="34" charset="-120"/>
              </a:rPr>
              <a:t>RESOLVED (TASKS 4, 10)</a:t>
            </a:r>
            <a:endParaRPr lang="en-US" sz="900" dirty="0"/>
          </a:p>
        </p:txBody>
      </p:sp>
      <p:sp>
        <p:nvSpPr>
          <p:cNvPr id="8" name="Shape 6"/>
          <p:cNvSpPr/>
          <p:nvPr/>
        </p:nvSpPr>
        <p:spPr>
          <a:xfrm>
            <a:off x="566928" y="2304288"/>
            <a:ext cx="11027664" cy="841248"/>
          </a:xfrm>
          <a:prstGeom prst="roundRect">
            <a:avLst>
              <a:gd name="adj" fmla="val 6522"/>
            </a:avLst>
          </a:prstGeom>
          <a:solidFill>
            <a:srgbClr val="F7F5F1"/>
          </a:solidFill>
          <a:ln/>
          <a:effectLst>
            <a:outerShdw sx="100000" sy="100000" kx="0" ky="0" algn="bl" rotWithShape="0" blurRad="76200" dist="381" dir="5400000">
              <a:srgbClr val="000000">
                <a:alpha val="8000"/>
              </a:srgbClr>
            </a:outerShdw>
          </a:effectLst>
        </p:spPr>
      </p:sp>
      <p:sp>
        <p:nvSpPr>
          <p:cNvPr id="9" name="Text 7"/>
          <p:cNvSpPr/>
          <p:nvPr/>
        </p:nvSpPr>
        <p:spPr>
          <a:xfrm>
            <a:off x="804672" y="2414016"/>
            <a:ext cx="4572000" cy="640080"/>
          </a:xfrm>
          <a:prstGeom prst="rect">
            <a:avLst/>
          </a:prstGeom>
          <a:noFill/>
          <a:ln/>
        </p:spPr>
        <p:txBody>
          <a:bodyPr wrap="square" lIns="0" tIns="0" rIns="0" bIns="0" rtlCol="0" anchor="ctr"/>
          <a:lstStyle/>
          <a:p>
            <a:pPr indent="0" marL="0">
              <a:lnSpc>
                <a:spcPts val="1500"/>
              </a:lnSpc>
              <a:buNone/>
            </a:pPr>
            <a:r>
              <a:rPr lang="en-US" sz="1250" b="1" dirty="0">
                <a:solidFill>
                  <a:srgbClr val="2B2523"/>
                </a:solidFill>
                <a:latin typeface="Cambria" pitchFamily="34" charset="0"/>
                <a:ea typeface="Cambria" pitchFamily="34" charset="-122"/>
                <a:cs typeface="Cambria" pitchFamily="34" charset="-120"/>
              </a:rPr>
              <a:t>ACLED "exact GPS" claim removed</a:t>
            </a:r>
            <a:endParaRPr lang="en-US" sz="1250" dirty="0"/>
          </a:p>
        </p:txBody>
      </p:sp>
      <p:sp>
        <p:nvSpPr>
          <p:cNvPr id="10" name="Text 8"/>
          <p:cNvSpPr/>
          <p:nvPr/>
        </p:nvSpPr>
        <p:spPr>
          <a:xfrm>
            <a:off x="5458968" y="2395728"/>
            <a:ext cx="4297680" cy="685800"/>
          </a:xfrm>
          <a:prstGeom prst="rect">
            <a:avLst/>
          </a:prstGeom>
          <a:noFill/>
          <a:ln/>
        </p:spPr>
        <p:txBody>
          <a:bodyPr wrap="square" lIns="0" tIns="0" rIns="0" bIns="0" rtlCol="0" anchor="ctr"/>
          <a:lstStyle/>
          <a:p>
            <a:pPr indent="0" marL="0">
              <a:lnSpc>
                <a:spcPts val="1200"/>
              </a:lnSpc>
              <a:buNone/>
            </a:pPr>
            <a:r>
              <a:rPr lang="en-US" sz="930" dirty="0">
                <a:solidFill>
                  <a:srgbClr val="7A6E68"/>
                </a:solidFill>
                <a:latin typeface="Calibri" pitchFamily="34" charset="0"/>
                <a:ea typeface="Calibri" pitchFamily="34" charset="-122"/>
                <a:cs typeface="Calibri" pitchFamily="34" charset="-120"/>
              </a:rPr>
              <a:t>Task 18's granularity row states the full 77.5/22.4/0.1% precision breakdown directly, no contradiction left</a:t>
            </a:r>
            <a:endParaRPr lang="en-US" sz="930" dirty="0"/>
          </a:p>
        </p:txBody>
      </p:sp>
      <p:sp>
        <p:nvSpPr>
          <p:cNvPr id="11" name="Text 9"/>
          <p:cNvSpPr/>
          <p:nvPr/>
        </p:nvSpPr>
        <p:spPr>
          <a:xfrm>
            <a:off x="9902952" y="2615184"/>
            <a:ext cx="1645920" cy="256032"/>
          </a:xfrm>
          <a:prstGeom prst="rect">
            <a:avLst/>
          </a:prstGeom>
          <a:noFill/>
          <a:ln/>
        </p:spPr>
        <p:txBody>
          <a:bodyPr wrap="square" lIns="0" tIns="0" rIns="0" bIns="0" rtlCol="0" anchor="ctr"/>
          <a:lstStyle/>
          <a:p>
            <a:pPr algn="r" indent="0" marL="0">
              <a:buNone/>
            </a:pPr>
            <a:r>
              <a:rPr lang="en-US" sz="900" b="1" spc="40" kern="0" dirty="0">
                <a:solidFill>
                  <a:srgbClr val="A7BEAE"/>
                </a:solidFill>
                <a:latin typeface="Calibri" pitchFamily="34" charset="0"/>
                <a:ea typeface="Calibri" pitchFamily="34" charset="-122"/>
                <a:cs typeface="Calibri" pitchFamily="34" charset="-120"/>
              </a:rPr>
              <a:t>RESOLVED (TASK 18)</a:t>
            </a:r>
            <a:endParaRPr lang="en-US" sz="900" dirty="0"/>
          </a:p>
        </p:txBody>
      </p:sp>
      <p:sp>
        <p:nvSpPr>
          <p:cNvPr id="12" name="Shape 10"/>
          <p:cNvSpPr/>
          <p:nvPr/>
        </p:nvSpPr>
        <p:spPr>
          <a:xfrm>
            <a:off x="566928" y="3236976"/>
            <a:ext cx="11027664" cy="841248"/>
          </a:xfrm>
          <a:prstGeom prst="roundRect">
            <a:avLst>
              <a:gd name="adj" fmla="val 6522"/>
            </a:avLst>
          </a:prstGeom>
          <a:solidFill>
            <a:srgbClr val="F7F5F1"/>
          </a:solidFill>
          <a:ln/>
          <a:effectLst>
            <a:outerShdw sx="100000" sy="100000" kx="0" ky="0" algn="bl" rotWithShape="0" blurRad="76200" dist="381" dir="5400000">
              <a:srgbClr val="000000">
                <a:alpha val="8000"/>
              </a:srgbClr>
            </a:outerShdw>
          </a:effectLst>
        </p:spPr>
      </p:sp>
      <p:sp>
        <p:nvSpPr>
          <p:cNvPr id="13" name="Text 11"/>
          <p:cNvSpPr/>
          <p:nvPr/>
        </p:nvSpPr>
        <p:spPr>
          <a:xfrm>
            <a:off x="804672" y="3346704"/>
            <a:ext cx="4572000" cy="640080"/>
          </a:xfrm>
          <a:prstGeom prst="rect">
            <a:avLst/>
          </a:prstGeom>
          <a:noFill/>
          <a:ln/>
        </p:spPr>
        <p:txBody>
          <a:bodyPr wrap="square" lIns="0" tIns="0" rIns="0" bIns="0" rtlCol="0" anchor="ctr"/>
          <a:lstStyle/>
          <a:p>
            <a:pPr indent="0" marL="0">
              <a:lnSpc>
                <a:spcPts val="1500"/>
              </a:lnSpc>
              <a:buNone/>
            </a:pPr>
            <a:r>
              <a:rPr lang="en-US" sz="1250" b="1" dirty="0">
                <a:solidFill>
                  <a:srgbClr val="2B2523"/>
                </a:solidFill>
                <a:latin typeface="Cambria" pitchFamily="34" charset="0"/>
                <a:ea typeface="Cambria" pitchFamily="34" charset="-122"/>
                <a:cs typeface="Cambria" pitchFamily="34" charset="-120"/>
              </a:rPr>
              <a:t>"Recorded coverage" used throughout</a:t>
            </a:r>
            <a:endParaRPr lang="en-US" sz="1250" dirty="0"/>
          </a:p>
        </p:txBody>
      </p:sp>
      <p:sp>
        <p:nvSpPr>
          <p:cNvPr id="14" name="Text 12"/>
          <p:cNvSpPr/>
          <p:nvPr/>
        </p:nvSpPr>
        <p:spPr>
          <a:xfrm>
            <a:off x="5458968" y="3328416"/>
            <a:ext cx="4297680" cy="685800"/>
          </a:xfrm>
          <a:prstGeom prst="rect">
            <a:avLst/>
          </a:prstGeom>
          <a:noFill/>
          <a:ln/>
        </p:spPr>
        <p:txBody>
          <a:bodyPr wrap="square" lIns="0" tIns="0" rIns="0" bIns="0" rtlCol="0" anchor="ctr"/>
          <a:lstStyle/>
          <a:p>
            <a:pPr indent="0" marL="0">
              <a:lnSpc>
                <a:spcPts val="1200"/>
              </a:lnSpc>
              <a:buNone/>
            </a:pPr>
            <a:r>
              <a:rPr lang="en-US" sz="930" dirty="0">
                <a:solidFill>
                  <a:srgbClr val="7A6E68"/>
                </a:solidFill>
                <a:latin typeface="Calibri" pitchFamily="34" charset="0"/>
                <a:ea typeface="Calibri" pitchFamily="34" charset="-122"/>
                <a:cs typeface="Calibri" pitchFamily="34" charset="-120"/>
              </a:rPr>
              <a:t>Never implies full real-world observability; made explicit in every source's own "what a zero means" row</a:t>
            </a:r>
            <a:endParaRPr lang="en-US" sz="930" dirty="0"/>
          </a:p>
        </p:txBody>
      </p:sp>
      <p:sp>
        <p:nvSpPr>
          <p:cNvPr id="15" name="Text 13"/>
          <p:cNvSpPr/>
          <p:nvPr/>
        </p:nvSpPr>
        <p:spPr>
          <a:xfrm>
            <a:off x="9902952" y="3547872"/>
            <a:ext cx="1645920" cy="256032"/>
          </a:xfrm>
          <a:prstGeom prst="rect">
            <a:avLst/>
          </a:prstGeom>
          <a:noFill/>
          <a:ln/>
        </p:spPr>
        <p:txBody>
          <a:bodyPr wrap="square" lIns="0" tIns="0" rIns="0" bIns="0" rtlCol="0" anchor="ctr"/>
          <a:lstStyle/>
          <a:p>
            <a:pPr algn="r" indent="0" marL="0">
              <a:buNone/>
            </a:pPr>
            <a:r>
              <a:rPr lang="en-US" sz="900" b="1" spc="40" kern="0" dirty="0">
                <a:solidFill>
                  <a:srgbClr val="A7BEAE"/>
                </a:solidFill>
                <a:latin typeface="Calibri" pitchFamily="34" charset="0"/>
                <a:ea typeface="Calibri" pitchFamily="34" charset="-122"/>
                <a:cs typeface="Calibri" pitchFamily="34" charset="-120"/>
              </a:rPr>
              <a:t>RESOLVED (TASK 18)</a:t>
            </a:r>
            <a:endParaRPr lang="en-US" sz="900" dirty="0"/>
          </a:p>
        </p:txBody>
      </p:sp>
      <p:sp>
        <p:nvSpPr>
          <p:cNvPr id="16" name="Shape 14"/>
          <p:cNvSpPr/>
          <p:nvPr/>
        </p:nvSpPr>
        <p:spPr>
          <a:xfrm>
            <a:off x="566928" y="4215384"/>
            <a:ext cx="11027664" cy="1965960"/>
          </a:xfrm>
          <a:prstGeom prst="roundRect">
            <a:avLst>
              <a:gd name="adj" fmla="val 2791"/>
            </a:avLst>
          </a:prstGeom>
          <a:solidFill>
            <a:srgbClr val="2B2523"/>
          </a:solidFill>
          <a:ln/>
          <a:effectLst>
            <a:outerShdw sx="100000" sy="100000" kx="0" ky="0" algn="bl" rotWithShape="0" blurRad="76200" dist="381" dir="5400000">
              <a:srgbClr val="000000">
                <a:alpha val="8000"/>
              </a:srgbClr>
            </a:outerShdw>
          </a:effectLst>
        </p:spPr>
      </p:sp>
      <p:sp>
        <p:nvSpPr>
          <p:cNvPr id="17" name="Text 15"/>
          <p:cNvSpPr/>
          <p:nvPr/>
        </p:nvSpPr>
        <p:spPr>
          <a:xfrm>
            <a:off x="804672" y="4352544"/>
            <a:ext cx="8229600" cy="274320"/>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The fourth: three coverage terms, deliberately kept separate</a:t>
            </a:r>
            <a:endParaRPr lang="en-US" sz="1350" dirty="0"/>
          </a:p>
        </p:txBody>
      </p:sp>
      <p:sp>
        <p:nvSpPr>
          <p:cNvPr id="18" name="Text 16"/>
          <p:cNvSpPr/>
          <p:nvPr/>
        </p:nvSpPr>
        <p:spPr>
          <a:xfrm>
            <a:off x="804672" y="4700016"/>
            <a:ext cx="3200400" cy="411480"/>
          </a:xfrm>
          <a:prstGeom prst="rect">
            <a:avLst/>
          </a:prstGeom>
          <a:noFill/>
          <a:ln/>
        </p:spPr>
        <p:txBody>
          <a:bodyPr wrap="square" lIns="0" tIns="0" rIns="0" bIns="0" rtlCol="0" anchor="ctr"/>
          <a:lstStyle/>
          <a:p>
            <a:pPr indent="0" marL="0">
              <a:buNone/>
            </a:pPr>
            <a:r>
              <a:rPr lang="en-US" sz="2200" b="1" dirty="0">
                <a:solidFill>
                  <a:srgbClr val="A7BEAE"/>
                </a:solidFill>
                <a:latin typeface="Cambria" pitchFamily="34" charset="0"/>
                <a:ea typeface="Cambria" pitchFamily="34" charset="-122"/>
                <a:cs typeface="Cambria" pitchFamily="34" charset="-120"/>
              </a:rPr>
              <a:t>47.3%</a:t>
            </a:r>
            <a:endParaRPr lang="en-US" sz="2200" dirty="0"/>
          </a:p>
        </p:txBody>
      </p:sp>
      <p:sp>
        <p:nvSpPr>
          <p:cNvPr id="19" name="Text 17"/>
          <p:cNvSpPr/>
          <p:nvPr/>
        </p:nvSpPr>
        <p:spPr>
          <a:xfrm>
            <a:off x="804672" y="5084064"/>
            <a:ext cx="3383280" cy="237744"/>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market-presence coverage</a:t>
            </a:r>
            <a:endParaRPr lang="en-US" sz="1050" dirty="0"/>
          </a:p>
        </p:txBody>
      </p:sp>
      <p:sp>
        <p:nvSpPr>
          <p:cNvPr id="20" name="Text 18"/>
          <p:cNvSpPr/>
          <p:nvPr/>
        </p:nvSpPr>
        <p:spPr>
          <a:xfrm>
            <a:off x="804672" y="5321808"/>
            <a:ext cx="3383280" cy="731520"/>
          </a:xfrm>
          <a:prstGeom prst="rect">
            <a:avLst/>
          </a:prstGeom>
          <a:noFill/>
          <a:ln/>
        </p:spPr>
        <p:txBody>
          <a:bodyPr wrap="square" lIns="0" tIns="0" rIns="0" bIns="0" rtlCol="0" anchor="ctr"/>
          <a:lstStyle/>
          <a:p>
            <a:pPr indent="0" marL="0">
              <a:lnSpc>
                <a:spcPts val="1150"/>
              </a:lnSpc>
              <a:buNone/>
            </a:pPr>
            <a:r>
              <a:rPr lang="en-US" sz="900" dirty="0">
                <a:solidFill>
                  <a:srgbClr val="E7E8D1"/>
                </a:solidFill>
                <a:latin typeface="Calibri" pitchFamily="34" charset="0"/>
                <a:ea typeface="Calibri" pitchFamily="34" charset="-122"/>
                <a:cs typeface="Calibri" pitchFamily="34" charset="-120"/>
              </a:rPr>
              <a:t>35 of 74 districts; does WFP monitor any market here at all, ever</a:t>
            </a:r>
            <a:endParaRPr lang="en-US" sz="900" dirty="0"/>
          </a:p>
        </p:txBody>
      </p:sp>
      <p:sp>
        <p:nvSpPr>
          <p:cNvPr id="21" name="Text 19"/>
          <p:cNvSpPr/>
          <p:nvPr/>
        </p:nvSpPr>
        <p:spPr>
          <a:xfrm>
            <a:off x="4517136" y="4700016"/>
            <a:ext cx="3200400" cy="411480"/>
          </a:xfrm>
          <a:prstGeom prst="rect">
            <a:avLst/>
          </a:prstGeom>
          <a:noFill/>
          <a:ln/>
        </p:spPr>
        <p:txBody>
          <a:bodyPr wrap="square" lIns="0" tIns="0" rIns="0" bIns="0" rtlCol="0" anchor="ctr"/>
          <a:lstStyle/>
          <a:p>
            <a:pPr indent="0" marL="0">
              <a:buNone/>
            </a:pPr>
            <a:r>
              <a:rPr lang="en-US" sz="2200" b="1" dirty="0">
                <a:solidFill>
                  <a:srgbClr val="A7BEAE"/>
                </a:solidFill>
                <a:latin typeface="Cambria" pitchFamily="34" charset="0"/>
                <a:ea typeface="Cambria" pitchFamily="34" charset="-122"/>
                <a:cs typeface="Cambria" pitchFamily="34" charset="-120"/>
              </a:rPr>
              <a:t>47.2%</a:t>
            </a:r>
            <a:endParaRPr lang="en-US" sz="2200" dirty="0"/>
          </a:p>
        </p:txBody>
      </p:sp>
      <p:sp>
        <p:nvSpPr>
          <p:cNvPr id="22" name="Text 20"/>
          <p:cNvSpPr/>
          <p:nvPr/>
        </p:nvSpPr>
        <p:spPr>
          <a:xfrm>
            <a:off x="4517136" y="5084064"/>
            <a:ext cx="3383280" cy="237744"/>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price coverage</a:t>
            </a:r>
            <a:endParaRPr lang="en-US" sz="1050" dirty="0"/>
          </a:p>
        </p:txBody>
      </p:sp>
      <p:sp>
        <p:nvSpPr>
          <p:cNvPr id="23" name="Text 21"/>
          <p:cNvSpPr/>
          <p:nvPr/>
        </p:nvSpPr>
        <p:spPr>
          <a:xfrm>
            <a:off x="4517136" y="5321808"/>
            <a:ext cx="3383280" cy="731520"/>
          </a:xfrm>
          <a:prstGeom prst="rect">
            <a:avLst/>
          </a:prstGeom>
          <a:noFill/>
          <a:ln/>
        </p:spPr>
        <p:txBody>
          <a:bodyPr wrap="square" lIns="0" tIns="0" rIns="0" bIns="0" rtlCol="0" anchor="ctr"/>
          <a:lstStyle/>
          <a:p>
            <a:pPr indent="0" marL="0">
              <a:lnSpc>
                <a:spcPts val="1150"/>
              </a:lnSpc>
              <a:buNone/>
            </a:pPr>
            <a:r>
              <a:rPr lang="en-US" sz="900" dirty="0">
                <a:solidFill>
                  <a:srgbClr val="E7E8D1"/>
                </a:solidFill>
                <a:latin typeface="Calibri" pitchFamily="34" charset="0"/>
                <a:ea typeface="Calibri" pitchFamily="34" charset="-122"/>
                <a:cs typeface="Calibri" pitchFamily="34" charset="-120"/>
              </a:rPr>
              <a:t>419 of 888 district-months have an actual recorded price</a:t>
            </a:r>
            <a:endParaRPr lang="en-US" sz="900" dirty="0"/>
          </a:p>
        </p:txBody>
      </p:sp>
      <p:sp>
        <p:nvSpPr>
          <p:cNvPr id="24" name="Text 22"/>
          <p:cNvSpPr/>
          <p:nvPr/>
        </p:nvSpPr>
        <p:spPr>
          <a:xfrm>
            <a:off x="8229600" y="4700016"/>
            <a:ext cx="3200400" cy="411480"/>
          </a:xfrm>
          <a:prstGeom prst="rect">
            <a:avLst/>
          </a:prstGeom>
          <a:noFill/>
          <a:ln/>
        </p:spPr>
        <p:txBody>
          <a:bodyPr wrap="square" lIns="0" tIns="0" rIns="0" bIns="0" rtlCol="0" anchor="ctr"/>
          <a:lstStyle/>
          <a:p>
            <a:pPr indent="0" marL="0">
              <a:buNone/>
            </a:pPr>
            <a:r>
              <a:rPr lang="en-US" sz="2200" b="1" dirty="0">
                <a:solidFill>
                  <a:srgbClr val="A7BEAE"/>
                </a:solidFill>
                <a:latin typeface="Cambria" pitchFamily="34" charset="0"/>
                <a:ea typeface="Cambria" pitchFamily="34" charset="-122"/>
                <a:cs typeface="Cambria" pitchFamily="34" charset="-120"/>
              </a:rPr>
              <a:t>43.1%</a:t>
            </a:r>
            <a:endParaRPr lang="en-US" sz="2200" dirty="0"/>
          </a:p>
        </p:txBody>
      </p:sp>
      <p:sp>
        <p:nvSpPr>
          <p:cNvPr id="25" name="Text 23"/>
          <p:cNvSpPr/>
          <p:nvPr/>
        </p:nvSpPr>
        <p:spPr>
          <a:xfrm>
            <a:off x="8229600" y="5084064"/>
            <a:ext cx="3383280" cy="237744"/>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PEWI coverage</a:t>
            </a:r>
            <a:endParaRPr lang="en-US" sz="1050" dirty="0"/>
          </a:p>
        </p:txBody>
      </p:sp>
      <p:sp>
        <p:nvSpPr>
          <p:cNvPr id="26" name="Text 24"/>
          <p:cNvSpPr/>
          <p:nvPr/>
        </p:nvSpPr>
        <p:spPr>
          <a:xfrm>
            <a:off x="8229600" y="5321808"/>
            <a:ext cx="3383280" cy="731520"/>
          </a:xfrm>
          <a:prstGeom prst="rect">
            <a:avLst/>
          </a:prstGeom>
          <a:noFill/>
          <a:ln/>
        </p:spPr>
        <p:txBody>
          <a:bodyPr wrap="square" lIns="0" tIns="0" rIns="0" bIns="0" rtlCol="0" anchor="ctr"/>
          <a:lstStyle/>
          <a:p>
            <a:pPr indent="0" marL="0">
              <a:lnSpc>
                <a:spcPts val="1150"/>
              </a:lnSpc>
              <a:buNone/>
            </a:pPr>
            <a:r>
              <a:rPr lang="en-US" sz="900" dirty="0">
                <a:solidFill>
                  <a:srgbClr val="E7E8D1"/>
                </a:solidFill>
                <a:latin typeface="Calibri" pitchFamily="34" charset="0"/>
                <a:ea typeface="Calibri" pitchFamily="34" charset="-122"/>
                <a:cs typeface="Calibri" pitchFamily="34" charset="-120"/>
              </a:rPr>
              <a:t>383 of 888; differs from price because 8.8% of price records have no matching PEWI value</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27664" cy="502920"/>
          </a:xfrm>
          <a:prstGeom prst="rect">
            <a:avLst/>
          </a:prstGeom>
          <a:noFill/>
          <a:ln/>
        </p:spPr>
        <p:txBody>
          <a:bodyPr wrap="square" lIns="0" tIns="0" rIns="0" bIns="0" rtlCol="0" anchor="ctr"/>
          <a:lstStyle/>
          <a:p>
            <a:pPr indent="0" marL="0">
              <a:buNone/>
            </a:pPr>
            <a:r>
              <a:rPr lang="en-US" sz="2500" b="1" dirty="0">
                <a:solidFill>
                  <a:srgbClr val="2B2523"/>
                </a:solidFill>
                <a:latin typeface="Cambria" pitchFamily="34" charset="0"/>
                <a:ea typeface="Cambria" pitchFamily="34" charset="-122"/>
                <a:cs typeface="Cambria" pitchFamily="34" charset="-120"/>
              </a:rPr>
              <a:t>Task 20: month-by-month coverage, all four sources side by side</a:t>
            </a:r>
            <a:endParaRPr lang="en-US" sz="2500" dirty="0"/>
          </a:p>
        </p:txBody>
      </p:sp>
      <p:sp>
        <p:nvSpPr>
          <p:cNvPr id="3" name="Text 1"/>
          <p:cNvSpPr/>
          <p:nvPr/>
        </p:nvSpPr>
        <p:spPr>
          <a:xfrm>
            <a:off x="566928" y="969264"/>
            <a:ext cx="11027664" cy="310896"/>
          </a:xfrm>
          <a:prstGeom prst="rect">
            <a:avLst/>
          </a:prstGeom>
          <a:noFill/>
          <a:ln/>
        </p:spPr>
        <p:txBody>
          <a:bodyPr wrap="square" lIns="0" tIns="0" rIns="0" bIns="0" rtlCol="0" anchor="ctr"/>
          <a:lstStyle/>
          <a:p>
            <a:pPr indent="0" marL="0">
              <a:buNone/>
            </a:pPr>
            <a:r>
              <a:rPr lang="en-US" sz="1250" i="1" dirty="0">
                <a:solidFill>
                  <a:srgbClr val="7A6E68"/>
                </a:solidFill>
                <a:latin typeface="Calibri" pitchFamily="34" charset="0"/>
                <a:ea typeface="Calibri" pitchFamily="34" charset="-122"/>
                <a:cs typeface="Calibri" pitchFamily="34" charset="-120"/>
              </a:rPr>
              <a:t>The last item on the list: for each month of 2024, what percentage of the 74 districts does each source cover?</a:t>
            </a:r>
            <a:endParaRPr lang="en-US" sz="125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66928" y="1371600"/>
          <a:ext cx="5669280" cy="914400"/>
        </p:xfrm>
        <a:graphic>
          <a:graphicData uri="http://schemas.openxmlformats.org/drawingml/2006/table">
            <a:tbl>
              <a:tblPr/>
              <a:tblGrid>
                <a:gridCol w="960120"/>
                <a:gridCol w="1234440"/>
                <a:gridCol w="1097280"/>
                <a:gridCol w="1097280"/>
                <a:gridCol w="1280160"/>
              </a:tblGrid>
              <a:tr h="329184">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Month</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Conflict</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Climate</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Market</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Reporting</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r>
              <a:tr h="329184">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Jan</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66.2%</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100%</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45.9%</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51.4%</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r>
              <a:tr h="329184">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Feb</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58.1%</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100%</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47.3%</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50.0%</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r>
              <a:tr h="329184">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Mar</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56.8%</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100%</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47.3%</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60.8%</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r>
              <a:tr h="329184">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Apr</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48.6%</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100%</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47.3%</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67.6%</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r>
              <a:tr h="329184">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May</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59.5%</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100%</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47.3%</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64.9%</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r>
              <a:tr h="329184">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Jun</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62.2%</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100%</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47.3%</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56.8%</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r>
              <a:tr h="329184">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Jul</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59.5%</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100%</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47.3%</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66.2%</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r>
              <a:tr h="329184">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Aug</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59.5%</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100%</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47.3%</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50.0%</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r>
              <a:tr h="329184">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Sep</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68.9%</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100%</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47.3%</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45.9%</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r>
              <a:tr h="329184">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Oct</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63.5%</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100%</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47.3%</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66.2%</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r>
              <a:tr h="329184">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Nov</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58.1%</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100%</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47.3%</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73.0%</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r>
              <a:tr h="329184">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Dec</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58.1%</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100%</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47.3%</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68.9%</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r>
            </a:tbl>
          </a:graphicData>
        </a:graphic>
      </p:graphicFrame>
      <p:sp>
        <p:nvSpPr>
          <p:cNvPr id="5" name="Text 2"/>
          <p:cNvSpPr/>
          <p:nvPr/>
        </p:nvSpPr>
        <p:spPr>
          <a:xfrm>
            <a:off x="566928" y="5486400"/>
            <a:ext cx="5669280" cy="685800"/>
          </a:xfrm>
          <a:prstGeom prst="rect">
            <a:avLst/>
          </a:prstGeom>
          <a:noFill/>
          <a:ln/>
        </p:spPr>
        <p:txBody>
          <a:bodyPr wrap="square" lIns="0" tIns="0" rIns="0" bIns="0" rtlCol="0" anchor="ctr"/>
          <a:lstStyle/>
          <a:p>
            <a:pPr indent="0" marL="0">
              <a:lnSpc>
                <a:spcPts val="1250"/>
              </a:lnSpc>
              <a:buNone/>
            </a:pPr>
            <a:r>
              <a:rPr lang="en-US" sz="950" i="1" dirty="0">
                <a:solidFill>
                  <a:srgbClr val="7A6E68"/>
                </a:solidFill>
                <a:latin typeface="Calibri" pitchFamily="34" charset="0"/>
                <a:ea typeface="Calibri" pitchFamily="34" charset="-122"/>
                <a:cs typeface="Calibri" pitchFamily="34" charset="-120"/>
              </a:rPr>
              <a:t>"Covered" means genuine district-month presence (an event actually recorded, a report actually matched), not the year-round structural facts from Tasks 18-19. Saved to data/processed/monthly_source_coverage.csv.</a:t>
            </a:r>
            <a:endParaRPr lang="en-US" sz="950" dirty="0"/>
          </a:p>
        </p:txBody>
      </p:sp>
      <p:sp>
        <p:nvSpPr>
          <p:cNvPr id="6" name="Shape 3"/>
          <p:cNvSpPr/>
          <p:nvPr/>
        </p:nvSpPr>
        <p:spPr>
          <a:xfrm>
            <a:off x="6629400" y="1371600"/>
            <a:ext cx="4965192" cy="1280160"/>
          </a:xfrm>
          <a:prstGeom prst="roundRect">
            <a:avLst>
              <a:gd name="adj" fmla="val 4286"/>
            </a:avLst>
          </a:prstGeom>
          <a:solidFill>
            <a:srgbClr val="A7BEAE"/>
          </a:solidFill>
          <a:ln/>
          <a:effectLst>
            <a:outerShdw sx="100000" sy="100000" kx="0" ky="0" algn="bl" rotWithShape="0" blurRad="76200" dist="381" dir="5400000">
              <a:srgbClr val="000000">
                <a:alpha val="8000"/>
              </a:srgbClr>
            </a:outerShdw>
          </a:effectLst>
        </p:spPr>
      </p:sp>
      <p:sp>
        <p:nvSpPr>
          <p:cNvPr id="7" name="Text 4"/>
          <p:cNvSpPr/>
          <p:nvPr/>
        </p:nvSpPr>
        <p:spPr>
          <a:xfrm>
            <a:off x="6858000" y="1481328"/>
            <a:ext cx="2286000" cy="50292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100%</a:t>
            </a:r>
            <a:endParaRPr lang="en-US" sz="2800" dirty="0"/>
          </a:p>
        </p:txBody>
      </p:sp>
      <p:sp>
        <p:nvSpPr>
          <p:cNvPr id="8" name="Text 5"/>
          <p:cNvSpPr/>
          <p:nvPr/>
        </p:nvSpPr>
        <p:spPr>
          <a:xfrm>
            <a:off x="6858000" y="2011680"/>
            <a:ext cx="4553712" cy="548640"/>
          </a:xfrm>
          <a:prstGeom prst="rect">
            <a:avLst/>
          </a:prstGeom>
          <a:noFill/>
          <a:ln/>
        </p:spPr>
        <p:txBody>
          <a:bodyPr wrap="square" lIns="0" tIns="0" rIns="0" bIns="0" rtlCol="0" anchor="ctr"/>
          <a:lstStyle/>
          <a:p>
            <a:pPr indent="0" marL="0">
              <a:lnSpc>
                <a:spcPts val="1350"/>
              </a:lnSpc>
              <a:buNone/>
            </a:pPr>
            <a:r>
              <a:rPr lang="en-US" sz="1050" dirty="0">
                <a:solidFill>
                  <a:srgbClr val="3A3330"/>
                </a:solidFill>
                <a:latin typeface="Calibri" pitchFamily="34" charset="0"/>
                <a:ea typeface="Calibri" pitchFamily="34" charset="-122"/>
                <a:cs typeface="Calibri" pitchFamily="34" charset="-120"/>
              </a:rPr>
              <a:t>Climate: flat every single month, unconditional satellite coverage</a:t>
            </a:r>
            <a:endParaRPr lang="en-US" sz="1050" dirty="0"/>
          </a:p>
        </p:txBody>
      </p:sp>
      <p:sp>
        <p:nvSpPr>
          <p:cNvPr id="9" name="Shape 6"/>
          <p:cNvSpPr/>
          <p:nvPr/>
        </p:nvSpPr>
        <p:spPr>
          <a:xfrm>
            <a:off x="6629400" y="2788920"/>
            <a:ext cx="4965192" cy="1280160"/>
          </a:xfrm>
          <a:prstGeom prst="roundRect">
            <a:avLst>
              <a:gd name="adj" fmla="val 4286"/>
            </a:avLst>
          </a:prstGeom>
          <a:solidFill>
            <a:srgbClr val="2B2523"/>
          </a:solidFill>
          <a:ln/>
          <a:effectLst>
            <a:outerShdw sx="100000" sy="100000" kx="0" ky="0" algn="bl" rotWithShape="0" blurRad="76200" dist="381" dir="5400000">
              <a:srgbClr val="000000">
                <a:alpha val="8000"/>
              </a:srgbClr>
            </a:outerShdw>
          </a:effectLst>
        </p:spPr>
      </p:sp>
      <p:sp>
        <p:nvSpPr>
          <p:cNvPr id="10" name="Text 7"/>
          <p:cNvSpPr/>
          <p:nvPr/>
        </p:nvSpPr>
        <p:spPr>
          <a:xfrm>
            <a:off x="6858000" y="2898648"/>
            <a:ext cx="2286000" cy="50292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34-35</a:t>
            </a:r>
            <a:endParaRPr lang="en-US" sz="2800" dirty="0"/>
          </a:p>
        </p:txBody>
      </p:sp>
      <p:sp>
        <p:nvSpPr>
          <p:cNvPr id="11" name="Text 8"/>
          <p:cNvSpPr/>
          <p:nvPr/>
        </p:nvSpPr>
        <p:spPr>
          <a:xfrm>
            <a:off x="6858000" y="3429000"/>
            <a:ext cx="4553712" cy="548640"/>
          </a:xfrm>
          <a:prstGeom prst="rect">
            <a:avLst/>
          </a:prstGeom>
          <a:noFill/>
          <a:ln/>
        </p:spPr>
        <p:txBody>
          <a:bodyPr wrap="square" lIns="0" tIns="0" rIns="0" bIns="0" rtlCol="0" anchor="ctr"/>
          <a:lstStyle/>
          <a:p>
            <a:pPr indent="0" marL="0">
              <a:lnSpc>
                <a:spcPts val="1350"/>
              </a:lnSpc>
              <a:buNone/>
            </a:pPr>
            <a:r>
              <a:rPr lang="en-US" sz="1050" dirty="0">
                <a:solidFill>
                  <a:srgbClr val="E7E8D1"/>
                </a:solidFill>
                <a:latin typeface="Calibri" pitchFamily="34" charset="0"/>
                <a:ea typeface="Calibri" pitchFamily="34" charset="-122"/>
                <a:cs typeface="Calibri" pitchFamily="34" charset="-120"/>
              </a:rPr>
              <a:t>Market: near-fixed roster; January's dip to 34 is the already-documented Banadir gap</a:t>
            </a:r>
            <a:endParaRPr lang="en-US" sz="1050" dirty="0"/>
          </a:p>
        </p:txBody>
      </p:sp>
      <p:sp>
        <p:nvSpPr>
          <p:cNvPr id="12" name="Shape 9"/>
          <p:cNvSpPr/>
          <p:nvPr/>
        </p:nvSpPr>
        <p:spPr>
          <a:xfrm>
            <a:off x="6629400" y="4206240"/>
            <a:ext cx="4965192" cy="1600200"/>
          </a:xfrm>
          <a:prstGeom prst="roundRect">
            <a:avLst>
              <a:gd name="adj" fmla="val 3429"/>
            </a:avLst>
          </a:prstGeom>
          <a:solidFill>
            <a:srgbClr val="B85042"/>
          </a:solidFill>
          <a:ln/>
          <a:effectLst>
            <a:outerShdw sx="100000" sy="100000" kx="0" ky="0" algn="bl" rotWithShape="0" blurRad="76200" dist="381" dir="5400000">
              <a:srgbClr val="000000">
                <a:alpha val="8000"/>
              </a:srgbClr>
            </a:outerShdw>
          </a:effectLst>
        </p:spPr>
      </p:sp>
      <p:sp>
        <p:nvSpPr>
          <p:cNvPr id="13" name="Text 10"/>
          <p:cNvSpPr/>
          <p:nvPr/>
        </p:nvSpPr>
        <p:spPr>
          <a:xfrm>
            <a:off x="6858000" y="4315968"/>
            <a:ext cx="4370832" cy="50292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36-51 / 34-54</a:t>
            </a:r>
            <a:endParaRPr lang="en-US" sz="2400" dirty="0"/>
          </a:p>
        </p:txBody>
      </p:sp>
      <p:sp>
        <p:nvSpPr>
          <p:cNvPr id="14" name="Text 11"/>
          <p:cNvSpPr/>
          <p:nvPr/>
        </p:nvSpPr>
        <p:spPr>
          <a:xfrm>
            <a:off x="6858000" y="4828032"/>
            <a:ext cx="4370832" cy="868680"/>
          </a:xfrm>
          <a:prstGeom prst="rect">
            <a:avLst/>
          </a:prstGeom>
          <a:noFill/>
          <a:ln/>
        </p:spPr>
        <p:txBody>
          <a:bodyPr wrap="square" lIns="0" tIns="0" rIns="0" bIns="0" rtlCol="0" anchor="ctr"/>
          <a:lstStyle/>
          <a:p>
            <a:pPr indent="0" marL="0">
              <a:lnSpc>
                <a:spcPts val="1350"/>
              </a:lnSpc>
              <a:buNone/>
            </a:pPr>
            <a:r>
              <a:rPr lang="en-US" sz="1050" dirty="0">
                <a:solidFill>
                  <a:srgbClr val="FBEAE7"/>
                </a:solidFill>
                <a:latin typeface="Calibri" pitchFamily="34" charset="0"/>
                <a:ea typeface="Calibri" pitchFamily="34" charset="-122"/>
                <a:cs typeface="Calibri" pitchFamily="34" charset="-120"/>
              </a:rPr>
              <a:t>districts covered, conflict / reporting: the two sources that genuinely fluctuate, reporting swinging widest of all four, nearly 20 points across the year</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of August 24, 2026</dc:title>
  <dc:subject>PptxGenJS Presentation</dc:subject>
  <dc:creator>Samuel Aracena</dc:creator>
  <cp:lastModifiedBy>Samuel Aracena</cp:lastModifiedBy>
  <cp:revision>1</cp:revision>
  <dcterms:created xsi:type="dcterms:W3CDTF">2026-08-31T23:53:03Z</dcterms:created>
  <dcterms:modified xsi:type="dcterms:W3CDTF">2026-08-31T23:53:03Z</dcterms:modified>
</cp:coreProperties>
</file>