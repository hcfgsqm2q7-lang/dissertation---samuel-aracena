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523"/>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B85042"/>
          </a:solidFill>
          <a:ln/>
        </p:spPr>
      </p:sp>
      <p:sp>
        <p:nvSpPr>
          <p:cNvPr id="3" name="Shape 1"/>
          <p:cNvSpPr/>
          <p:nvPr/>
        </p:nvSpPr>
        <p:spPr>
          <a:xfrm>
            <a:off x="10607040" y="4023360"/>
            <a:ext cx="3108960" cy="3108960"/>
          </a:xfrm>
          <a:prstGeom prst="ellipse">
            <a:avLst/>
          </a:prstGeom>
          <a:solidFill>
            <a:srgbClr val="A7BEAE"/>
          </a:solidFill>
          <a:ln/>
        </p:spPr>
      </p:sp>
      <p:sp>
        <p:nvSpPr>
          <p:cNvPr id="4" name="Text 2"/>
          <p:cNvSpPr/>
          <p:nvPr/>
        </p:nvSpPr>
        <p:spPr>
          <a:xfrm>
            <a:off x="566928" y="1600200"/>
            <a:ext cx="9144000" cy="310896"/>
          </a:xfrm>
          <a:prstGeom prst="rect">
            <a:avLst/>
          </a:prstGeom>
          <a:noFill/>
          <a:ln/>
        </p:spPr>
        <p:txBody>
          <a:bodyPr wrap="square" lIns="0" tIns="0" rIns="0" bIns="0" rtlCol="0" anchor="ctr"/>
          <a:lstStyle/>
          <a:p>
            <a:pPr indent="0" marL="0">
              <a:buNone/>
            </a:pPr>
            <a:r>
              <a:rPr lang="en-US" sz="1300" b="1" spc="250" kern="0" dirty="0">
                <a:solidFill>
                  <a:srgbClr val="A7BEAE"/>
                </a:solidFill>
                <a:latin typeface="Calibri" pitchFamily="34" charset="0"/>
                <a:ea typeface="Calibri" pitchFamily="34" charset="-122"/>
                <a:cs typeface="Calibri" pitchFamily="34" charset="-120"/>
              </a:rPr>
              <a:t>RESPONDING TO THE 2026-09-02 FEEDBACK</a:t>
            </a:r>
            <a:endParaRPr lang="en-US" sz="1300" dirty="0"/>
          </a:p>
        </p:txBody>
      </p:sp>
      <p:sp>
        <p:nvSpPr>
          <p:cNvPr id="5" name="Text 3"/>
          <p:cNvSpPr/>
          <p:nvPr/>
        </p:nvSpPr>
        <p:spPr>
          <a:xfrm>
            <a:off x="566928" y="2057400"/>
            <a:ext cx="9509760" cy="1737360"/>
          </a:xfrm>
          <a:prstGeom prst="rect">
            <a:avLst/>
          </a:prstGeom>
          <a:noFill/>
          <a:ln/>
        </p:spPr>
        <p:txBody>
          <a:bodyPr wrap="square" lIns="0" tIns="0" rIns="0" bIns="0" rtlCol="0" anchor="ctr"/>
          <a:lstStyle/>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Two last checks,</a:t>
            </a:r>
            <a:endParaRPr lang="en-US" sz="3600" dirty="0"/>
          </a:p>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both wrapped up</a:t>
            </a:r>
            <a:endParaRPr lang="en-US" sz="3600" dirty="0"/>
          </a:p>
        </p:txBody>
      </p:sp>
      <p:sp>
        <p:nvSpPr>
          <p:cNvPr id="6" name="Text 4"/>
          <p:cNvSpPr/>
          <p:nvPr/>
        </p:nvSpPr>
        <p:spPr>
          <a:xfrm>
            <a:off x="566928" y="3931920"/>
            <a:ext cx="8778240" cy="822960"/>
          </a:xfrm>
          <a:prstGeom prst="rect">
            <a:avLst/>
          </a:prstGeom>
          <a:noFill/>
          <a:ln/>
        </p:spPr>
        <p:txBody>
          <a:bodyPr wrap="square" lIns="0" tIns="0" rIns="0" bIns="0" rtlCol="0" anchor="ctr"/>
          <a:lstStyle/>
          <a:p>
            <a:pPr indent="0" marL="0">
              <a:lnSpc>
                <a:spcPts val="1900"/>
              </a:lnSpc>
              <a:buNone/>
            </a:pPr>
            <a:r>
              <a:rPr lang="en-US" sz="1400" dirty="0">
                <a:solidFill>
                  <a:srgbClr val="E7E8D1"/>
                </a:solidFill>
                <a:latin typeface="Calibri" pitchFamily="34" charset="0"/>
                <a:ea typeface="Calibri" pitchFamily="34" charset="-122"/>
                <a:cs typeface="Calibri" pitchFamily="34" charset="-120"/>
              </a:rPr>
              <a:t>We ran your top two priorities, district fixed effects and attachment-content bias by topic, exactly as asked, using the data we already had on hand.</a:t>
            </a:r>
            <a:endParaRPr lang="en-US" sz="1400" dirty="0"/>
          </a:p>
        </p:txBody>
      </p:sp>
      <p:sp>
        <p:nvSpPr>
          <p:cNvPr id="7" name="Text 5"/>
          <p:cNvSpPr/>
          <p:nvPr/>
        </p:nvSpPr>
        <p:spPr>
          <a:xfrm>
            <a:off x="566928" y="5943600"/>
            <a:ext cx="8229600" cy="310896"/>
          </a:xfrm>
          <a:prstGeom prst="rect">
            <a:avLst/>
          </a:prstGeom>
          <a:noFill/>
          <a:ln/>
        </p:spPr>
        <p:txBody>
          <a:bodyPr wrap="square" lIns="0" tIns="0" rIns="0" bIns="0" rtlCol="0" anchor="ctr"/>
          <a:lstStyle/>
          <a:p>
            <a:pPr indent="0" marL="0">
              <a:buNone/>
            </a:pPr>
            <a:r>
              <a:rPr lang="en-US" sz="1150" dirty="0">
                <a:solidFill>
                  <a:srgbClr val="7A6E68"/>
                </a:solidFill>
                <a:latin typeface="Calibri" pitchFamily="34" charset="0"/>
                <a:ea typeface="Calibri" pitchFamily="34" charset="-122"/>
                <a:cs typeface="Calibri" pitchFamily="34" charset="-120"/>
              </a:rPr>
              <a:t>Samuel Aracena   ·   MSc Dissertation   ·   Somalia, Admin2 × Month</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2523"/>
        </a:solidFill>
      </p:bgPr>
    </p:bg>
    <p:spTree>
      <p:nvGrpSpPr>
        <p:cNvPr id="1" name=""/>
        <p:cNvGrpSpPr/>
        <p:nvPr/>
      </p:nvGrpSpPr>
      <p:grpSpPr>
        <a:xfrm>
          <a:off x="0" y="0"/>
          <a:ext cx="0" cy="0"/>
          <a:chOff x="0" y="0"/>
          <a:chExt cx="0" cy="0"/>
        </a:xfrm>
      </p:grpSpPr>
      <p:sp>
        <p:nvSpPr>
          <p:cNvPr id="2" name="Shape 0"/>
          <p:cNvSpPr/>
          <p:nvPr/>
        </p:nvSpPr>
        <p:spPr>
          <a:xfrm>
            <a:off x="9235440" y="-1554480"/>
            <a:ext cx="4937760" cy="4937760"/>
          </a:xfrm>
          <a:prstGeom prst="ellipse">
            <a:avLst/>
          </a:prstGeom>
          <a:solidFill>
            <a:srgbClr val="B85042"/>
          </a:solidFill>
          <a:ln/>
        </p:spPr>
      </p:sp>
      <p:sp>
        <p:nvSpPr>
          <p:cNvPr id="3" name="Shape 1"/>
          <p:cNvSpPr/>
          <p:nvPr/>
        </p:nvSpPr>
        <p:spPr>
          <a:xfrm>
            <a:off x="-1280160" y="4206240"/>
            <a:ext cx="3291840" cy="3291840"/>
          </a:xfrm>
          <a:prstGeom prst="ellipse">
            <a:avLst/>
          </a:prstGeom>
          <a:solidFill>
            <a:srgbClr val="A7BEAE"/>
          </a:solidFill>
          <a:ln/>
        </p:spPr>
      </p:sp>
      <p:sp>
        <p:nvSpPr>
          <p:cNvPr id="4" name="Text 2"/>
          <p:cNvSpPr/>
          <p:nvPr/>
        </p:nvSpPr>
        <p:spPr>
          <a:xfrm>
            <a:off x="566928" y="2331720"/>
            <a:ext cx="9144000" cy="310896"/>
          </a:xfrm>
          <a:prstGeom prst="rect">
            <a:avLst/>
          </a:prstGeom>
          <a:noFill/>
          <a:ln/>
        </p:spPr>
        <p:txBody>
          <a:bodyPr wrap="square" lIns="0" tIns="0" rIns="0" bIns="0" rtlCol="0" anchor="ctr"/>
          <a:lstStyle/>
          <a:p>
            <a:pPr indent="0" marL="0">
              <a:buNone/>
            </a:pPr>
            <a:r>
              <a:rPr lang="en-US" sz="1300" b="1" spc="300" kern="0" dirty="0">
                <a:solidFill>
                  <a:srgbClr val="A7BEAE"/>
                </a:solidFill>
                <a:latin typeface="Calibri" pitchFamily="34" charset="0"/>
                <a:ea typeface="Calibri" pitchFamily="34" charset="-122"/>
                <a:cs typeface="Calibri" pitchFamily="34" charset="-120"/>
              </a:rPr>
              <a:t>CHECK 1 · FIRST PRIORITY</a:t>
            </a:r>
            <a:endParaRPr lang="en-US" sz="1300" dirty="0"/>
          </a:p>
        </p:txBody>
      </p:sp>
      <p:sp>
        <p:nvSpPr>
          <p:cNvPr id="5" name="Text 3"/>
          <p:cNvSpPr/>
          <p:nvPr/>
        </p:nvSpPr>
        <p:spPr>
          <a:xfrm>
            <a:off x="566928" y="2743200"/>
            <a:ext cx="10241280" cy="1371600"/>
          </a:xfrm>
          <a:prstGeom prst="rect">
            <a:avLst/>
          </a:prstGeom>
          <a:noFill/>
          <a:ln/>
        </p:spPr>
        <p:txBody>
          <a:bodyPr wrap="square" lIns="0" tIns="0" rIns="0" bIns="0" rtlCol="0" anchor="ctr"/>
          <a:lstStyle/>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The district fixed-effects</a:t>
            </a:r>
            <a:endParaRPr lang="en-US" sz="3000" dirty="0"/>
          </a:p>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robustness model</a:t>
            </a:r>
            <a:endParaRPr lang="en-US" sz="3000" dirty="0"/>
          </a:p>
        </p:txBody>
      </p:sp>
      <p:sp>
        <p:nvSpPr>
          <p:cNvPr id="6" name="Text 4"/>
          <p:cNvSpPr/>
          <p:nvPr/>
        </p:nvSpPr>
        <p:spPr>
          <a:xfrm>
            <a:off x="566928" y="4023360"/>
            <a:ext cx="8961120" cy="1097280"/>
          </a:xfrm>
          <a:prstGeom prst="rect">
            <a:avLst/>
          </a:prstGeom>
          <a:noFill/>
          <a:ln/>
        </p:spPr>
        <p:txBody>
          <a:bodyPr wrap="square" lIns="0" tIns="0" rIns="0" bIns="0" rtlCol="0" anchor="ctr"/>
          <a:lstStyle/>
          <a:p>
            <a:pPr indent="0" marL="0">
              <a:lnSpc>
                <a:spcPts val="1800"/>
              </a:lnSpc>
              <a:buNone/>
            </a:pPr>
            <a:r>
              <a:rPr lang="en-US" sz="1350" dirty="0">
                <a:solidFill>
                  <a:srgbClr val="E7E8D1"/>
                </a:solidFill>
                <a:latin typeface="Calibri" pitchFamily="34" charset="0"/>
                <a:ea typeface="Calibri" pitchFamily="34" charset="-122"/>
                <a:cs typeface="Calibri" pitchFamily="34" charset="-120"/>
              </a:rPr>
              <a:t>Does the conflict-vs-vegetation-stress result hold up once we account for everything permanent about a district, its accessibility, population, NGO presence, political importance, by design?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400" b="1" dirty="0">
                <a:solidFill>
                  <a:srgbClr val="2B2523"/>
                </a:solidFill>
                <a:latin typeface="Cambria" pitchFamily="34" charset="0"/>
                <a:ea typeface="Cambria" pitchFamily="34" charset="-122"/>
                <a:cs typeface="Cambria" pitchFamily="34" charset="-120"/>
              </a:rPr>
              <a:t>What district fixed effects bring to Task 13</a:t>
            </a:r>
            <a:endParaRPr lang="en-US" sz="24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00" i="1" dirty="0">
                <a:solidFill>
                  <a:srgbClr val="7A6E68"/>
                </a:solidFill>
                <a:latin typeface="Calibri" pitchFamily="34" charset="0"/>
                <a:ea typeface="Calibri" pitchFamily="34" charset="-122"/>
                <a:cs typeface="Calibri" pitchFamily="34" charset="-120"/>
              </a:rPr>
              <a:t>Comparing each district to itself over the year, instead of comparing different districts to each other</a:t>
            </a:r>
            <a:endParaRPr lang="en-US" sz="1200" dirty="0"/>
          </a:p>
        </p:txBody>
      </p:sp>
      <p:sp>
        <p:nvSpPr>
          <p:cNvPr id="4" name="Shape 2"/>
          <p:cNvSpPr/>
          <p:nvPr/>
        </p:nvSpPr>
        <p:spPr>
          <a:xfrm>
            <a:off x="566928" y="1371600"/>
            <a:ext cx="11027664" cy="1417320"/>
          </a:xfrm>
          <a:prstGeom prst="roundRect">
            <a:avLst>
              <a:gd name="adj" fmla="val 3871"/>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786384" y="1517904"/>
            <a:ext cx="91440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Why clustered standard errors alone don't cut it</a:t>
            </a:r>
            <a:endParaRPr lang="en-US" sz="1350" dirty="0"/>
          </a:p>
        </p:txBody>
      </p:sp>
      <p:sp>
        <p:nvSpPr>
          <p:cNvPr id="6" name="Text 4"/>
          <p:cNvSpPr/>
          <p:nvPr/>
        </p:nvSpPr>
        <p:spPr>
          <a:xfrm>
            <a:off x="786384" y="1810512"/>
            <a:ext cx="10588752" cy="914400"/>
          </a:xfrm>
          <a:prstGeom prst="rect">
            <a:avLst/>
          </a:prstGeom>
          <a:noFill/>
          <a:ln/>
        </p:spPr>
        <p:txBody>
          <a:bodyPr wrap="square" lIns="0" tIns="0" rIns="0" bIns="0" rtlCol="0" anchor="ctr"/>
          <a:lstStyle/>
          <a:p>
            <a:pPr indent="0" marL="0">
              <a:lnSpc>
                <a:spcPts val="1450"/>
              </a:lnSpc>
              <a:buNone/>
            </a:pPr>
            <a:r>
              <a:rPr lang="en-US" sz="1100" dirty="0">
                <a:solidFill>
                  <a:srgbClr val="7A6E68"/>
                </a:solidFill>
                <a:latin typeface="Calibri" pitchFamily="34" charset="0"/>
                <a:ea typeface="Calibri" pitchFamily="34" charset="-122"/>
                <a:cs typeface="Calibri" pitchFamily="34" charset="-120"/>
              </a:rPr>
              <a:t>Task 13's clustered standard errors fix the problem of counting 12 correlated monthly rows per district as if they were independent. What they don't fix is a district's own permanent traits, how accessible it is, its population, whether NGOs are already based there, any of which could drive both its conflict level and its reporting level without one actually causing the other. Fixed effects take care of exactly that: anything that stays the same about a district month to month gets automatically controlled for, measured or not.</a:t>
            </a:r>
            <a:endParaRPr lang="en-US" sz="1100" dirty="0"/>
          </a:p>
        </p:txBody>
      </p:sp>
      <p:sp>
        <p:nvSpPr>
          <p:cNvPr id="7" name="Shape 5"/>
          <p:cNvSpPr/>
          <p:nvPr/>
        </p:nvSpPr>
        <p:spPr>
          <a:xfrm>
            <a:off x="566928" y="2926080"/>
            <a:ext cx="11027664" cy="960120"/>
          </a:xfrm>
          <a:prstGeom prst="roundRect">
            <a:avLst>
              <a:gd name="adj" fmla="val 5714"/>
            </a:avLst>
          </a:prstGeom>
          <a:solidFill>
            <a:srgbClr val="2B2523"/>
          </a:solidFill>
          <a:ln/>
          <a:effectLst>
            <a:outerShdw sx="100000" sy="100000" kx="0" ky="0" algn="bl" rotWithShape="0" blurRad="76200" dist="381" dir="5400000">
              <a:srgbClr val="000000">
                <a:alpha val="8000"/>
              </a:srgbClr>
            </a:outerShdw>
          </a:effectLst>
        </p:spPr>
      </p:sp>
      <p:sp>
        <p:nvSpPr>
          <p:cNvPr id="8" name="Text 6"/>
          <p:cNvSpPr/>
          <p:nvPr/>
        </p:nvSpPr>
        <p:spPr>
          <a:xfrm>
            <a:off x="786384" y="3072384"/>
            <a:ext cx="9144000" cy="365760"/>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reports ~ conflict_z + vhi_stress_z + C(month) + C(district)</a:t>
            </a:r>
            <a:endParaRPr lang="en-US" sz="1450" dirty="0"/>
          </a:p>
        </p:txBody>
      </p:sp>
      <p:sp>
        <p:nvSpPr>
          <p:cNvPr id="9" name="Text 7"/>
          <p:cNvSpPr/>
          <p:nvPr/>
        </p:nvSpPr>
        <p:spPr>
          <a:xfrm>
            <a:off x="786384" y="3493008"/>
            <a:ext cx="10588752" cy="365760"/>
          </a:xfrm>
          <a:prstGeom prst="rect">
            <a:avLst/>
          </a:prstGeom>
          <a:noFill/>
          <a:ln/>
        </p:spPr>
        <p:txBody>
          <a:bodyPr wrap="square" lIns="0" tIns="0" rIns="0" bIns="0" rtlCol="0" anchor="ctr"/>
          <a:lstStyle/>
          <a:p>
            <a:pPr indent="0" marL="0">
              <a:lnSpc>
                <a:spcPts val="1350"/>
              </a:lnSpc>
              <a:buNone/>
            </a:pPr>
            <a:r>
              <a:rPr lang="en-US" sz="1050" dirty="0">
                <a:solidFill>
                  <a:srgbClr val="E7E8D1"/>
                </a:solidFill>
                <a:latin typeface="Calibri" pitchFamily="34" charset="0"/>
                <a:ea typeface="Calibri" pitchFamily="34" charset="-122"/>
                <a:cs typeface="Calibri" pitchFamily="34" charset="-120"/>
              </a:rPr>
              <a:t>Everything else stays exactly like Task 13: same standardised predictors, same Banadir exclusion (876 rows, 73 districts), same cluster-robust standard errors on top. The only new addition is C(district).</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4069080"/>
          <a:ext cx="11027664" cy="914400"/>
        </p:xfrm>
        <a:graphic>
          <a:graphicData uri="http://schemas.openxmlformats.org/drawingml/2006/table">
            <a:tbl>
              <a:tblPr/>
              <a:tblGrid>
                <a:gridCol w="3017520"/>
                <a:gridCol w="4005072"/>
                <a:gridCol w="4005072"/>
              </a:tblGrid>
              <a:tr h="438912">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Task 13 (cluster-robust only)</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This check (district fixed effects)</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438912">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Conflict IRR</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1.69, 95% CI [1.42, 2.01], p &lt; 0.0001</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b="1" dirty="0">
                          <a:solidFill>
                            <a:srgbClr val="B85042"/>
                          </a:solidFill>
                          <a:latin typeface="Calibri" pitchFamily="34" charset="0"/>
                          <a:ea typeface="Calibri" pitchFamily="34" charset="-122"/>
                          <a:cs typeface="Calibri" pitchFamily="34" charset="-120"/>
                        </a:rPr>
                        <a:t>1.02, 95% CI [0.95, 1.10], p = 0.61</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438912">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Vegetation-stress IRR</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1.00, not significant</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1.08, 95% CI [0.97, 1.20], p = 0.16</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438912">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Effect-size comparison (Wald)</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chi2 = 9.04, p = 0.0026</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b="1" dirty="0">
                          <a:solidFill>
                            <a:srgbClr val="B85042"/>
                          </a:solidFill>
                          <a:latin typeface="Calibri" pitchFamily="34" charset="0"/>
                          <a:ea typeface="Calibri" pitchFamily="34" charset="-122"/>
                          <a:cs typeface="Calibri" pitchFamily="34" charset="-120"/>
                        </a:rPr>
                        <a:t>chi2 = 0.81, p = 0.37</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11" name="Text 8"/>
          <p:cNvSpPr/>
          <p:nvPr/>
        </p:nvSpPr>
        <p:spPr>
          <a:xfrm>
            <a:off x="566928" y="6016752"/>
            <a:ext cx="11027664" cy="365760"/>
          </a:xfrm>
          <a:prstGeom prst="rect">
            <a:avLst/>
          </a:prstGeom>
          <a:noFill/>
          <a:ln/>
        </p:spPr>
        <p:txBody>
          <a:bodyPr wrap="square" lIns="0" tIns="0" rIns="0" bIns="0" rtlCol="0" anchor="ctr"/>
          <a:lstStyle/>
          <a:p>
            <a:pPr indent="0" marL="0">
              <a:lnSpc>
                <a:spcPts val="1250"/>
              </a:lnSpc>
              <a:buNone/>
            </a:pPr>
            <a:r>
              <a:rPr lang="en-US" sz="1000" i="1" dirty="0">
                <a:solidFill>
                  <a:srgbClr val="7A6E68"/>
                </a:solidFill>
                <a:latin typeface="Calibri" pitchFamily="34" charset="0"/>
                <a:ea typeface="Calibri" pitchFamily="34" charset="-122"/>
                <a:cs typeface="Calibri" pitchFamily="34" charset="-120"/>
              </a:rPr>
              <a:t>Fitting 73 extra district dummies needed a different optimiser (L-BFGS) than the one used elsewhere in the notebook, but we double-checked it holds up: three separate optimisers all landed on the same answer.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400" b="1" dirty="0">
                <a:solidFill>
                  <a:srgbClr val="2B2523"/>
                </a:solidFill>
                <a:latin typeface="Cambria" pitchFamily="34" charset="0"/>
                <a:ea typeface="Cambria" pitchFamily="34" charset="-122"/>
                <a:cs typeface="Cambria" pitchFamily="34" charset="-120"/>
              </a:rPr>
              <a:t>Why the conflict effect shrank, and what that does (and doesn't) tell us</a:t>
            </a:r>
            <a:endParaRPr lang="en-US" sz="2400" dirty="0"/>
          </a:p>
        </p:txBody>
      </p:sp>
      <p:sp>
        <p:nvSpPr>
          <p:cNvPr id="3" name="Shape 1"/>
          <p:cNvSpPr/>
          <p:nvPr/>
        </p:nvSpPr>
        <p:spPr>
          <a:xfrm>
            <a:off x="566928" y="1371600"/>
            <a:ext cx="11027664" cy="1920240"/>
          </a:xfrm>
          <a:prstGeom prst="roundRect">
            <a:avLst>
              <a:gd name="adj" fmla="val 2857"/>
            </a:avLst>
          </a:prstGeom>
          <a:solidFill>
            <a:srgbClr val="F7F5F1"/>
          </a:solidFill>
          <a:ln/>
          <a:effectLst>
            <a:outerShdw sx="100000" sy="100000" kx="0" ky="0" algn="bl" rotWithShape="0" blurRad="76200" dist="381" dir="5400000">
              <a:srgbClr val="000000">
                <a:alpha val="8000"/>
              </a:srgbClr>
            </a:outerShdw>
          </a:effectLst>
        </p:spPr>
      </p:sp>
      <p:sp>
        <p:nvSpPr>
          <p:cNvPr id="4" name="Text 2"/>
          <p:cNvSpPr/>
          <p:nvPr/>
        </p:nvSpPr>
        <p:spPr>
          <a:xfrm>
            <a:off x="786384" y="1517904"/>
            <a:ext cx="91440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The simple reason: conflict barely changes within a district</a:t>
            </a:r>
            <a:endParaRPr lang="en-US" sz="1350" dirty="0"/>
          </a:p>
        </p:txBody>
      </p:sp>
      <p:sp>
        <p:nvSpPr>
          <p:cNvPr id="5" name="Shape 3"/>
          <p:cNvSpPr/>
          <p:nvPr/>
        </p:nvSpPr>
        <p:spPr>
          <a:xfrm>
            <a:off x="786384" y="1828800"/>
            <a:ext cx="5120640" cy="1325880"/>
          </a:xfrm>
          <a:prstGeom prst="roundRect">
            <a:avLst>
              <a:gd name="adj" fmla="val 4138"/>
            </a:avLst>
          </a:prstGeom>
          <a:solidFill>
            <a:srgbClr val="F7F5F1"/>
          </a:solidFill>
          <a:ln/>
          <a:effectLst>
            <a:outerShdw sx="100000" sy="100000" kx="0" ky="0" algn="bl" rotWithShape="0" blurRad="76200" dist="381" dir="5400000">
              <a:srgbClr val="000000">
                <a:alpha val="8000"/>
              </a:srgbClr>
            </a:outerShdw>
          </a:effectLst>
        </p:spPr>
      </p:sp>
      <p:sp>
        <p:nvSpPr>
          <p:cNvPr id="6" name="Text 4"/>
          <p:cNvSpPr/>
          <p:nvPr/>
        </p:nvSpPr>
        <p:spPr>
          <a:xfrm>
            <a:off x="987552" y="1938528"/>
            <a:ext cx="4718304" cy="662940"/>
          </a:xfrm>
          <a:prstGeom prst="rect">
            <a:avLst/>
          </a:prstGeom>
          <a:noFill/>
          <a:ln/>
        </p:spPr>
        <p:txBody>
          <a:bodyPr wrap="square" lIns="0" tIns="0" rIns="0" bIns="0" rtlCol="0" anchor="ctr"/>
          <a:lstStyle/>
          <a:p>
            <a:pPr indent="0" marL="0">
              <a:buNone/>
            </a:pPr>
            <a:r>
              <a:rPr lang="en-US" sz="2700" b="1" dirty="0">
                <a:solidFill>
                  <a:srgbClr val="B85042"/>
                </a:solidFill>
                <a:latin typeface="Cambria" pitchFamily="34" charset="0"/>
                <a:ea typeface="Cambria" pitchFamily="34" charset="-122"/>
                <a:cs typeface="Cambria" pitchFamily="34" charset="-120"/>
              </a:rPr>
              <a:t>70.4%</a:t>
            </a:r>
            <a:endParaRPr lang="en-US" sz="2700" dirty="0"/>
          </a:p>
        </p:txBody>
      </p:sp>
      <p:sp>
        <p:nvSpPr>
          <p:cNvPr id="7" name="Text 5"/>
          <p:cNvSpPr/>
          <p:nvPr/>
        </p:nvSpPr>
        <p:spPr>
          <a:xfrm>
            <a:off x="987552" y="2544775"/>
            <a:ext cx="4718304" cy="556870"/>
          </a:xfrm>
          <a:prstGeom prst="rect">
            <a:avLst/>
          </a:prstGeom>
          <a:noFill/>
          <a:ln/>
        </p:spPr>
        <p:txBody>
          <a:bodyPr wrap="square" lIns="0" tIns="0" rIns="0" bIns="0" rtlCol="0" anchor="ctr"/>
          <a:lstStyle/>
          <a:p>
            <a:pPr indent="0" marL="0">
              <a:lnSpc>
                <a:spcPts val="1250"/>
              </a:lnSpc>
              <a:buNone/>
            </a:pPr>
            <a:r>
              <a:rPr lang="en-US" sz="1030" dirty="0">
                <a:solidFill>
                  <a:srgbClr val="7A6E68"/>
                </a:solidFill>
                <a:latin typeface="Calibri" pitchFamily="34" charset="0"/>
                <a:ea typeface="Calibri" pitchFamily="34" charset="-122"/>
                <a:cs typeface="Calibri" pitchFamily="34" charset="-120"/>
              </a:rPr>
              <a:t>of conflict's variation happens between districts, basically a fixed fact about the place</a:t>
            </a:r>
            <a:endParaRPr lang="en-US" sz="1030" dirty="0"/>
          </a:p>
        </p:txBody>
      </p:sp>
      <p:sp>
        <p:nvSpPr>
          <p:cNvPr id="8" name="Shape 6"/>
          <p:cNvSpPr/>
          <p:nvPr/>
        </p:nvSpPr>
        <p:spPr>
          <a:xfrm>
            <a:off x="6135624" y="1828800"/>
            <a:ext cx="5120640" cy="1325880"/>
          </a:xfrm>
          <a:prstGeom prst="roundRect">
            <a:avLst>
              <a:gd name="adj" fmla="val 4138"/>
            </a:avLst>
          </a:prstGeom>
          <a:solidFill>
            <a:srgbClr val="F7F5F1"/>
          </a:solidFill>
          <a:ln/>
          <a:effectLst>
            <a:outerShdw sx="100000" sy="100000" kx="0" ky="0" algn="bl" rotWithShape="0" blurRad="76200" dist="381" dir="5400000">
              <a:srgbClr val="000000">
                <a:alpha val="8000"/>
              </a:srgbClr>
            </a:outerShdw>
          </a:effectLst>
        </p:spPr>
      </p:sp>
      <p:sp>
        <p:nvSpPr>
          <p:cNvPr id="9" name="Text 7"/>
          <p:cNvSpPr/>
          <p:nvPr/>
        </p:nvSpPr>
        <p:spPr>
          <a:xfrm>
            <a:off x="6336792" y="1938528"/>
            <a:ext cx="4718304" cy="662940"/>
          </a:xfrm>
          <a:prstGeom prst="rect">
            <a:avLst/>
          </a:prstGeom>
          <a:noFill/>
          <a:ln/>
        </p:spPr>
        <p:txBody>
          <a:bodyPr wrap="square" lIns="0" tIns="0" rIns="0" bIns="0" rtlCol="0" anchor="ctr"/>
          <a:lstStyle/>
          <a:p>
            <a:pPr indent="0" marL="0">
              <a:buNone/>
            </a:pPr>
            <a:r>
              <a:rPr lang="en-US" sz="2700" b="1" dirty="0">
                <a:solidFill>
                  <a:srgbClr val="B85042"/>
                </a:solidFill>
                <a:latin typeface="Cambria" pitchFamily="34" charset="0"/>
                <a:ea typeface="Cambria" pitchFamily="34" charset="-122"/>
                <a:cs typeface="Cambria" pitchFamily="34" charset="-120"/>
              </a:rPr>
              <a:t>29.6%</a:t>
            </a:r>
            <a:endParaRPr lang="en-US" sz="2700" dirty="0"/>
          </a:p>
        </p:txBody>
      </p:sp>
      <p:sp>
        <p:nvSpPr>
          <p:cNvPr id="10" name="Text 8"/>
          <p:cNvSpPr/>
          <p:nvPr/>
        </p:nvSpPr>
        <p:spPr>
          <a:xfrm>
            <a:off x="6336792" y="2544775"/>
            <a:ext cx="4718304" cy="556870"/>
          </a:xfrm>
          <a:prstGeom prst="rect">
            <a:avLst/>
          </a:prstGeom>
          <a:noFill/>
          <a:ln/>
        </p:spPr>
        <p:txBody>
          <a:bodyPr wrap="square" lIns="0" tIns="0" rIns="0" bIns="0" rtlCol="0" anchor="ctr"/>
          <a:lstStyle/>
          <a:p>
            <a:pPr indent="0" marL="0">
              <a:lnSpc>
                <a:spcPts val="1250"/>
              </a:lnSpc>
              <a:buNone/>
            </a:pPr>
            <a:r>
              <a:rPr lang="en-US" sz="1030" dirty="0">
                <a:solidFill>
                  <a:srgbClr val="7A6E68"/>
                </a:solidFill>
                <a:latin typeface="Calibri" pitchFamily="34" charset="0"/>
                <a:ea typeface="Calibri" pitchFamily="34" charset="-122"/>
                <a:cs typeface="Calibri" pitchFamily="34" charset="-120"/>
              </a:rPr>
              <a:t>happens within a district over the year, its own ups and downs month to month</a:t>
            </a:r>
            <a:endParaRPr lang="en-US" sz="1030" dirty="0"/>
          </a:p>
        </p:txBody>
      </p:sp>
      <p:sp>
        <p:nvSpPr>
          <p:cNvPr id="11" name="Shape 9"/>
          <p:cNvSpPr/>
          <p:nvPr/>
        </p:nvSpPr>
        <p:spPr>
          <a:xfrm>
            <a:off x="566928" y="3429000"/>
            <a:ext cx="11027664" cy="1234440"/>
          </a:xfrm>
          <a:prstGeom prst="roundRect">
            <a:avLst>
              <a:gd name="adj" fmla="val 4444"/>
            </a:avLst>
          </a:prstGeom>
          <a:solidFill>
            <a:srgbClr val="2B2523"/>
          </a:solidFill>
          <a:ln/>
          <a:effectLst>
            <a:outerShdw sx="100000" sy="100000" kx="0" ky="0" algn="bl" rotWithShape="0" blurRad="76200" dist="381" dir="5400000">
              <a:srgbClr val="000000">
                <a:alpha val="8000"/>
              </a:srgbClr>
            </a:outerShdw>
          </a:effectLst>
        </p:spPr>
      </p:sp>
      <p:sp>
        <p:nvSpPr>
          <p:cNvPr id="12" name="Text 10"/>
          <p:cNvSpPr/>
          <p:nvPr/>
        </p:nvSpPr>
        <p:spPr>
          <a:xfrm>
            <a:off x="786384" y="3566160"/>
            <a:ext cx="10588752" cy="960120"/>
          </a:xfrm>
          <a:prstGeom prst="rect">
            <a:avLst/>
          </a:prstGeom>
          <a:noFill/>
          <a:ln/>
        </p:spPr>
        <p:txBody>
          <a:bodyPr wrap="square" lIns="0" tIns="0" rIns="0" bIns="0" rtlCol="0" anchor="ctr"/>
          <a:lstStyle/>
          <a:p>
            <a:pPr indent="0" marL="0">
              <a:lnSpc>
                <a:spcPts val="1450"/>
              </a:lnSpc>
              <a:buNone/>
            </a:pPr>
            <a:r>
              <a:rPr lang="en-US" sz="1100" dirty="0">
                <a:solidFill>
                  <a:srgbClr val="E7E8D1"/>
                </a:solidFill>
                <a:latin typeface="Calibri" pitchFamily="34" charset="0"/>
                <a:ea typeface="Calibri" pitchFamily="34" charset="-122"/>
                <a:cs typeface="Calibri" pitchFamily="34" charset="-120"/>
              </a:rPr>
              <a:t>Fixed effects wipe out all between-district comparison by design, so they can only pick up on the within-district share of what's happening. Conflict just doesn't have much of that to work with. Vegetation stress is basically the opposite story (78.9% within, 21.1% between), which is why its number barely budged.</a:t>
            </a:r>
            <a:endParaRPr lang="en-US" sz="1100" dirty="0"/>
          </a:p>
        </p:txBody>
      </p:sp>
      <p:sp>
        <p:nvSpPr>
          <p:cNvPr id="13" name="Shape 11"/>
          <p:cNvSpPr/>
          <p:nvPr/>
        </p:nvSpPr>
        <p:spPr>
          <a:xfrm>
            <a:off x="566928" y="4800600"/>
            <a:ext cx="11027664" cy="1143000"/>
          </a:xfrm>
          <a:prstGeom prst="roundRect">
            <a:avLst>
              <a:gd name="adj" fmla="val 4800"/>
            </a:avLst>
          </a:prstGeom>
          <a:solidFill>
            <a:srgbClr val="E7E8D1"/>
          </a:solidFill>
          <a:ln/>
          <a:effectLst>
            <a:outerShdw sx="100000" sy="100000" kx="0" ky="0" algn="bl" rotWithShape="0" blurRad="76200" dist="381" dir="5400000">
              <a:srgbClr val="000000">
                <a:alpha val="8000"/>
              </a:srgbClr>
            </a:outerShdw>
          </a:effectLst>
        </p:spPr>
      </p:sp>
      <p:sp>
        <p:nvSpPr>
          <p:cNvPr id="14" name="Text 12"/>
          <p:cNvSpPr/>
          <p:nvPr/>
        </p:nvSpPr>
        <p:spPr>
          <a:xfrm>
            <a:off x="786384" y="4919472"/>
            <a:ext cx="10588752" cy="960120"/>
          </a:xfrm>
          <a:prstGeom prst="rect">
            <a:avLst/>
          </a:prstGeom>
          <a:noFill/>
          <a:ln/>
        </p:spPr>
        <p:txBody>
          <a:bodyPr wrap="square" lIns="0" tIns="0" rIns="0" bIns="0" rtlCol="0" anchor="ctr"/>
          <a:lstStyle/>
          <a:p>
            <a:pPr indent="0" marL="0">
              <a:lnSpc>
                <a:spcPts val="1350"/>
              </a:lnSpc>
              <a:buNone/>
            </a:pPr>
            <a:r>
              <a:rPr lang="en-US" sz="1050" dirty="0">
                <a:solidFill>
                  <a:srgbClr val="B85042"/>
                </a:solidFill>
                <a:latin typeface="Calibri" pitchFamily="34" charset="0"/>
                <a:ea typeface="Calibri" pitchFamily="34" charset="-122"/>
                <a:cs typeface="Calibri" pitchFamily="34" charset="-120"/>
              </a:rPr>
              <a:t>This doesn't mean Task 13's result was wrong. It means it was largely, maybe mostly, a between-district pattern, exactly the kind of thing unmeasured, persistent district traits could also explain. The evidence that a district's own conflict spikes drive its own reporting spikes is weak and not statistically significant, though the confidence interval (0.95 to 1.10) still leaves room for a real effect this design just doesn't have the power to catch from only 12 months per district.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2523"/>
        </a:solidFill>
      </p:bgPr>
    </p:bg>
    <p:spTree>
      <p:nvGrpSpPr>
        <p:cNvPr id="1" name=""/>
        <p:cNvGrpSpPr/>
        <p:nvPr/>
      </p:nvGrpSpPr>
      <p:grpSpPr>
        <a:xfrm>
          <a:off x="0" y="0"/>
          <a:ext cx="0" cy="0"/>
          <a:chOff x="0" y="0"/>
          <a:chExt cx="0" cy="0"/>
        </a:xfrm>
      </p:grpSpPr>
      <p:sp>
        <p:nvSpPr>
          <p:cNvPr id="2" name="Shape 0"/>
          <p:cNvSpPr/>
          <p:nvPr/>
        </p:nvSpPr>
        <p:spPr>
          <a:xfrm>
            <a:off x="9235440" y="-1554480"/>
            <a:ext cx="4937760" cy="4937760"/>
          </a:xfrm>
          <a:prstGeom prst="ellipse">
            <a:avLst/>
          </a:prstGeom>
          <a:solidFill>
            <a:srgbClr val="A7BEAE"/>
          </a:solidFill>
          <a:ln/>
        </p:spPr>
      </p:sp>
      <p:sp>
        <p:nvSpPr>
          <p:cNvPr id="3" name="Shape 1"/>
          <p:cNvSpPr/>
          <p:nvPr/>
        </p:nvSpPr>
        <p:spPr>
          <a:xfrm>
            <a:off x="-1280160" y="4206240"/>
            <a:ext cx="3291840" cy="3291840"/>
          </a:xfrm>
          <a:prstGeom prst="ellipse">
            <a:avLst/>
          </a:prstGeom>
          <a:solidFill>
            <a:srgbClr val="A7BEAE"/>
          </a:solidFill>
          <a:ln/>
        </p:spPr>
      </p:sp>
      <p:sp>
        <p:nvSpPr>
          <p:cNvPr id="4" name="Text 2"/>
          <p:cNvSpPr/>
          <p:nvPr/>
        </p:nvSpPr>
        <p:spPr>
          <a:xfrm>
            <a:off x="566928" y="2331720"/>
            <a:ext cx="9144000" cy="310896"/>
          </a:xfrm>
          <a:prstGeom prst="rect">
            <a:avLst/>
          </a:prstGeom>
          <a:noFill/>
          <a:ln/>
        </p:spPr>
        <p:txBody>
          <a:bodyPr wrap="square" lIns="0" tIns="0" rIns="0" bIns="0" rtlCol="0" anchor="ctr"/>
          <a:lstStyle/>
          <a:p>
            <a:pPr indent="0" marL="0">
              <a:buNone/>
            </a:pPr>
            <a:r>
              <a:rPr lang="en-US" sz="1300" b="1" spc="300" kern="0" dirty="0">
                <a:solidFill>
                  <a:srgbClr val="A7BEAE"/>
                </a:solidFill>
                <a:latin typeface="Calibri" pitchFamily="34" charset="0"/>
                <a:ea typeface="Calibri" pitchFamily="34" charset="-122"/>
                <a:cs typeface="Calibri" pitchFamily="34" charset="-120"/>
              </a:rPr>
              <a:t>CHECK 2 · SECOND PRIORITY</a:t>
            </a:r>
            <a:endParaRPr lang="en-US" sz="1300" dirty="0"/>
          </a:p>
        </p:txBody>
      </p:sp>
      <p:sp>
        <p:nvSpPr>
          <p:cNvPr id="5" name="Text 3"/>
          <p:cNvSpPr/>
          <p:nvPr/>
        </p:nvSpPr>
        <p:spPr>
          <a:xfrm>
            <a:off x="566928" y="2743200"/>
            <a:ext cx="10241280" cy="1371600"/>
          </a:xfrm>
          <a:prstGeom prst="rect">
            <a:avLst/>
          </a:prstGeom>
          <a:noFill/>
          <a:ln/>
        </p:spPr>
        <p:txBody>
          <a:bodyPr wrap="square" lIns="0" tIns="0" rIns="0" bIns="0" rtlCol="0" anchor="ctr"/>
          <a:lstStyle/>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Attachment-content bias</a:t>
            </a:r>
            <a:endParaRPr lang="en-US" sz="3000" dirty="0"/>
          </a:p>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by report topic</a:t>
            </a:r>
            <a:endParaRPr lang="en-US" sz="3000" dirty="0"/>
          </a:p>
        </p:txBody>
      </p:sp>
      <p:sp>
        <p:nvSpPr>
          <p:cNvPr id="6" name="Text 4"/>
          <p:cNvSpPr/>
          <p:nvPr/>
        </p:nvSpPr>
        <p:spPr>
          <a:xfrm>
            <a:off x="566928" y="4023360"/>
            <a:ext cx="8961120" cy="1097280"/>
          </a:xfrm>
          <a:prstGeom prst="rect">
            <a:avLst/>
          </a:prstGeom>
          <a:noFill/>
          <a:ln/>
        </p:spPr>
        <p:txBody>
          <a:bodyPr wrap="square" lIns="0" tIns="0" rIns="0" bIns="0" rtlCol="0" anchor="ctr"/>
          <a:lstStyle/>
          <a:p>
            <a:pPr indent="0" marL="0">
              <a:lnSpc>
                <a:spcPts val="1800"/>
              </a:lnSpc>
              <a:buNone/>
            </a:pPr>
            <a:r>
              <a:rPr lang="en-US" sz="1350" dirty="0">
                <a:solidFill>
                  <a:srgbClr val="E7E8D1"/>
                </a:solidFill>
                <a:latin typeface="Calibri" pitchFamily="34" charset="0"/>
                <a:ea typeface="Calibri" pitchFamily="34" charset="-122"/>
                <a:cs typeface="Calibri" pitchFamily="34" charset="-120"/>
              </a:rPr>
              <a:t>Geographic detail getting trapped in attachments is already known to be the main reason our geoparser misses things, but is it more common for one kind of report than another?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400" b="1" dirty="0">
                <a:solidFill>
                  <a:srgbClr val="2B2523"/>
                </a:solidFill>
                <a:latin typeface="Cambria" pitchFamily="34" charset="0"/>
                <a:ea typeface="Cambria" pitchFamily="34" charset="-122"/>
                <a:cs typeface="Cambria" pitchFamily="34" charset="-120"/>
              </a:rPr>
              <a:t>Does geography hide in attachments more for one topic than another?</a:t>
            </a:r>
            <a:endParaRPr lang="en-US" sz="2400" dirty="0"/>
          </a:p>
        </p:txBody>
      </p:sp>
      <p:sp>
        <p:nvSpPr>
          <p:cNvPr id="3" name="Text 1"/>
          <p:cNvSpPr/>
          <p:nvPr/>
        </p:nvSpPr>
        <p:spPr>
          <a:xfrm>
            <a:off x="566928" y="969264"/>
            <a:ext cx="11027664" cy="310896"/>
          </a:xfrm>
          <a:prstGeom prst="rect">
            <a:avLst/>
          </a:prstGeom>
          <a:noFill/>
          <a:ln/>
        </p:spPr>
        <p:txBody>
          <a:bodyPr wrap="square" lIns="0" tIns="0" rIns="0" bIns="0" rtlCol="0" anchor="ctr"/>
          <a:lstStyle/>
          <a:p>
            <a:pPr indent="0" marL="0">
              <a:buNone/>
            </a:pPr>
            <a:r>
              <a:rPr lang="en-US" sz="1200" i="1" dirty="0">
                <a:solidFill>
                  <a:srgbClr val="7A6E68"/>
                </a:solidFill>
                <a:latin typeface="Calibri" pitchFamily="34" charset="0"/>
                <a:ea typeface="Calibri" pitchFamily="34" charset="-122"/>
                <a:cs typeface="Calibri" pitchFamily="34" charset="-120"/>
              </a:rPr>
              <a:t>Using the same 100-report sample we already hand-checked for Task 17, no new labelling needed</a:t>
            </a:r>
            <a:endParaRPr lang="en-US" sz="1200" dirty="0"/>
          </a:p>
        </p:txBody>
      </p:sp>
      <p:sp>
        <p:nvSpPr>
          <p:cNvPr id="4" name="Shape 2"/>
          <p:cNvSpPr/>
          <p:nvPr/>
        </p:nvSpPr>
        <p:spPr>
          <a:xfrm>
            <a:off x="566928" y="1371600"/>
            <a:ext cx="11027664" cy="1691640"/>
          </a:xfrm>
          <a:prstGeom prst="roundRect">
            <a:avLst>
              <a:gd name="adj" fmla="val 3243"/>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786384" y="1517904"/>
            <a:ext cx="91440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A question that could go either way</a:t>
            </a:r>
            <a:endParaRPr lang="en-US" sz="1350" dirty="0"/>
          </a:p>
        </p:txBody>
      </p:sp>
      <p:sp>
        <p:nvSpPr>
          <p:cNvPr id="6" name="Text 4"/>
          <p:cNvSpPr/>
          <p:nvPr/>
        </p:nvSpPr>
        <p:spPr>
          <a:xfrm>
            <a:off x="786384" y="1810512"/>
            <a:ext cx="10588752" cy="868680"/>
          </a:xfrm>
          <a:prstGeom prst="rect">
            <a:avLst/>
          </a:prstGeom>
          <a:noFill/>
          <a:ln/>
        </p:spPr>
        <p:txBody>
          <a:bodyPr wrap="square" lIns="0" tIns="0" rIns="0" bIns="0" rtlCol="0" anchor="ctr"/>
          <a:lstStyle/>
          <a:p>
            <a:pPr indent="0" marL="0">
              <a:lnSpc>
                <a:spcPts val="1450"/>
              </a:lnSpc>
              <a:buNone/>
            </a:pPr>
            <a:r>
              <a:rPr lang="en-US" sz="1100" dirty="0">
                <a:solidFill>
                  <a:srgbClr val="7A6E68"/>
                </a:solidFill>
                <a:latin typeface="Calibri" pitchFamily="34" charset="0"/>
                <a:ea typeface="Calibri" pitchFamily="34" charset="-122"/>
                <a:cs typeface="Calibri" pitchFamily="34" charset="-120"/>
              </a:rPr>
              <a:t>If climate or food reports trap their geography in attachments more often than conflict reports do, that gives us an alternative explanation for part of Tasks 13-15's finding, one that has nothing to do with attention: vegetation stress might be getting just as much genuine attention, it's just that more of it is invisible to a text-only geoparser. If both topics trap geography at similar rates, we can rule that out.</a:t>
            </a:r>
            <a:endParaRPr lang="en-US" sz="1100" dirty="0"/>
          </a:p>
        </p:txBody>
      </p:sp>
      <p:sp>
        <p:nvSpPr>
          <p:cNvPr id="7" name="Text 5"/>
          <p:cNvSpPr/>
          <p:nvPr/>
        </p:nvSpPr>
        <p:spPr>
          <a:xfrm>
            <a:off x="786384" y="2606040"/>
            <a:ext cx="10588752" cy="411480"/>
          </a:xfrm>
          <a:prstGeom prst="rect">
            <a:avLst/>
          </a:prstGeom>
          <a:noFill/>
          <a:ln/>
        </p:spPr>
        <p:txBody>
          <a:bodyPr wrap="square" lIns="0" tIns="0" rIns="0" bIns="0" rtlCol="0" anchor="ctr"/>
          <a:lstStyle/>
          <a:p>
            <a:pPr indent="0" marL="0">
              <a:lnSpc>
                <a:spcPts val="1250"/>
              </a:lnSpc>
              <a:buNone/>
            </a:pPr>
            <a:r>
              <a:rPr lang="en-US" sz="970" i="1" dirty="0">
                <a:solidFill>
                  <a:srgbClr val="7A6E68"/>
                </a:solidFill>
                <a:latin typeface="Calibri" pitchFamily="34" charset="0"/>
                <a:ea typeface="Calibri" pitchFamily="34" charset="-122"/>
                <a:cs typeface="Calibri" pitchFamily="34" charset="-120"/>
              </a:rPr>
              <a:t>How we did it: check whether each genuinely-covered district's name actually shows up anywhere in the exported text, then sort each report as conflict-related or climate/food-related using ReliefWeb's own theme tags (there's no dedicated "Conflict" theme, so Protection and Human Rights / Safety and Security / Peacekeeping and Peacebuilding stand in for it).</a:t>
            </a:r>
            <a:endParaRPr lang="en-US" sz="97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3246120"/>
          <a:ext cx="11027664" cy="914400"/>
        </p:xfrm>
        <a:graphic>
          <a:graphicData uri="http://schemas.openxmlformats.org/drawingml/2006/table">
            <a:tbl>
              <a:tblPr/>
              <a:tblGrid>
                <a:gridCol w="2926080"/>
                <a:gridCol w="1188720"/>
                <a:gridCol w="4114800"/>
                <a:gridCol w="2798064"/>
              </a:tblGrid>
              <a:tr h="402336">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 per-report attachment-only rate</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Pooled</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solidFill>
                      <a:srgbClr val="2B2523"/>
                    </a:solidFill>
                  </a:tcPr>
                </a:tc>
              </a:tr>
              <a:tr h="402336">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Conflict-related</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58.2%</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109 / 129 (84.5%)</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r h="402336">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Climate/food-related</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60.6%</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c>
                  <a:txBody>
                    <a:bodyPr/>
                    <a:lstStyle/>
                    <a:p>
                      <a:pPr indent="0" marL="0">
                        <a:buNone/>
                      </a:pPr>
                      <a:r>
                        <a:rPr lang="en-US" sz="1150" dirty="0">
                          <a:solidFill>
                            <a:srgbClr val="2B2523"/>
                          </a:solidFill>
                          <a:latin typeface="Calibri" pitchFamily="34" charset="0"/>
                          <a:ea typeface="Calibri" pitchFamily="34" charset="-122"/>
                          <a:cs typeface="Calibri" pitchFamily="34" charset="-120"/>
                        </a:rPr>
                        <a:t>222 / 289 (76.8%)</a:t>
                      </a:r>
                      <a:endParaRPr lang="en-US" sz="1150" dirty="0">
                        <a:latin typeface="Calibri" charset="0"/>
                        <a:ea typeface="Calibri" charset="0"/>
                        <a:cs typeface="Calibri" charset="0"/>
                      </a:endParaRPr>
                    </a:p>
                  </a:txBody>
                  <a:tcPr marL="91440" marR="91440" marT="45720" marB="45720" anchor="ctr">
                    <a:lnL w="6350" cap="flat" cmpd="sng" algn="ctr">
                      <a:solidFill>
                        <a:srgbClr val="E2DDD6"/>
                      </a:solidFill>
                      <a:prstDash val="solid"/>
                      <a:round/>
                      <a:headEnd type="none" w="med" len="med"/>
                      <a:tailEnd type="none" w="med" len="med"/>
                    </a:lnL>
                    <a:lnR w="6350" cap="flat" cmpd="sng" algn="ctr">
                      <a:solidFill>
                        <a:srgbClr val="E2DDD6"/>
                      </a:solidFill>
                      <a:prstDash val="solid"/>
                      <a:round/>
                      <a:headEnd type="none" w="med" len="med"/>
                      <a:tailEnd type="none" w="med" len="med"/>
                    </a:lnR>
                    <a:lnT w="6350" cap="flat" cmpd="sng" algn="ctr">
                      <a:solidFill>
                        <a:srgbClr val="E2DDD6"/>
                      </a:solidFill>
                      <a:prstDash val="solid"/>
                      <a:round/>
                      <a:headEnd type="none" w="med" len="med"/>
                      <a:tailEnd type="none" w="med" len="med"/>
                    </a:lnT>
                    <a:lnB w="6350" cap="flat" cmpd="sng" algn="ctr">
                      <a:solidFill>
                        <a:srgbClr val="E2DDD6"/>
                      </a:solidFill>
                      <a:prstDash val="solid"/>
                      <a:round/>
                      <a:headEnd type="none" w="med" len="med"/>
                      <a:tailEnd type="none" w="med" len="med"/>
                    </a:lnB>
                  </a:tcPr>
                </a:tc>
              </a:tr>
            </a:tbl>
          </a:graphicData>
        </a:graphic>
      </p:graphicFrame>
      <p:sp>
        <p:nvSpPr>
          <p:cNvPr id="9" name="Shape 6"/>
          <p:cNvSpPr/>
          <p:nvPr/>
        </p:nvSpPr>
        <p:spPr>
          <a:xfrm>
            <a:off x="566928" y="4434840"/>
            <a:ext cx="5394960" cy="1234440"/>
          </a:xfrm>
          <a:prstGeom prst="roundRect">
            <a:avLst>
              <a:gd name="adj" fmla="val 4444"/>
            </a:avLst>
          </a:prstGeom>
          <a:solidFill>
            <a:srgbClr val="F7F5F1"/>
          </a:solidFill>
          <a:ln/>
          <a:effectLst>
            <a:outerShdw sx="100000" sy="100000" kx="0" ky="0" algn="bl" rotWithShape="0" blurRad="76200" dist="381" dir="5400000">
              <a:srgbClr val="000000">
                <a:alpha val="8000"/>
              </a:srgbClr>
            </a:outerShdw>
          </a:effectLst>
        </p:spPr>
      </p:sp>
      <p:sp>
        <p:nvSpPr>
          <p:cNvPr id="10" name="Text 7"/>
          <p:cNvSpPr/>
          <p:nvPr/>
        </p:nvSpPr>
        <p:spPr>
          <a:xfrm>
            <a:off x="768096" y="4544568"/>
            <a:ext cx="4992624" cy="617220"/>
          </a:xfrm>
          <a:prstGeom prst="rect">
            <a:avLst/>
          </a:prstGeom>
          <a:noFill/>
          <a:ln/>
        </p:spPr>
        <p:txBody>
          <a:bodyPr wrap="square" lIns="0" tIns="0" rIns="0" bIns="0" rtlCol="0" anchor="ctr"/>
          <a:lstStyle/>
          <a:p>
            <a:pPr indent="0" marL="0">
              <a:buNone/>
            </a:pPr>
            <a:r>
              <a:rPr lang="en-US" sz="2700" b="1" dirty="0">
                <a:solidFill>
                  <a:srgbClr val="A7BEAE"/>
                </a:solidFill>
                <a:latin typeface="Cambria" pitchFamily="34" charset="0"/>
                <a:ea typeface="Cambria" pitchFamily="34" charset="-122"/>
                <a:cs typeface="Cambria" pitchFamily="34" charset="-120"/>
              </a:rPr>
              <a:t>p = 0.85</a:t>
            </a:r>
            <a:endParaRPr lang="en-US" sz="2700" dirty="0"/>
          </a:p>
        </p:txBody>
      </p:sp>
      <p:sp>
        <p:nvSpPr>
          <p:cNvPr id="11" name="Text 8"/>
          <p:cNvSpPr/>
          <p:nvPr/>
        </p:nvSpPr>
        <p:spPr>
          <a:xfrm>
            <a:off x="768096" y="5101438"/>
            <a:ext cx="4992624" cy="518465"/>
          </a:xfrm>
          <a:prstGeom prst="rect">
            <a:avLst/>
          </a:prstGeom>
          <a:noFill/>
          <a:ln/>
        </p:spPr>
        <p:txBody>
          <a:bodyPr wrap="square" lIns="0" tIns="0" rIns="0" bIns="0" rtlCol="0" anchor="ctr"/>
          <a:lstStyle/>
          <a:p>
            <a:pPr indent="0" marL="0">
              <a:lnSpc>
                <a:spcPts val="1250"/>
              </a:lnSpc>
              <a:buNone/>
            </a:pPr>
            <a:r>
              <a:rPr lang="en-US" sz="1030" dirty="0">
                <a:solidFill>
                  <a:srgbClr val="7A6E68"/>
                </a:solidFill>
                <a:latin typeface="Calibri" pitchFamily="34" charset="0"/>
                <a:ea typeface="Calibri" pitchFamily="34" charset="-122"/>
                <a:cs typeface="Calibri" pitchFamily="34" charset="-120"/>
              </a:rPr>
              <a:t>Mann-Whitney U, per-report attachment-only rate</a:t>
            </a:r>
            <a:endParaRPr lang="en-US" sz="1030" dirty="0"/>
          </a:p>
        </p:txBody>
      </p:sp>
      <p:sp>
        <p:nvSpPr>
          <p:cNvPr id="12" name="Shape 9"/>
          <p:cNvSpPr/>
          <p:nvPr/>
        </p:nvSpPr>
        <p:spPr>
          <a:xfrm>
            <a:off x="6144768" y="4434840"/>
            <a:ext cx="5394960" cy="1234440"/>
          </a:xfrm>
          <a:prstGeom prst="roundRect">
            <a:avLst>
              <a:gd name="adj" fmla="val 4444"/>
            </a:avLst>
          </a:prstGeom>
          <a:solidFill>
            <a:srgbClr val="F7F5F1"/>
          </a:solidFill>
          <a:ln/>
          <a:effectLst>
            <a:outerShdw sx="100000" sy="100000" kx="0" ky="0" algn="bl" rotWithShape="0" blurRad="76200" dist="381" dir="5400000">
              <a:srgbClr val="000000">
                <a:alpha val="8000"/>
              </a:srgbClr>
            </a:outerShdw>
          </a:effectLst>
        </p:spPr>
      </p:sp>
      <p:sp>
        <p:nvSpPr>
          <p:cNvPr id="13" name="Text 10"/>
          <p:cNvSpPr/>
          <p:nvPr/>
        </p:nvSpPr>
        <p:spPr>
          <a:xfrm>
            <a:off x="6345936" y="4544568"/>
            <a:ext cx="4992624" cy="617220"/>
          </a:xfrm>
          <a:prstGeom prst="rect">
            <a:avLst/>
          </a:prstGeom>
          <a:noFill/>
          <a:ln/>
        </p:spPr>
        <p:txBody>
          <a:bodyPr wrap="square" lIns="0" tIns="0" rIns="0" bIns="0" rtlCol="0" anchor="ctr"/>
          <a:lstStyle/>
          <a:p>
            <a:pPr indent="0" marL="0">
              <a:buNone/>
            </a:pPr>
            <a:r>
              <a:rPr lang="en-US" sz="2700" b="1" dirty="0">
                <a:solidFill>
                  <a:srgbClr val="A7BEAE"/>
                </a:solidFill>
                <a:latin typeface="Cambria" pitchFamily="34" charset="0"/>
                <a:ea typeface="Cambria" pitchFamily="34" charset="-122"/>
                <a:cs typeface="Cambria" pitchFamily="34" charset="-120"/>
              </a:rPr>
              <a:t>p = 0.71</a:t>
            </a:r>
            <a:endParaRPr lang="en-US" sz="2700" dirty="0"/>
          </a:p>
        </p:txBody>
      </p:sp>
      <p:sp>
        <p:nvSpPr>
          <p:cNvPr id="14" name="Text 11"/>
          <p:cNvSpPr/>
          <p:nvPr/>
        </p:nvSpPr>
        <p:spPr>
          <a:xfrm>
            <a:off x="6345936" y="5101438"/>
            <a:ext cx="4992624" cy="518465"/>
          </a:xfrm>
          <a:prstGeom prst="rect">
            <a:avLst/>
          </a:prstGeom>
          <a:noFill/>
          <a:ln/>
        </p:spPr>
        <p:txBody>
          <a:bodyPr wrap="square" lIns="0" tIns="0" rIns="0" bIns="0" rtlCol="0" anchor="ctr"/>
          <a:lstStyle/>
          <a:p>
            <a:pPr indent="0" marL="0">
              <a:lnSpc>
                <a:spcPts val="1250"/>
              </a:lnSpc>
              <a:buNone/>
            </a:pPr>
            <a:r>
              <a:rPr lang="en-US" sz="1030" dirty="0">
                <a:solidFill>
                  <a:srgbClr val="7A6E68"/>
                </a:solidFill>
                <a:latin typeface="Calibri" pitchFamily="34" charset="0"/>
                <a:ea typeface="Calibri" pitchFamily="34" charset="-122"/>
                <a:cs typeface="Calibri" pitchFamily="34" charset="-120"/>
              </a:rPr>
              <a:t>Fisher's exact, has any attachment-only info (OR 1.48)</a:t>
            </a:r>
            <a:endParaRPr lang="en-US" sz="1030" dirty="0"/>
          </a:p>
        </p:txBody>
      </p:sp>
      <p:sp>
        <p:nvSpPr>
          <p:cNvPr id="15" name="Text 12"/>
          <p:cNvSpPr/>
          <p:nvPr/>
        </p:nvSpPr>
        <p:spPr>
          <a:xfrm>
            <a:off x="566928" y="6016752"/>
            <a:ext cx="11027664" cy="365760"/>
          </a:xfrm>
          <a:prstGeom prst="rect">
            <a:avLst/>
          </a:prstGeom>
          <a:noFill/>
          <a:ln/>
        </p:spPr>
        <p:txBody>
          <a:bodyPr wrap="square" lIns="0" tIns="0" rIns="0" bIns="0" rtlCol="0" anchor="ctr"/>
          <a:lstStyle/>
          <a:p>
            <a:pPr indent="0" marL="0">
              <a:lnSpc>
                <a:spcPts val="1250"/>
              </a:lnSpc>
              <a:buNone/>
            </a:pPr>
            <a:r>
              <a:rPr lang="en-US" sz="1000" i="1" dirty="0">
                <a:solidFill>
                  <a:srgbClr val="7A6E68"/>
                </a:solidFill>
                <a:latin typeface="Calibri" pitchFamily="34" charset="0"/>
                <a:ea typeface="Calibri" pitchFamily="34" charset="-122"/>
                <a:cs typeface="Calibri" pitchFamily="34" charset="-120"/>
              </a:rPr>
              <a:t>13 of the 100 reports carry both kinds of theme at once and 19 carry neither, so we compared the 33 reports (16 + 17) that fall cleanly into one group.</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02920"/>
          </a:xfrm>
          <a:prstGeom prst="rect">
            <a:avLst/>
          </a:prstGeom>
          <a:noFill/>
          <a:ln/>
        </p:spPr>
        <p:txBody>
          <a:bodyPr wrap="square" lIns="0" tIns="0" rIns="0" bIns="0" rtlCol="0" anchor="ctr"/>
          <a:lstStyle/>
          <a:p>
            <a:pPr indent="0" marL="0">
              <a:buNone/>
            </a:pPr>
            <a:r>
              <a:rPr lang="en-US" sz="2400" b="1" dirty="0">
                <a:solidFill>
                  <a:srgbClr val="2B2523"/>
                </a:solidFill>
                <a:latin typeface="Cambria" pitchFamily="34" charset="0"/>
                <a:ea typeface="Cambria" pitchFamily="34" charset="-122"/>
                <a:cs typeface="Cambria" pitchFamily="34" charset="-120"/>
              </a:rPr>
              <a:t>No real difference here, and the sample's too small to rule much out</a:t>
            </a:r>
            <a:endParaRPr lang="en-US" sz="2400" dirty="0"/>
          </a:p>
        </p:txBody>
      </p:sp>
      <p:sp>
        <p:nvSpPr>
          <p:cNvPr id="3" name="Shape 1"/>
          <p:cNvSpPr/>
          <p:nvPr/>
        </p:nvSpPr>
        <p:spPr>
          <a:xfrm>
            <a:off x="566928" y="1371600"/>
            <a:ext cx="11027664" cy="1737360"/>
          </a:xfrm>
          <a:prstGeom prst="roundRect">
            <a:avLst>
              <a:gd name="adj" fmla="val 3158"/>
            </a:avLst>
          </a:prstGeom>
          <a:solidFill>
            <a:srgbClr val="2B2523"/>
          </a:solidFill>
          <a:ln/>
          <a:effectLst>
            <a:outerShdw sx="100000" sy="100000" kx="0" ky="0" algn="bl" rotWithShape="0" blurRad="76200" dist="381" dir="5400000">
              <a:srgbClr val="000000">
                <a:alpha val="8000"/>
              </a:srgbClr>
            </a:outerShdw>
          </a:effectLst>
        </p:spPr>
      </p:sp>
      <p:sp>
        <p:nvSpPr>
          <p:cNvPr id="4" name="Text 2"/>
          <p:cNvSpPr/>
          <p:nvPr/>
        </p:nvSpPr>
        <p:spPr>
          <a:xfrm>
            <a:off x="786384" y="1517904"/>
            <a:ext cx="9144000" cy="2743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What this does not do</a:t>
            </a:r>
            <a:endParaRPr lang="en-US" sz="1350" dirty="0"/>
          </a:p>
        </p:txBody>
      </p:sp>
      <p:sp>
        <p:nvSpPr>
          <p:cNvPr id="5" name="Text 3"/>
          <p:cNvSpPr/>
          <p:nvPr/>
        </p:nvSpPr>
        <p:spPr>
          <a:xfrm>
            <a:off x="786384" y="1810512"/>
            <a:ext cx="10588752" cy="1234440"/>
          </a:xfrm>
          <a:prstGeom prst="rect">
            <a:avLst/>
          </a:prstGeom>
          <a:noFill/>
          <a:ln/>
        </p:spPr>
        <p:txBody>
          <a:bodyPr wrap="square" lIns="0" tIns="0" rIns="0" bIns="0" rtlCol="0" anchor="ctr"/>
          <a:lstStyle/>
          <a:p>
            <a:pPr indent="0" marL="0">
              <a:lnSpc>
                <a:spcPts val="1450"/>
              </a:lnSpc>
              <a:buNone/>
            </a:pPr>
            <a:r>
              <a:rPr lang="en-US" sz="1100" dirty="0">
                <a:solidFill>
                  <a:srgbClr val="E7E8D1"/>
                </a:solidFill>
                <a:latin typeface="Calibri" pitchFamily="34" charset="0"/>
                <a:ea typeface="Calibri" pitchFamily="34" charset="-122"/>
                <a:cs typeface="Calibri" pitchFamily="34" charset="-120"/>
              </a:rPr>
              <a:t>It doesn't back up the attention-based explanation any further, since it doesn't show attachment-trapping is specifically a conflict-report problem the way Tasks 13-15's finding would need. But it also doesn't support the alternative explanation this check was built to catch: if anything, climate/food reports trap slightly more of their geography in attachments than conflict reports do, the opposite of what we'd need to explain away the reporting-attention gap as a text-extraction quirk.</a:t>
            </a:r>
            <a:endParaRPr lang="en-US" sz="1100" dirty="0"/>
          </a:p>
        </p:txBody>
      </p:sp>
      <p:sp>
        <p:nvSpPr>
          <p:cNvPr id="6" name="Shape 4"/>
          <p:cNvSpPr/>
          <p:nvPr/>
        </p:nvSpPr>
        <p:spPr>
          <a:xfrm>
            <a:off x="566928" y="3291840"/>
            <a:ext cx="11027664" cy="1051560"/>
          </a:xfrm>
          <a:prstGeom prst="roundRect">
            <a:avLst>
              <a:gd name="adj" fmla="val 5217"/>
            </a:avLst>
          </a:prstGeom>
          <a:solidFill>
            <a:srgbClr val="E7E8D1"/>
          </a:solidFill>
          <a:ln/>
          <a:effectLst>
            <a:outerShdw sx="100000" sy="100000" kx="0" ky="0" algn="bl" rotWithShape="0" blurRad="76200" dist="381" dir="5400000">
              <a:srgbClr val="000000">
                <a:alpha val="8000"/>
              </a:srgbClr>
            </a:outerShdw>
          </a:effectLst>
        </p:spPr>
      </p:sp>
      <p:sp>
        <p:nvSpPr>
          <p:cNvPr id="7" name="Text 5"/>
          <p:cNvSpPr/>
          <p:nvPr/>
        </p:nvSpPr>
        <p:spPr>
          <a:xfrm>
            <a:off x="786384" y="3419856"/>
            <a:ext cx="10588752" cy="822960"/>
          </a:xfrm>
          <a:prstGeom prst="rect">
            <a:avLst/>
          </a:prstGeom>
          <a:noFill/>
          <a:ln/>
        </p:spPr>
        <p:txBody>
          <a:bodyPr wrap="square" lIns="0" tIns="0" rIns="0" bIns="0" rtlCol="0" anchor="ctr"/>
          <a:lstStyle/>
          <a:p>
            <a:pPr indent="0" marL="0">
              <a:lnSpc>
                <a:spcPts val="1450"/>
              </a:lnSpc>
              <a:buNone/>
            </a:pPr>
            <a:r>
              <a:rPr lang="en-US" sz="1100" b="1" dirty="0">
                <a:solidFill>
                  <a:srgbClr val="B85042"/>
                </a:solidFill>
                <a:latin typeface="Calibri" pitchFamily="34" charset="0"/>
                <a:ea typeface="Calibri" pitchFamily="34" charset="-122"/>
                <a:cs typeface="Calibri" pitchFamily="34" charset="-120"/>
              </a:rPr>
              <a:t>With only 16 and 17 reports in each group, this comparison doesn't have much power to catch a real, moderate-sized difference. The honest takeaway: this specific alternative explanation isn't backed up by the evidence we have, but that's not the same as ruling it out for good.</a:t>
            </a:r>
            <a:endParaRPr lang="en-US" sz="1100" dirty="0"/>
          </a:p>
        </p:txBody>
      </p:sp>
      <p:sp>
        <p:nvSpPr>
          <p:cNvPr id="8" name="Shape 6"/>
          <p:cNvSpPr/>
          <p:nvPr/>
        </p:nvSpPr>
        <p:spPr>
          <a:xfrm>
            <a:off x="566928" y="4526280"/>
            <a:ext cx="11027664" cy="1143000"/>
          </a:xfrm>
          <a:prstGeom prst="roundRect">
            <a:avLst>
              <a:gd name="adj" fmla="val 4800"/>
            </a:avLst>
          </a:prstGeom>
          <a:solidFill>
            <a:srgbClr val="F7F5F1"/>
          </a:solidFill>
          <a:ln/>
          <a:effectLst>
            <a:outerShdw sx="100000" sy="100000" kx="0" ky="0" algn="bl" rotWithShape="0" blurRad="76200" dist="381" dir="5400000">
              <a:srgbClr val="000000">
                <a:alpha val="8000"/>
              </a:srgbClr>
            </a:outerShdw>
          </a:effectLst>
        </p:spPr>
      </p:sp>
      <p:sp>
        <p:nvSpPr>
          <p:cNvPr id="9" name="Text 7"/>
          <p:cNvSpPr/>
          <p:nvPr/>
        </p:nvSpPr>
        <p:spPr>
          <a:xfrm>
            <a:off x="786384" y="4663440"/>
            <a:ext cx="91440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A small but real side finding</a:t>
            </a:r>
            <a:endParaRPr lang="en-US" sz="1350" dirty="0"/>
          </a:p>
        </p:txBody>
      </p:sp>
      <p:sp>
        <p:nvSpPr>
          <p:cNvPr id="10" name="Text 8"/>
          <p:cNvSpPr/>
          <p:nvPr/>
        </p:nvSpPr>
        <p:spPr>
          <a:xfrm>
            <a:off x="786384" y="4937760"/>
            <a:ext cx="10588752" cy="685800"/>
          </a:xfrm>
          <a:prstGeom prst="rect">
            <a:avLst/>
          </a:prstGeom>
          <a:noFill/>
          <a:ln/>
        </p:spPr>
        <p:txBody>
          <a:bodyPr wrap="square" lIns="0" tIns="0" rIns="0" bIns="0" rtlCol="0" anchor="ctr"/>
          <a:lstStyle/>
          <a:p>
            <a:pPr indent="0" marL="0">
              <a:lnSpc>
                <a:spcPts val="1380"/>
              </a:lnSpc>
              <a:buNone/>
            </a:pPr>
            <a:r>
              <a:rPr lang="en-US" sz="1070" dirty="0">
                <a:solidFill>
                  <a:srgbClr val="2B2523"/>
                </a:solidFill>
                <a:latin typeface="Calibri" pitchFamily="34" charset="0"/>
                <a:ea typeface="Calibri" pitchFamily="34" charset="-122"/>
                <a:cs typeface="Calibri" pitchFamily="34" charset="-120"/>
              </a:rPr>
              <a:t>Attachment-trapping shows up a lot regardless of topic, 76 to 85% of genuine district mentions either way. That backs up Task 17's original point: if we ever want to improve recall, reading attachments is where the real gains are, not refining alias matching, no matter what kind of crisis the report is about.</a:t>
            </a:r>
            <a:endParaRPr lang="en-US" sz="107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B2523"/>
        </a:solidFill>
      </p:bgPr>
    </p:bg>
    <p:spTree>
      <p:nvGrpSpPr>
        <p:cNvPr id="1" name=""/>
        <p:cNvGrpSpPr/>
        <p:nvPr/>
      </p:nvGrpSpPr>
      <p:grpSpPr>
        <a:xfrm>
          <a:off x="0" y="0"/>
          <a:ext cx="0" cy="0"/>
          <a:chOff x="0" y="0"/>
          <a:chExt cx="0" cy="0"/>
        </a:xfrm>
      </p:grpSpPr>
      <p:sp>
        <p:nvSpPr>
          <p:cNvPr id="2" name="Shape 0"/>
          <p:cNvSpPr/>
          <p:nvPr/>
        </p:nvSpPr>
        <p:spPr>
          <a:xfrm>
            <a:off x="-1463040" y="3108960"/>
            <a:ext cx="5120640" cy="5120640"/>
          </a:xfrm>
          <a:prstGeom prst="ellipse">
            <a:avLst/>
          </a:prstGeom>
          <a:solidFill>
            <a:srgbClr val="B85042"/>
          </a:solidFill>
          <a:ln/>
        </p:spPr>
      </p:sp>
      <p:sp>
        <p:nvSpPr>
          <p:cNvPr id="3" name="Text 1"/>
          <p:cNvSpPr/>
          <p:nvPr/>
        </p:nvSpPr>
        <p:spPr>
          <a:xfrm>
            <a:off x="566928" y="1097280"/>
            <a:ext cx="7315200" cy="310896"/>
          </a:xfrm>
          <a:prstGeom prst="rect">
            <a:avLst/>
          </a:prstGeom>
          <a:noFill/>
          <a:ln/>
        </p:spPr>
        <p:txBody>
          <a:bodyPr wrap="square" lIns="0" tIns="0" rIns="0" bIns="0" rtlCol="0" anchor="ctr"/>
          <a:lstStyle/>
          <a:p>
            <a:pPr indent="0" marL="0">
              <a:buNone/>
            </a:pPr>
            <a:r>
              <a:rPr lang="en-US" sz="1300" b="1" spc="300" kern="0" dirty="0">
                <a:solidFill>
                  <a:srgbClr val="A7BEAE"/>
                </a:solidFill>
                <a:latin typeface="Calibri" pitchFamily="34" charset="0"/>
                <a:ea typeface="Calibri" pitchFamily="34" charset="-122"/>
                <a:cs typeface="Calibri" pitchFamily="34" charset="-120"/>
              </a:rPr>
              <a:t>BOTTOM LINE</a:t>
            </a:r>
            <a:endParaRPr lang="en-US" sz="1300" dirty="0"/>
          </a:p>
        </p:txBody>
      </p:sp>
      <p:sp>
        <p:nvSpPr>
          <p:cNvPr id="4" name="Text 2"/>
          <p:cNvSpPr/>
          <p:nvPr/>
        </p:nvSpPr>
        <p:spPr>
          <a:xfrm>
            <a:off x="566928" y="1508760"/>
            <a:ext cx="9692640" cy="1371600"/>
          </a:xfrm>
          <a:prstGeom prst="rect">
            <a:avLst/>
          </a:prstGeom>
          <a:noFill/>
          <a:ln/>
        </p:spPr>
        <p:txBody>
          <a:bodyPr wrap="square" lIns="0" tIns="0" rIns="0" bIns="0" rtlCol="0" anchor="ctr"/>
          <a:lstStyle/>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The core finding holds up,</a:t>
            </a:r>
            <a:endParaRPr lang="en-US" sz="3000" dirty="0"/>
          </a:p>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just with an honest caveat</a:t>
            </a:r>
            <a:endParaRPr lang="en-US" sz="3000" dirty="0"/>
          </a:p>
        </p:txBody>
      </p:sp>
      <p:sp>
        <p:nvSpPr>
          <p:cNvPr id="5" name="Shape 3"/>
          <p:cNvSpPr/>
          <p:nvPr/>
        </p:nvSpPr>
        <p:spPr>
          <a:xfrm>
            <a:off x="566928" y="3017520"/>
            <a:ext cx="11027664" cy="1234440"/>
          </a:xfrm>
          <a:prstGeom prst="roundRect">
            <a:avLst>
              <a:gd name="adj" fmla="val 4444"/>
            </a:avLst>
          </a:prstGeom>
          <a:solidFill>
            <a:srgbClr val="3A3330"/>
          </a:solidFill>
          <a:ln/>
        </p:spPr>
      </p:sp>
      <p:sp>
        <p:nvSpPr>
          <p:cNvPr id="6" name="Text 4"/>
          <p:cNvSpPr/>
          <p:nvPr/>
        </p:nvSpPr>
        <p:spPr>
          <a:xfrm>
            <a:off x="841248" y="3145536"/>
            <a:ext cx="2011680" cy="256032"/>
          </a:xfrm>
          <a:prstGeom prst="rect">
            <a:avLst/>
          </a:prstGeom>
          <a:noFill/>
          <a:ln/>
        </p:spPr>
        <p:txBody>
          <a:bodyPr wrap="square" lIns="0" tIns="0" rIns="0" bIns="0" rtlCol="0" anchor="ctr"/>
          <a:lstStyle/>
          <a:p>
            <a:pPr indent="0" marL="0">
              <a:buNone/>
            </a:pPr>
            <a:r>
              <a:rPr lang="en-US" sz="1100" b="1" spc="120" kern="0" dirty="0">
                <a:solidFill>
                  <a:srgbClr val="B85042"/>
                </a:solidFill>
                <a:latin typeface="Calibri" pitchFamily="34" charset="0"/>
                <a:ea typeface="Calibri" pitchFamily="34" charset="-122"/>
                <a:cs typeface="Calibri" pitchFamily="34" charset="-120"/>
              </a:rPr>
              <a:t>CHECK 1</a:t>
            </a:r>
            <a:endParaRPr lang="en-US" sz="1100" dirty="0"/>
          </a:p>
        </p:txBody>
      </p:sp>
      <p:sp>
        <p:nvSpPr>
          <p:cNvPr id="7" name="Text 5"/>
          <p:cNvSpPr/>
          <p:nvPr/>
        </p:nvSpPr>
        <p:spPr>
          <a:xfrm>
            <a:off x="841248" y="3401568"/>
            <a:ext cx="10479024" cy="804672"/>
          </a:xfrm>
          <a:prstGeom prst="rect">
            <a:avLst/>
          </a:prstGeom>
          <a:noFill/>
          <a:ln/>
        </p:spPr>
        <p:txBody>
          <a:bodyPr wrap="square" lIns="0" tIns="0" rIns="0" bIns="0" rtlCol="0" anchor="ctr"/>
          <a:lstStyle/>
          <a:p>
            <a:pPr indent="0" marL="0">
              <a:lnSpc>
                <a:spcPts val="1380"/>
              </a:lnSpc>
              <a:buNone/>
            </a:pPr>
            <a:r>
              <a:rPr lang="en-US" sz="1080" dirty="0">
                <a:solidFill>
                  <a:srgbClr val="E7E8D1"/>
                </a:solidFill>
                <a:latin typeface="Calibri" pitchFamily="34" charset="0"/>
                <a:ea typeface="Calibri" pitchFamily="34" charset="-122"/>
                <a:cs typeface="Calibri" pitchFamily="34" charset="-120"/>
              </a:rPr>
              <a:t>The conflict-vs-reporting link is largely, maybe mostly, a between-district story: some districts are just chronically more visible, rather than reporting genuinely reacting to a district's own worse months. This doesn't refute Tasks 13-15, but it does put a real limit on how strongly we can read the result as causal.</a:t>
            </a:r>
            <a:endParaRPr lang="en-US" sz="1080" dirty="0"/>
          </a:p>
        </p:txBody>
      </p:sp>
      <p:sp>
        <p:nvSpPr>
          <p:cNvPr id="8" name="Shape 6"/>
          <p:cNvSpPr/>
          <p:nvPr/>
        </p:nvSpPr>
        <p:spPr>
          <a:xfrm>
            <a:off x="566928" y="4389120"/>
            <a:ext cx="11027664" cy="1234440"/>
          </a:xfrm>
          <a:prstGeom prst="roundRect">
            <a:avLst>
              <a:gd name="adj" fmla="val 4444"/>
            </a:avLst>
          </a:prstGeom>
          <a:solidFill>
            <a:srgbClr val="3A3330"/>
          </a:solidFill>
          <a:ln/>
        </p:spPr>
      </p:sp>
      <p:sp>
        <p:nvSpPr>
          <p:cNvPr id="9" name="Text 7"/>
          <p:cNvSpPr/>
          <p:nvPr/>
        </p:nvSpPr>
        <p:spPr>
          <a:xfrm>
            <a:off x="841248" y="4517136"/>
            <a:ext cx="2011680" cy="256032"/>
          </a:xfrm>
          <a:prstGeom prst="rect">
            <a:avLst/>
          </a:prstGeom>
          <a:noFill/>
          <a:ln/>
        </p:spPr>
        <p:txBody>
          <a:bodyPr wrap="square" lIns="0" tIns="0" rIns="0" bIns="0" rtlCol="0" anchor="ctr"/>
          <a:lstStyle/>
          <a:p>
            <a:pPr indent="0" marL="0">
              <a:buNone/>
            </a:pPr>
            <a:r>
              <a:rPr lang="en-US" sz="1100" b="1" spc="120" kern="0" dirty="0">
                <a:solidFill>
                  <a:srgbClr val="A7BEAE"/>
                </a:solidFill>
                <a:latin typeface="Calibri" pitchFamily="34" charset="0"/>
                <a:ea typeface="Calibri" pitchFamily="34" charset="-122"/>
                <a:cs typeface="Calibri" pitchFamily="34" charset="-120"/>
              </a:rPr>
              <a:t>CHECK 2</a:t>
            </a:r>
            <a:endParaRPr lang="en-US" sz="1100" dirty="0"/>
          </a:p>
        </p:txBody>
      </p:sp>
      <p:sp>
        <p:nvSpPr>
          <p:cNvPr id="10" name="Text 8"/>
          <p:cNvSpPr/>
          <p:nvPr/>
        </p:nvSpPr>
        <p:spPr>
          <a:xfrm>
            <a:off x="841248" y="4773168"/>
            <a:ext cx="10479024" cy="804672"/>
          </a:xfrm>
          <a:prstGeom prst="rect">
            <a:avLst/>
          </a:prstGeom>
          <a:noFill/>
          <a:ln/>
        </p:spPr>
        <p:txBody>
          <a:bodyPr wrap="square" lIns="0" tIns="0" rIns="0" bIns="0" rtlCol="0" anchor="ctr"/>
          <a:lstStyle/>
          <a:p>
            <a:pPr indent="0" marL="0">
              <a:lnSpc>
                <a:spcPts val="1380"/>
              </a:lnSpc>
              <a:buNone/>
            </a:pPr>
            <a:r>
              <a:rPr lang="en-US" sz="1080" dirty="0">
                <a:solidFill>
                  <a:srgbClr val="E7E8D1"/>
                </a:solidFill>
                <a:latin typeface="Calibri" pitchFamily="34" charset="0"/>
                <a:ea typeface="Calibri" pitchFamily="34" charset="-122"/>
                <a:cs typeface="Calibri" pitchFamily="34" charset="-120"/>
              </a:rPr>
              <a:t>That caveat isn't just a geoparser quirk either: conflict and climate/food reports lose geographic detail to attachments at basically the same rate, so this particular explanation isn't what's driving the gap.</a:t>
            </a:r>
            <a:endParaRPr lang="en-US" sz="1080" dirty="0"/>
          </a:p>
        </p:txBody>
      </p:sp>
      <p:sp>
        <p:nvSpPr>
          <p:cNvPr id="11" name="Text 9"/>
          <p:cNvSpPr/>
          <p:nvPr/>
        </p:nvSpPr>
        <p:spPr>
          <a:xfrm>
            <a:off x="566928" y="5897880"/>
            <a:ext cx="11027664" cy="411480"/>
          </a:xfrm>
          <a:prstGeom prst="rect">
            <a:avLst/>
          </a:prstGeom>
          <a:noFill/>
          <a:ln/>
        </p:spPr>
        <p:txBody>
          <a:bodyPr wrap="square" lIns="0" tIns="0" rIns="0" bIns="0" rtlCol="0" anchor="ctr"/>
          <a:lstStyle/>
          <a:p>
            <a:pPr indent="0" marL="0">
              <a:lnSpc>
                <a:spcPts val="1300"/>
              </a:lnSpc>
              <a:buNone/>
            </a:pPr>
            <a:r>
              <a:rPr lang="en-US" sz="1050" i="1" dirty="0">
                <a:solidFill>
                  <a:srgbClr val="7A6E68"/>
                </a:solidFill>
                <a:latin typeface="Calibri" pitchFamily="34" charset="0"/>
                <a:ea typeface="Calibri" pitchFamily="34" charset="-122"/>
                <a:cs typeface="Calibri" pitchFamily="34" charset="-120"/>
              </a:rPr>
              <a:t>How we'd frame this in the dissertation: the district-level, cross-sectional link between conflict and reporting attention is solid and well documented; it's the within-district, month-to-month reactive story that now needs a caveat.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Two final checks, per 2026-09-02 feedback</dc:title>
  <dc:subject>PptxGenJS Presentation</dc:subject>
  <dc:creator>Samuel Aracena</dc:creator>
  <cp:lastModifiedBy>Samuel Aracena</cp:lastModifiedBy>
  <cp:revision>1</cp:revision>
  <dcterms:created xsi:type="dcterms:W3CDTF">2026-09-07T23:16:10Z</dcterms:created>
  <dcterms:modified xsi:type="dcterms:W3CDTF">2026-09-07T23:16:10Z</dcterms:modified>
</cp:coreProperties>
</file>