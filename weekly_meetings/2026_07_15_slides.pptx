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73" r:id="rId4"/>
    <p:sldId id="274" r:id="rId5"/>
    <p:sldId id="257" r:id="rId6"/>
    <p:sldId id="260" r:id="rId7"/>
    <p:sldId id="27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4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D3D0"/>
                </a:solidFill>
                <a:latin typeface="Aptos"/>
              </a:defRPr>
            </a:pPr>
            <a:r>
              <a:t>DISSERTATION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15646"/>
            <a:ext cx="1042416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rPr lang="en-US" dirty="0"/>
              <a:t>Dataset exploration summary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D7E2EA"/>
                </a:solidFill>
                <a:latin typeface="Aptos"/>
              </a:defRPr>
            </a:pPr>
            <a:r>
              <a:rPr dirty="0"/>
              <a:t>Comparing humanitarian event, report, rainfall and market data across the Horn of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1663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Samuel Aracena  |  MSc Data Science  |  Middlesex University</a:t>
            </a:r>
          </a:p>
          <a:p>
            <a:pPr>
              <a:defRPr sz="1300">
                <a:solidFill>
                  <a:srgbClr val="BECDD8"/>
                </a:solidFill>
                <a:latin typeface="Aptos"/>
              </a:defRPr>
            </a:pPr>
            <a:r>
              <a:t>Study scope: Ethiopia, Somalia, South Sudan and Kenya · 2015–2024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848D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  <a:latin typeface="Aptos Display"/>
              </a:defRPr>
            </a:pPr>
            <a:r>
              <a:t>Six Complementary 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070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7A"/>
                </a:solidFill>
                <a:latin typeface="Aptos"/>
              </a:defRPr>
            </a:pPr>
            <a:r>
              <a:t>Each source contributes a different type of information relevant to the food insecurity context.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051560" cy="54864"/>
          </a:xfrm>
          <a:prstGeom prst="rect">
            <a:avLst/>
          </a:prstGeom>
          <a:solidFill>
            <a:srgbClr val="268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246120" cy="1508760"/>
          </a:xfrm>
          <a:prstGeom prst="roundRect">
            <a:avLst/>
          </a:prstGeom>
          <a:solidFill>
            <a:srgbClr val="F4F7F9"/>
          </a:solidFill>
          <a:ln>
            <a:solidFill>
              <a:srgbClr val="DB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73152" cy="1508760"/>
          </a:xfrm>
          <a:prstGeom prst="rect">
            <a:avLst/>
          </a:prstGeom>
          <a:solidFill>
            <a:srgbClr val="268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02082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04A"/>
                </a:solidFill>
                <a:latin typeface="Aptos"/>
              </a:defRPr>
            </a:pPr>
            <a:r>
              <a:t>GDELT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87168"/>
            <a:ext cx="2862072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>
                <a:solidFill>
                  <a:srgbClr val="283038"/>
                </a:solidFill>
                <a:latin typeface="Aptos"/>
              </a:defRPr>
            </a:pPr>
            <a:r>
              <a:t>News-based coded events</a:t>
            </a:r>
            <a:br/>
            <a:r>
              <a:t>CAMEO classification · tone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246120" cy="1508760"/>
          </a:xfrm>
          <a:prstGeom prst="roundRect">
            <a:avLst/>
          </a:prstGeom>
          <a:solidFill>
            <a:srgbClr val="F4F7F9"/>
          </a:solidFill>
          <a:ln>
            <a:solidFill>
              <a:srgbClr val="DB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73152" cy="1508760"/>
          </a:xfrm>
          <a:prstGeom prst="rect">
            <a:avLst/>
          </a:prstGeom>
          <a:solidFill>
            <a:srgbClr val="C59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202082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04A"/>
                </a:solidFill>
                <a:latin typeface="Aptos"/>
              </a:defRPr>
            </a:pPr>
            <a:r>
              <a:t>ReliefWeb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487168"/>
            <a:ext cx="2862072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>
                <a:solidFill>
                  <a:srgbClr val="283038"/>
                </a:solidFill>
                <a:latin typeface="Aptos"/>
              </a:defRPr>
            </a:pPr>
            <a:r>
              <a:t>Humanitarian reports</a:t>
            </a:r>
            <a:br/>
            <a:r>
              <a:t>Themes · full narrative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246120" cy="1508760"/>
          </a:xfrm>
          <a:prstGeom prst="roundRect">
            <a:avLst/>
          </a:prstGeom>
          <a:solidFill>
            <a:srgbClr val="F4F7F9"/>
          </a:solidFill>
          <a:ln>
            <a:solidFill>
              <a:srgbClr val="DB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73152" cy="1508760"/>
          </a:xfrm>
          <a:prstGeom prst="rect">
            <a:avLst/>
          </a:prstGeom>
          <a:solidFill>
            <a:srgbClr val="B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02082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04A"/>
                </a:solidFill>
                <a:latin typeface="Aptos"/>
              </a:defRPr>
            </a:pPr>
            <a:r>
              <a:t>ACLED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487168"/>
            <a:ext cx="2862072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>
                <a:solidFill>
                  <a:srgbClr val="283038"/>
                </a:solidFill>
                <a:latin typeface="Aptos"/>
              </a:defRPr>
            </a:pPr>
            <a:r>
              <a:t>Human-coded conflict events</a:t>
            </a:r>
            <a:br/>
            <a:r>
              <a:t>Event types · detailed locations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86200"/>
            <a:ext cx="3246120" cy="1508760"/>
          </a:xfrm>
          <a:prstGeom prst="roundRect">
            <a:avLst/>
          </a:prstGeom>
          <a:solidFill>
            <a:srgbClr val="F4F7F9"/>
          </a:solidFill>
          <a:ln>
            <a:solidFill>
              <a:srgbClr val="DB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73152" cy="1508760"/>
          </a:xfrm>
          <a:prstGeom prst="rect">
            <a:avLst/>
          </a:prstGeom>
          <a:solidFill>
            <a:srgbClr val="268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403250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04A"/>
                </a:solidFill>
                <a:latin typeface="Aptos"/>
              </a:defRPr>
            </a:pPr>
            <a:r>
              <a:t>ICEWS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498848"/>
            <a:ext cx="2862072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>
                <a:solidFill>
                  <a:srgbClr val="283038"/>
                </a:solidFill>
                <a:latin typeface="Aptos"/>
              </a:defRPr>
            </a:pPr>
            <a:r>
              <a:t>News-derived political events</a:t>
            </a:r>
            <a:br/>
            <a:r>
              <a:t>CAMEO classification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886200"/>
            <a:ext cx="3246120" cy="1508760"/>
          </a:xfrm>
          <a:prstGeom prst="roundRect">
            <a:avLst/>
          </a:prstGeom>
          <a:solidFill>
            <a:srgbClr val="F4F7F9"/>
          </a:solidFill>
          <a:ln>
            <a:solidFill>
              <a:srgbClr val="DB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43400" y="3886200"/>
            <a:ext cx="73152" cy="1508760"/>
          </a:xfrm>
          <a:prstGeom prst="rect">
            <a:avLst/>
          </a:prstGeom>
          <a:solidFill>
            <a:srgbClr val="46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44568" y="403250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04A"/>
                </a:solidFill>
                <a:latin typeface="Aptos"/>
              </a:defRPr>
            </a:pPr>
            <a:r>
              <a:t>CHIRPS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4498848"/>
            <a:ext cx="2862072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>
                <a:solidFill>
                  <a:srgbClr val="283038"/>
                </a:solidFill>
                <a:latin typeface="Aptos"/>
              </a:defRPr>
            </a:pPr>
            <a:r>
              <a:t>Satellite + station rainfall</a:t>
            </a:r>
            <a:br/>
            <a:r>
              <a:t>Continuous raster coverage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886200"/>
            <a:ext cx="3246120" cy="1508760"/>
          </a:xfrm>
          <a:prstGeom prst="roundRect">
            <a:avLst/>
          </a:prstGeom>
          <a:solidFill>
            <a:srgbClr val="F4F7F9"/>
          </a:solidFill>
          <a:ln>
            <a:solidFill>
              <a:srgbClr val="DB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3886200"/>
            <a:ext cx="73152" cy="1508760"/>
          </a:xfrm>
          <a:prstGeom prst="rect">
            <a:avLst/>
          </a:prstGeom>
          <a:solidFill>
            <a:srgbClr val="C59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47888" y="403250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304A"/>
                </a:solidFill>
                <a:latin typeface="Aptos"/>
              </a:defRPr>
            </a:pPr>
            <a:r>
              <a:t>WFP Food Prices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498848"/>
            <a:ext cx="2862072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>
                <a:solidFill>
                  <a:srgbClr val="283038"/>
                </a:solidFill>
                <a:latin typeface="Aptos"/>
              </a:defRPr>
            </a:pPr>
            <a:r>
              <a:t>Market price observations</a:t>
            </a:r>
            <a:br/>
            <a:r>
              <a:t>Commodities · markets · prices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848D"/>
                </a:solidFill>
                <a:latin typeface="Aptos"/>
              </a:defRPr>
            </a:pPr>
            <a:r>
              <a:t>DATASET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  <a:latin typeface="Aptos Display"/>
              </a:defRPr>
            </a:pPr>
            <a:r>
              <a:t>Comparison of Information Available Across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698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07A"/>
                </a:solidFill>
                <a:latin typeface="Aptos"/>
              </a:defRPr>
            </a:pPr>
            <a:r>
              <a:t>The sources differ in information type, spatial detail, collection method and update frequency.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051560" cy="45720"/>
          </a:xfrm>
          <a:prstGeom prst="rect">
            <a:avLst/>
          </a:prstGeom>
          <a:solidFill>
            <a:srgbClr val="268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225205"/>
              </p:ext>
            </p:extLst>
          </p:nvPr>
        </p:nvGraphicFramePr>
        <p:xfrm>
          <a:off x="228600" y="1664208"/>
          <a:ext cx="1173175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122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613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Information</a:t>
                      </a:r>
                    </a:p>
                  </a:txBody>
                  <a:tcPr marL="32004" marR="32004" marT="13716" marB="13716" anchor="ctr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GDELT</a:t>
                      </a:r>
                    </a:p>
                  </a:txBody>
                  <a:tcPr marL="32004" marR="32004" marT="13716" marB="13716" anchor="ctr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ReliefWeb</a:t>
                      </a:r>
                    </a:p>
                  </a:txBody>
                  <a:tcPr marL="32004" marR="32004" marT="13716" marB="13716" anchor="ctr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ACLED</a:t>
                      </a:r>
                    </a:p>
                  </a:txBody>
                  <a:tcPr marL="32004" marR="32004" marT="13716" marB="13716" anchor="ctr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ICEWS</a:t>
                      </a:r>
                    </a:p>
                  </a:txBody>
                  <a:tcPr marL="32004" marR="32004" marT="13716" marB="13716" anchor="ctr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CHIRPS</a:t>
                      </a:r>
                    </a:p>
                  </a:txBody>
                  <a:tcPr marL="32004" marR="32004" marT="13716" marB="13716" anchor="ctr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WFP</a:t>
                      </a:r>
                    </a:p>
                  </a:txBody>
                  <a:tcPr marL="32004" marR="32004" marT="13716" marB="13716" anchor="ctr">
                    <a:solidFill>
                      <a:srgbClr val="1C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Event date</a:t>
                      </a:r>
                    </a:p>
                  </a:txBody>
                  <a:tcPr marL="32004" marR="32004" marT="13716" marB="13716" anchor="ctr">
                    <a:solidFill>
                      <a:srgbClr val="DBE4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✓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Geographic location</a:t>
                      </a:r>
                    </a:p>
                  </a:txBody>
                  <a:tcPr marL="32004" marR="32004" marT="13716" marB="13716" anchor="ctr">
                    <a:solidFill>
                      <a:srgbClr val="DBE4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Coordinates &amp; ADM1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Country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Coordinates, ADM1 &amp; ADM2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Coordinates, province &amp; city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Raster grid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Market, ADM1 &amp; ADM2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Event classification</a:t>
                      </a:r>
                    </a:p>
                  </a:txBody>
                  <a:tcPr marL="32004" marR="32004" marT="13716" marB="13716" anchor="ctr">
                    <a:solidFill>
                      <a:srgbClr val="DBE4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CAMEO codes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Humanitarian themes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Event &amp; sub-event types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CAMEO codes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Conflict information</a:t>
                      </a:r>
                    </a:p>
                  </a:txBody>
                  <a:tcPr marL="32004" marR="32004" marT="13716" marB="13716" anchor="ctr">
                    <a:solidFill>
                      <a:srgbClr val="DBE4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Conflict &amp; cooperation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Mentioned in reports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Detailed conflict events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Political &amp; conflict events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Information format</a:t>
                      </a:r>
                    </a:p>
                  </a:txBody>
                  <a:tcPr marL="32004" marR="32004" marT="13716" marB="13716" anchor="ctr">
                    <a:solidFill>
                      <a:srgbClr val="DBE4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News-based events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rPr dirty="0"/>
                        <a:t>Reports, maps &amp; infographics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Conflict events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News-based events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Rainfall raster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Food price data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Unit of observation</a:t>
                      </a:r>
                    </a:p>
                  </a:txBody>
                  <a:tcPr marL="32004" marR="32004" marT="13716" marB="13716" anchor="ctr">
                    <a:solidFill>
                      <a:srgbClr val="DBE4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One event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One report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One conflict event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One event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One grid cell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One market price observation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Data generation method</a:t>
                      </a:r>
                    </a:p>
                  </a:txBody>
                  <a:tcPr marL="32004" marR="32004" marT="13716" marB="13716" anchor="ctr">
                    <a:solidFill>
                      <a:srgbClr val="DBE4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rPr dirty="0"/>
                        <a:t>Automatic news extraction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rPr dirty="0"/>
                        <a:t>Humanitarian reports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rPr dirty="0"/>
                        <a:t>Human-coded events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Automatic news extraction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Satellite &amp; weather stations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Market price monitoring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Update frequency</a:t>
                      </a:r>
                    </a:p>
                  </a:txBody>
                  <a:tcPr marL="32004" marR="32004" marT="13716" marB="13716" anchor="ctr">
                    <a:solidFill>
                      <a:srgbClr val="DBE4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rPr dirty="0"/>
                        <a:t>Every 15 min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rPr dirty="0"/>
                        <a:t>Continuous / daily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rPr dirty="0"/>
                        <a:t>Weekly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No longer updated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Monthly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Periodic / varies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Narrative text</a:t>
                      </a:r>
                    </a:p>
                  </a:txBody>
                  <a:tcPr marL="32004" marR="32004" marT="13716" marB="13716" anchor="ctr">
                    <a:solidFill>
                      <a:srgbClr val="DBE4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rPr dirty="0"/>
                        <a:t>Limited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rPr dirty="0"/>
                        <a:t>Full report text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rPr dirty="0"/>
                        <a:t>Event notes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rPr dirty="0"/>
                        <a:t>Story information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Rainfall information</a:t>
                      </a:r>
                    </a:p>
                  </a:txBody>
                  <a:tcPr marL="32004" marR="32004" marT="13716" marB="13716" anchor="ctr">
                    <a:solidFill>
                      <a:srgbClr val="DBE4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Mentioned in reports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rPr dirty="0"/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Rainfall estimates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Food prices</a:t>
                      </a:r>
                    </a:p>
                  </a:txBody>
                  <a:tcPr marL="32004" marR="32004" marT="13716" marB="13716" anchor="ctr">
                    <a:solidFill>
                      <a:srgbClr val="DBE4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Mentioned in reports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Commodity prices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Market information</a:t>
                      </a:r>
                    </a:p>
                  </a:txBody>
                  <a:tcPr marL="32004" marR="32004" marT="13716" marB="13716" anchor="ctr">
                    <a:solidFill>
                      <a:srgbClr val="DBE4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Mentioned in reports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Market observations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Actors</a:t>
                      </a:r>
                    </a:p>
                  </a:txBody>
                  <a:tcPr marL="32004" marR="32004" marT="13716" marB="13716" anchor="ctr">
                    <a:solidFill>
                      <a:srgbClr val="DBE4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Source &amp; target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Publishing organisations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Primary &amp; secondary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Source &amp; target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rPr dirty="0"/>
                        <a:t>Sentiment / Tone</a:t>
                      </a:r>
                    </a:p>
                  </a:txBody>
                  <a:tcPr marL="32004" marR="32004" marT="13716" marB="13716" anchor="ctr">
                    <a:solidFill>
                      <a:srgbClr val="DBE4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Average media tone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0">
                          <a:solidFill>
                            <a:srgbClr val="283038"/>
                          </a:solidFill>
                          <a:latin typeface="Aptos"/>
                        </a:defRPr>
                      </a:pPr>
                      <a:r>
                        <a:rPr dirty="0"/>
                        <a:t>✗</a:t>
                      </a:r>
                    </a:p>
                  </a:txBody>
                  <a:tcPr marL="32004" marR="32004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848D"/>
                </a:solidFill>
                <a:latin typeface="Aptos"/>
              </a:defRPr>
            </a:pPr>
            <a:r>
              <a:t>FEATURE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04A"/>
                </a:solidFill>
                <a:latin typeface="Aptos Display"/>
              </a:defRPr>
            </a:pPr>
            <a:r>
              <a:rPr dirty="0"/>
              <a:t>Selected Feature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7A"/>
                </a:solidFill>
                <a:latin typeface="Aptos"/>
              </a:defRPr>
            </a:pPr>
            <a:r>
              <a:t>Five feature groups define the information retained in the proposed ADM2 × month panel.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051560" cy="45720"/>
          </a:xfrm>
          <a:prstGeom prst="rect">
            <a:avLst/>
          </a:prstGeom>
          <a:solidFill>
            <a:srgbClr val="268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246120" cy="1600200"/>
          </a:xfrm>
          <a:prstGeom prst="roundRect">
            <a:avLst/>
          </a:prstGeom>
          <a:solidFill>
            <a:srgbClr val="F4F7F9"/>
          </a:solidFill>
          <a:ln>
            <a:solidFill>
              <a:srgbClr val="DB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59" y="1984248"/>
            <a:ext cx="475488" cy="475488"/>
          </a:xfrm>
          <a:prstGeom prst="ellipse">
            <a:avLst/>
          </a:prstGeom>
          <a:solidFill>
            <a:srgbClr val="268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048255"/>
            <a:ext cx="475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965960"/>
            <a:ext cx="21597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304A"/>
                </a:solidFill>
                <a:latin typeface="Aptos"/>
              </a:defRPr>
            </a:pPr>
            <a:r>
              <a:rPr dirty="0"/>
              <a:t>Spatial &amp; Temporal Identifiers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283038"/>
                </a:solidFill>
                <a:latin typeface="Aptos"/>
              </a:defRPr>
            </a:pPr>
            <a:r>
              <a:t>Define where and when each observation occurs.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246120" cy="1600200"/>
          </a:xfrm>
          <a:prstGeom prst="roundRect">
            <a:avLst/>
          </a:prstGeom>
          <a:solidFill>
            <a:srgbClr val="F4F7F9"/>
          </a:solidFill>
          <a:ln>
            <a:solidFill>
              <a:srgbClr val="DB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26280" y="1984248"/>
            <a:ext cx="475488" cy="475488"/>
          </a:xfrm>
          <a:prstGeom prst="ellipse">
            <a:avLst/>
          </a:prstGeom>
          <a:solidFill>
            <a:srgbClr val="B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048255"/>
            <a:ext cx="475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1939858"/>
            <a:ext cx="324611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304A"/>
                </a:solidFill>
                <a:latin typeface="Aptos"/>
              </a:defRPr>
            </a:pPr>
            <a:r>
              <a:rPr dirty="0"/>
              <a:t>Event / Record Count &amp; </a:t>
            </a:r>
            <a:r>
              <a:rPr sz="1400" dirty="0"/>
              <a:t>Classification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0" y="260604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283038"/>
                </a:solidFill>
                <a:latin typeface="Aptos"/>
              </a:defRPr>
            </a:pPr>
            <a:r>
              <a:t>Measure how much information each source captures and preserve its original event or theme classification.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783080"/>
            <a:ext cx="3246120" cy="1600200"/>
          </a:xfrm>
          <a:prstGeom prst="roundRect">
            <a:avLst/>
          </a:prstGeom>
          <a:solidFill>
            <a:srgbClr val="F4F7F9"/>
          </a:solidFill>
          <a:ln>
            <a:solidFill>
              <a:srgbClr val="DB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0" y="1984248"/>
            <a:ext cx="475488" cy="475488"/>
          </a:xfrm>
          <a:prstGeom prst="ellipse">
            <a:avLst/>
          </a:prstGeom>
          <a:solidFill>
            <a:srgbClr val="69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2048255"/>
            <a:ext cx="475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029524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04A"/>
                </a:solidFill>
                <a:latin typeface="Aptos"/>
              </a:defRPr>
            </a:pPr>
            <a:r>
              <a:rPr dirty="0"/>
              <a:t>Tone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60604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283038"/>
                </a:solidFill>
                <a:latin typeface="Aptos"/>
              </a:defRPr>
            </a:pPr>
            <a:r>
              <a:rPr dirty="0"/>
              <a:t>Represent whether reported information is more positive or negative for an ADM2 × month.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4600" y="3977639"/>
            <a:ext cx="3246120" cy="1600200"/>
          </a:xfrm>
          <a:prstGeom prst="roundRect">
            <a:avLst/>
          </a:prstGeom>
          <a:solidFill>
            <a:srgbClr val="F4F7F9"/>
          </a:solidFill>
          <a:ln>
            <a:solidFill>
              <a:srgbClr val="DB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697480" y="4178807"/>
            <a:ext cx="475488" cy="475488"/>
          </a:xfrm>
          <a:prstGeom prst="ellipse">
            <a:avLst/>
          </a:prstGeom>
          <a:solidFill>
            <a:srgbClr val="46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97480" y="4242816"/>
            <a:ext cx="475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2968" y="4251961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04A"/>
                </a:solidFill>
                <a:latin typeface="Aptos"/>
              </a:defRPr>
            </a:pPr>
            <a:r>
              <a:rPr dirty="0"/>
              <a:t>Environmental Conditions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80060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283038"/>
                </a:solidFill>
                <a:latin typeface="Aptos"/>
              </a:defRPr>
            </a:pPr>
            <a:r>
              <a:rPr dirty="0"/>
              <a:t>Provide rainfall context using monthly CHIRPS observations.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977639"/>
            <a:ext cx="3246120" cy="1600200"/>
          </a:xfrm>
          <a:prstGeom prst="roundRect">
            <a:avLst/>
          </a:prstGeom>
          <a:solidFill>
            <a:srgbClr val="F4F7F9"/>
          </a:solidFill>
          <a:ln>
            <a:solidFill>
              <a:srgbClr val="DB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00800" y="4178807"/>
            <a:ext cx="475488" cy="475488"/>
          </a:xfrm>
          <a:prstGeom prst="ellipse">
            <a:avLst/>
          </a:prstGeom>
          <a:solidFill>
            <a:srgbClr val="C59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4242816"/>
            <a:ext cx="47548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24738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04A"/>
                </a:solidFill>
                <a:latin typeface="Aptos"/>
              </a:defRPr>
            </a:pPr>
            <a:r>
              <a:rPr dirty="0"/>
              <a:t>Market Conditions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80060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283038"/>
                </a:solidFill>
                <a:latin typeface="Aptos"/>
              </a:defRPr>
            </a:pPr>
            <a:r>
              <a:t>Measure changes in commodity prices between consecutive months.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8B1254-7B6F-AAF0-370B-13B15C0025EC}"/>
              </a:ext>
            </a:extLst>
          </p:cNvPr>
          <p:cNvSpPr txBox="1"/>
          <p:nvPr/>
        </p:nvSpPr>
        <p:spPr>
          <a:xfrm>
            <a:off x="10196423" y="3966933"/>
            <a:ext cx="1800045" cy="909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848D"/>
                </a:solidFill>
                <a:latin typeface="Aptos"/>
              </a:defRPr>
            </a:pPr>
            <a:r>
              <a:t>FEATURE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04A"/>
                </a:solidFill>
                <a:latin typeface="Aptos Display"/>
              </a:defRPr>
            </a:pPr>
            <a:r>
              <a:t>Proposed Features by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7A"/>
                </a:solidFill>
                <a:latin typeface="Aptos"/>
              </a:defRPr>
            </a:pPr>
            <a:r>
              <a:t>Each feature is aggregated or represented at the common ADM2 × month level.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051560" cy="45720"/>
          </a:xfrm>
          <a:prstGeom prst="rect">
            <a:avLst/>
          </a:prstGeom>
          <a:solidFill>
            <a:srgbClr val="268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11018520" cy="658368"/>
          </a:xfrm>
          <a:prstGeom prst="roundRect">
            <a:avLst/>
          </a:prstGeom>
          <a:solidFill>
            <a:srgbClr val="F4F7F9"/>
          </a:solidFill>
          <a:ln>
            <a:solidFill>
              <a:srgbClr val="DB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737360"/>
            <a:ext cx="73152" cy="658368"/>
          </a:xfrm>
          <a:prstGeom prst="rect">
            <a:avLst/>
          </a:prstGeom>
          <a:solidFill>
            <a:srgbClr val="268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847088"/>
            <a:ext cx="365760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04A"/>
                </a:solidFill>
                <a:latin typeface="Aptos"/>
              </a:defRPr>
            </a:pPr>
            <a:r>
              <a:t>1. Spatial &amp; Temporal Identifiers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4551" y="1747594"/>
            <a:ext cx="6858000" cy="471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283038"/>
                </a:solidFill>
                <a:latin typeface="Aptos"/>
              </a:defRPr>
            </a:pPr>
            <a:r>
              <a:rPr dirty="0"/>
              <a:t>• year</a:t>
            </a:r>
          </a:p>
          <a:p>
            <a:pPr>
              <a:spcAft>
                <a:spcPts val="200"/>
              </a:spcAft>
              <a:defRPr sz="1150">
                <a:solidFill>
                  <a:srgbClr val="283038"/>
                </a:solidFill>
                <a:latin typeface="Aptos"/>
              </a:defRPr>
            </a:pPr>
            <a:r>
              <a:rPr dirty="0"/>
              <a:t>• 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587752"/>
            <a:ext cx="11018520" cy="1097280"/>
          </a:xfrm>
          <a:prstGeom prst="roundRect">
            <a:avLst/>
          </a:prstGeom>
          <a:solidFill>
            <a:srgbClr val="F4F7F9"/>
          </a:solidFill>
          <a:ln>
            <a:solidFill>
              <a:srgbClr val="DB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2587752"/>
            <a:ext cx="73152" cy="1097280"/>
          </a:xfrm>
          <a:prstGeom prst="rect">
            <a:avLst/>
          </a:prstGeom>
          <a:solidFill>
            <a:srgbClr val="B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697480"/>
            <a:ext cx="3657600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04A"/>
                </a:solidFill>
                <a:latin typeface="Aptos"/>
              </a:defRPr>
            </a:pPr>
            <a:r>
              <a:rPr dirty="0"/>
              <a:t>2. Event / Record Count &amp;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60904"/>
            <a:ext cx="68580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283038"/>
                </a:solidFill>
                <a:latin typeface="Aptos"/>
              </a:defRPr>
            </a:pPr>
            <a:r>
              <a:rPr dirty="0"/>
              <a:t>• GDELT: event count + </a:t>
            </a:r>
            <a:r>
              <a:rPr dirty="0" err="1"/>
              <a:t>QuadClass</a:t>
            </a:r>
            <a:r>
              <a:rPr dirty="0"/>
              <a:t> counts</a:t>
            </a:r>
          </a:p>
          <a:p>
            <a:pPr>
              <a:spcAft>
                <a:spcPts val="200"/>
              </a:spcAft>
              <a:defRPr sz="1150">
                <a:solidFill>
                  <a:srgbClr val="283038"/>
                </a:solidFill>
                <a:latin typeface="Aptos"/>
              </a:defRPr>
            </a:pPr>
            <a:r>
              <a:rPr dirty="0"/>
              <a:t>• ACLED: event count + event-type counts</a:t>
            </a:r>
          </a:p>
          <a:p>
            <a:pPr>
              <a:spcAft>
                <a:spcPts val="200"/>
              </a:spcAft>
              <a:defRPr sz="1150">
                <a:solidFill>
                  <a:srgbClr val="283038"/>
                </a:solidFill>
                <a:latin typeface="Aptos"/>
              </a:defRPr>
            </a:pPr>
            <a:r>
              <a:rPr dirty="0"/>
              <a:t>• ICEWS: event count + CAMEO class counts</a:t>
            </a:r>
          </a:p>
          <a:p>
            <a:pPr>
              <a:spcAft>
                <a:spcPts val="200"/>
              </a:spcAft>
              <a:defRPr sz="1150">
                <a:solidFill>
                  <a:srgbClr val="283038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ReliefWeb</a:t>
            </a:r>
            <a:r>
              <a:rPr dirty="0"/>
              <a:t>: report count + theme counts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886200"/>
            <a:ext cx="11018520" cy="713232"/>
          </a:xfrm>
          <a:prstGeom prst="roundRect">
            <a:avLst/>
          </a:prstGeom>
          <a:solidFill>
            <a:srgbClr val="F4F7F9"/>
          </a:solidFill>
          <a:ln>
            <a:solidFill>
              <a:srgbClr val="DB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3886200"/>
            <a:ext cx="73152" cy="713232"/>
          </a:xfrm>
          <a:prstGeom prst="rect">
            <a:avLst/>
          </a:prstGeom>
          <a:solidFill>
            <a:srgbClr val="69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995928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04A"/>
                </a:solidFill>
                <a:latin typeface="Aptos"/>
              </a:defRPr>
            </a:pPr>
            <a:r>
              <a:t>3. Tone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094004"/>
            <a:ext cx="68580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283038"/>
                </a:solidFill>
                <a:latin typeface="Aptos"/>
              </a:defRPr>
            </a:pPr>
            <a:r>
              <a:rPr dirty="0"/>
              <a:t>•  </a:t>
            </a:r>
            <a:r>
              <a:rPr lang="en-US" dirty="0"/>
              <a:t>T</a:t>
            </a:r>
            <a:r>
              <a:rPr dirty="0"/>
              <a:t>one score per source / ADM2 × month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782312"/>
            <a:ext cx="11018520" cy="530352"/>
          </a:xfrm>
          <a:prstGeom prst="roundRect">
            <a:avLst/>
          </a:prstGeom>
          <a:solidFill>
            <a:srgbClr val="F4F7F9"/>
          </a:solidFill>
          <a:ln>
            <a:solidFill>
              <a:srgbClr val="DB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4782312"/>
            <a:ext cx="73152" cy="530352"/>
          </a:xfrm>
          <a:prstGeom prst="rect">
            <a:avLst/>
          </a:prstGeom>
          <a:solidFill>
            <a:srgbClr val="468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4892040"/>
            <a:ext cx="365760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04A"/>
                </a:solidFill>
                <a:latin typeface="Aptos"/>
              </a:defRPr>
            </a:pPr>
            <a:r>
              <a:t>4. Environmental Conditions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855464"/>
            <a:ext cx="685800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283038"/>
                </a:solidFill>
                <a:latin typeface="Aptos"/>
              </a:defRPr>
            </a:pPr>
            <a:r>
              <a:t>• rainfall_mean_mm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486400"/>
            <a:ext cx="1101852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DB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5486400"/>
            <a:ext cx="73152" cy="960120"/>
          </a:xfrm>
          <a:prstGeom prst="rect">
            <a:avLst/>
          </a:prstGeom>
          <a:solidFill>
            <a:srgbClr val="C59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5596128"/>
            <a:ext cx="3657600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04A"/>
                </a:solidFill>
                <a:latin typeface="Aptos"/>
              </a:defRPr>
            </a:pPr>
            <a:r>
              <a:rPr dirty="0"/>
              <a:t>5. Market Conditions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559552"/>
            <a:ext cx="685800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283038"/>
                </a:solidFill>
                <a:latin typeface="Aptos"/>
              </a:defRPr>
            </a:pPr>
            <a:r>
              <a:t>• One monthly price-change (%) feature per commodity</a:t>
            </a:r>
          </a:p>
          <a:p>
            <a:pPr>
              <a:spcAft>
                <a:spcPts val="200"/>
              </a:spcAft>
              <a:defRPr sz="1150">
                <a:solidFill>
                  <a:srgbClr val="283038"/>
                </a:solidFill>
                <a:latin typeface="Aptos"/>
              </a:defRPr>
            </a:pPr>
            <a:r>
              <a:t>• e.g. maize_price_change_pct</a:t>
            </a:r>
          </a:p>
          <a:p>
            <a:pPr>
              <a:spcAft>
                <a:spcPts val="200"/>
              </a:spcAft>
              <a:defRPr sz="1150">
                <a:solidFill>
                  <a:srgbClr val="283038"/>
                </a:solidFill>
                <a:latin typeface="Aptos"/>
              </a:defRPr>
            </a:pPr>
            <a:r>
              <a:t>• sorghum_price_change_pct, rice_price_change_pct, etc.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64015D-46D3-22CD-6341-E486945B63D0}"/>
              </a:ext>
            </a:extLst>
          </p:cNvPr>
          <p:cNvSpPr txBox="1"/>
          <p:nvPr/>
        </p:nvSpPr>
        <p:spPr>
          <a:xfrm>
            <a:off x="4480560" y="1748616"/>
            <a:ext cx="6858000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283038"/>
                </a:solidFill>
                <a:latin typeface="Aptos"/>
              </a:defRPr>
            </a:pPr>
            <a:r>
              <a:rPr dirty="0"/>
              <a:t>• country</a:t>
            </a:r>
          </a:p>
          <a:p>
            <a:pPr>
              <a:spcAft>
                <a:spcPts val="200"/>
              </a:spcAft>
              <a:defRPr sz="1150">
                <a:solidFill>
                  <a:srgbClr val="283038"/>
                </a:solidFill>
                <a:latin typeface="Aptos"/>
              </a:defRPr>
            </a:pPr>
            <a:r>
              <a:rPr dirty="0"/>
              <a:t>• admin1</a:t>
            </a:r>
          </a:p>
          <a:p>
            <a:pPr>
              <a:spcAft>
                <a:spcPts val="200"/>
              </a:spcAft>
              <a:defRPr sz="1150">
                <a:solidFill>
                  <a:srgbClr val="283038"/>
                </a:solidFill>
                <a:latin typeface="Aptos"/>
              </a:defRPr>
            </a:pPr>
            <a:r>
              <a:rPr dirty="0"/>
              <a:t>• admin2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848D"/>
                </a:solidFill>
                <a:latin typeface="Aptos"/>
              </a:defRPr>
            </a:pPr>
            <a:r>
              <a:t>DATASET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04A"/>
                </a:solidFill>
                <a:latin typeface="Aptos Display"/>
              </a:defRPr>
            </a:pPr>
            <a:r>
              <a:t>Main Takeaways from Dataset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070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7A"/>
                </a:solidFill>
                <a:latin typeface="Aptos"/>
              </a:defRPr>
            </a:pPr>
            <a:r>
              <a:t>The comparison suggests complementarity rather than one universally complete source.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051560" cy="54864"/>
          </a:xfrm>
          <a:prstGeom prst="rect">
            <a:avLst/>
          </a:prstGeom>
          <a:solidFill>
            <a:srgbClr val="268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83038"/>
                </a:solidFill>
                <a:latin typeface="Aptos"/>
              </a:defRPr>
            </a:pPr>
            <a:r>
              <a:t>Event sources capture different political and conflict information; GDELT and ICEWS use CAMEO, while ACLED uses its own taxonomy.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83038"/>
                </a:solidFill>
                <a:latin typeface="Aptos"/>
              </a:defRPr>
            </a:pPr>
            <a:r>
              <a:t>ReliefWeb provides richer humanitarian context through full reports and humanitarian themes.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83038"/>
                </a:solidFill>
                <a:latin typeface="Aptos"/>
              </a:defRPr>
            </a:pPr>
            <a:r>
              <a:t>CHIRPS and WFP are specialised contextual sources focused on rainfall and commodity prices.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83038"/>
                </a:solidFill>
                <a:latin typeface="Aptos"/>
              </a:defRPr>
            </a:pPr>
            <a:r>
              <a:t>Collection methods vary: automated news extraction, human coding, humanitarian publishing, satellite/station estimation and market monitoring.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83038"/>
                </a:solidFill>
                <a:latin typeface="Aptos"/>
              </a:defRPr>
            </a:pPr>
            <a:r>
              <a:t>No single dataset provides all relevant information.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800">
                <a:solidFill>
                  <a:srgbClr val="283038"/>
                </a:solidFill>
                <a:latin typeface="Aptos"/>
              </a:defRPr>
            </a:pPr>
            <a:r>
              <a:t>Integration requires a shared spatial and temporal structure before meaningful comparison.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9724" y="2653773"/>
            <a:ext cx="10424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rPr lang="en-US" sz="5400" dirty="0"/>
              <a:t>Thank you</a:t>
            </a:r>
            <a:endParaRPr sz="5400" dirty="0"/>
          </a:p>
        </p:txBody>
      </p:sp>
    </p:spTree>
    <p:extLst>
      <p:ext uri="{BB962C8B-B14F-4D97-AF65-F5344CB8AC3E}">
        <p14:creationId xmlns:p14="http://schemas.microsoft.com/office/powerpoint/2010/main" val="1514296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708</Words>
  <Application>Microsoft Office PowerPoint</Application>
  <PresentationFormat>Widescreen</PresentationFormat>
  <Paragraphs>180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samuel aracena</dc:creator>
  <cp:keywords/>
  <dc:description>generated using python-pptx</dc:description>
  <cp:lastModifiedBy>samuel aracena</cp:lastModifiedBy>
  <cp:revision>4</cp:revision>
  <dcterms:created xsi:type="dcterms:W3CDTF">2013-01-27T09:14:16Z</dcterms:created>
  <dcterms:modified xsi:type="dcterms:W3CDTF">2026-07-15T14:49:43Z</dcterms:modified>
  <cp:category/>
</cp:coreProperties>
</file>