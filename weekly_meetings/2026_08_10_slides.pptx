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validity work on the prototype (tasks 1-9), then the full-year extension (task 10) and the analyses it made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third of severely drought-stressed district-months passed with no report naming the district at all, against roughly one in eight for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600200"/>
            <a:ext cx="82296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WEEK OF AUGUST 10, 2026</a:t>
            </a:r>
            <a:endParaRPr lang="en-US" sz="1300" dirty="0"/>
          </a:p>
        </p:txBody>
      </p:sp>
      <p:sp>
        <p:nvSpPr>
          <p:cNvPr id="5" name="Text 3"/>
          <p:cNvSpPr/>
          <p:nvPr/>
        </p:nvSpPr>
        <p:spPr>
          <a:xfrm>
            <a:off x="566928" y="2057400"/>
            <a:ext cx="859536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Validating the prototype,</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then scaling to a full year</a:t>
            </a:r>
            <a:endParaRPr lang="en-US" sz="4000" dirty="0"/>
          </a:p>
        </p:txBody>
      </p:sp>
      <p:sp>
        <p:nvSpPr>
          <p:cNvPr id="6" name="Text 4"/>
          <p:cNvSpPr/>
          <p:nvPr/>
        </p:nvSpPr>
        <p:spPr>
          <a:xfrm>
            <a:off x="566928" y="3977640"/>
            <a:ext cx="7863840" cy="82296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Ten validity tasks completed on the two-month Somalia prototype, the pipeline extended to all of 2024, and a new result on which kinds of crisis get observed.</a:t>
            </a:r>
            <a:endParaRPr lang="en-US" sz="1450" dirty="0"/>
          </a:p>
        </p:txBody>
      </p:sp>
      <p:sp>
        <p:nvSpPr>
          <p:cNvPr id="7" name="Text 5"/>
          <p:cNvSpPr/>
          <p:nvPr/>
        </p:nvSpPr>
        <p:spPr>
          <a:xfrm>
            <a:off x="566928" y="5806440"/>
            <a:ext cx="8229600" cy="310896"/>
          </a:xfrm>
          <a:prstGeom prst="rect">
            <a:avLst/>
          </a:prstGeom>
          <a:noFill/>
          <a:ln/>
        </p:spPr>
        <p:txBody>
          <a:bodyPr wrap="square" lIns="0" tIns="0" rIns="0" bIns="0" rtlCol="0" anchor="ctr"/>
          <a:lstStyle/>
          <a:p>
            <a:pPr indent="0" marL="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Tasks 1 and 2: the research question, fixed</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Framed around humanitarian observability</a:t>
            </a:r>
            <a:endParaRPr lang="en-US" sz="1350" dirty="0"/>
          </a:p>
        </p:txBody>
      </p:sp>
      <p:sp>
        <p:nvSpPr>
          <p:cNvPr id="4" name="Shape 2"/>
          <p:cNvSpPr/>
          <p:nvPr/>
        </p:nvSpPr>
        <p:spPr>
          <a:xfrm>
            <a:off x="566928" y="1517904"/>
            <a:ext cx="11027664" cy="1152144"/>
          </a:xfrm>
          <a:prstGeom prst="roundRect">
            <a:avLst>
              <a:gd name="adj" fmla="val 4762"/>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59536" y="1682496"/>
            <a:ext cx="10442448" cy="841248"/>
          </a:xfrm>
          <a:prstGeom prst="rect">
            <a:avLst/>
          </a:prstGeom>
          <a:noFill/>
          <a:ln/>
        </p:spPr>
        <p:txBody>
          <a:bodyPr wrap="square" lIns="0" tIns="0" rIns="0" bIns="0" rtlCol="0" anchor="ctr"/>
          <a:lstStyle/>
          <a:p>
            <a:pPr indent="0" marL="0">
              <a:lnSpc>
                <a:spcPts val="2600"/>
              </a:lnSpc>
              <a:buNone/>
            </a:pPr>
            <a:r>
              <a:rPr lang="en-US" sz="1800" i="1" dirty="0">
                <a:solidFill>
                  <a:srgbClr val="FFFFFF"/>
                </a:solidFill>
                <a:latin typeface="Cambria" pitchFamily="34" charset="0"/>
                <a:ea typeface="Cambria" pitchFamily="34" charset="-122"/>
                <a:cs typeface="Cambria" pitchFamily="34" charset="-120"/>
              </a:rPr>
              <a:t>How unevenly do humanitarian data sources observe different places and crisis mechanisms, and what are the consequences for food-insecurity analysis?</a:t>
            </a:r>
            <a:endParaRPr lang="en-US" sz="1800" dirty="0"/>
          </a:p>
        </p:txBody>
      </p:sp>
      <p:sp>
        <p:nvSpPr>
          <p:cNvPr id="6" name="Shape 4"/>
          <p:cNvSpPr/>
          <p:nvPr/>
        </p:nvSpPr>
        <p:spPr>
          <a:xfrm>
            <a:off x="566928" y="2907792"/>
            <a:ext cx="3584448" cy="2743200"/>
          </a:xfrm>
          <a:prstGeom prst="roundRect">
            <a:avLst>
              <a:gd name="adj" fmla="val 2000"/>
            </a:avLst>
          </a:prstGeom>
          <a:solidFill>
            <a:srgbClr val="F7F5F1"/>
          </a:solidFill>
          <a:ln/>
          <a:effectLst>
            <a:outerShdw sx="100000" sy="100000" kx="0" ky="0" algn="bl" rotWithShape="0" blurRad="76200" dist="381" dir="5400000">
              <a:srgbClr val="000000">
                <a:alpha val="8000"/>
              </a:srgbClr>
            </a:outerShdw>
          </a:effectLst>
        </p:spPr>
      </p:sp>
      <p:sp>
        <p:nvSpPr>
          <p:cNvPr id="7" name="Shape 5"/>
          <p:cNvSpPr/>
          <p:nvPr/>
        </p:nvSpPr>
        <p:spPr>
          <a:xfrm>
            <a:off x="804672" y="3108960"/>
            <a:ext cx="402336" cy="402336"/>
          </a:xfrm>
          <a:prstGeom prst="ellipse">
            <a:avLst/>
          </a:prstGeom>
          <a:solidFill>
            <a:srgbClr val="A7BEAE"/>
          </a:solidFill>
          <a:ln/>
        </p:spPr>
      </p:sp>
      <p:sp>
        <p:nvSpPr>
          <p:cNvPr id="8" name="Text 6"/>
          <p:cNvSpPr/>
          <p:nvPr/>
        </p:nvSpPr>
        <p:spPr>
          <a:xfrm>
            <a:off x="804672" y="31089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1316736" y="3108960"/>
            <a:ext cx="2651760" cy="548640"/>
          </a:xfrm>
          <a:prstGeom prst="rect">
            <a:avLst/>
          </a:prstGeom>
          <a:noFill/>
          <a:ln/>
        </p:spPr>
        <p:txBody>
          <a:bodyPr wrap="square" lIns="0" tIns="0" rIns="0" bIns="0" rtlCol="0" anchor="ctr"/>
          <a:lstStyle/>
          <a:p>
            <a:pPr indent="0" marL="0">
              <a:buNone/>
            </a:pPr>
            <a:r>
              <a:rPr lang="en-US" sz="1450" b="1" dirty="0">
                <a:solidFill>
                  <a:srgbClr val="2B2523"/>
                </a:solidFill>
                <a:latin typeface="Cambria" pitchFamily="34" charset="0"/>
                <a:ea typeface="Cambria" pitchFamily="34" charset="-122"/>
                <a:cs typeface="Cambria" pitchFamily="34" charset="-120"/>
              </a:rPr>
              <a:t>Where are the gaps, and</a:t>
            </a:r>
            <a:endParaRPr lang="en-US" sz="1450" dirty="0"/>
          </a:p>
          <a:p>
            <a:pPr indent="0" marL="0">
              <a:buNone/>
            </a:pPr>
            <a:r>
              <a:rPr lang="en-US" sz="1450" b="1" dirty="0">
                <a:solidFill>
                  <a:srgbClr val="2B2523"/>
                </a:solidFill>
                <a:latin typeface="Cambria" pitchFamily="34" charset="0"/>
                <a:ea typeface="Cambria" pitchFamily="34" charset="-122"/>
                <a:cs typeface="Cambria" pitchFamily="34" charset="-120"/>
              </a:rPr>
              <a:t>are they systematic?</a:t>
            </a:r>
            <a:endParaRPr lang="en-US" sz="1450" dirty="0"/>
          </a:p>
        </p:txBody>
      </p:sp>
      <p:sp>
        <p:nvSpPr>
          <p:cNvPr id="10" name="Text 8"/>
          <p:cNvSpPr/>
          <p:nvPr/>
        </p:nvSpPr>
        <p:spPr>
          <a:xfrm>
            <a:off x="804672" y="3785616"/>
            <a:ext cx="3127248" cy="128016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Which mechanisms have the largest coverage gaps, and are those gaps random or tied to district characteristics such as conflict exposure?</a:t>
            </a:r>
            <a:endParaRPr lang="en-US" sz="1150" dirty="0"/>
          </a:p>
        </p:txBody>
      </p:sp>
      <p:sp>
        <p:nvSpPr>
          <p:cNvPr id="11" name="Text 9"/>
          <p:cNvSpPr/>
          <p:nvPr/>
        </p:nvSpPr>
        <p:spPr>
          <a:xfrm>
            <a:off x="804672" y="5120640"/>
            <a:ext cx="3127248" cy="292608"/>
          </a:xfrm>
          <a:prstGeom prst="rect">
            <a:avLst/>
          </a:prstGeom>
          <a:noFill/>
          <a:ln/>
        </p:spPr>
        <p:txBody>
          <a:bodyPr wrap="square" lIns="0" tIns="0" rIns="0" bIns="0" rtlCol="0" anchor="ctr"/>
          <a:lstStyle/>
          <a:p>
            <a:pPr indent="0" marL="0">
              <a:buNone/>
            </a:pPr>
            <a:r>
              <a:rPr lang="en-US" sz="1000" b="1" spc="100" kern="0" dirty="0">
                <a:solidFill>
                  <a:srgbClr val="A7BEAE"/>
                </a:solidFill>
                <a:latin typeface="Calibri" pitchFamily="34" charset="0"/>
                <a:ea typeface="Calibri" pitchFamily="34" charset="-122"/>
                <a:cs typeface="Calibri" pitchFamily="34" charset="-120"/>
              </a:rPr>
              <a:t>SUBSTANTIALLY COVERED</a:t>
            </a:r>
            <a:endParaRPr lang="en-US" sz="1000" dirty="0"/>
          </a:p>
        </p:txBody>
      </p:sp>
      <p:sp>
        <p:nvSpPr>
          <p:cNvPr id="12" name="Shape 10"/>
          <p:cNvSpPr/>
          <p:nvPr/>
        </p:nvSpPr>
        <p:spPr>
          <a:xfrm>
            <a:off x="4279392" y="2907792"/>
            <a:ext cx="3584448" cy="2743200"/>
          </a:xfrm>
          <a:prstGeom prst="roundRect">
            <a:avLst>
              <a:gd name="adj" fmla="val 2000"/>
            </a:avLst>
          </a:prstGeom>
          <a:solidFill>
            <a:srgbClr val="F7F5F1"/>
          </a:solidFill>
          <a:ln/>
          <a:effectLst>
            <a:outerShdw sx="100000" sy="100000" kx="0" ky="0" algn="bl" rotWithShape="0" blurRad="76200" dist="381" dir="5400000">
              <a:srgbClr val="000000">
                <a:alpha val="8000"/>
              </a:srgbClr>
            </a:outerShdw>
          </a:effectLst>
        </p:spPr>
      </p:sp>
      <p:sp>
        <p:nvSpPr>
          <p:cNvPr id="13" name="Shape 11"/>
          <p:cNvSpPr/>
          <p:nvPr/>
        </p:nvSpPr>
        <p:spPr>
          <a:xfrm>
            <a:off x="4517136" y="3108960"/>
            <a:ext cx="402336" cy="402336"/>
          </a:xfrm>
          <a:prstGeom prst="ellipse">
            <a:avLst/>
          </a:prstGeom>
          <a:solidFill>
            <a:srgbClr val="B85042"/>
          </a:solidFill>
          <a:ln/>
        </p:spPr>
      </p:sp>
      <p:sp>
        <p:nvSpPr>
          <p:cNvPr id="14" name="Text 12"/>
          <p:cNvSpPr/>
          <p:nvPr/>
        </p:nvSpPr>
        <p:spPr>
          <a:xfrm>
            <a:off x="4517136" y="31089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5" name="Text 13"/>
          <p:cNvSpPr/>
          <p:nvPr/>
        </p:nvSpPr>
        <p:spPr>
          <a:xfrm>
            <a:off x="5029200" y="3108960"/>
            <a:ext cx="2651760" cy="548640"/>
          </a:xfrm>
          <a:prstGeom prst="rect">
            <a:avLst/>
          </a:prstGeom>
          <a:noFill/>
          <a:ln/>
        </p:spPr>
        <p:txBody>
          <a:bodyPr wrap="square" lIns="0" tIns="0" rIns="0" bIns="0" rtlCol="0" anchor="ctr"/>
          <a:lstStyle/>
          <a:p>
            <a:pPr indent="0" marL="0">
              <a:buNone/>
            </a:pPr>
            <a:r>
              <a:rPr lang="en-US" sz="1450" b="1" dirty="0">
                <a:solidFill>
                  <a:srgbClr val="2B2523"/>
                </a:solidFill>
                <a:latin typeface="Cambria" pitchFamily="34" charset="0"/>
                <a:ea typeface="Cambria" pitchFamily="34" charset="-122"/>
                <a:cs typeface="Cambria" pitchFamily="34" charset="-120"/>
              </a:rPr>
              <a:t>Does observability differ</a:t>
            </a:r>
            <a:endParaRPr lang="en-US" sz="1450" dirty="0"/>
          </a:p>
          <a:p>
            <a:pPr indent="0" marL="0">
              <a:buNone/>
            </a:pPr>
            <a:r>
              <a:rPr lang="en-US" sz="1450" b="1" dirty="0">
                <a:solidFill>
                  <a:srgbClr val="2B2523"/>
                </a:solidFill>
                <a:latin typeface="Cambria" pitchFamily="34" charset="0"/>
                <a:ea typeface="Cambria" pitchFamily="34" charset="-122"/>
                <a:cs typeface="Cambria" pitchFamily="34" charset="-120"/>
              </a:rPr>
              <a:t>by crisis type?</a:t>
            </a:r>
            <a:endParaRPr lang="en-US" sz="1450" dirty="0"/>
          </a:p>
        </p:txBody>
      </p:sp>
      <p:sp>
        <p:nvSpPr>
          <p:cNvPr id="16" name="Text 14"/>
          <p:cNvSpPr/>
          <p:nvPr/>
        </p:nvSpPr>
        <p:spPr>
          <a:xfrm>
            <a:off x="4517136" y="3785616"/>
            <a:ext cx="3127248" cy="128016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Is conflict-driven distress captured more consistently than slow-onset climate stress of comparable severity?</a:t>
            </a:r>
            <a:endParaRPr lang="en-US" sz="1150" dirty="0"/>
          </a:p>
        </p:txBody>
      </p:sp>
      <p:sp>
        <p:nvSpPr>
          <p:cNvPr id="17" name="Text 15"/>
          <p:cNvSpPr/>
          <p:nvPr/>
        </p:nvSpPr>
        <p:spPr>
          <a:xfrm>
            <a:off x="4517136" y="5120640"/>
            <a:ext cx="3127248" cy="292608"/>
          </a:xfrm>
          <a:prstGeom prst="rect">
            <a:avLst/>
          </a:prstGeom>
          <a:noFill/>
          <a:ln/>
        </p:spPr>
        <p:txBody>
          <a:bodyPr wrap="square" lIns="0" tIns="0" rIns="0" bIns="0" rtlCol="0" anchor="ctr"/>
          <a:lstStyle/>
          <a:p>
            <a:pPr indent="0" marL="0">
              <a:buNone/>
            </a:pPr>
            <a:r>
              <a:rPr lang="en-US" sz="1000" b="1" spc="100" kern="0" dirty="0">
                <a:solidFill>
                  <a:srgbClr val="B85042"/>
                </a:solidFill>
                <a:latin typeface="Calibri" pitchFamily="34" charset="0"/>
                <a:ea typeface="Calibri" pitchFamily="34" charset="-122"/>
                <a:cs typeface="Calibri" pitchFamily="34" charset="-120"/>
              </a:rPr>
              <a:t>ANSWERED THIS WEEK</a:t>
            </a:r>
            <a:endParaRPr lang="en-US" sz="1000" dirty="0"/>
          </a:p>
        </p:txBody>
      </p:sp>
      <p:sp>
        <p:nvSpPr>
          <p:cNvPr id="18" name="Shape 16"/>
          <p:cNvSpPr/>
          <p:nvPr/>
        </p:nvSpPr>
        <p:spPr>
          <a:xfrm>
            <a:off x="7991856" y="2907792"/>
            <a:ext cx="3584448" cy="2743200"/>
          </a:xfrm>
          <a:prstGeom prst="roundRect">
            <a:avLst>
              <a:gd name="adj" fmla="val 2000"/>
            </a:avLst>
          </a:prstGeom>
          <a:solidFill>
            <a:srgbClr val="F7F5F1"/>
          </a:solidFill>
          <a:ln/>
          <a:effectLst>
            <a:outerShdw sx="100000" sy="100000" kx="0" ky="0" algn="bl" rotWithShape="0" blurRad="76200" dist="381" dir="5400000">
              <a:srgbClr val="000000">
                <a:alpha val="8000"/>
              </a:srgbClr>
            </a:outerShdw>
          </a:effectLst>
        </p:spPr>
      </p:sp>
      <p:sp>
        <p:nvSpPr>
          <p:cNvPr id="19" name="Shape 17"/>
          <p:cNvSpPr/>
          <p:nvPr/>
        </p:nvSpPr>
        <p:spPr>
          <a:xfrm>
            <a:off x="8229600" y="3108960"/>
            <a:ext cx="402336" cy="402336"/>
          </a:xfrm>
          <a:prstGeom prst="ellipse">
            <a:avLst/>
          </a:prstGeom>
          <a:solidFill>
            <a:srgbClr val="7A6E68"/>
          </a:solidFill>
          <a:ln/>
        </p:spPr>
      </p:sp>
      <p:sp>
        <p:nvSpPr>
          <p:cNvPr id="20" name="Text 18"/>
          <p:cNvSpPr/>
          <p:nvPr/>
        </p:nvSpPr>
        <p:spPr>
          <a:xfrm>
            <a:off x="8229600" y="31089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1" name="Text 19"/>
          <p:cNvSpPr/>
          <p:nvPr/>
        </p:nvSpPr>
        <p:spPr>
          <a:xfrm>
            <a:off x="8741664" y="3108960"/>
            <a:ext cx="2651760" cy="548640"/>
          </a:xfrm>
          <a:prstGeom prst="rect">
            <a:avLst/>
          </a:prstGeom>
          <a:noFill/>
          <a:ln/>
        </p:spPr>
        <p:txBody>
          <a:bodyPr wrap="square" lIns="0" tIns="0" rIns="0" bIns="0" rtlCol="0" anchor="ctr"/>
          <a:lstStyle/>
          <a:p>
            <a:pPr indent="0" marL="0">
              <a:buNone/>
            </a:pPr>
            <a:r>
              <a:rPr lang="en-US" sz="1450" b="1" dirty="0">
                <a:solidFill>
                  <a:srgbClr val="2B2523"/>
                </a:solidFill>
                <a:latin typeface="Cambria" pitchFamily="34" charset="0"/>
                <a:ea typeface="Cambria" pitchFamily="34" charset="-122"/>
                <a:cs typeface="Cambria" pitchFamily="34" charset="-120"/>
              </a:rPr>
              <a:t>Does poor observability</a:t>
            </a:r>
            <a:endParaRPr lang="en-US" sz="1450" dirty="0"/>
          </a:p>
          <a:p>
            <a:pPr indent="0" marL="0">
              <a:buNone/>
            </a:pPr>
            <a:r>
              <a:rPr lang="en-US" sz="1450" b="1" dirty="0">
                <a:solidFill>
                  <a:srgbClr val="2B2523"/>
                </a:solidFill>
                <a:latin typeface="Cambria" pitchFamily="34" charset="0"/>
                <a:ea typeface="Cambria" pitchFamily="34" charset="-122"/>
                <a:cs typeface="Cambria" pitchFamily="34" charset="-120"/>
              </a:rPr>
              <a:t>mean being wrong?</a:t>
            </a:r>
            <a:endParaRPr lang="en-US" sz="1450" dirty="0"/>
          </a:p>
        </p:txBody>
      </p:sp>
      <p:sp>
        <p:nvSpPr>
          <p:cNvPr id="22" name="Text 20"/>
          <p:cNvSpPr/>
          <p:nvPr/>
        </p:nvSpPr>
        <p:spPr>
          <a:xfrm>
            <a:off x="8229600" y="3785616"/>
            <a:ext cx="3127248" cy="128016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In weakly covered districts, does this dataset's assessment diverge further from IPC's official classification?</a:t>
            </a:r>
            <a:endParaRPr lang="en-US" sz="1150" dirty="0"/>
          </a:p>
        </p:txBody>
      </p:sp>
      <p:sp>
        <p:nvSpPr>
          <p:cNvPr id="23" name="Text 21"/>
          <p:cNvSpPr/>
          <p:nvPr/>
        </p:nvSpPr>
        <p:spPr>
          <a:xfrm>
            <a:off x="8229600" y="5120640"/>
            <a:ext cx="3127248" cy="292608"/>
          </a:xfrm>
          <a:prstGeom prst="rect">
            <a:avLst/>
          </a:prstGeom>
          <a:noFill/>
          <a:ln/>
        </p:spPr>
        <p:txBody>
          <a:bodyPr wrap="square" lIns="0" tIns="0" rIns="0" bIns="0" rtlCol="0" anchor="ctr"/>
          <a:lstStyle/>
          <a:p>
            <a:pPr indent="0" marL="0">
              <a:buNone/>
            </a:pPr>
            <a:r>
              <a:rPr lang="en-US" sz="1000" b="1" spc="100" kern="0" dirty="0">
                <a:solidFill>
                  <a:srgbClr val="7A6E68"/>
                </a:solidFill>
                <a:latin typeface="Calibri" pitchFamily="34" charset="0"/>
                <a:ea typeface="Calibri" pitchFamily="34" charset="-122"/>
                <a:cs typeface="Calibri" pitchFamily="34" charset="-120"/>
              </a:rPr>
              <a:t>NOT STARTED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Tasks 3 and 4: the market features</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Evaluated as one family, then given a country-agnostic layer on top</a:t>
            </a:r>
            <a:endParaRPr lang="en-US" sz="1350" dirty="0"/>
          </a:p>
        </p:txBody>
      </p:sp>
      <p:sp>
        <p:nvSpPr>
          <p:cNvPr id="4" name="Shape 2"/>
          <p:cNvSpPr/>
          <p:nvPr/>
        </p:nvSpPr>
        <p:spPr>
          <a:xfrm>
            <a:off x="566928" y="1481328"/>
            <a:ext cx="420624" cy="420624"/>
          </a:xfrm>
          <a:prstGeom prst="ellipse">
            <a:avLst/>
          </a:prstGeom>
          <a:solidFill>
            <a:srgbClr val="B85042"/>
          </a:solidFill>
          <a:ln/>
        </p:spPr>
      </p:sp>
      <p:sp>
        <p:nvSpPr>
          <p:cNvPr id="5" name="Text 3"/>
          <p:cNvSpPr/>
          <p:nvPr/>
        </p:nvSpPr>
        <p:spPr>
          <a:xfrm>
            <a:off x="566928" y="14813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6" name="Text 4"/>
          <p:cNvSpPr/>
          <p:nvPr/>
        </p:nvSpPr>
        <p:spPr>
          <a:xfrm>
            <a:off x="1133856" y="1499616"/>
            <a:ext cx="4919472" cy="384048"/>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Missingness and redundancy</a:t>
            </a:r>
            <a:endParaRPr lang="en-US" sz="1600" dirty="0"/>
          </a:p>
        </p:txBody>
      </p:sp>
      <p:sp>
        <p:nvSpPr>
          <p:cNvPr id="7" name="Shape 5"/>
          <p:cNvSpPr/>
          <p:nvPr/>
        </p:nvSpPr>
        <p:spPr>
          <a:xfrm>
            <a:off x="566928" y="1975104"/>
            <a:ext cx="5486400" cy="3703320"/>
          </a:xfrm>
          <a:prstGeom prst="roundRect">
            <a:avLst>
              <a:gd name="adj" fmla="val 1481"/>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22960" y="2157984"/>
            <a:ext cx="5029200" cy="338328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00" dirty="0">
                <a:solidFill>
                  <a:srgbClr val="2B2523"/>
                </a:solidFill>
                <a:latin typeface="Calibri" pitchFamily="34" charset="0"/>
                <a:ea typeface="Calibri" pitchFamily="34" charset="-122"/>
                <a:cs typeface="Calibri" pitchFamily="34" charset="-120"/>
              </a:rPr>
              <a:t>All 12 commodity features share identical missingness at 79 of 148 district-months (53.4%), because every one depends on the same thing: whether a market exists in that district at all.</a:t>
            </a:r>
            <a:endParaRPr lang="en-US" sz="1200" dirty="0"/>
          </a:p>
          <a:p>
            <a:pPr marL="342900" indent="-342900">
              <a:lnSpc>
                <a:spcPts val="1600"/>
              </a:lnSpc>
              <a:spcAft>
                <a:spcPts val="900"/>
              </a:spcAft>
              <a:buSzPct val="100000"/>
              <a:buChar char="•"/>
            </a:pPr>
            <a:r>
              <a:rPr lang="en-US" sz="1200" dirty="0">
                <a:solidFill>
                  <a:srgbClr val="2B2523"/>
                </a:solidFill>
                <a:latin typeface="Calibri" pitchFamily="34" charset="0"/>
                <a:ea typeface="Calibri" pitchFamily="34" charset="-122"/>
                <a:cs typeface="Calibri" pitchFamily="34" charset="-120"/>
              </a:rPr>
              <a:t>Wheat flour and rice are highly correlated (r = 0.89 on price, r = 0.61 on anomaly score), both being imported staples driven by shared exchange-rate and import costs.</a:t>
            </a:r>
            <a:endParaRPr lang="en-US" sz="1200" dirty="0"/>
          </a:p>
          <a:p>
            <a:pPr marL="342900" indent="-342900">
              <a:lnSpc>
                <a:spcPts val="1600"/>
              </a:lnSpc>
              <a:spcAft>
                <a:spcPts val="900"/>
              </a:spcAft>
              <a:buSzPct val="100000"/>
              <a:buChar char="•"/>
            </a:pPr>
            <a:r>
              <a:rPr lang="en-US" sz="1200" dirty="0">
                <a:solidFill>
                  <a:srgbClr val="2B2523"/>
                </a:solidFill>
                <a:latin typeface="Calibri" pitchFamily="34" charset="0"/>
                <a:ea typeface="Calibri" pitchFamily="34" charset="-122"/>
                <a:cs typeface="Calibri" pitchFamily="34" charset="-120"/>
              </a:rPr>
              <a:t>Sugar is almost uncorrelated with everything else (r = 0.02 to 0.21), so it carries genuinely independent information that a single combined index would destroy.</a:t>
            </a:r>
            <a:endParaRPr lang="en-US" sz="1200" dirty="0"/>
          </a:p>
          <a:p>
            <a:pPr marL="342900" indent="-342900">
              <a:lnSpc>
                <a:spcPts val="1600"/>
              </a:lnSpc>
              <a:buSzPct val="100000"/>
              <a:buChar char="•"/>
            </a:pPr>
            <a:r>
              <a:rPr lang="en-US" sz="1200" dirty="0">
                <a:solidFill>
                  <a:srgbClr val="2B2523"/>
                </a:solidFill>
                <a:latin typeface="Calibri" pitchFamily="34" charset="0"/>
                <a:ea typeface="Calibri" pitchFamily="34" charset="-122"/>
                <a:cs typeface="Calibri" pitchFamily="34" charset="-120"/>
              </a:rPr>
              <a:t>Decision: all four commodities kept. Wheat flour and rice flagged as the pair to merge first if the feature set ever needs to shrink.</a:t>
            </a:r>
            <a:endParaRPr lang="en-US" sz="1200" dirty="0"/>
          </a:p>
        </p:txBody>
      </p:sp>
      <p:sp>
        <p:nvSpPr>
          <p:cNvPr id="9" name="Shape 7"/>
          <p:cNvSpPr/>
          <p:nvPr/>
        </p:nvSpPr>
        <p:spPr>
          <a:xfrm>
            <a:off x="6492240" y="1481328"/>
            <a:ext cx="420624" cy="420624"/>
          </a:xfrm>
          <a:prstGeom prst="ellipse">
            <a:avLst/>
          </a:prstGeom>
          <a:solidFill>
            <a:srgbClr val="A7BEAE"/>
          </a:solidFill>
          <a:ln/>
        </p:spPr>
      </p:sp>
      <p:sp>
        <p:nvSpPr>
          <p:cNvPr id="10" name="Text 8"/>
          <p:cNvSpPr/>
          <p:nvPr/>
        </p:nvSpPr>
        <p:spPr>
          <a:xfrm>
            <a:off x="6492240" y="14813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1" name="Text 9"/>
          <p:cNvSpPr/>
          <p:nvPr/>
        </p:nvSpPr>
        <p:spPr>
          <a:xfrm>
            <a:off x="7059168" y="1499616"/>
            <a:ext cx="4553712" cy="384048"/>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Harmonised market-anomaly layer</a:t>
            </a:r>
            <a:endParaRPr lang="en-US" sz="1600" dirty="0"/>
          </a:p>
        </p:txBody>
      </p:sp>
      <p:sp>
        <p:nvSpPr>
          <p:cNvPr id="12" name="Shape 10"/>
          <p:cNvSpPr/>
          <p:nvPr/>
        </p:nvSpPr>
        <p:spPr>
          <a:xfrm>
            <a:off x="6492240" y="1975104"/>
            <a:ext cx="5102352" cy="3703320"/>
          </a:xfrm>
          <a:prstGeom prst="roundRect">
            <a:avLst>
              <a:gd name="adj" fmla="val 1481"/>
            </a:avLst>
          </a:prstGeom>
          <a:solidFill>
            <a:srgbClr val="2B2523"/>
          </a:solidFill>
          <a:ln/>
          <a:effectLst>
            <a:outerShdw sx="100000" sy="100000" kx="0" ky="0" algn="bl" rotWithShape="0" blurRad="76200" dist="381" dir="5400000">
              <a:srgbClr val="000000">
                <a:alpha val="8000"/>
              </a:srgbClr>
            </a:outerShdw>
          </a:effectLst>
        </p:spPr>
      </p:sp>
      <p:sp>
        <p:nvSpPr>
          <p:cNvPr id="13" name="Text 11"/>
          <p:cNvSpPr/>
          <p:nvPr/>
        </p:nvSpPr>
        <p:spPr>
          <a:xfrm>
            <a:off x="6729984" y="2121408"/>
            <a:ext cx="4754880" cy="329184"/>
          </a:xfrm>
          <a:prstGeom prst="rect">
            <a:avLst/>
          </a:prstGeom>
          <a:noFill/>
          <a:ln/>
        </p:spPr>
        <p:txBody>
          <a:bodyPr wrap="square" lIns="0" tIns="0" rIns="0" bIns="0" rtlCol="0" anchor="ctr"/>
          <a:lstStyle/>
          <a:p>
            <a:pPr indent="0" marL="0">
              <a:buNone/>
            </a:pPr>
            <a:r>
              <a:rPr lang="en-US" sz="1150" dirty="0">
                <a:solidFill>
                  <a:srgbClr val="E7E8D1"/>
                </a:solidFill>
                <a:latin typeface="Calibri" pitchFamily="34" charset="0"/>
                <a:ea typeface="Calibri" pitchFamily="34" charset="-122"/>
                <a:cs typeface="Calibri" pitchFamily="34" charset="-120"/>
              </a:rPr>
              <a:t>Four new features, computable no matter which commodities a country tracks:</a:t>
            </a:r>
            <a:endParaRPr lang="en-US" sz="1150" dirty="0"/>
          </a:p>
        </p:txBody>
      </p:sp>
      <p:sp>
        <p:nvSpPr>
          <p:cNvPr id="14" name="Text 12"/>
          <p:cNvSpPr/>
          <p:nvPr/>
        </p:nvSpPr>
        <p:spPr>
          <a:xfrm>
            <a:off x="6729984" y="2542032"/>
            <a:ext cx="4754880" cy="237744"/>
          </a:xfrm>
          <a:prstGeom prst="rect">
            <a:avLst/>
          </a:prstGeom>
          <a:noFill/>
          <a:ln/>
        </p:spPr>
        <p:txBody>
          <a:bodyPr wrap="square" lIns="0" tIns="0" rIns="0" bIns="0" rtlCol="0" anchor="ctr"/>
          <a:lstStyle/>
          <a:p>
            <a:pPr indent="0" marL="0">
              <a:buNone/>
            </a:pPr>
            <a:r>
              <a:rPr lang="en-US" sz="1100" b="1" dirty="0">
                <a:solidFill>
                  <a:srgbClr val="A7BEAE"/>
                </a:solidFill>
                <a:latin typeface="Courier New" pitchFamily="34" charset="0"/>
                <a:ea typeface="Courier New" pitchFamily="34" charset="-122"/>
                <a:cs typeface="Courier New" pitchFamily="34" charset="-120"/>
              </a:rPr>
              <a:t>commodities_tracked_count</a:t>
            </a:r>
            <a:endParaRPr lang="en-US" sz="1100" dirty="0"/>
          </a:p>
        </p:txBody>
      </p:sp>
      <p:sp>
        <p:nvSpPr>
          <p:cNvPr id="15" name="Text 13"/>
          <p:cNvSpPr/>
          <p:nvPr/>
        </p:nvSpPr>
        <p:spPr>
          <a:xfrm>
            <a:off x="6729984" y="2761488"/>
            <a:ext cx="4754880" cy="256032"/>
          </a:xfrm>
          <a:prstGeom prst="rect">
            <a:avLst/>
          </a:prstGeom>
          <a:noFill/>
          <a:ln/>
        </p:spPr>
        <p:txBody>
          <a:bodyPr wrap="square" lIns="0" tIns="0" rIns="0" bIns="0" rtlCol="0" anchor="ctr"/>
          <a:lstStyle/>
          <a:p>
            <a:pPr indent="0" marL="0">
              <a:buNone/>
            </a:pPr>
            <a:r>
              <a:rPr lang="en-US" sz="1100" dirty="0">
                <a:solidFill>
                  <a:srgbClr val="E7E8D1"/>
                </a:solidFill>
                <a:latin typeface="Calibri" pitchFamily="34" charset="0"/>
                <a:ea typeface="Calibri" pitchFamily="34" charset="-122"/>
                <a:cs typeface="Calibri" pitchFamily="34" charset="-120"/>
              </a:rPr>
              <a:t>how many commodities have data that district-month</a:t>
            </a:r>
            <a:endParaRPr lang="en-US" sz="1100" dirty="0"/>
          </a:p>
        </p:txBody>
      </p:sp>
      <p:sp>
        <p:nvSpPr>
          <p:cNvPr id="16" name="Text 14"/>
          <p:cNvSpPr/>
          <p:nvPr/>
        </p:nvSpPr>
        <p:spPr>
          <a:xfrm>
            <a:off x="6729984" y="3108960"/>
            <a:ext cx="4754880" cy="237744"/>
          </a:xfrm>
          <a:prstGeom prst="rect">
            <a:avLst/>
          </a:prstGeom>
          <a:noFill/>
          <a:ln/>
        </p:spPr>
        <p:txBody>
          <a:bodyPr wrap="square" lIns="0" tIns="0" rIns="0" bIns="0" rtlCol="0" anchor="ctr"/>
          <a:lstStyle/>
          <a:p>
            <a:pPr indent="0" marL="0">
              <a:buNone/>
            </a:pPr>
            <a:r>
              <a:rPr lang="en-US" sz="1100" b="1" dirty="0">
                <a:solidFill>
                  <a:srgbClr val="A7BEAE"/>
                </a:solidFill>
                <a:latin typeface="Courier New" pitchFamily="34" charset="0"/>
                <a:ea typeface="Courier New" pitchFamily="34" charset="-122"/>
                <a:cs typeface="Courier New" pitchFamily="34" charset="-120"/>
              </a:rPr>
              <a:t>market_anomaly_mean</a:t>
            </a:r>
            <a:endParaRPr lang="en-US" sz="1100" dirty="0"/>
          </a:p>
        </p:txBody>
      </p:sp>
      <p:sp>
        <p:nvSpPr>
          <p:cNvPr id="17" name="Text 15"/>
          <p:cNvSpPr/>
          <p:nvPr/>
        </p:nvSpPr>
        <p:spPr>
          <a:xfrm>
            <a:off x="6729984" y="3328416"/>
            <a:ext cx="4754880" cy="256032"/>
          </a:xfrm>
          <a:prstGeom prst="rect">
            <a:avLst/>
          </a:prstGeom>
          <a:noFill/>
          <a:ln/>
        </p:spPr>
        <p:txBody>
          <a:bodyPr wrap="square" lIns="0" tIns="0" rIns="0" bIns="0" rtlCol="0" anchor="ctr"/>
          <a:lstStyle/>
          <a:p>
            <a:pPr indent="0" marL="0">
              <a:buNone/>
            </a:pPr>
            <a:r>
              <a:rPr lang="en-US" sz="1100" dirty="0">
                <a:solidFill>
                  <a:srgbClr val="E7E8D1"/>
                </a:solidFill>
                <a:latin typeface="Calibri" pitchFamily="34" charset="0"/>
                <a:ea typeface="Calibri" pitchFamily="34" charset="-122"/>
                <a:cs typeface="Calibri" pitchFamily="34" charset="-120"/>
              </a:rPr>
              <a:t>average anomaly score across available commodities</a:t>
            </a:r>
            <a:endParaRPr lang="en-US" sz="1100" dirty="0"/>
          </a:p>
        </p:txBody>
      </p:sp>
      <p:sp>
        <p:nvSpPr>
          <p:cNvPr id="18" name="Text 16"/>
          <p:cNvSpPr/>
          <p:nvPr/>
        </p:nvSpPr>
        <p:spPr>
          <a:xfrm>
            <a:off x="6729984" y="3675888"/>
            <a:ext cx="4754880" cy="237744"/>
          </a:xfrm>
          <a:prstGeom prst="rect">
            <a:avLst/>
          </a:prstGeom>
          <a:noFill/>
          <a:ln/>
        </p:spPr>
        <p:txBody>
          <a:bodyPr wrap="square" lIns="0" tIns="0" rIns="0" bIns="0" rtlCol="0" anchor="ctr"/>
          <a:lstStyle/>
          <a:p>
            <a:pPr indent="0" marL="0">
              <a:buNone/>
            </a:pPr>
            <a:r>
              <a:rPr lang="en-US" sz="1100" b="1" dirty="0">
                <a:solidFill>
                  <a:srgbClr val="A7BEAE"/>
                </a:solidFill>
                <a:latin typeface="Courier New" pitchFamily="34" charset="0"/>
                <a:ea typeface="Courier New" pitchFamily="34" charset="-122"/>
                <a:cs typeface="Courier New" pitchFamily="34" charset="-120"/>
              </a:rPr>
              <a:t>market_anomaly_max</a:t>
            </a:r>
            <a:endParaRPr lang="en-US" sz="1100" dirty="0"/>
          </a:p>
        </p:txBody>
      </p:sp>
      <p:sp>
        <p:nvSpPr>
          <p:cNvPr id="19" name="Text 17"/>
          <p:cNvSpPr/>
          <p:nvPr/>
        </p:nvSpPr>
        <p:spPr>
          <a:xfrm>
            <a:off x="6729984" y="3895344"/>
            <a:ext cx="4754880" cy="256032"/>
          </a:xfrm>
          <a:prstGeom prst="rect">
            <a:avLst/>
          </a:prstGeom>
          <a:noFill/>
          <a:ln/>
        </p:spPr>
        <p:txBody>
          <a:bodyPr wrap="square" lIns="0" tIns="0" rIns="0" bIns="0" rtlCol="0" anchor="ctr"/>
          <a:lstStyle/>
          <a:p>
            <a:pPr indent="0" marL="0">
              <a:buNone/>
            </a:pPr>
            <a:r>
              <a:rPr lang="en-US" sz="1100" dirty="0">
                <a:solidFill>
                  <a:srgbClr val="E7E8D1"/>
                </a:solidFill>
                <a:latin typeface="Calibri" pitchFamily="34" charset="0"/>
                <a:ea typeface="Calibri" pitchFamily="34" charset="-122"/>
                <a:cs typeface="Calibri" pitchFamily="34" charset="-120"/>
              </a:rPr>
              <a:t>the single highest anomaly among them</a:t>
            </a:r>
            <a:endParaRPr lang="en-US" sz="1100" dirty="0"/>
          </a:p>
        </p:txBody>
      </p:sp>
      <p:sp>
        <p:nvSpPr>
          <p:cNvPr id="20" name="Text 18"/>
          <p:cNvSpPr/>
          <p:nvPr/>
        </p:nvSpPr>
        <p:spPr>
          <a:xfrm>
            <a:off x="6729984" y="4242816"/>
            <a:ext cx="4754880" cy="237744"/>
          </a:xfrm>
          <a:prstGeom prst="rect">
            <a:avLst/>
          </a:prstGeom>
          <a:noFill/>
          <a:ln/>
        </p:spPr>
        <p:txBody>
          <a:bodyPr wrap="square" lIns="0" tIns="0" rIns="0" bIns="0" rtlCol="0" anchor="ctr"/>
          <a:lstStyle/>
          <a:p>
            <a:pPr indent="0" marL="0">
              <a:buNone/>
            </a:pPr>
            <a:r>
              <a:rPr lang="en-US" sz="1100" b="1" dirty="0">
                <a:solidFill>
                  <a:srgbClr val="A7BEAE"/>
                </a:solidFill>
                <a:latin typeface="Courier New" pitchFamily="34" charset="0"/>
                <a:ea typeface="Courier New" pitchFamily="34" charset="-122"/>
                <a:cs typeface="Courier New" pitchFamily="34" charset="-120"/>
              </a:rPr>
              <a:t>market_stress_count</a:t>
            </a:r>
            <a:endParaRPr lang="en-US" sz="1100" dirty="0"/>
          </a:p>
        </p:txBody>
      </p:sp>
      <p:sp>
        <p:nvSpPr>
          <p:cNvPr id="21" name="Text 19"/>
          <p:cNvSpPr/>
          <p:nvPr/>
        </p:nvSpPr>
        <p:spPr>
          <a:xfrm>
            <a:off x="6729984" y="4462272"/>
            <a:ext cx="4754880" cy="256032"/>
          </a:xfrm>
          <a:prstGeom prst="rect">
            <a:avLst/>
          </a:prstGeom>
          <a:noFill/>
          <a:ln/>
        </p:spPr>
        <p:txBody>
          <a:bodyPr wrap="square" lIns="0" tIns="0" rIns="0" bIns="0" rtlCol="0" anchor="ctr"/>
          <a:lstStyle/>
          <a:p>
            <a:pPr indent="0" marL="0">
              <a:buNone/>
            </a:pPr>
            <a:r>
              <a:rPr lang="en-US" sz="1100" dirty="0">
                <a:solidFill>
                  <a:srgbClr val="E7E8D1"/>
                </a:solidFill>
                <a:latin typeface="Calibri" pitchFamily="34" charset="0"/>
                <a:ea typeface="Calibri" pitchFamily="34" charset="-122"/>
                <a:cs typeface="Calibri" pitchFamily="34" charset="-120"/>
              </a:rPr>
              <a:t>how many exceed a stress threshold of 1.0</a:t>
            </a:r>
            <a:endParaRPr lang="en-US" sz="1100" dirty="0"/>
          </a:p>
        </p:txBody>
      </p:sp>
      <p:sp>
        <p:nvSpPr>
          <p:cNvPr id="22" name="Text 20"/>
          <p:cNvSpPr/>
          <p:nvPr/>
        </p:nvSpPr>
        <p:spPr>
          <a:xfrm>
            <a:off x="6729984" y="4882896"/>
            <a:ext cx="4754880" cy="749808"/>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Coverage is close to all-or-nothing: 62 district-months report all four commodities, 85 report none, and only one reports a partial set. The 1.0 stress threshold is a documented modelling choice, since WFP's exact cutoffs were not available.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Tasks 5 and 6: two features that did not survive testing</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One removed outright, five rewritten</a:t>
            </a:r>
            <a:endParaRPr lang="en-US" sz="1350" dirty="0"/>
          </a:p>
        </p:txBody>
      </p:sp>
      <p:sp>
        <p:nvSpPr>
          <p:cNvPr id="4" name="Shape 2"/>
          <p:cNvSpPr/>
          <p:nvPr/>
        </p:nvSpPr>
        <p:spPr>
          <a:xfrm>
            <a:off x="566928" y="1481328"/>
            <a:ext cx="420624" cy="420624"/>
          </a:xfrm>
          <a:prstGeom prst="ellipse">
            <a:avLst/>
          </a:prstGeom>
          <a:solidFill>
            <a:srgbClr val="B85042"/>
          </a:solidFill>
          <a:ln/>
        </p:spPr>
      </p:sp>
      <p:sp>
        <p:nvSpPr>
          <p:cNvPr id="5" name="Text 3"/>
          <p:cNvSpPr/>
          <p:nvPr/>
        </p:nvSpPr>
        <p:spPr>
          <a:xfrm>
            <a:off x="566928" y="14813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6" name="Text 4"/>
          <p:cNvSpPr/>
          <p:nvPr/>
        </p:nvSpPr>
        <p:spPr>
          <a:xfrm>
            <a:off x="1133856" y="1499616"/>
            <a:ext cx="4919472" cy="384048"/>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conflict_events_per_1000_km2</a:t>
            </a:r>
            <a:endParaRPr lang="en-US" sz="1600" dirty="0"/>
          </a:p>
        </p:txBody>
      </p:sp>
      <p:sp>
        <p:nvSpPr>
          <p:cNvPr id="7" name="Shape 5"/>
          <p:cNvSpPr/>
          <p:nvPr/>
        </p:nvSpPr>
        <p:spPr>
          <a:xfrm>
            <a:off x="566928" y="1975104"/>
            <a:ext cx="5486400" cy="3703320"/>
          </a:xfrm>
          <a:prstGeom prst="roundRect">
            <a:avLst>
              <a:gd name="adj" fmla="val 1481"/>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22960" y="2139696"/>
            <a:ext cx="5029200" cy="786384"/>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Renamed from conflict_density to describe what it actually measures: events per unit area, not humanitarian intensity or exposure. Then tested to see whether it adds anything beyond the plain event count it is derived from.</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017520"/>
          <a:ext cx="5029200" cy="914400"/>
        </p:xfrm>
        <a:graphic>
          <a:graphicData uri="http://schemas.openxmlformats.org/drawingml/2006/table">
            <a:tbl>
              <a:tblPr/>
              <a:tblGrid>
                <a:gridCol w="2651760"/>
                <a:gridCol w="23774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was tested</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10896">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Correlation with plain event count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r = 0.96</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10896">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Same, only districts with ≥1 event</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r = 0.85</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10896">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Correlation with district area</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r = −0.34 (−0.64 if conflict-affected)</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10896">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Predicting fatalities: count vs density</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050" dirty="0">
                          <a:solidFill>
                            <a:srgbClr val="2B2523"/>
                          </a:solidFill>
                          <a:latin typeface="Calibri" pitchFamily="34" charset="0"/>
                          <a:ea typeface="Calibri" pitchFamily="34" charset="-122"/>
                          <a:cs typeface="Calibri" pitchFamily="34" charset="-120"/>
                        </a:rPr>
                        <a:t>0.776 vs 0.727</a:t>
                      </a:r>
                      <a:endParaRPr lang="en-US" sz="10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10" name="Text 7"/>
          <p:cNvSpPr/>
          <p:nvPr/>
        </p:nvSpPr>
        <p:spPr>
          <a:xfrm>
            <a:off x="822960" y="4791456"/>
            <a:ext cx="5029200" cy="749808"/>
          </a:xfrm>
          <a:prstGeom prst="rect">
            <a:avLst/>
          </a:prstGeom>
          <a:noFill/>
          <a:ln/>
        </p:spPr>
        <p:txBody>
          <a:bodyPr wrap="square" lIns="0" tIns="0" rIns="0" bIns="0" rtlCol="0" anchor="ctr"/>
          <a:lstStyle/>
          <a:p>
            <a:pPr indent="0" marL="0">
              <a:lnSpc>
                <a:spcPts val="1500"/>
              </a:lnSpc>
              <a:buNone/>
            </a:pPr>
            <a:r>
              <a:rPr lang="en-US" sz="1150" b="1" dirty="0">
                <a:solidFill>
                  <a:srgbClr val="B85042"/>
                </a:solidFill>
                <a:latin typeface="Calibri" pitchFamily="34" charset="0"/>
                <a:ea typeface="Calibri" pitchFamily="34" charset="-122"/>
                <a:cs typeface="Calibri" pitchFamily="34" charset="-120"/>
              </a:rPr>
              <a:t>Dropped. It tracks how big a district is more than anything humanitarian, and predicts severity worse than the plain count. This reverses an earlier decision to keep it.</a:t>
            </a:r>
            <a:endParaRPr lang="en-US" sz="1150" dirty="0"/>
          </a:p>
        </p:txBody>
      </p:sp>
      <p:sp>
        <p:nvSpPr>
          <p:cNvPr id="11" name="Shape 8"/>
          <p:cNvSpPr/>
          <p:nvPr/>
        </p:nvSpPr>
        <p:spPr>
          <a:xfrm>
            <a:off x="6492240" y="1481328"/>
            <a:ext cx="420624" cy="420624"/>
          </a:xfrm>
          <a:prstGeom prst="ellipse">
            <a:avLst/>
          </a:prstGeom>
          <a:solidFill>
            <a:srgbClr val="A7BEAE"/>
          </a:solidFill>
          <a:ln/>
        </p:spPr>
      </p:sp>
      <p:sp>
        <p:nvSpPr>
          <p:cNvPr id="12" name="Text 9"/>
          <p:cNvSpPr/>
          <p:nvPr/>
        </p:nvSpPr>
        <p:spPr>
          <a:xfrm>
            <a:off x="6492240" y="14813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13" name="Text 10"/>
          <p:cNvSpPr/>
          <p:nvPr/>
        </p:nvSpPr>
        <p:spPr>
          <a:xfrm>
            <a:off x="7059168" y="1499616"/>
            <a:ext cx="4553712" cy="384048"/>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Percentage change replaced</a:t>
            </a:r>
            <a:endParaRPr lang="en-US" sz="1600" dirty="0"/>
          </a:p>
        </p:txBody>
      </p:sp>
      <p:sp>
        <p:nvSpPr>
          <p:cNvPr id="14" name="Shape 11"/>
          <p:cNvSpPr/>
          <p:nvPr/>
        </p:nvSpPr>
        <p:spPr>
          <a:xfrm>
            <a:off x="6492240" y="1975104"/>
            <a:ext cx="5102352" cy="3703320"/>
          </a:xfrm>
          <a:prstGeom prst="roundRect">
            <a:avLst>
              <a:gd name="adj" fmla="val 1481"/>
            </a:avLst>
          </a:prstGeom>
          <a:solidFill>
            <a:srgbClr val="2B2523"/>
          </a:solidFill>
          <a:ln/>
          <a:effectLst>
            <a:outerShdw sx="100000" sy="100000" kx="0" ky="0" algn="bl" rotWithShape="0" blurRad="76200" dist="381" dir="5400000">
              <a:srgbClr val="000000">
                <a:alpha val="8000"/>
              </a:srgbClr>
            </a:outerShdw>
          </a:effectLst>
        </p:spPr>
      </p:sp>
      <p:sp>
        <p:nvSpPr>
          <p:cNvPr id="15" name="Text 12"/>
          <p:cNvSpPr/>
          <p:nvPr/>
        </p:nvSpPr>
        <p:spPr>
          <a:xfrm>
            <a:off x="6729984" y="2139696"/>
            <a:ext cx="4754880" cy="786384"/>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Percentage change is undefined when the previous month is zero, and explodes when the previous month is small. Both problems affect the conflict trend and all four commodity price trends.</a:t>
            </a:r>
            <a:endParaRPr lang="en-US" sz="11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729984" y="3017520"/>
          <a:ext cx="4754880" cy="914400"/>
        </p:xfrm>
        <a:graphic>
          <a:graphicData uri="http://schemas.openxmlformats.org/drawingml/2006/table">
            <a:tbl>
              <a:tblPr/>
              <a:tblGrid>
                <a:gridCol w="2103120"/>
                <a:gridCol w="1325880"/>
                <a:gridCol w="1325880"/>
              </a:tblGrid>
              <a:tr h="310896">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Log difference</a:t>
                      </a:r>
                      <a:endParaRPr lang="en-US" sz="110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r>
              <a:tr h="310896">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Conflict trend missing</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99 / 148</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050" dirty="0">
                          <a:solidFill>
                            <a:srgbClr val="A7BEAE"/>
                          </a:solidFill>
                          <a:latin typeface="Calibri" pitchFamily="34" charset="0"/>
                          <a:ea typeface="Calibri" pitchFamily="34" charset="-122"/>
                          <a:cs typeface="Calibri" pitchFamily="34" charset="-120"/>
                        </a:rPr>
                        <a:t>74 / 148</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r>
              <a:tr h="310896">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District going 1 → 7 events</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+600%</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050" dirty="0">
                          <a:solidFill>
                            <a:srgbClr val="A7BEAE"/>
                          </a:solidFill>
                          <a:latin typeface="Calibri" pitchFamily="34" charset="0"/>
                          <a:ea typeface="Calibri" pitchFamily="34" charset="-122"/>
                          <a:cs typeface="Calibri" pitchFamily="34" charset="-120"/>
                        </a:rPr>
                        <a:t>1.39</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r>
              <a:tr h="310896">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Largest sugar price jump</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+709%</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indent="0" marL="0">
                        <a:buNone/>
                      </a:pPr>
                      <a:r>
                        <a:rPr lang="en-US" sz="1050" dirty="0">
                          <a:solidFill>
                            <a:srgbClr val="A7BEAE"/>
                          </a:solidFill>
                          <a:latin typeface="Calibri" pitchFamily="34" charset="0"/>
                          <a:ea typeface="Calibri" pitchFamily="34" charset="-122"/>
                          <a:cs typeface="Calibri" pitchFamily="34" charset="-120"/>
                        </a:rPr>
                        <a:t>2.09</a:t>
                      </a:r>
                      <a:endParaRPr lang="en-US" sz="1050" dirty="0">
                        <a:latin typeface="Calibri" charset="0"/>
                        <a:ea typeface="Calibri" charset="0"/>
                        <a:cs typeface="Calibri" charset="0"/>
                      </a:endParaRPr>
                    </a:p>
                  </a:txBody>
                  <a:tcPr marL="91440" marR="91440" marT="45720" marB="45720"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r>
            </a:tbl>
          </a:graphicData>
        </a:graphic>
      </p:graphicFrame>
      <p:sp>
        <p:nvSpPr>
          <p:cNvPr id="17" name="Text 13"/>
          <p:cNvSpPr/>
          <p:nvPr/>
        </p:nvSpPr>
        <p:spPr>
          <a:xfrm>
            <a:off x="6729984" y="4791456"/>
            <a:ext cx="4754880" cy="749808"/>
          </a:xfrm>
          <a:prstGeom prst="rect">
            <a:avLst/>
          </a:prstGeom>
          <a:noFill/>
          <a:ln/>
        </p:spPr>
        <p:txBody>
          <a:bodyPr wrap="square" lIns="0" tIns="0" rIns="0" bIns="0" rtlCol="0" anchor="ctr"/>
          <a:lstStyle/>
          <a:p>
            <a:pPr indent="0" marL="0">
              <a:lnSpc>
                <a:spcPts val="1500"/>
              </a:lnSpc>
              <a:buNone/>
            </a:pPr>
            <a:r>
              <a:rPr lang="en-US" sz="1150" b="1" dirty="0">
                <a:solidFill>
                  <a:srgbClr val="A7BEAE"/>
                </a:solidFill>
                <a:latin typeface="Calibri" pitchFamily="34" charset="0"/>
                <a:ea typeface="Calibri" pitchFamily="34" charset="-122"/>
                <a:cs typeface="Calibri" pitchFamily="34" charset="-120"/>
              </a:rPr>
              <a:t>Replaced rather than kept alongside, so the feature count is unchanged. The remaining 74 missing values are unavoidable first-month observations.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 7 (1 of 2): validating the ReliefWeb geoparsing</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The district-matching had never been checked against real report text</a:t>
            </a:r>
            <a:endParaRPr lang="en-US" sz="1350" dirty="0"/>
          </a:p>
        </p:txBody>
      </p:sp>
      <p:sp>
        <p:nvSpPr>
          <p:cNvPr id="4" name="Text 2"/>
          <p:cNvSpPr/>
          <p:nvPr/>
        </p:nvSpPr>
        <p:spPr>
          <a:xfrm>
            <a:off x="566928" y="1481328"/>
            <a:ext cx="11027664" cy="310896"/>
          </a:xfrm>
          <a:prstGeom prst="rect">
            <a:avLst/>
          </a:prstGeom>
          <a:noFill/>
          <a:ln/>
        </p:spPr>
        <p:txBody>
          <a:bodyPr wrap="square" lIns="0" tIns="0" rIns="0" bIns="0" rtlCol="0" anchor="ctr"/>
          <a:lstStyle/>
          <a:p>
            <a:pPr indent="0" marL="0">
              <a:buNone/>
            </a:pPr>
            <a:r>
              <a:rPr lang="en-US" sz="1250" dirty="0">
                <a:solidFill>
                  <a:srgbClr val="2B2523"/>
                </a:solidFill>
                <a:latin typeface="Calibri" pitchFamily="34" charset="0"/>
                <a:ea typeface="Calibri" pitchFamily="34" charset="-122"/>
                <a:cs typeface="Calibri" pitchFamily="34" charset="-120"/>
              </a:rPr>
              <a:t>Method: two independent random samples, each of 15 matched and 15 unmatched reports, read and classified by hand.</a:t>
            </a:r>
            <a:endParaRPr lang="en-US" sz="1250" dirty="0"/>
          </a:p>
        </p:txBody>
      </p:sp>
      <p:sp>
        <p:nvSpPr>
          <p:cNvPr id="5" name="Shape 3"/>
          <p:cNvSpPr/>
          <p:nvPr/>
        </p:nvSpPr>
        <p:spPr>
          <a:xfrm>
            <a:off x="566928" y="1883664"/>
            <a:ext cx="5486400" cy="1874520"/>
          </a:xfrm>
          <a:prstGeom prst="roundRect">
            <a:avLst>
              <a:gd name="adj" fmla="val 2927"/>
            </a:avLst>
          </a:prstGeom>
          <a:solidFill>
            <a:srgbClr val="F7F5F1"/>
          </a:solidFill>
          <a:ln/>
          <a:effectLst>
            <a:outerShdw sx="100000" sy="100000" kx="0" ky="0" algn="bl" rotWithShape="0" blurRad="76200" dist="381" dir="5400000">
              <a:srgbClr val="000000">
                <a:alpha val="8000"/>
              </a:srgbClr>
            </a:outerShdw>
          </a:effectLst>
        </p:spPr>
      </p:sp>
      <p:sp>
        <p:nvSpPr>
          <p:cNvPr id="6" name="Text 4"/>
          <p:cNvSpPr/>
          <p:nvPr/>
        </p:nvSpPr>
        <p:spPr>
          <a:xfrm>
            <a:off x="822960" y="2029968"/>
            <a:ext cx="2743200" cy="256032"/>
          </a:xfrm>
          <a:prstGeom prst="rect">
            <a:avLst/>
          </a:prstGeom>
          <a:noFill/>
          <a:ln/>
        </p:spPr>
        <p:txBody>
          <a:bodyPr wrap="square" lIns="0" tIns="0" rIns="0" bIns="0" rtlCol="0" anchor="ctr"/>
          <a:lstStyle/>
          <a:p>
            <a:pPr indent="0" marL="0">
              <a:buNone/>
            </a:pPr>
            <a:r>
              <a:rPr lang="en-US" sz="1050" b="1" spc="150" kern="0" dirty="0">
                <a:solidFill>
                  <a:srgbClr val="B85042"/>
                </a:solidFill>
                <a:latin typeface="Calibri" pitchFamily="34" charset="0"/>
                <a:ea typeface="Calibri" pitchFamily="34" charset="-122"/>
                <a:cs typeface="Calibri" pitchFamily="34" charset="-120"/>
              </a:rPr>
              <a:t>PRECISION</a:t>
            </a:r>
            <a:endParaRPr lang="en-US" sz="1050" dirty="0"/>
          </a:p>
        </p:txBody>
      </p:sp>
      <p:sp>
        <p:nvSpPr>
          <p:cNvPr id="7" name="Text 5"/>
          <p:cNvSpPr/>
          <p:nvPr/>
        </p:nvSpPr>
        <p:spPr>
          <a:xfrm>
            <a:off x="822960" y="2286000"/>
            <a:ext cx="1554480" cy="658368"/>
          </a:xfrm>
          <a:prstGeom prst="rect">
            <a:avLst/>
          </a:prstGeom>
          <a:noFill/>
          <a:ln/>
        </p:spPr>
        <p:txBody>
          <a:bodyPr wrap="square" lIns="0" tIns="0" rIns="0" bIns="0" rtlCol="0" anchor="ctr"/>
          <a:lstStyle/>
          <a:p>
            <a:pPr indent="0" marL="0">
              <a:buNone/>
            </a:pPr>
            <a:r>
              <a:rPr lang="en-US" sz="4200" b="1" dirty="0">
                <a:solidFill>
                  <a:srgbClr val="B85042"/>
                </a:solidFill>
                <a:latin typeface="Cambria" pitchFamily="34" charset="0"/>
                <a:ea typeface="Cambria" pitchFamily="34" charset="-122"/>
                <a:cs typeface="Cambria" pitchFamily="34" charset="-120"/>
              </a:rPr>
              <a:t>43%</a:t>
            </a:r>
            <a:endParaRPr lang="en-US" sz="4200" dirty="0"/>
          </a:p>
        </p:txBody>
      </p:sp>
      <p:sp>
        <p:nvSpPr>
          <p:cNvPr id="8" name="Text 6"/>
          <p:cNvSpPr/>
          <p:nvPr/>
        </p:nvSpPr>
        <p:spPr>
          <a:xfrm>
            <a:off x="2395728" y="2304288"/>
            <a:ext cx="3429000" cy="914400"/>
          </a:xfrm>
          <a:prstGeom prst="rect">
            <a:avLst/>
          </a:prstGeom>
          <a:noFill/>
          <a:ln/>
        </p:spPr>
        <p:txBody>
          <a:bodyPr wrap="square" lIns="0" tIns="0" rIns="0" bIns="0" rtlCol="0" anchor="ctr"/>
          <a:lstStyle/>
          <a:p>
            <a:pPr indent="0" marL="0">
              <a:lnSpc>
                <a:spcPts val="1400"/>
              </a:lnSpc>
              <a:buNone/>
            </a:pPr>
            <a:r>
              <a:rPr lang="en-US" sz="1100" dirty="0">
                <a:solidFill>
                  <a:srgbClr val="7A6E68"/>
                </a:solidFill>
                <a:latin typeface="Calibri" pitchFamily="34" charset="0"/>
                <a:ea typeface="Calibri" pitchFamily="34" charset="-122"/>
                <a:cs typeface="Calibri" pitchFamily="34" charset="-120"/>
              </a:rPr>
              <a:t>13 of 30 matched reports were genuinely about the district they matched.</a:t>
            </a:r>
            <a:endParaRPr lang="en-US" sz="1100" dirty="0"/>
          </a:p>
          <a:p>
            <a:pPr indent="0" marL="0">
              <a:lnSpc>
                <a:spcPts val="1400"/>
              </a:lnSpc>
              <a:buNone/>
            </a:pPr>
            <a:r>
              <a:rPr lang="en-US" sz="1100" dirty="0">
                <a:solidFill>
                  <a:srgbClr val="7A6E68"/>
                </a:solidFill>
                <a:latin typeface="Calibri" pitchFamily="34" charset="0"/>
                <a:ea typeface="Calibri" pitchFamily="34" charset="-122"/>
                <a:cs typeface="Calibri" pitchFamily="34" charset="-120"/>
              </a:rPr>
              <a:t>Sample 1: 8/15 (53%).  Sample 2: 5/15 (33%).</a:t>
            </a:r>
            <a:endParaRPr lang="en-US" sz="1100" dirty="0"/>
          </a:p>
        </p:txBody>
      </p:sp>
      <p:sp>
        <p:nvSpPr>
          <p:cNvPr id="9" name="Shape 7"/>
          <p:cNvSpPr/>
          <p:nvPr/>
        </p:nvSpPr>
        <p:spPr>
          <a:xfrm>
            <a:off x="6492240" y="1883664"/>
            <a:ext cx="5102352" cy="1874520"/>
          </a:xfrm>
          <a:prstGeom prst="roundRect">
            <a:avLst>
              <a:gd name="adj" fmla="val 2927"/>
            </a:avLst>
          </a:prstGeom>
          <a:solidFill>
            <a:srgbClr val="2B2523"/>
          </a:solidFill>
          <a:ln/>
          <a:effectLst>
            <a:outerShdw sx="100000" sy="100000" kx="0" ky="0" algn="bl" rotWithShape="0" blurRad="76200" dist="381" dir="5400000">
              <a:srgbClr val="000000">
                <a:alpha val="8000"/>
              </a:srgbClr>
            </a:outerShdw>
          </a:effectLst>
        </p:spPr>
      </p:sp>
      <p:sp>
        <p:nvSpPr>
          <p:cNvPr id="10" name="Text 8"/>
          <p:cNvSpPr/>
          <p:nvPr/>
        </p:nvSpPr>
        <p:spPr>
          <a:xfrm>
            <a:off x="6729984" y="2029968"/>
            <a:ext cx="2743200" cy="256032"/>
          </a:xfrm>
          <a:prstGeom prst="rect">
            <a:avLst/>
          </a:prstGeom>
          <a:noFill/>
          <a:ln/>
        </p:spPr>
        <p:txBody>
          <a:bodyPr wrap="square" lIns="0" tIns="0" rIns="0" bIns="0" rtlCol="0" anchor="ctr"/>
          <a:lstStyle/>
          <a:p>
            <a:pPr indent="0" marL="0">
              <a:buNone/>
            </a:pPr>
            <a:r>
              <a:rPr lang="en-US" sz="1050" b="1" spc="150" kern="0" dirty="0">
                <a:solidFill>
                  <a:srgbClr val="A7BEAE"/>
                </a:solidFill>
                <a:latin typeface="Calibri" pitchFamily="34" charset="0"/>
                <a:ea typeface="Calibri" pitchFamily="34" charset="-122"/>
                <a:cs typeface="Calibri" pitchFamily="34" charset="-120"/>
              </a:rPr>
              <a:t>RECALL</a:t>
            </a:r>
            <a:endParaRPr lang="en-US" sz="1050" dirty="0"/>
          </a:p>
        </p:txBody>
      </p:sp>
      <p:sp>
        <p:nvSpPr>
          <p:cNvPr id="11" name="Text 9"/>
          <p:cNvSpPr/>
          <p:nvPr/>
        </p:nvSpPr>
        <p:spPr>
          <a:xfrm>
            <a:off x="6729984" y="2286000"/>
            <a:ext cx="914400" cy="658368"/>
          </a:xfrm>
          <a:prstGeom prst="rect">
            <a:avLst/>
          </a:prstGeom>
          <a:noFill/>
          <a:ln/>
        </p:spPr>
        <p:txBody>
          <a:bodyPr wrap="square" lIns="0" tIns="0" rIns="0" bIns="0" rtlCol="0" anchor="ctr"/>
          <a:lstStyle/>
          <a:p>
            <a:pPr indent="0" marL="0">
              <a:buNone/>
            </a:pPr>
            <a:r>
              <a:rPr lang="en-US" sz="4200" b="1" dirty="0">
                <a:solidFill>
                  <a:srgbClr val="A7BEAE"/>
                </a:solidFill>
                <a:latin typeface="Cambria" pitchFamily="34" charset="0"/>
                <a:ea typeface="Cambria" pitchFamily="34" charset="-122"/>
                <a:cs typeface="Cambria" pitchFamily="34" charset="-120"/>
              </a:rPr>
              <a:t>1</a:t>
            </a:r>
            <a:endParaRPr lang="en-US" sz="4200" dirty="0"/>
          </a:p>
        </p:txBody>
      </p:sp>
      <p:sp>
        <p:nvSpPr>
          <p:cNvPr id="12" name="Text 10"/>
          <p:cNvSpPr/>
          <p:nvPr/>
        </p:nvSpPr>
        <p:spPr>
          <a:xfrm>
            <a:off x="7781544" y="2286000"/>
            <a:ext cx="3703320" cy="1005840"/>
          </a:xfrm>
          <a:prstGeom prst="rect">
            <a:avLst/>
          </a:prstGeom>
          <a:noFill/>
          <a:ln/>
        </p:spPr>
        <p:txBody>
          <a:bodyPr wrap="square" lIns="0" tIns="0" rIns="0" bIns="0" rtlCol="0" anchor="ctr"/>
          <a:lstStyle/>
          <a:p>
            <a:pPr indent="0" marL="0">
              <a:lnSpc>
                <a:spcPts val="1400"/>
              </a:lnSpc>
              <a:buNone/>
            </a:pPr>
            <a:r>
              <a:rPr lang="en-US" sz="1100" dirty="0">
                <a:solidFill>
                  <a:srgbClr val="E7E8D1"/>
                </a:solidFill>
                <a:latin typeface="Calibri" pitchFamily="34" charset="0"/>
                <a:ea typeface="Calibri" pitchFamily="34" charset="-122"/>
                <a:cs typeface="Calibri" pitchFamily="34" charset="-120"/>
              </a:rPr>
              <a:t>confirmed miss across 30 unmatched reports. A flood-response report naming Baardheere went uncaught, because the district was stored under the GADM spelling "Baar Dheere" with no alias.</a:t>
            </a:r>
            <a:endParaRPr lang="en-US" sz="1100" dirty="0"/>
          </a:p>
        </p:txBody>
      </p:sp>
      <p:sp>
        <p:nvSpPr>
          <p:cNvPr id="13" name="Text 11"/>
          <p:cNvSpPr/>
          <p:nvPr/>
        </p:nvSpPr>
        <p:spPr>
          <a:xfrm>
            <a:off x="566928" y="3968496"/>
            <a:ext cx="5486400" cy="310896"/>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Why the false matches happened</a:t>
            </a:r>
            <a:endParaRPr lang="en-US" sz="1600" dirty="0"/>
          </a:p>
        </p:txBody>
      </p:sp>
      <p:sp>
        <p:nvSpPr>
          <p:cNvPr id="14" name="Shape 12"/>
          <p:cNvSpPr/>
          <p:nvPr/>
        </p:nvSpPr>
        <p:spPr>
          <a:xfrm>
            <a:off x="566928" y="4407408"/>
            <a:ext cx="3584448" cy="1280160"/>
          </a:xfrm>
          <a:prstGeom prst="roundRect">
            <a:avLst>
              <a:gd name="adj" fmla="val 4286"/>
            </a:avLst>
          </a:prstGeom>
          <a:solidFill>
            <a:srgbClr val="E7E8D1"/>
          </a:solidFill>
          <a:ln/>
          <a:effectLst>
            <a:outerShdw sx="100000" sy="100000" kx="0" ky="0" algn="bl" rotWithShape="0" blurRad="76200" dist="381" dir="5400000">
              <a:srgbClr val="000000">
                <a:alpha val="8000"/>
              </a:srgbClr>
            </a:outerShdw>
          </a:effectLst>
        </p:spPr>
      </p:sp>
      <p:sp>
        <p:nvSpPr>
          <p:cNvPr id="15" name="Text 13"/>
          <p:cNvSpPr/>
          <p:nvPr/>
        </p:nvSpPr>
        <p:spPr>
          <a:xfrm>
            <a:off x="786384" y="4535424"/>
            <a:ext cx="3200400"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Datelines</a:t>
            </a:r>
            <a:endParaRPr lang="en-US" sz="1300" dirty="0"/>
          </a:p>
        </p:txBody>
      </p:sp>
      <p:sp>
        <p:nvSpPr>
          <p:cNvPr id="16" name="Text 14"/>
          <p:cNvSpPr/>
          <p:nvPr/>
        </p:nvSpPr>
        <p:spPr>
          <a:xfrm>
            <a:off x="786384" y="4828032"/>
            <a:ext cx="3200400" cy="76809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National press releases naming a district only in the opening dateline, such as "Mogadishu, the UK has donated…".</a:t>
            </a:r>
            <a:endParaRPr lang="en-US" sz="1050" dirty="0"/>
          </a:p>
        </p:txBody>
      </p:sp>
      <p:sp>
        <p:nvSpPr>
          <p:cNvPr id="17" name="Shape 15"/>
          <p:cNvSpPr/>
          <p:nvPr/>
        </p:nvSpPr>
        <p:spPr>
          <a:xfrm>
            <a:off x="4279392" y="4407408"/>
            <a:ext cx="3584448" cy="1280160"/>
          </a:xfrm>
          <a:prstGeom prst="roundRect">
            <a:avLst>
              <a:gd name="adj" fmla="val 4286"/>
            </a:avLst>
          </a:prstGeom>
          <a:solidFill>
            <a:srgbClr val="E7E8D1"/>
          </a:solidFill>
          <a:ln/>
          <a:effectLst>
            <a:outerShdw sx="100000" sy="100000" kx="0" ky="0" algn="bl" rotWithShape="0" blurRad="76200" dist="381" dir="5400000">
              <a:srgbClr val="000000">
                <a:alpha val="8000"/>
              </a:srgbClr>
            </a:outerShdw>
          </a:effectLst>
        </p:spPr>
      </p:sp>
      <p:sp>
        <p:nvSpPr>
          <p:cNvPr id="18" name="Text 16"/>
          <p:cNvSpPr/>
          <p:nvPr/>
        </p:nvSpPr>
        <p:spPr>
          <a:xfrm>
            <a:off x="4498848" y="4535424"/>
            <a:ext cx="3200400"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Reference bulletins</a:t>
            </a:r>
            <a:endParaRPr lang="en-US" sz="1300" dirty="0"/>
          </a:p>
        </p:txBody>
      </p:sp>
      <p:sp>
        <p:nvSpPr>
          <p:cNvPr id="19" name="Text 17"/>
          <p:cNvSpPr/>
          <p:nvPr/>
        </p:nvSpPr>
        <p:spPr>
          <a:xfrm>
            <a:off x="4498848" y="4828032"/>
            <a:ext cx="3200400" cy="76809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Price and livestock bulletins listing many districts purely as comparison points, not because anything happened there.</a:t>
            </a:r>
            <a:endParaRPr lang="en-US" sz="1050" dirty="0"/>
          </a:p>
        </p:txBody>
      </p:sp>
      <p:sp>
        <p:nvSpPr>
          <p:cNvPr id="20" name="Shape 18"/>
          <p:cNvSpPr/>
          <p:nvPr/>
        </p:nvSpPr>
        <p:spPr>
          <a:xfrm>
            <a:off x="7991856" y="4407408"/>
            <a:ext cx="3584448" cy="1280160"/>
          </a:xfrm>
          <a:prstGeom prst="roundRect">
            <a:avLst>
              <a:gd name="adj" fmla="val 4286"/>
            </a:avLst>
          </a:prstGeom>
          <a:solidFill>
            <a:srgbClr val="E7E8D1"/>
          </a:solidFill>
          <a:ln/>
          <a:effectLst>
            <a:outerShdw sx="100000" sy="100000" kx="0" ky="0" algn="bl" rotWithShape="0" blurRad="76200" dist="381" dir="5400000">
              <a:srgbClr val="000000">
                <a:alpha val="8000"/>
              </a:srgbClr>
            </a:outerShdw>
          </a:effectLst>
        </p:spPr>
      </p:sp>
      <p:sp>
        <p:nvSpPr>
          <p:cNvPr id="21" name="Text 19"/>
          <p:cNvSpPr/>
          <p:nvPr/>
        </p:nvSpPr>
        <p:spPr>
          <a:xfrm>
            <a:off x="8211312" y="4535424"/>
            <a:ext cx="3200400"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Missing aliases</a:t>
            </a:r>
            <a:endParaRPr lang="en-US" sz="1300" dirty="0"/>
          </a:p>
        </p:txBody>
      </p:sp>
      <p:sp>
        <p:nvSpPr>
          <p:cNvPr id="22" name="Text 20"/>
          <p:cNvSpPr/>
          <p:nvPr/>
        </p:nvSpPr>
        <p:spPr>
          <a:xfrm>
            <a:off x="8211312" y="4828032"/>
            <a:ext cx="3200400" cy="76809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Districts stored under a spelling the reports never use, so genuine mentions were never found.</a:t>
            </a:r>
            <a:endParaRPr lang="en-US" sz="1050" dirty="0"/>
          </a:p>
        </p:txBody>
      </p:sp>
      <p:sp>
        <p:nvSpPr>
          <p:cNvPr id="23" name="Text 21"/>
          <p:cNvSpPr/>
          <p:nvPr/>
        </p:nvSpPr>
        <p:spPr>
          <a:xfrm>
            <a:off x="566928" y="5870448"/>
            <a:ext cx="11027664" cy="420624"/>
          </a:xfrm>
          <a:prstGeom prst="rect">
            <a:avLst/>
          </a:prstGeom>
          <a:noFill/>
          <a:ln/>
        </p:spPr>
        <p:txBody>
          <a:bodyPr wrap="square" lIns="0" tIns="0" rIns="0" bIns="0" rtlCol="0" anchor="ctr"/>
          <a:lstStyle/>
          <a:p>
            <a:pPr indent="0" marL="0">
              <a:buNone/>
            </a:pPr>
            <a:r>
              <a:rPr lang="en-US" sz="1150" i="1" dirty="0">
                <a:solidFill>
                  <a:srgbClr val="7A6E68"/>
                </a:solidFill>
                <a:latin typeface="Calibri" pitchFamily="34" charset="0"/>
                <a:ea typeface="Calibri" pitchFamily="34" charset="-122"/>
                <a:cs typeface="Calibri" pitchFamily="34" charset="-120"/>
              </a:rPr>
              <a:t>What this established: the feature reflects text mentioning a district, not a confirmed event location. That was always how it was named, but now there is a measured number behind the caution.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 7 (2 of 2): what was done about it</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Precision filters, then a three-stage alias expansion</a:t>
            </a:r>
            <a:endParaRPr lang="en-US" sz="1350" dirty="0"/>
          </a:p>
        </p:txBody>
      </p:sp>
      <p:sp>
        <p:nvSpPr>
          <p:cNvPr id="4" name="Shape 2"/>
          <p:cNvSpPr/>
          <p:nvPr/>
        </p:nvSpPr>
        <p:spPr>
          <a:xfrm>
            <a:off x="566928" y="1463040"/>
            <a:ext cx="5486400" cy="2103120"/>
          </a:xfrm>
          <a:prstGeom prst="roundRect">
            <a:avLst>
              <a:gd name="adj" fmla="val 2609"/>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22960" y="1591056"/>
            <a:ext cx="4572000" cy="292608"/>
          </a:xfrm>
          <a:prstGeom prst="rect">
            <a:avLst/>
          </a:prstGeom>
          <a:noFill/>
          <a:ln/>
        </p:spPr>
        <p:txBody>
          <a:bodyPr wrap="square" lIns="0" tIns="0" rIns="0" bIns="0" rtlCol="0" anchor="ctr"/>
          <a:lstStyle/>
          <a:p>
            <a:pPr indent="0" marL="0">
              <a:buNone/>
            </a:pPr>
            <a:r>
              <a:rPr lang="en-US" sz="1500" b="1" dirty="0">
                <a:solidFill>
                  <a:srgbClr val="2B2523"/>
                </a:solidFill>
                <a:latin typeface="Cambria" pitchFamily="34" charset="0"/>
                <a:ea typeface="Cambria" pitchFamily="34" charset="-122"/>
                <a:cs typeface="Cambria" pitchFamily="34" charset="-120"/>
              </a:rPr>
              <a:t>Precision filters</a:t>
            </a:r>
            <a:endParaRPr lang="en-US" sz="1500" dirty="0"/>
          </a:p>
        </p:txBody>
      </p:sp>
      <p:sp>
        <p:nvSpPr>
          <p:cNvPr id="6" name="Text 4"/>
          <p:cNvSpPr/>
          <p:nvPr/>
        </p:nvSpPr>
        <p:spPr>
          <a:xfrm>
            <a:off x="822960" y="1920240"/>
            <a:ext cx="5029200" cy="1572768"/>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7A6E68"/>
                </a:solidFill>
                <a:latin typeface="Calibri" pitchFamily="34" charset="0"/>
                <a:ea typeface="Calibri" pitchFamily="34" charset="-122"/>
                <a:cs typeface="Calibri" pitchFamily="34" charset="-120"/>
              </a:rPr>
              <a:t>Datelines stripped from the report body before matching, so a district named only there no longer counts.</a:t>
            </a:r>
            <a:endParaRPr lang="en-US" sz="1100" dirty="0"/>
          </a:p>
          <a:p>
            <a:pPr marL="342900" indent="-342900">
              <a:lnSpc>
                <a:spcPts val="1400"/>
              </a:lnSpc>
              <a:spcAft>
                <a:spcPts val="700"/>
              </a:spcAft>
              <a:buSzPct val="100000"/>
              <a:buChar char="•"/>
            </a:pPr>
            <a:r>
              <a:rPr lang="en-US" sz="1100" dirty="0">
                <a:solidFill>
                  <a:srgbClr val="7A6E68"/>
                </a:solidFill>
                <a:latin typeface="Calibri" pitchFamily="34" charset="0"/>
                <a:ea typeface="Calibri" pitchFamily="34" charset="-122"/>
                <a:cs typeface="Calibri" pitchFamily="34" charset="-120"/>
              </a:rPr>
              <a:t>Bulletins excluded by title. A district-count threshold was tried first and rejected: the Livestock Price Bulletin names four districts, exactly as many as a genuine UNHCR update.</a:t>
            </a:r>
            <a:endParaRPr lang="en-US" sz="1100" dirty="0"/>
          </a:p>
          <a:p>
            <a:pPr marL="342900" indent="-342900">
              <a:lnSpc>
                <a:spcPts val="1400"/>
              </a:lnSpc>
              <a:buSzPct val="100000"/>
              <a:buChar char="•"/>
            </a:pPr>
            <a:r>
              <a:rPr lang="en-US" sz="1100" dirty="0">
                <a:solidFill>
                  <a:srgbClr val="7A6E68"/>
                </a:solidFill>
                <a:latin typeface="Calibri" pitchFamily="34" charset="0"/>
                <a:ea typeface="Calibri" pitchFamily="34" charset="-122"/>
                <a:cs typeface="Calibri" pitchFamily="34" charset="-120"/>
              </a:rPr>
              <a:t>Both rules were checked against six hand-labelled cases first and got all six right.</a:t>
            </a:r>
            <a:endParaRPr lang="en-US" sz="1100" dirty="0"/>
          </a:p>
        </p:txBody>
      </p:sp>
      <p:sp>
        <p:nvSpPr>
          <p:cNvPr id="7" name="Shape 5"/>
          <p:cNvSpPr/>
          <p:nvPr/>
        </p:nvSpPr>
        <p:spPr>
          <a:xfrm>
            <a:off x="6492240" y="1463040"/>
            <a:ext cx="5102352" cy="2103120"/>
          </a:xfrm>
          <a:prstGeom prst="roundRect">
            <a:avLst>
              <a:gd name="adj" fmla="val 2609"/>
            </a:avLst>
          </a:prstGeom>
          <a:solidFill>
            <a:srgbClr val="2B2523"/>
          </a:solidFill>
          <a:ln/>
          <a:effectLst>
            <a:outerShdw sx="100000" sy="100000" kx="0" ky="0" algn="bl" rotWithShape="0" blurRad="76200" dist="381" dir="5400000">
              <a:srgbClr val="000000">
                <a:alpha val="8000"/>
              </a:srgbClr>
            </a:outerShdw>
          </a:effectLst>
        </p:spPr>
      </p:sp>
      <p:sp>
        <p:nvSpPr>
          <p:cNvPr id="8" name="Text 6"/>
          <p:cNvSpPr/>
          <p:nvPr/>
        </p:nvSpPr>
        <p:spPr>
          <a:xfrm>
            <a:off x="6729984" y="1591056"/>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Alias expansion, 16 → 65 of 74 districts</a:t>
            </a:r>
            <a:endParaRPr lang="en-US" sz="1500" dirty="0"/>
          </a:p>
        </p:txBody>
      </p:sp>
      <p:sp>
        <p:nvSpPr>
          <p:cNvPr id="9" name="Text 7"/>
          <p:cNvSpPr/>
          <p:nvPr/>
        </p:nvSpPr>
        <p:spPr>
          <a:xfrm>
            <a:off x="6729984" y="1920240"/>
            <a:ext cx="4754880" cy="1572768"/>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E7E8D1"/>
                </a:solidFill>
                <a:latin typeface="Calibri" pitchFamily="34" charset="0"/>
                <a:ea typeface="Calibri" pitchFamily="34" charset="-122"/>
                <a:cs typeface="Calibri" pitchFamily="34" charset="-120"/>
              </a:rPr>
              <a:t>Reused the ACLED naming crosswalk already built, taking coverage from 16 to 30 districts.</a:t>
            </a:r>
            <a:endParaRPr lang="en-US" sz="1100" dirty="0"/>
          </a:p>
          <a:p>
            <a:pPr marL="342900" indent="-342900">
              <a:lnSpc>
                <a:spcPts val="1400"/>
              </a:lnSpc>
              <a:spcAft>
                <a:spcPts val="700"/>
              </a:spcAft>
              <a:buSzPct val="100000"/>
              <a:buChar char="•"/>
            </a:pPr>
            <a:r>
              <a:rPr lang="en-US" sz="1100" dirty="0">
                <a:solidFill>
                  <a:srgbClr val="E7E8D1"/>
                </a:solidFill>
                <a:latin typeface="Calibri" pitchFamily="34" charset="0"/>
                <a:ea typeface="Calibri" pitchFamily="34" charset="-122"/>
                <a:cs typeface="Calibri" pitchFamily="34" charset="-120"/>
              </a:rPr>
              <a:t>Parsed GADM's own variant-name field, which had sat unused in the boundary file since download, reaching 65 districts.</a:t>
            </a:r>
            <a:endParaRPr lang="en-US" sz="1100" dirty="0"/>
          </a:p>
          <a:p>
            <a:pPr marL="342900" indent="-342900">
              <a:lnSpc>
                <a:spcPts val="1400"/>
              </a:lnSpc>
              <a:buSzPct val="100000"/>
              <a:buChar char="•"/>
            </a:pPr>
            <a:r>
              <a:rPr lang="en-US" sz="1100" dirty="0">
                <a:solidFill>
                  <a:srgbClr val="E7E8D1"/>
                </a:solidFill>
                <a:latin typeface="Calibri" pitchFamily="34" charset="0"/>
                <a:ea typeface="Calibri" pitchFamily="34" charset="-122"/>
                <a:cs typeface="Calibri" pitchFamily="34" charset="-120"/>
              </a:rPr>
              <a:t>Manual research on the remaining nine found real variants for two more, and confirmed seven genuinely have a single spelling.</a:t>
            </a:r>
            <a:endParaRPr lang="en-US" sz="1100" dirty="0"/>
          </a:p>
        </p:txBody>
      </p:sp>
      <p:sp>
        <p:nvSpPr>
          <p:cNvPr id="10" name="Text 8"/>
          <p:cNvSpPr/>
          <p:nvPr/>
        </p:nvSpPr>
        <p:spPr>
          <a:xfrm>
            <a:off x="566928" y="3749040"/>
            <a:ext cx="5486400" cy="310896"/>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Final result</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4169664"/>
          <a:ext cx="6583680" cy="914400"/>
        </p:xfrm>
        <a:graphic>
          <a:graphicData uri="http://schemas.openxmlformats.org/drawingml/2006/table">
            <a:tbl>
              <a:tblPr/>
              <a:tblGrid>
                <a:gridCol w="2926080"/>
                <a:gridCol w="1828800"/>
                <a:gridCol w="182880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Reports matched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Districts covered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65760">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Original, unvalidated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108 / 220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44 / 74</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65760">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Precision filters only</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95 / 220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43 / 74</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65760">
                <a:tc>
                  <a:txBody>
                    <a:bodyPr/>
                    <a:lstStyle/>
                    <a:p>
                      <a:pPr indent="0" marL="0">
                        <a:buNone/>
                      </a:pPr>
                      <a:r>
                        <a:rPr lang="en-US" sz="1150" b="1" dirty="0">
                          <a:solidFill>
                            <a:srgbClr val="2B2523"/>
                          </a:solidFill>
                          <a:latin typeface="Calibri" pitchFamily="34" charset="0"/>
                          <a:ea typeface="Calibri" pitchFamily="34" charset="-122"/>
                          <a:cs typeface="Calibri" pitchFamily="34" charset="-120"/>
                        </a:rPr>
                        <a:t>Filters plus full alias expansion</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99 / 220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50 / 74</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12" name="Shape 9"/>
          <p:cNvSpPr/>
          <p:nvPr/>
        </p:nvSpPr>
        <p:spPr>
          <a:xfrm>
            <a:off x="7498080" y="4169664"/>
            <a:ext cx="4096512" cy="1463040"/>
          </a:xfrm>
          <a:prstGeom prst="roundRect">
            <a:avLst>
              <a:gd name="adj" fmla="val 3750"/>
            </a:avLst>
          </a:prstGeom>
          <a:solidFill>
            <a:srgbClr val="E7E8D1"/>
          </a:solidFill>
          <a:ln/>
          <a:effectLst>
            <a:outerShdw sx="100000" sy="100000" kx="0" ky="0" algn="bl" rotWithShape="0" blurRad="76200" dist="381" dir="5400000">
              <a:srgbClr val="000000">
                <a:alpha val="8000"/>
              </a:srgbClr>
            </a:outerShdw>
          </a:effectLst>
        </p:spPr>
      </p:sp>
      <p:sp>
        <p:nvSpPr>
          <p:cNvPr id="13" name="Text 10"/>
          <p:cNvSpPr/>
          <p:nvPr/>
        </p:nvSpPr>
        <p:spPr>
          <a:xfrm>
            <a:off x="7735824" y="4297680"/>
            <a:ext cx="3840480"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Fewer reports, more districts</a:t>
            </a:r>
            <a:endParaRPr lang="en-US" sz="1300" dirty="0"/>
          </a:p>
        </p:txBody>
      </p:sp>
      <p:sp>
        <p:nvSpPr>
          <p:cNvPr id="14" name="Text 11"/>
          <p:cNvSpPr/>
          <p:nvPr/>
        </p:nvSpPr>
        <p:spPr>
          <a:xfrm>
            <a:off x="7735824" y="4590288"/>
            <a:ext cx="3840480" cy="969264"/>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Matching fewer reports than the unvalidated version is the intended outcome, since low-precision matches were deliberately removed. District coverage still rose, because the alias work recovered genuine mentions that had been missed.</a:t>
            </a:r>
            <a:endParaRPr lang="en-US" sz="1050" dirty="0"/>
          </a:p>
        </p:txBody>
      </p:sp>
      <p:sp>
        <p:nvSpPr>
          <p:cNvPr id="15" name="Text 12"/>
          <p:cNvSpPr/>
          <p:nvPr/>
        </p:nvSpPr>
        <p:spPr>
          <a:xfrm>
            <a:off x="566928" y="5870448"/>
            <a:ext cx="11027664" cy="420624"/>
          </a:xfrm>
          <a:prstGeom prst="rect">
            <a:avLst/>
          </a:prstGeom>
          <a:noFill/>
          <a:ln/>
        </p:spPr>
        <p:txBody>
          <a:bodyPr wrap="square" lIns="0" tIns="0" rIns="0" bIns="0" rtlCol="0" anchor="ctr"/>
          <a:lstStyle/>
          <a:p>
            <a:pPr indent="0" marL="0">
              <a:buNone/>
            </a:pPr>
            <a:r>
              <a:rPr lang="en-US" sz="1150" i="1" dirty="0">
                <a:solidFill>
                  <a:srgbClr val="7A6E68"/>
                </a:solidFill>
                <a:latin typeface="Calibri" pitchFamily="34" charset="0"/>
                <a:ea typeface="Calibri" pitchFamily="34" charset="-122"/>
                <a:cs typeface="Calibri" pitchFamily="34" charset="-120"/>
              </a:rPr>
              <a:t>Known limitation: the dateline rule has at least one false negative. A report on a mortar attack at Aden Adde airport is genuinely about Mogadishu, but the only mention sits in the dateline the rule strips.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 8: three things “coverage” was quietly conflating</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A complete table does not mean a fully observed country</a:t>
            </a:r>
            <a:endParaRPr lang="en-US" sz="1350" dirty="0"/>
          </a:p>
        </p:txBody>
      </p:sp>
      <p:sp>
        <p:nvSpPr>
          <p:cNvPr id="4" name="Shape 2"/>
          <p:cNvSpPr/>
          <p:nvPr/>
        </p:nvSpPr>
        <p:spPr>
          <a:xfrm>
            <a:off x="566928" y="1517904"/>
            <a:ext cx="3584448" cy="1773936"/>
          </a:xfrm>
          <a:prstGeom prst="roundRect">
            <a:avLst>
              <a:gd name="adj" fmla="val 3093"/>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22960" y="1664208"/>
            <a:ext cx="3017520" cy="585216"/>
          </a:xfrm>
          <a:prstGeom prst="rect">
            <a:avLst/>
          </a:prstGeom>
          <a:noFill/>
          <a:ln/>
        </p:spPr>
        <p:txBody>
          <a:bodyPr wrap="square" lIns="0" tIns="0" rIns="0" bIns="0" rtlCol="0" anchor="ctr"/>
          <a:lstStyle/>
          <a:p>
            <a:pPr indent="0" marL="0">
              <a:buNone/>
            </a:pPr>
            <a:r>
              <a:rPr lang="en-US" sz="1700" b="1" dirty="0">
                <a:solidFill>
                  <a:srgbClr val="2B2523"/>
                </a:solidFill>
                <a:latin typeface="Cambria" pitchFamily="34" charset="0"/>
                <a:ea typeface="Cambria" pitchFamily="34" charset="-122"/>
                <a:cs typeface="Cambria" pitchFamily="34" charset="-120"/>
              </a:rPr>
              <a:t>Structural</a:t>
            </a:r>
            <a:endParaRPr lang="en-US" sz="1700" dirty="0"/>
          </a:p>
          <a:p>
            <a:pPr indent="0" marL="0">
              <a:buNone/>
            </a:pPr>
            <a:r>
              <a:rPr lang="en-US" sz="1700" b="1" dirty="0">
                <a:solidFill>
                  <a:srgbClr val="2B2523"/>
                </a:solidFill>
                <a:latin typeface="Cambria" pitchFamily="34" charset="0"/>
                <a:ea typeface="Cambria" pitchFamily="34" charset="-122"/>
                <a:cs typeface="Cambria" pitchFamily="34" charset="-120"/>
              </a:rPr>
              <a:t>availability</a:t>
            </a:r>
            <a:endParaRPr lang="en-US" sz="1700" dirty="0"/>
          </a:p>
        </p:txBody>
      </p:sp>
      <p:sp>
        <p:nvSpPr>
          <p:cNvPr id="6" name="Text 4"/>
          <p:cNvSpPr/>
          <p:nvPr/>
        </p:nvSpPr>
        <p:spPr>
          <a:xfrm>
            <a:off x="822960" y="2286000"/>
            <a:ext cx="3072384" cy="658368"/>
          </a:xfrm>
          <a:prstGeom prst="rect">
            <a:avLst/>
          </a:prstGeom>
          <a:noFill/>
          <a:ln/>
        </p:spPr>
        <p:txBody>
          <a:bodyPr wrap="square" lIns="0" tIns="0" rIns="0" bIns="0" rtlCol="0" anchor="ctr"/>
          <a:lstStyle/>
          <a:p>
            <a:pPr indent="0" marL="0">
              <a:lnSpc>
                <a:spcPts val="1400"/>
              </a:lnSpc>
              <a:buNone/>
            </a:pPr>
            <a:r>
              <a:rPr lang="en-US" sz="1150" dirty="0">
                <a:solidFill>
                  <a:srgbClr val="7A6E68"/>
                </a:solidFill>
                <a:latin typeface="Calibri" pitchFamily="34" charset="0"/>
                <a:ea typeface="Calibri" pitchFamily="34" charset="-122"/>
                <a:cs typeface="Calibri" pitchFamily="34" charset="-120"/>
              </a:rPr>
              <a:t>Could this source produce a value here at all, even in principle?</a:t>
            </a:r>
            <a:endParaRPr lang="en-US" sz="1150" dirty="0"/>
          </a:p>
        </p:txBody>
      </p:sp>
      <p:sp>
        <p:nvSpPr>
          <p:cNvPr id="7" name="Text 5"/>
          <p:cNvSpPr/>
          <p:nvPr/>
        </p:nvSpPr>
        <p:spPr>
          <a:xfrm>
            <a:off x="822960" y="2962656"/>
            <a:ext cx="3072384" cy="256032"/>
          </a:xfrm>
          <a:prstGeom prst="rect">
            <a:avLst/>
          </a:prstGeom>
          <a:noFill/>
          <a:ln/>
        </p:spPr>
        <p:txBody>
          <a:bodyPr wrap="square" lIns="0" tIns="0" rIns="0" bIns="0" rtlCol="0" anchor="ctr"/>
          <a:lstStyle/>
          <a:p>
            <a:pPr indent="0" marL="0">
              <a:buNone/>
            </a:pPr>
            <a:r>
              <a:rPr lang="en-US" sz="950" b="1" spc="100" kern="0" dirty="0">
                <a:solidFill>
                  <a:srgbClr val="A7BEAE"/>
                </a:solidFill>
                <a:latin typeface="Calibri" pitchFamily="34" charset="0"/>
                <a:ea typeface="Calibri" pitchFamily="34" charset="-122"/>
                <a:cs typeface="Calibri" pitchFamily="34" charset="-120"/>
              </a:rPr>
              <a:t>MEASURABLE</a:t>
            </a:r>
            <a:endParaRPr lang="en-US" sz="950" dirty="0"/>
          </a:p>
        </p:txBody>
      </p:sp>
      <p:sp>
        <p:nvSpPr>
          <p:cNvPr id="8" name="Shape 6"/>
          <p:cNvSpPr/>
          <p:nvPr/>
        </p:nvSpPr>
        <p:spPr>
          <a:xfrm>
            <a:off x="4279392" y="1517904"/>
            <a:ext cx="3584448" cy="1773936"/>
          </a:xfrm>
          <a:prstGeom prst="roundRect">
            <a:avLst>
              <a:gd name="adj" fmla="val 3093"/>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4535424" y="1664208"/>
            <a:ext cx="3017520" cy="585216"/>
          </a:xfrm>
          <a:prstGeom prst="rect">
            <a:avLst/>
          </a:prstGeom>
          <a:noFill/>
          <a:ln/>
        </p:spPr>
        <p:txBody>
          <a:bodyPr wrap="square" lIns="0" tIns="0" rIns="0" bIns="0" rtlCol="0" anchor="ctr"/>
          <a:lstStyle/>
          <a:p>
            <a:pPr indent="0" marL="0">
              <a:buNone/>
            </a:pPr>
            <a:r>
              <a:rPr lang="en-US" sz="1700" b="1" dirty="0">
                <a:solidFill>
                  <a:srgbClr val="2B2523"/>
                </a:solidFill>
                <a:latin typeface="Cambria" pitchFamily="34" charset="0"/>
                <a:ea typeface="Cambria" pitchFamily="34" charset="-122"/>
                <a:cs typeface="Cambria" pitchFamily="34" charset="-120"/>
              </a:rPr>
              <a:t>Recorded</a:t>
            </a:r>
            <a:endParaRPr lang="en-US" sz="1700" dirty="0"/>
          </a:p>
          <a:p>
            <a:pPr indent="0" marL="0">
              <a:buNone/>
            </a:pPr>
            <a:r>
              <a:rPr lang="en-US" sz="1700" b="1" dirty="0">
                <a:solidFill>
                  <a:srgbClr val="2B2523"/>
                </a:solidFill>
                <a:latin typeface="Cambria" pitchFamily="34" charset="0"/>
                <a:ea typeface="Cambria" pitchFamily="34" charset="-122"/>
                <a:cs typeface="Cambria" pitchFamily="34" charset="-120"/>
              </a:rPr>
              <a:t>coverage</a:t>
            </a:r>
            <a:endParaRPr lang="en-US" sz="1700" dirty="0"/>
          </a:p>
        </p:txBody>
      </p:sp>
      <p:sp>
        <p:nvSpPr>
          <p:cNvPr id="10" name="Text 8"/>
          <p:cNvSpPr/>
          <p:nvPr/>
        </p:nvSpPr>
        <p:spPr>
          <a:xfrm>
            <a:off x="4535424" y="2286000"/>
            <a:ext cx="3072384" cy="658368"/>
          </a:xfrm>
          <a:prstGeom prst="rect">
            <a:avLst/>
          </a:prstGeom>
          <a:noFill/>
          <a:ln/>
        </p:spPr>
        <p:txBody>
          <a:bodyPr wrap="square" lIns="0" tIns="0" rIns="0" bIns="0" rtlCol="0" anchor="ctr"/>
          <a:lstStyle/>
          <a:p>
            <a:pPr indent="0" marL="0">
              <a:lnSpc>
                <a:spcPts val="1400"/>
              </a:lnSpc>
              <a:buNone/>
            </a:pPr>
            <a:r>
              <a:rPr lang="en-US" sz="1150" dirty="0">
                <a:solidFill>
                  <a:srgbClr val="7A6E68"/>
                </a:solidFill>
                <a:latin typeface="Calibri" pitchFamily="34" charset="0"/>
                <a:ea typeface="Calibri" pitchFamily="34" charset="-122"/>
                <a:cs typeface="Calibri" pitchFamily="34" charset="-120"/>
              </a:rPr>
              <a:t>Does the dataset actually contain a value for this district-month?</a:t>
            </a:r>
            <a:endParaRPr lang="en-US" sz="1150" dirty="0"/>
          </a:p>
        </p:txBody>
      </p:sp>
      <p:sp>
        <p:nvSpPr>
          <p:cNvPr id="11" name="Text 9"/>
          <p:cNvSpPr/>
          <p:nvPr/>
        </p:nvSpPr>
        <p:spPr>
          <a:xfrm>
            <a:off x="4535424" y="2962656"/>
            <a:ext cx="3072384" cy="256032"/>
          </a:xfrm>
          <a:prstGeom prst="rect">
            <a:avLst/>
          </a:prstGeom>
          <a:noFill/>
          <a:ln/>
        </p:spPr>
        <p:txBody>
          <a:bodyPr wrap="square" lIns="0" tIns="0" rIns="0" bIns="0" rtlCol="0" anchor="ctr"/>
          <a:lstStyle/>
          <a:p>
            <a:pPr indent="0" marL="0">
              <a:buNone/>
            </a:pPr>
            <a:r>
              <a:rPr lang="en-US" sz="950" b="1" spc="100" kern="0" dirty="0">
                <a:solidFill>
                  <a:srgbClr val="A7BEAE"/>
                </a:solidFill>
                <a:latin typeface="Calibri" pitchFamily="34" charset="0"/>
                <a:ea typeface="Calibri" pitchFamily="34" charset="-122"/>
                <a:cs typeface="Calibri" pitchFamily="34" charset="-120"/>
              </a:rPr>
              <a:t>MEASURABLE</a:t>
            </a:r>
            <a:endParaRPr lang="en-US" sz="950" dirty="0"/>
          </a:p>
        </p:txBody>
      </p:sp>
      <p:sp>
        <p:nvSpPr>
          <p:cNvPr id="12" name="Shape 10"/>
          <p:cNvSpPr/>
          <p:nvPr/>
        </p:nvSpPr>
        <p:spPr>
          <a:xfrm>
            <a:off x="7991856" y="1517904"/>
            <a:ext cx="3584448" cy="1773936"/>
          </a:xfrm>
          <a:prstGeom prst="roundRect">
            <a:avLst>
              <a:gd name="adj" fmla="val 3093"/>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8247888" y="1664208"/>
            <a:ext cx="3017520" cy="585216"/>
          </a:xfrm>
          <a:prstGeom prst="rect">
            <a:avLst/>
          </a:prstGeom>
          <a:noFill/>
          <a:ln/>
        </p:spPr>
        <p:txBody>
          <a:bodyPr wrap="square" lIns="0" tIns="0" rIns="0" bIns="0" rtlCol="0" anchor="ctr"/>
          <a:lstStyle/>
          <a:p>
            <a:pPr indent="0" marL="0">
              <a:buNone/>
            </a:pPr>
            <a:r>
              <a:rPr lang="en-US" sz="1700" b="1" dirty="0">
                <a:solidFill>
                  <a:srgbClr val="2B2523"/>
                </a:solidFill>
                <a:latin typeface="Cambria" pitchFamily="34" charset="0"/>
                <a:ea typeface="Cambria" pitchFamily="34" charset="-122"/>
                <a:cs typeface="Cambria" pitchFamily="34" charset="-120"/>
              </a:rPr>
              <a:t>True</a:t>
            </a:r>
            <a:endParaRPr lang="en-US" sz="1700" dirty="0"/>
          </a:p>
          <a:p>
            <a:pPr indent="0" marL="0">
              <a:buNone/>
            </a:pPr>
            <a:r>
              <a:rPr lang="en-US" sz="1700" b="1" dirty="0">
                <a:solidFill>
                  <a:srgbClr val="2B2523"/>
                </a:solidFill>
                <a:latin typeface="Cambria" pitchFamily="34" charset="0"/>
                <a:ea typeface="Cambria" pitchFamily="34" charset="-122"/>
                <a:cs typeface="Cambria" pitchFamily="34" charset="-120"/>
              </a:rPr>
              <a:t>observability</a:t>
            </a:r>
            <a:endParaRPr lang="en-US" sz="1700" dirty="0"/>
          </a:p>
        </p:txBody>
      </p:sp>
      <p:sp>
        <p:nvSpPr>
          <p:cNvPr id="14" name="Text 12"/>
          <p:cNvSpPr/>
          <p:nvPr/>
        </p:nvSpPr>
        <p:spPr>
          <a:xfrm>
            <a:off x="8247888" y="2286000"/>
            <a:ext cx="3072384" cy="658368"/>
          </a:xfrm>
          <a:prstGeom prst="rect">
            <a:avLst/>
          </a:prstGeom>
          <a:noFill/>
          <a:ln/>
        </p:spPr>
        <p:txBody>
          <a:bodyPr wrap="square" lIns="0" tIns="0" rIns="0" bIns="0" rtlCol="0" anchor="ctr"/>
          <a:lstStyle/>
          <a:p>
            <a:pPr indent="0" marL="0">
              <a:lnSpc>
                <a:spcPts val="1400"/>
              </a:lnSpc>
              <a:buNone/>
            </a:pPr>
            <a:r>
              <a:rPr lang="en-US" sz="1150" dirty="0">
                <a:solidFill>
                  <a:srgbClr val="7A6E68"/>
                </a:solidFill>
                <a:latin typeface="Calibri" pitchFamily="34" charset="0"/>
                <a:ea typeface="Calibri" pitchFamily="34" charset="-122"/>
                <a:cs typeface="Calibri" pitchFamily="34" charset="-120"/>
              </a:rPr>
              <a:t>How well does that value reflect what was really happening?</a:t>
            </a:r>
            <a:endParaRPr lang="en-US" sz="1150" dirty="0"/>
          </a:p>
        </p:txBody>
      </p:sp>
      <p:sp>
        <p:nvSpPr>
          <p:cNvPr id="15" name="Text 13"/>
          <p:cNvSpPr/>
          <p:nvPr/>
        </p:nvSpPr>
        <p:spPr>
          <a:xfrm>
            <a:off x="8247888" y="2962656"/>
            <a:ext cx="3072384" cy="256032"/>
          </a:xfrm>
          <a:prstGeom prst="rect">
            <a:avLst/>
          </a:prstGeom>
          <a:noFill/>
          <a:ln/>
        </p:spPr>
        <p:txBody>
          <a:bodyPr wrap="square" lIns="0" tIns="0" rIns="0" bIns="0" rtlCol="0" anchor="ctr"/>
          <a:lstStyle/>
          <a:p>
            <a:pPr indent="0" marL="0">
              <a:buNone/>
            </a:pPr>
            <a:r>
              <a:rPr lang="en-US" sz="950" b="1" spc="100" kern="0" dirty="0">
                <a:solidFill>
                  <a:srgbClr val="B85042"/>
                </a:solidFill>
                <a:latin typeface="Calibri" pitchFamily="34" charset="0"/>
                <a:ea typeface="Calibri" pitchFamily="34" charset="-122"/>
                <a:cs typeface="Calibri" pitchFamily="34" charset="-120"/>
              </a:rPr>
              <a:t>MOSTLY NOT MEASURABLE</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3529584"/>
          <a:ext cx="11027664" cy="914400"/>
        </p:xfrm>
        <a:graphic>
          <a:graphicData uri="http://schemas.openxmlformats.org/drawingml/2006/table">
            <a:tbl>
              <a:tblPr/>
              <a:tblGrid>
                <a:gridCol w="2377440"/>
                <a:gridCol w="1371600"/>
                <a:gridCol w="1371600"/>
                <a:gridCol w="5907024"/>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Structural</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Recorded</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True observability</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Conflict (ACLED)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Unknown. A zero may mean no event, or no report of one.</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Climate (CHIRPS / VHI)</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Strong. Satellites do not depend on local reporting.</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Market (WFP)</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47%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47%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Mixed. Depends on enumerator visits and vendor choice.</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84048">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Reporting (ReliefWeb)</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68%</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Weakest. About 43% precision on matched reports.</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17" name="Text 14"/>
          <p:cNvSpPr/>
          <p:nvPr/>
        </p:nvSpPr>
        <p:spPr>
          <a:xfrm>
            <a:off x="566928" y="5687568"/>
            <a:ext cx="11027664" cy="457200"/>
          </a:xfrm>
          <a:prstGeom prst="rect">
            <a:avLst/>
          </a:prstGeom>
          <a:noFill/>
          <a:ln/>
        </p:spPr>
        <p:txBody>
          <a:bodyPr wrap="square" lIns="0" tIns="0" rIns="0" bIns="0" rtlCol="0" anchor="ctr"/>
          <a:lstStyle/>
          <a:p>
            <a:pPr indent="0" marL="0">
              <a:buNone/>
            </a:pPr>
            <a:r>
              <a:rPr lang="en-US" sz="1200" i="1" dirty="0">
                <a:solidFill>
                  <a:srgbClr val="7A6E68"/>
                </a:solidFill>
                <a:latin typeface="Calibri" pitchFamily="34" charset="0"/>
                <a:ea typeface="Calibri" pitchFamily="34" charset="-122"/>
                <a:cs typeface="Calibri" pitchFamily="34" charset="-120"/>
              </a:rPr>
              <a:t>Market and reporting both fall short of full coverage, but for different reasons. Market's gap is forced by structure, since a price cannot exist where no market does. Reporting's is not, so falling short means something was genuinely missed.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 9: the pilot results, reframed as exploratory</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Two months of one country cannot support firm conclusions</a:t>
            </a:r>
            <a:endParaRPr lang="en-US" sz="1350" dirty="0"/>
          </a:p>
        </p:txBody>
      </p:sp>
      <p:sp>
        <p:nvSpPr>
          <p:cNvPr id="4" name="Shape 2"/>
          <p:cNvSpPr/>
          <p:nvPr/>
        </p:nvSpPr>
        <p:spPr>
          <a:xfrm>
            <a:off x="566928" y="1481328"/>
            <a:ext cx="548640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22960" y="1627632"/>
            <a:ext cx="5029200" cy="292608"/>
          </a:xfrm>
          <a:prstGeom prst="rect">
            <a:avLst/>
          </a:prstGeom>
          <a:noFill/>
          <a:ln/>
        </p:spPr>
        <p:txBody>
          <a:bodyPr wrap="square" lIns="0" tIns="0" rIns="0" bIns="0" rtlCol="0" anchor="ctr"/>
          <a:lstStyle/>
          <a:p>
            <a:pPr indent="0" marL="0">
              <a:buNone/>
            </a:pPr>
            <a:r>
              <a:rPr lang="en-US" sz="1450" b="1" dirty="0">
                <a:solidFill>
                  <a:srgbClr val="2B2523"/>
                </a:solidFill>
                <a:latin typeface="Cambria" pitchFamily="34" charset="0"/>
                <a:ea typeface="Cambria" pitchFamily="34" charset="-122"/>
                <a:cs typeface="Cambria" pitchFamily="34" charset="-120"/>
              </a:rPr>
              <a:t>Pilot 1 · Does market coverage track conflict?</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5029200" cy="914400"/>
        </p:xfrm>
        <a:graphic>
          <a:graphicData uri="http://schemas.openxmlformats.org/drawingml/2006/table">
            <a:tbl>
              <a:tblPr/>
              <a:tblGrid>
                <a:gridCol w="1828800"/>
                <a:gridCol w="1188720"/>
                <a:gridCol w="1005840"/>
                <a:gridCol w="10058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With market</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Without</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310896">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Conflict events</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4.57</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3.24</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0.18</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310896">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Fatalities</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4.61</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7.37</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00" dirty="0">
                          <a:solidFill>
                            <a:srgbClr val="2B2523"/>
                          </a:solidFill>
                          <a:latin typeface="Calibri" pitchFamily="34" charset="0"/>
                          <a:ea typeface="Calibri" pitchFamily="34" charset="-122"/>
                          <a:cs typeface="Calibri" pitchFamily="34" charset="-120"/>
                        </a:rPr>
                        <a:t>0.47</a:t>
                      </a:r>
                      <a:endParaRPr lang="en-US" sz="11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7" name="Text 4"/>
          <p:cNvSpPr/>
          <p:nvPr/>
        </p:nvSpPr>
        <p:spPr>
          <a:xfrm>
            <a:off x="822960" y="3108960"/>
            <a:ext cx="5029200" cy="566928"/>
          </a:xfrm>
          <a:prstGeom prst="rect">
            <a:avLst/>
          </a:prstGeom>
          <a:noFill/>
          <a:ln/>
        </p:spPr>
        <p:txBody>
          <a:bodyPr wrap="square" lIns="0" tIns="0" rIns="0" bIns="0" rtlCol="0" anchor="ctr"/>
          <a:lstStyle/>
          <a:p>
            <a:pPr indent="0" marL="0">
              <a:lnSpc>
                <a:spcPts val="1400"/>
              </a:lnSpc>
              <a:buNone/>
            </a:pPr>
            <a:r>
              <a:rPr lang="en-US" sz="1100" dirty="0">
                <a:solidFill>
                  <a:srgbClr val="7A6E68"/>
                </a:solidFill>
                <a:latin typeface="Calibri" pitchFamily="34" charset="0"/>
                <a:ea typeface="Calibri" pitchFamily="34" charset="-122"/>
                <a:cs typeface="Calibri" pitchFamily="34" charset="-120"/>
              </a:rPr>
              <a:t>No significant difference on either measure, and the direction was not even consistent. Density was excluded here, following its removal in Task 5.</a:t>
            </a:r>
            <a:endParaRPr lang="en-US" sz="1100" dirty="0"/>
          </a:p>
        </p:txBody>
      </p:sp>
      <p:sp>
        <p:nvSpPr>
          <p:cNvPr id="8" name="Shape 5"/>
          <p:cNvSpPr/>
          <p:nvPr/>
        </p:nvSpPr>
        <p:spPr>
          <a:xfrm>
            <a:off x="6492240" y="1481328"/>
            <a:ext cx="5102352" cy="2286000"/>
          </a:xfrm>
          <a:prstGeom prst="roundRect">
            <a:avLst>
              <a:gd name="adj" fmla="val 2400"/>
            </a:avLst>
          </a:prstGeom>
          <a:solidFill>
            <a:srgbClr val="2B2523"/>
          </a:solidFill>
          <a:ln/>
          <a:effectLst>
            <a:outerShdw sx="100000" sy="100000" kx="0" ky="0" algn="bl" rotWithShape="0" blurRad="76200" dist="381" dir="5400000">
              <a:srgbClr val="000000">
                <a:alpha val="8000"/>
              </a:srgbClr>
            </a:outerShdw>
          </a:effectLst>
        </p:spPr>
      </p:sp>
      <p:sp>
        <p:nvSpPr>
          <p:cNvPr id="9" name="Text 6"/>
          <p:cNvSpPr/>
          <p:nvPr/>
        </p:nvSpPr>
        <p:spPr>
          <a:xfrm>
            <a:off x="6729984" y="1627632"/>
            <a:ext cx="47548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Pilot 2 · Does reporting follow conflict?</a:t>
            </a:r>
            <a:endParaRPr lang="en-US" sz="1450" dirty="0"/>
          </a:p>
        </p:txBody>
      </p:sp>
      <p:sp>
        <p:nvSpPr>
          <p:cNvPr id="10" name="Text 7"/>
          <p:cNvSpPr/>
          <p:nvPr/>
        </p:nvSpPr>
        <p:spPr>
          <a:xfrm>
            <a:off x="6729984" y="1975104"/>
            <a:ext cx="4754880" cy="1700784"/>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E7E8D1"/>
                </a:solidFill>
                <a:latin typeface="Calibri" pitchFamily="34" charset="0"/>
                <a:ea typeface="Calibri" pitchFamily="34" charset="-122"/>
                <a:cs typeface="Calibri" pitchFamily="34" charset="-120"/>
              </a:rPr>
              <a:t>Same month, all districts: r = 0.32, p &lt; 0.001.</a:t>
            </a:r>
            <a:endParaRPr lang="en-US" sz="1100" dirty="0"/>
          </a:p>
          <a:p>
            <a:pPr marL="342900" indent="-342900">
              <a:lnSpc>
                <a:spcPts val="1400"/>
              </a:lnSpc>
              <a:spcAft>
                <a:spcPts val="600"/>
              </a:spcAft>
              <a:buSzPct val="100000"/>
              <a:buChar char="•"/>
            </a:pPr>
            <a:r>
              <a:rPr lang="en-US" sz="1100" dirty="0">
                <a:solidFill>
                  <a:srgbClr val="E7E8D1"/>
                </a:solidFill>
                <a:latin typeface="Calibri" pitchFamily="34" charset="0"/>
                <a:ea typeface="Calibri" pitchFamily="34" charset="-122"/>
                <a:cs typeface="Calibri" pitchFamily="34" charset="-120"/>
              </a:rPr>
              <a:t>Excluding the capital barely moved it, to r = 0.29.</a:t>
            </a:r>
            <a:endParaRPr lang="en-US" sz="1100" dirty="0"/>
          </a:p>
          <a:p>
            <a:pPr marL="342900" indent="-342900">
              <a:lnSpc>
                <a:spcPts val="1400"/>
              </a:lnSpc>
              <a:spcAft>
                <a:spcPts val="600"/>
              </a:spcAft>
              <a:buSzPct val="100000"/>
              <a:buChar char="•"/>
            </a:pPr>
            <a:r>
              <a:rPr lang="en-US" sz="1100" dirty="0">
                <a:solidFill>
                  <a:srgbClr val="E7E8D1"/>
                </a:solidFill>
                <a:latin typeface="Calibri" pitchFamily="34" charset="0"/>
                <a:ea typeface="Calibri" pitchFamily="34" charset="-122"/>
                <a:cs typeface="Calibri" pitchFamily="34" charset="-120"/>
              </a:rPr>
              <a:t>January was strong (r = 0.48) but February was not significant, and with only two months there was no way to tell which was typical.</a:t>
            </a:r>
            <a:endParaRPr lang="en-US" sz="1100" dirty="0"/>
          </a:p>
          <a:p>
            <a:pPr marL="342900" indent="-342900">
              <a:lnSpc>
                <a:spcPts val="1400"/>
              </a:lnSpc>
              <a:buSzPct val="100000"/>
              <a:buChar char="•"/>
            </a:pPr>
            <a:r>
              <a:rPr lang="en-US" sz="1100" dirty="0">
                <a:solidFill>
                  <a:srgbClr val="E7E8D1"/>
                </a:solidFill>
                <a:latin typeface="Calibri" pitchFamily="34" charset="0"/>
                <a:ea typeface="Calibri" pitchFamily="34" charset="-122"/>
                <a:cs typeface="Calibri" pitchFamily="34" charset="-120"/>
              </a:rPr>
              <a:t>January conflict against February reports suggested a one-month lag, testable on exactly one pair of months.</a:t>
            </a:r>
            <a:endParaRPr lang="en-US" sz="1100" dirty="0"/>
          </a:p>
        </p:txBody>
      </p:sp>
      <p:sp>
        <p:nvSpPr>
          <p:cNvPr id="11" name="Shape 8"/>
          <p:cNvSpPr/>
          <p:nvPr/>
        </p:nvSpPr>
        <p:spPr>
          <a:xfrm>
            <a:off x="566928" y="3950208"/>
            <a:ext cx="11027664"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12" name="Text 9"/>
          <p:cNvSpPr/>
          <p:nvPr/>
        </p:nvSpPr>
        <p:spPr>
          <a:xfrm>
            <a:off x="841248" y="4096512"/>
            <a:ext cx="5486400" cy="292608"/>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How these are presented</a:t>
            </a:r>
            <a:endParaRPr lang="en-US" sz="1500" dirty="0"/>
          </a:p>
        </p:txBody>
      </p:sp>
      <p:sp>
        <p:nvSpPr>
          <p:cNvPr id="13" name="Text 10"/>
          <p:cNvSpPr/>
          <p:nvPr/>
        </p:nvSpPr>
        <p:spPr>
          <a:xfrm>
            <a:off x="841248" y="4425696"/>
            <a:ext cx="10479024" cy="1133856"/>
          </a:xfrm>
          <a:prstGeom prst="rect">
            <a:avLst/>
          </a:prstGeom>
          <a:noFill/>
          <a:ln/>
        </p:spPr>
        <p:txBody>
          <a:bodyPr wrap="square" lIns="0" tIns="0" rIns="0" bIns="0" rtlCol="0" anchor="ctr"/>
          <a:lstStyle/>
          <a:p>
            <a:pPr indent="0" marL="0">
              <a:lnSpc>
                <a:spcPts val="1600"/>
              </a:lnSpc>
              <a:buNone/>
            </a:pPr>
            <a:r>
              <a:rPr lang="en-US" sz="1200" dirty="0">
                <a:solidFill>
                  <a:srgbClr val="2B2523"/>
                </a:solidFill>
                <a:latin typeface="Calibri" pitchFamily="34" charset="0"/>
                <a:ea typeface="Calibri" pitchFamily="34" charset="-122"/>
                <a:cs typeface="Calibri" pitchFamily="34" charset="-120"/>
              </a:rPr>
              <a:t>Both experiments exist to show that the integrated dataset can support cross-mechanism questions that no single source could answer alone. They are demonstrations of what the dataset makes possible, not findings about Somalia. With 74 districts observed over two months, neither result should be read as evidence of a real-world pattern, and both are written up as hypotheses to carry into the full study rather than as conclusions.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1463040" y="3108960"/>
            <a:ext cx="5120640" cy="5120640"/>
          </a:xfrm>
          <a:prstGeom prst="ellipse">
            <a:avLst/>
          </a:prstGeom>
          <a:solidFill>
            <a:srgbClr val="B85042"/>
          </a:solidFill>
          <a:ln/>
        </p:spPr>
      </p:sp>
      <p:sp>
        <p:nvSpPr>
          <p:cNvPr id="3" name="Text 1"/>
          <p:cNvSpPr/>
          <p:nvPr/>
        </p:nvSpPr>
        <p:spPr>
          <a:xfrm>
            <a:off x="566928" y="2286000"/>
            <a:ext cx="73152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TASK 10</a:t>
            </a:r>
            <a:endParaRPr lang="en-US" sz="1300" dirty="0"/>
          </a:p>
        </p:txBody>
      </p:sp>
      <p:sp>
        <p:nvSpPr>
          <p:cNvPr id="4" name="Text 2"/>
          <p:cNvSpPr/>
          <p:nvPr/>
        </p:nvSpPr>
        <p:spPr>
          <a:xfrm>
            <a:off x="566928" y="269748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Extending to the full year</a:t>
            </a:r>
            <a:endParaRPr lang="en-US" sz="4000" dirty="0"/>
          </a:p>
        </p:txBody>
      </p:sp>
      <p:sp>
        <p:nvSpPr>
          <p:cNvPr id="5" name="Text 3"/>
          <p:cNvSpPr/>
          <p:nvPr/>
        </p:nvSpPr>
        <p:spPr>
          <a:xfrm>
            <a:off x="566928" y="3703320"/>
            <a:ext cx="7680960" cy="82296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Only after the validity checks above were complete. Two months became twelve and 148 district-months became 888, with the feature set left exactly as validated.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 10 (1 of 3): building the full 2024 panel</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Same pipeline, same features, six times the observations</a:t>
            </a:r>
            <a:endParaRPr lang="en-US" sz="1350" dirty="0"/>
          </a:p>
        </p:txBody>
      </p:sp>
      <p:sp>
        <p:nvSpPr>
          <p:cNvPr id="4" name="Shape 2"/>
          <p:cNvSpPr/>
          <p:nvPr/>
        </p:nvSpPr>
        <p:spPr>
          <a:xfrm>
            <a:off x="566928" y="1481328"/>
            <a:ext cx="2377440"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591056"/>
            <a:ext cx="1920240" cy="603504"/>
          </a:xfrm>
          <a:prstGeom prst="rect">
            <a:avLst/>
          </a:prstGeom>
          <a:noFill/>
          <a:ln/>
        </p:spPr>
        <p:txBody>
          <a:bodyPr wrap="square" lIns="0" tIns="0" rIns="0" bIns="0" rtlCol="0" anchor="ctr"/>
          <a:lstStyle/>
          <a:p>
            <a:pPr indent="0" marL="0">
              <a:buNone/>
            </a:pPr>
            <a:r>
              <a:rPr lang="en-US" sz="3400" b="1" dirty="0">
                <a:solidFill>
                  <a:srgbClr val="B85042"/>
                </a:solidFill>
                <a:latin typeface="Cambria" pitchFamily="34" charset="0"/>
                <a:ea typeface="Cambria" pitchFamily="34" charset="-122"/>
                <a:cs typeface="Cambria" pitchFamily="34" charset="-120"/>
              </a:rPr>
              <a:t>888</a:t>
            </a:r>
            <a:endParaRPr lang="en-US" sz="3400" dirty="0"/>
          </a:p>
        </p:txBody>
      </p:sp>
      <p:sp>
        <p:nvSpPr>
          <p:cNvPr id="6" name="Text 4"/>
          <p:cNvSpPr/>
          <p:nvPr/>
        </p:nvSpPr>
        <p:spPr>
          <a:xfrm>
            <a:off x="804672" y="2212848"/>
            <a:ext cx="2011680" cy="548640"/>
          </a:xfrm>
          <a:prstGeom prst="rect">
            <a:avLst/>
          </a:prstGeom>
          <a:noFill/>
          <a:ln/>
        </p:spPr>
        <p:txBody>
          <a:bodyPr wrap="square" lIns="0" tIns="0" rIns="0" bIns="0" rtlCol="0" anchor="ctr"/>
          <a:lstStyle/>
          <a:p>
            <a:pPr indent="0" marL="0">
              <a:buNone/>
            </a:pPr>
            <a:r>
              <a:rPr lang="en-US" sz="1100" dirty="0">
                <a:solidFill>
                  <a:srgbClr val="7A6E68"/>
                </a:solidFill>
                <a:latin typeface="Calibri" pitchFamily="34" charset="0"/>
                <a:ea typeface="Calibri" pitchFamily="34" charset="-122"/>
                <a:cs typeface="Calibri" pitchFamily="34" charset="-120"/>
              </a:rPr>
              <a:t>district-months</a:t>
            </a:r>
            <a:endParaRPr lang="en-US" sz="1100" dirty="0"/>
          </a:p>
          <a:p>
            <a:pPr indent="0" marL="0">
              <a:buNone/>
            </a:pPr>
            <a:r>
              <a:rPr lang="en-US" sz="1100" dirty="0">
                <a:solidFill>
                  <a:srgbClr val="7A6E68"/>
                </a:solidFill>
                <a:latin typeface="Calibri" pitchFamily="34" charset="0"/>
                <a:ea typeface="Calibri" pitchFamily="34" charset="-122"/>
                <a:cs typeface="Calibri" pitchFamily="34" charset="-120"/>
              </a:rPr>
              <a:t>74 × 12</a:t>
            </a:r>
            <a:endParaRPr lang="en-US" sz="1100" dirty="0"/>
          </a:p>
        </p:txBody>
      </p:sp>
      <p:sp>
        <p:nvSpPr>
          <p:cNvPr id="7" name="Shape 5"/>
          <p:cNvSpPr/>
          <p:nvPr/>
        </p:nvSpPr>
        <p:spPr>
          <a:xfrm>
            <a:off x="3090672" y="1481328"/>
            <a:ext cx="2377440"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3310128" y="1591056"/>
            <a:ext cx="1920240" cy="603504"/>
          </a:xfrm>
          <a:prstGeom prst="rect">
            <a:avLst/>
          </a:prstGeom>
          <a:noFill/>
          <a:ln/>
        </p:spPr>
        <p:txBody>
          <a:bodyPr wrap="square" lIns="0" tIns="0" rIns="0" bIns="0" rtlCol="0" anchor="ctr"/>
          <a:lstStyle/>
          <a:p>
            <a:pPr indent="0" marL="0">
              <a:buNone/>
            </a:pPr>
            <a:r>
              <a:rPr lang="en-US" sz="3400" b="1" dirty="0">
                <a:solidFill>
                  <a:srgbClr val="2B2523"/>
                </a:solidFill>
                <a:latin typeface="Cambria" pitchFamily="34" charset="0"/>
                <a:ea typeface="Cambria" pitchFamily="34" charset="-122"/>
                <a:cs typeface="Cambria" pitchFamily="34" charset="-120"/>
              </a:rPr>
              <a:t>30</a:t>
            </a:r>
            <a:endParaRPr lang="en-US" sz="3400" dirty="0"/>
          </a:p>
        </p:txBody>
      </p:sp>
      <p:sp>
        <p:nvSpPr>
          <p:cNvPr id="9" name="Text 7"/>
          <p:cNvSpPr/>
          <p:nvPr/>
        </p:nvSpPr>
        <p:spPr>
          <a:xfrm>
            <a:off x="3328416" y="2212848"/>
            <a:ext cx="2011680" cy="548640"/>
          </a:xfrm>
          <a:prstGeom prst="rect">
            <a:avLst/>
          </a:prstGeom>
          <a:noFill/>
          <a:ln/>
        </p:spPr>
        <p:txBody>
          <a:bodyPr wrap="square" lIns="0" tIns="0" rIns="0" bIns="0" rtlCol="0" anchor="ctr"/>
          <a:lstStyle/>
          <a:p>
            <a:pPr indent="0" marL="0">
              <a:buNone/>
            </a:pPr>
            <a:r>
              <a:rPr lang="en-US" sz="1100" dirty="0">
                <a:solidFill>
                  <a:srgbClr val="7A6E68"/>
                </a:solidFill>
                <a:latin typeface="Calibri" pitchFamily="34" charset="0"/>
                <a:ea typeface="Calibri" pitchFamily="34" charset="-122"/>
                <a:cs typeface="Calibri" pitchFamily="34" charset="-120"/>
              </a:rPr>
              <a:t>columns, identical</a:t>
            </a:r>
            <a:endParaRPr lang="en-US" sz="1100" dirty="0"/>
          </a:p>
          <a:p>
            <a:pPr indent="0" marL="0">
              <a:buNone/>
            </a:pPr>
            <a:r>
              <a:rPr lang="en-US" sz="1100" dirty="0">
                <a:solidFill>
                  <a:srgbClr val="7A6E68"/>
                </a:solidFill>
                <a:latin typeface="Calibri" pitchFamily="34" charset="0"/>
                <a:ea typeface="Calibri" pitchFamily="34" charset="-122"/>
                <a:cs typeface="Calibri" pitchFamily="34" charset="-120"/>
              </a:rPr>
              <a:t>to the prototype</a:t>
            </a:r>
            <a:endParaRPr lang="en-US" sz="1100" dirty="0"/>
          </a:p>
        </p:txBody>
      </p:sp>
      <p:sp>
        <p:nvSpPr>
          <p:cNvPr id="10" name="Shape 8"/>
          <p:cNvSpPr/>
          <p:nvPr/>
        </p:nvSpPr>
        <p:spPr>
          <a:xfrm>
            <a:off x="5614416" y="1481328"/>
            <a:ext cx="2377440"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11" name="Text 9"/>
          <p:cNvSpPr/>
          <p:nvPr/>
        </p:nvSpPr>
        <p:spPr>
          <a:xfrm>
            <a:off x="5833872" y="1591056"/>
            <a:ext cx="1920240" cy="603504"/>
          </a:xfrm>
          <a:prstGeom prst="rect">
            <a:avLst/>
          </a:prstGeom>
          <a:noFill/>
          <a:ln/>
        </p:spPr>
        <p:txBody>
          <a:bodyPr wrap="square" lIns="0" tIns="0" rIns="0" bIns="0" rtlCol="0" anchor="ctr"/>
          <a:lstStyle/>
          <a:p>
            <a:pPr indent="0" marL="0">
              <a:buNone/>
            </a:pPr>
            <a:r>
              <a:rPr lang="en-US" sz="3400" b="1" dirty="0">
                <a:solidFill>
                  <a:srgbClr val="A7BEAE"/>
                </a:solidFill>
                <a:latin typeface="Cambria" pitchFamily="34" charset="0"/>
                <a:ea typeface="Cambria" pitchFamily="34" charset="-122"/>
                <a:cs typeface="Cambria" pitchFamily="34" charset="-120"/>
              </a:rPr>
              <a:t>0</a:t>
            </a:r>
            <a:endParaRPr lang="en-US" sz="3400" dirty="0"/>
          </a:p>
        </p:txBody>
      </p:sp>
      <p:sp>
        <p:nvSpPr>
          <p:cNvPr id="12" name="Text 10"/>
          <p:cNvSpPr/>
          <p:nvPr/>
        </p:nvSpPr>
        <p:spPr>
          <a:xfrm>
            <a:off x="5852160" y="2212848"/>
            <a:ext cx="2011680" cy="548640"/>
          </a:xfrm>
          <a:prstGeom prst="rect">
            <a:avLst/>
          </a:prstGeom>
          <a:noFill/>
          <a:ln/>
        </p:spPr>
        <p:txBody>
          <a:bodyPr wrap="square" lIns="0" tIns="0" rIns="0" bIns="0" rtlCol="0" anchor="ctr"/>
          <a:lstStyle/>
          <a:p>
            <a:pPr indent="0" marL="0">
              <a:buNone/>
            </a:pPr>
            <a:r>
              <a:rPr lang="en-US" sz="1100" dirty="0">
                <a:solidFill>
                  <a:srgbClr val="7A6E68"/>
                </a:solidFill>
                <a:latin typeface="Calibri" pitchFamily="34" charset="0"/>
                <a:ea typeface="Calibri" pitchFamily="34" charset="-122"/>
                <a:cs typeface="Calibri" pitchFamily="34" charset="-120"/>
              </a:rPr>
              <a:t>features added</a:t>
            </a:r>
            <a:endParaRPr lang="en-US" sz="1100" dirty="0"/>
          </a:p>
          <a:p>
            <a:pPr indent="0" marL="0">
              <a:buNone/>
            </a:pPr>
            <a:r>
              <a:rPr lang="en-US" sz="1100" dirty="0">
                <a:solidFill>
                  <a:srgbClr val="7A6E68"/>
                </a:solidFill>
                <a:latin typeface="Calibri" pitchFamily="34" charset="0"/>
                <a:ea typeface="Calibri" pitchFamily="34" charset="-122"/>
                <a:cs typeface="Calibri" pitchFamily="34" charset="-120"/>
              </a:rPr>
              <a:t>or dropped</a:t>
            </a:r>
            <a:endParaRPr lang="en-US" sz="1100" dirty="0"/>
          </a:p>
        </p:txBody>
      </p:sp>
      <p:sp>
        <p:nvSpPr>
          <p:cNvPr id="13" name="Shape 11"/>
          <p:cNvSpPr/>
          <p:nvPr/>
        </p:nvSpPr>
        <p:spPr>
          <a:xfrm>
            <a:off x="8138160" y="1481328"/>
            <a:ext cx="3456432" cy="1371600"/>
          </a:xfrm>
          <a:prstGeom prst="roundRect">
            <a:avLst>
              <a:gd name="adj" fmla="val 4000"/>
            </a:avLst>
          </a:prstGeom>
          <a:solidFill>
            <a:srgbClr val="E7E8D1"/>
          </a:solidFill>
          <a:ln/>
          <a:effectLst>
            <a:outerShdw sx="100000" sy="100000" kx="0" ky="0" algn="bl" rotWithShape="0" blurRad="76200" dist="381" dir="5400000">
              <a:srgbClr val="000000">
                <a:alpha val="8000"/>
              </a:srgbClr>
            </a:outerShdw>
          </a:effectLst>
        </p:spPr>
      </p:sp>
      <p:sp>
        <p:nvSpPr>
          <p:cNvPr id="14" name="Text 12"/>
          <p:cNvSpPr/>
          <p:nvPr/>
        </p:nvSpPr>
        <p:spPr>
          <a:xfrm>
            <a:off x="8357616" y="1609344"/>
            <a:ext cx="3108960" cy="274320"/>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Consistency check</a:t>
            </a:r>
            <a:endParaRPr lang="en-US" sz="1300" dirty="0"/>
          </a:p>
        </p:txBody>
      </p:sp>
      <p:sp>
        <p:nvSpPr>
          <p:cNvPr id="15" name="Text 13"/>
          <p:cNvSpPr/>
          <p:nvPr/>
        </p:nvSpPr>
        <p:spPr>
          <a:xfrm>
            <a:off x="8357616" y="1901952"/>
            <a:ext cx="3200400" cy="85953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Market missingness is 52.8% across the full year against 53.4% in the prototype, as expected since market availability does not change month to month.</a:t>
            </a:r>
            <a:endParaRPr lang="en-US" sz="1050" dirty="0"/>
          </a:p>
        </p:txBody>
      </p:sp>
      <p:sp>
        <p:nvSpPr>
          <p:cNvPr id="16" name="Text 14"/>
          <p:cNvSpPr/>
          <p:nvPr/>
        </p:nvSpPr>
        <p:spPr>
          <a:xfrm>
            <a:off x="566928" y="3072384"/>
            <a:ext cx="7315200" cy="310896"/>
          </a:xfrm>
          <a:prstGeom prst="rect">
            <a:avLst/>
          </a:prstGeom>
          <a:noFill/>
          <a:ln/>
        </p:spPr>
        <p:txBody>
          <a:bodyPr wrap="square" lIns="0" tIns="0" rIns="0" bIns="0" rtlCol="0" anchor="ctr"/>
          <a:lstStyle/>
          <a:p>
            <a:pPr indent="0" marL="0">
              <a:buNone/>
            </a:pPr>
            <a:r>
              <a:rPr lang="en-US" sz="1700" b="1" dirty="0">
                <a:solidFill>
                  <a:srgbClr val="2B2523"/>
                </a:solidFill>
                <a:latin typeface="Cambria" pitchFamily="34" charset="0"/>
                <a:ea typeface="Cambria" pitchFamily="34" charset="-122"/>
                <a:cs typeface="Cambria" pitchFamily="34" charset="-120"/>
              </a:rPr>
              <a:t>Two things worth flagging</a:t>
            </a:r>
            <a:endParaRPr lang="en-US" sz="1700" dirty="0"/>
          </a:p>
        </p:txBody>
      </p:sp>
      <p:sp>
        <p:nvSpPr>
          <p:cNvPr id="17" name="Shape 15"/>
          <p:cNvSpPr/>
          <p:nvPr/>
        </p:nvSpPr>
        <p:spPr>
          <a:xfrm>
            <a:off x="566928" y="3493008"/>
            <a:ext cx="5486400" cy="2194560"/>
          </a:xfrm>
          <a:prstGeom prst="roundRect">
            <a:avLst>
              <a:gd name="adj" fmla="val 2500"/>
            </a:avLst>
          </a:prstGeom>
          <a:solidFill>
            <a:srgbClr val="F7F5F1"/>
          </a:solidFill>
          <a:ln/>
          <a:effectLst>
            <a:outerShdw sx="100000" sy="100000" kx="0" ky="0" algn="bl" rotWithShape="0" blurRad="76200" dist="381" dir="5400000">
              <a:srgbClr val="000000">
                <a:alpha val="8000"/>
              </a:srgbClr>
            </a:outerShdw>
          </a:effectLst>
        </p:spPr>
      </p:sp>
      <p:sp>
        <p:nvSpPr>
          <p:cNvPr id="18" name="Text 16"/>
          <p:cNvSpPr/>
          <p:nvPr/>
        </p:nvSpPr>
        <p:spPr>
          <a:xfrm>
            <a:off x="804672" y="3639312"/>
            <a:ext cx="4937760" cy="274320"/>
          </a:xfrm>
          <a:prstGeom prst="rect">
            <a:avLst/>
          </a:prstGeom>
          <a:noFill/>
          <a:ln/>
        </p:spPr>
        <p:txBody>
          <a:bodyPr wrap="square" lIns="0" tIns="0" rIns="0" bIns="0" rtlCol="0" anchor="ctr"/>
          <a:lstStyle/>
          <a:p>
            <a:pPr indent="0" marL="0">
              <a:buNone/>
            </a:pPr>
            <a:r>
              <a:rPr lang="en-US" sz="1400" b="1" dirty="0">
                <a:solidFill>
                  <a:srgbClr val="2B2523"/>
                </a:solidFill>
                <a:latin typeface="Cambria" pitchFamily="34" charset="0"/>
                <a:ea typeface="Cambria" pitchFamily="34" charset="-122"/>
                <a:cs typeface="Cambria" pitchFamily="34" charset="-120"/>
              </a:rPr>
              <a:t>Reporting coverage improved sharply</a:t>
            </a:r>
            <a:endParaRPr lang="en-US" sz="1400" dirty="0"/>
          </a:p>
        </p:txBody>
      </p:sp>
      <p:sp>
        <p:nvSpPr>
          <p:cNvPr id="19" name="Text 17"/>
          <p:cNvSpPr/>
          <p:nvPr/>
        </p:nvSpPr>
        <p:spPr>
          <a:xfrm>
            <a:off x="804672" y="3950208"/>
            <a:ext cx="5029200" cy="1609344"/>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District-level ReliefWeb coverage rose from 50 of 74 districts in the prototype to 73 of 74 across the year. Only SO_BANDER_BEYLA was never mentioned in any report in all of 2024, and it also has no market, making it the one district invisible to both non-satellite sources.</a:t>
            </a:r>
            <a:endParaRPr lang="en-US" sz="1150" dirty="0"/>
          </a:p>
        </p:txBody>
      </p:sp>
      <p:sp>
        <p:nvSpPr>
          <p:cNvPr id="20" name="Shape 18"/>
          <p:cNvSpPr/>
          <p:nvPr/>
        </p:nvSpPr>
        <p:spPr>
          <a:xfrm>
            <a:off x="6309360" y="3493008"/>
            <a:ext cx="5285232" cy="2194560"/>
          </a:xfrm>
          <a:prstGeom prst="roundRect">
            <a:avLst>
              <a:gd name="adj" fmla="val 2500"/>
            </a:avLst>
          </a:prstGeom>
          <a:solidFill>
            <a:srgbClr val="2B2523"/>
          </a:solidFill>
          <a:ln/>
          <a:effectLst>
            <a:outerShdw sx="100000" sy="100000" kx="0" ky="0" algn="bl" rotWithShape="0" blurRad="76200" dist="381" dir="5400000">
              <a:srgbClr val="000000">
                <a:alpha val="8000"/>
              </a:srgbClr>
            </a:outerShdw>
          </a:effectLst>
        </p:spPr>
      </p:sp>
      <p:sp>
        <p:nvSpPr>
          <p:cNvPr id="21" name="Text 19"/>
          <p:cNvSpPr/>
          <p:nvPr/>
        </p:nvSpPr>
        <p:spPr>
          <a:xfrm>
            <a:off x="6547104" y="3639312"/>
            <a:ext cx="493776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 leap-year edge case, documented</a:t>
            </a:r>
            <a:endParaRPr lang="en-US" sz="1400" dirty="0"/>
          </a:p>
        </p:txBody>
      </p:sp>
      <p:sp>
        <p:nvSpPr>
          <p:cNvPr id="22" name="Text 20"/>
          <p:cNvSpPr/>
          <p:nvPr/>
        </p:nvSpPr>
        <p:spPr>
          <a:xfrm>
            <a:off x="6547104" y="3950208"/>
            <a:ext cx="4937760" cy="1609344"/>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NOAA's 52 weekly vegetation files do not evenly divide a 366-day year. Week 52 ends on 29 December, leaving two days uncovered, so December is normalised by the days actually observed. The day-weighting was checked to reproduce the prototype's hand-written January and February weights exactly before being trusted.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Task 10 (2 of 3): re-running the pilots on 888 rows</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Identical code, six times the sample</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27664" cy="914400"/>
        </p:xfrm>
        <a:graphic>
          <a:graphicData uri="http://schemas.openxmlformats.org/drawingml/2006/table">
            <a:tbl>
              <a:tblPr/>
              <a:tblGrid>
                <a:gridCol w="3931920"/>
                <a:gridCol w="2743200"/>
                <a:gridCol w="2743200"/>
                <a:gridCol w="1609344"/>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Two months (148)</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Full year (888)</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20624">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Market coverage vs conflict events</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p = 0.18, not significant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p = 0.0001, significant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Changed</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20624">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Market coverage vs fatalities</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p = 0.47, not significant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p = 0.087, still not significant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Held</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20624">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Reporting attention vs conflict</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 = 0.32</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 = 0.366, p &lt; 0.0001</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Held, stronger</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20624">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Same, excluding the capital</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 = 0.29</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 = 0.338</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Held</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20624">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Conflict leading reporting by a month</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One pair available</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r = 0.382 across 11 pairs</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200" dirty="0">
                          <a:solidFill>
                            <a:srgbClr val="2B2523"/>
                          </a:solidFill>
                          <a:latin typeface="Calibri" pitchFamily="34" charset="0"/>
                          <a:ea typeface="Calibri" pitchFamily="34" charset="-122"/>
                          <a:cs typeface="Calibri" pitchFamily="34" charset="-120"/>
                        </a:rPr>
                        <a:t>Held at scale</a:t>
                      </a:r>
                      <a:endParaRPr lang="en-US" sz="120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5" name="Shape 2"/>
          <p:cNvSpPr/>
          <p:nvPr/>
        </p:nvSpPr>
        <p:spPr>
          <a:xfrm>
            <a:off x="566928" y="4535424"/>
            <a:ext cx="5486400" cy="1243584"/>
          </a:xfrm>
          <a:prstGeom prst="roundRect">
            <a:avLst>
              <a:gd name="adj" fmla="val 4412"/>
            </a:avLst>
          </a:prstGeom>
          <a:solidFill>
            <a:srgbClr val="E7E8D1"/>
          </a:solidFill>
          <a:ln/>
          <a:effectLst>
            <a:outerShdw sx="100000" sy="100000" kx="0" ky="0" algn="bl" rotWithShape="0" blurRad="76200" dist="381" dir="5400000">
              <a:srgbClr val="000000">
                <a:alpha val="8000"/>
              </a:srgbClr>
            </a:outerShdw>
          </a:effectLst>
        </p:spPr>
      </p:sp>
      <p:sp>
        <p:nvSpPr>
          <p:cNvPr id="6" name="Text 3"/>
          <p:cNvSpPr/>
          <p:nvPr/>
        </p:nvSpPr>
        <p:spPr>
          <a:xfrm>
            <a:off x="804672" y="4663440"/>
            <a:ext cx="4937760" cy="274320"/>
          </a:xfrm>
          <a:prstGeom prst="rect">
            <a:avLst/>
          </a:prstGeom>
          <a:noFill/>
          <a:ln/>
        </p:spPr>
        <p:txBody>
          <a:bodyPr wrap="square" lIns="0" tIns="0" rIns="0" bIns="0" rtlCol="0" anchor="ctr"/>
          <a:lstStyle/>
          <a:p>
            <a:pPr indent="0" marL="0">
              <a:buNone/>
            </a:pPr>
            <a:r>
              <a:rPr lang="en-US" sz="1400" b="1" dirty="0">
                <a:solidFill>
                  <a:srgbClr val="2B2523"/>
                </a:solidFill>
                <a:latin typeface="Cambria" pitchFamily="34" charset="0"/>
                <a:ea typeface="Cambria" pitchFamily="34" charset="-122"/>
                <a:cs typeface="Cambria" pitchFamily="34" charset="-120"/>
              </a:rPr>
              <a:t>10 of 12 months significant on their own</a:t>
            </a:r>
            <a:endParaRPr lang="en-US" sz="1400" dirty="0"/>
          </a:p>
        </p:txBody>
      </p:sp>
      <p:sp>
        <p:nvSpPr>
          <p:cNvPr id="7" name="Text 4"/>
          <p:cNvSpPr/>
          <p:nvPr/>
        </p:nvSpPr>
        <p:spPr>
          <a:xfrm>
            <a:off x="804672" y="4974336"/>
            <a:ext cx="5029200" cy="694944"/>
          </a:xfrm>
          <a:prstGeom prst="rect">
            <a:avLst/>
          </a:prstGeom>
          <a:noFill/>
          <a:ln/>
        </p:spPr>
        <p:txBody>
          <a:bodyPr wrap="square" lIns="0" tIns="0" rIns="0" bIns="0" rtlCol="0" anchor="ctr"/>
          <a:lstStyle/>
          <a:p>
            <a:pPr indent="0" marL="0">
              <a:lnSpc>
                <a:spcPts val="1400"/>
              </a:lnSpc>
              <a:buNone/>
            </a:pPr>
            <a:r>
              <a:rPr lang="en-US" sz="1150" dirty="0">
                <a:solidFill>
                  <a:srgbClr val="7A6E68"/>
                </a:solidFill>
                <a:latin typeface="Calibri" pitchFamily="34" charset="0"/>
                <a:ea typeface="Calibri" pitchFamily="34" charset="-122"/>
                <a:cs typeface="Calibri" pitchFamily="34" charset="-120"/>
              </a:rPr>
              <a:t>The conflict-to-reporting relationship holds independently in every month except February and April, rather than resting on one or two unusual months.</a:t>
            </a:r>
            <a:endParaRPr lang="en-US" sz="1150" dirty="0"/>
          </a:p>
        </p:txBody>
      </p:sp>
      <p:sp>
        <p:nvSpPr>
          <p:cNvPr id="8" name="Shape 5"/>
          <p:cNvSpPr/>
          <p:nvPr/>
        </p:nvSpPr>
        <p:spPr>
          <a:xfrm>
            <a:off x="6309360" y="4535424"/>
            <a:ext cx="5285232" cy="1243584"/>
          </a:xfrm>
          <a:prstGeom prst="roundRect">
            <a:avLst>
              <a:gd name="adj" fmla="val 4412"/>
            </a:avLst>
          </a:prstGeom>
          <a:solidFill>
            <a:srgbClr val="2B2523"/>
          </a:solidFill>
          <a:ln/>
          <a:effectLst>
            <a:outerShdw sx="100000" sy="100000" kx="0" ky="0" algn="bl" rotWithShape="0" blurRad="76200" dist="381" dir="5400000">
              <a:srgbClr val="000000">
                <a:alpha val="8000"/>
              </a:srgbClr>
            </a:outerShdw>
          </a:effectLst>
        </p:spPr>
      </p:sp>
      <p:sp>
        <p:nvSpPr>
          <p:cNvPr id="9" name="Text 6"/>
          <p:cNvSpPr/>
          <p:nvPr/>
        </p:nvSpPr>
        <p:spPr>
          <a:xfrm>
            <a:off x="6547104" y="4663440"/>
            <a:ext cx="493776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Why Task 9's caution was right</a:t>
            </a:r>
            <a:endParaRPr lang="en-US" sz="1400" dirty="0"/>
          </a:p>
        </p:txBody>
      </p:sp>
      <p:sp>
        <p:nvSpPr>
          <p:cNvPr id="10" name="Text 7"/>
          <p:cNvSpPr/>
          <p:nvPr/>
        </p:nvSpPr>
        <p:spPr>
          <a:xfrm>
            <a:off x="6547104" y="4974336"/>
            <a:ext cx="4937760" cy="694944"/>
          </a:xfrm>
          <a:prstGeom prst="rect">
            <a:avLst/>
          </a:prstGeom>
          <a:noFill/>
          <a:ln/>
        </p:spPr>
        <p:txBody>
          <a:bodyPr wrap="square" lIns="0" tIns="0" rIns="0" bIns="0" rtlCol="0" anchor="ctr"/>
          <a:lstStyle/>
          <a:p>
            <a:pPr indent="0" marL="0">
              <a:lnSpc>
                <a:spcPts val="1400"/>
              </a:lnSpc>
              <a:buNone/>
            </a:pPr>
            <a:r>
              <a:rPr lang="en-US" sz="1150" dirty="0">
                <a:solidFill>
                  <a:srgbClr val="E7E8D1"/>
                </a:solidFill>
                <a:latin typeface="Calibri" pitchFamily="34" charset="0"/>
                <a:ea typeface="Calibri" pitchFamily="34" charset="-122"/>
                <a:cs typeface="Calibri" pitchFamily="34" charset="-120"/>
              </a:rPr>
              <a:t>One result genuinely changed once the sample grew. Presenting the pilots as exploratory rather than conclusive was the correct call, and the full year is what settled them.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052560" y="-1737360"/>
            <a:ext cx="5303520" cy="5303520"/>
          </a:xfrm>
          <a:prstGeom prst="ellipse">
            <a:avLst/>
          </a:prstGeom>
          <a:solidFill>
            <a:srgbClr val="B85042"/>
          </a:solidFill>
          <a:ln/>
        </p:spPr>
      </p:sp>
      <p:sp>
        <p:nvSpPr>
          <p:cNvPr id="3" name="Text 1"/>
          <p:cNvSpPr/>
          <p:nvPr/>
        </p:nvSpPr>
        <p:spPr>
          <a:xfrm>
            <a:off x="566928" y="777240"/>
            <a:ext cx="8229600" cy="292608"/>
          </a:xfrm>
          <a:prstGeom prst="rect">
            <a:avLst/>
          </a:prstGeom>
          <a:noFill/>
          <a:ln/>
        </p:spPr>
        <p:txBody>
          <a:bodyPr wrap="square" lIns="0" tIns="0" rIns="0" bIns="0" rtlCol="0" anchor="ctr"/>
          <a:lstStyle/>
          <a:p>
            <a:pPr indent="0" marL="0">
              <a:buNone/>
            </a:pPr>
            <a:r>
              <a:rPr lang="en-US" sz="1250" b="1" spc="300" kern="0" dirty="0">
                <a:solidFill>
                  <a:srgbClr val="A7BEAE"/>
                </a:solidFill>
                <a:latin typeface="Calibri" pitchFamily="34" charset="0"/>
                <a:ea typeface="Calibri" pitchFamily="34" charset="-122"/>
                <a:cs typeface="Calibri" pitchFamily="34" charset="-120"/>
              </a:rPr>
              <a:t>TASK 10 (3 OF 3) · NEW THIS WEEK</a:t>
            </a:r>
            <a:endParaRPr lang="en-US" sz="1250" dirty="0"/>
          </a:p>
        </p:txBody>
      </p:sp>
      <p:sp>
        <p:nvSpPr>
          <p:cNvPr id="4" name="Text 2"/>
          <p:cNvSpPr/>
          <p:nvPr/>
        </p:nvSpPr>
        <p:spPr>
          <a:xfrm>
            <a:off x="566928" y="1188720"/>
            <a:ext cx="8778240" cy="1234440"/>
          </a:xfrm>
          <a:prstGeom prst="rect">
            <a:avLst/>
          </a:prstGeom>
          <a:noFill/>
          <a:ln/>
        </p:spPr>
        <p:txBody>
          <a:bodyPr wrap="square" lIns="0" tIns="0" rIns="0" bIns="0" rtlCol="0" anchor="ctr"/>
          <a:lstStyle/>
          <a:p>
            <a:pPr indent="0" marL="0">
              <a:lnSpc>
                <a:spcPts val="3900"/>
              </a:lnSpc>
              <a:buNone/>
            </a:pPr>
            <a:r>
              <a:rPr lang="en-US" sz="3100" b="1" dirty="0">
                <a:solidFill>
                  <a:srgbClr val="FFFFFF"/>
                </a:solidFill>
                <a:latin typeface="Cambria" pitchFamily="34" charset="0"/>
                <a:ea typeface="Cambria" pitchFamily="34" charset="-122"/>
                <a:cs typeface="Cambria" pitchFamily="34" charset="-120"/>
              </a:rPr>
              <a:t>Two districts, comparable severity,</a:t>
            </a:r>
            <a:endParaRPr lang="en-US" sz="3100" dirty="0"/>
          </a:p>
          <a:p>
            <a:pPr indent="0" marL="0">
              <a:lnSpc>
                <a:spcPts val="3900"/>
              </a:lnSpc>
              <a:buNone/>
            </a:pPr>
            <a:r>
              <a:rPr lang="en-US" sz="3100" b="1" dirty="0">
                <a:solidFill>
                  <a:srgbClr val="FFFFFF"/>
                </a:solidFill>
                <a:latin typeface="Cambria" pitchFamily="34" charset="0"/>
                <a:ea typeface="Cambria" pitchFamily="34" charset="-122"/>
                <a:cs typeface="Cambria" pitchFamily="34" charset="-120"/>
              </a:rPr>
              <a:t>very different attention</a:t>
            </a:r>
            <a:endParaRPr lang="en-US" sz="3100" dirty="0"/>
          </a:p>
        </p:txBody>
      </p:sp>
      <p:sp>
        <p:nvSpPr>
          <p:cNvPr id="5" name="Text 3"/>
          <p:cNvSpPr/>
          <p:nvPr/>
        </p:nvSpPr>
        <p:spPr>
          <a:xfrm>
            <a:off x="566928" y="2487168"/>
            <a:ext cx="8229600" cy="73152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The full year made sub-question 2 testable for the first time. The prototype contained almost no vegetation stress; 2024 contains 143 district-months below the conventional stress threshold.</a:t>
            </a:r>
            <a:endParaRPr lang="en-US" sz="1300" dirty="0"/>
          </a:p>
        </p:txBody>
      </p:sp>
      <p:sp>
        <p:nvSpPr>
          <p:cNvPr id="6" name="Shape 4"/>
          <p:cNvSpPr/>
          <p:nvPr/>
        </p:nvSpPr>
        <p:spPr>
          <a:xfrm>
            <a:off x="566928" y="3364992"/>
            <a:ext cx="4114800" cy="2103120"/>
          </a:xfrm>
          <a:prstGeom prst="roundRect">
            <a:avLst>
              <a:gd name="adj" fmla="val 2609"/>
            </a:avLst>
          </a:prstGeom>
          <a:solidFill>
            <a:srgbClr val="3A3330"/>
          </a:solidFill>
          <a:ln/>
        </p:spPr>
      </p:sp>
      <p:sp>
        <p:nvSpPr>
          <p:cNvPr id="7" name="Text 5"/>
          <p:cNvSpPr/>
          <p:nvPr/>
        </p:nvSpPr>
        <p:spPr>
          <a:xfrm>
            <a:off x="841248" y="3529584"/>
            <a:ext cx="3566160" cy="274320"/>
          </a:xfrm>
          <a:prstGeom prst="rect">
            <a:avLst/>
          </a:prstGeom>
          <a:noFill/>
          <a:ln/>
        </p:spPr>
        <p:txBody>
          <a:bodyPr wrap="square" lIns="0" tIns="0" rIns="0" bIns="0" rtlCol="0" anchor="ctr"/>
          <a:lstStyle/>
          <a:p>
            <a:pPr indent="0" marL="0">
              <a:buNone/>
            </a:pPr>
            <a:r>
              <a:rPr lang="en-US" sz="1050" b="1" spc="150" kern="0" dirty="0">
                <a:solidFill>
                  <a:srgbClr val="B85042"/>
                </a:solidFill>
                <a:latin typeface="Calibri" pitchFamily="34" charset="0"/>
                <a:ea typeface="Calibri" pitchFamily="34" charset="-122"/>
                <a:cs typeface="Calibri" pitchFamily="34" charset="-120"/>
              </a:rPr>
              <a:t>SEVERE CONFLICT</a:t>
            </a:r>
            <a:endParaRPr lang="en-US" sz="1050" dirty="0"/>
          </a:p>
        </p:txBody>
      </p:sp>
      <p:sp>
        <p:nvSpPr>
          <p:cNvPr id="8" name="Text 6"/>
          <p:cNvSpPr/>
          <p:nvPr/>
        </p:nvSpPr>
        <p:spPr>
          <a:xfrm>
            <a:off x="841248" y="3822192"/>
            <a:ext cx="1828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6.65</a:t>
            </a:r>
            <a:endParaRPr lang="en-US" sz="3800" dirty="0"/>
          </a:p>
        </p:txBody>
      </p:sp>
      <p:sp>
        <p:nvSpPr>
          <p:cNvPr id="9" name="Text 7"/>
          <p:cNvSpPr/>
          <p:nvPr/>
        </p:nvSpPr>
        <p:spPr>
          <a:xfrm>
            <a:off x="841248" y="4480560"/>
            <a:ext cx="2011680" cy="45720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mean reports that month</a:t>
            </a:r>
            <a:endParaRPr lang="en-US" sz="1050" dirty="0"/>
          </a:p>
        </p:txBody>
      </p:sp>
      <p:sp>
        <p:nvSpPr>
          <p:cNvPr id="10" name="Text 8"/>
          <p:cNvSpPr/>
          <p:nvPr/>
        </p:nvSpPr>
        <p:spPr>
          <a:xfrm>
            <a:off x="2852928" y="3913632"/>
            <a:ext cx="1645920" cy="493776"/>
          </a:xfrm>
          <a:prstGeom prst="rect">
            <a:avLst/>
          </a:prstGeom>
          <a:noFill/>
          <a:ln/>
        </p:spPr>
        <p:txBody>
          <a:bodyPr wrap="square" lIns="0" tIns="0" rIns="0" bIns="0" rtlCol="0" anchor="ctr"/>
          <a:lstStyle/>
          <a:p>
            <a:pPr indent="0" marL="0">
              <a:buNone/>
            </a:pPr>
            <a:r>
              <a:rPr lang="en-US" sz="2500" b="1" dirty="0">
                <a:solidFill>
                  <a:srgbClr val="B85042"/>
                </a:solidFill>
                <a:latin typeface="Cambria" pitchFamily="34" charset="0"/>
                <a:ea typeface="Cambria" pitchFamily="34" charset="-122"/>
                <a:cs typeface="Cambria" pitchFamily="34" charset="-120"/>
              </a:rPr>
              <a:t>88.2%</a:t>
            </a:r>
            <a:endParaRPr lang="en-US" sz="2500" dirty="0"/>
          </a:p>
        </p:txBody>
      </p:sp>
      <p:sp>
        <p:nvSpPr>
          <p:cNvPr id="11" name="Text 9"/>
          <p:cNvSpPr/>
          <p:nvPr/>
        </p:nvSpPr>
        <p:spPr>
          <a:xfrm>
            <a:off x="2852928" y="4425696"/>
            <a:ext cx="1737360" cy="45720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received any report</a:t>
            </a:r>
            <a:endParaRPr lang="en-US" sz="1050" dirty="0"/>
          </a:p>
        </p:txBody>
      </p:sp>
      <p:sp>
        <p:nvSpPr>
          <p:cNvPr id="12" name="Shape 10"/>
          <p:cNvSpPr/>
          <p:nvPr/>
        </p:nvSpPr>
        <p:spPr>
          <a:xfrm>
            <a:off x="4901184" y="3364992"/>
            <a:ext cx="4114800" cy="2103120"/>
          </a:xfrm>
          <a:prstGeom prst="roundRect">
            <a:avLst>
              <a:gd name="adj" fmla="val 2609"/>
            </a:avLst>
          </a:prstGeom>
          <a:solidFill>
            <a:srgbClr val="3A3330"/>
          </a:solidFill>
          <a:ln/>
        </p:spPr>
      </p:sp>
      <p:sp>
        <p:nvSpPr>
          <p:cNvPr id="13" name="Text 11"/>
          <p:cNvSpPr/>
          <p:nvPr/>
        </p:nvSpPr>
        <p:spPr>
          <a:xfrm>
            <a:off x="5175504" y="3529584"/>
            <a:ext cx="3566160" cy="274320"/>
          </a:xfrm>
          <a:prstGeom prst="rect">
            <a:avLst/>
          </a:prstGeom>
          <a:noFill/>
          <a:ln/>
        </p:spPr>
        <p:txBody>
          <a:bodyPr wrap="square" lIns="0" tIns="0" rIns="0" bIns="0" rtlCol="0" anchor="ctr"/>
          <a:lstStyle/>
          <a:p>
            <a:pPr indent="0" marL="0">
              <a:buNone/>
            </a:pPr>
            <a:r>
              <a:rPr lang="en-US" sz="1050" b="1" spc="150" kern="0" dirty="0">
                <a:solidFill>
                  <a:srgbClr val="A7BEAE"/>
                </a:solidFill>
                <a:latin typeface="Calibri" pitchFamily="34" charset="0"/>
                <a:ea typeface="Calibri" pitchFamily="34" charset="-122"/>
                <a:cs typeface="Calibri" pitchFamily="34" charset="-120"/>
              </a:rPr>
              <a:t>SEVERE CLIMATE STRESS</a:t>
            </a:r>
            <a:endParaRPr lang="en-US" sz="1050" dirty="0"/>
          </a:p>
        </p:txBody>
      </p:sp>
      <p:sp>
        <p:nvSpPr>
          <p:cNvPr id="14" name="Text 12"/>
          <p:cNvSpPr/>
          <p:nvPr/>
        </p:nvSpPr>
        <p:spPr>
          <a:xfrm>
            <a:off x="5175504" y="3822192"/>
            <a:ext cx="1828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2.67</a:t>
            </a:r>
            <a:endParaRPr lang="en-US" sz="3800" dirty="0"/>
          </a:p>
        </p:txBody>
      </p:sp>
      <p:sp>
        <p:nvSpPr>
          <p:cNvPr id="15" name="Text 13"/>
          <p:cNvSpPr/>
          <p:nvPr/>
        </p:nvSpPr>
        <p:spPr>
          <a:xfrm>
            <a:off x="5175504" y="4480560"/>
            <a:ext cx="2011680" cy="45720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mean reports that month</a:t>
            </a:r>
            <a:endParaRPr lang="en-US" sz="1050" dirty="0"/>
          </a:p>
        </p:txBody>
      </p:sp>
      <p:sp>
        <p:nvSpPr>
          <p:cNvPr id="16" name="Text 14"/>
          <p:cNvSpPr/>
          <p:nvPr/>
        </p:nvSpPr>
        <p:spPr>
          <a:xfrm>
            <a:off x="7187184" y="3913632"/>
            <a:ext cx="1645920" cy="493776"/>
          </a:xfrm>
          <a:prstGeom prst="rect">
            <a:avLst/>
          </a:prstGeom>
          <a:noFill/>
          <a:ln/>
        </p:spPr>
        <p:txBody>
          <a:bodyPr wrap="square" lIns="0" tIns="0" rIns="0" bIns="0" rtlCol="0" anchor="ctr"/>
          <a:lstStyle/>
          <a:p>
            <a:pPr indent="0" marL="0">
              <a:buNone/>
            </a:pPr>
            <a:r>
              <a:rPr lang="en-US" sz="2500" b="1" dirty="0">
                <a:solidFill>
                  <a:srgbClr val="A7BEAE"/>
                </a:solidFill>
                <a:latin typeface="Cambria" pitchFamily="34" charset="0"/>
                <a:ea typeface="Cambria" pitchFamily="34" charset="-122"/>
                <a:cs typeface="Cambria" pitchFamily="34" charset="-120"/>
              </a:rPr>
              <a:t>65.7%</a:t>
            </a:r>
            <a:endParaRPr lang="en-US" sz="2500" dirty="0"/>
          </a:p>
        </p:txBody>
      </p:sp>
      <p:sp>
        <p:nvSpPr>
          <p:cNvPr id="17" name="Text 15"/>
          <p:cNvSpPr/>
          <p:nvPr/>
        </p:nvSpPr>
        <p:spPr>
          <a:xfrm>
            <a:off x="7187184" y="4425696"/>
            <a:ext cx="1737360" cy="45720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received any report</a:t>
            </a:r>
            <a:endParaRPr lang="en-US" sz="1050" dirty="0"/>
          </a:p>
        </p:txBody>
      </p:sp>
      <p:sp>
        <p:nvSpPr>
          <p:cNvPr id="18" name="Shape 16"/>
          <p:cNvSpPr/>
          <p:nvPr/>
        </p:nvSpPr>
        <p:spPr>
          <a:xfrm>
            <a:off x="9217152" y="3364992"/>
            <a:ext cx="2377440" cy="2103120"/>
          </a:xfrm>
          <a:prstGeom prst="roundRect">
            <a:avLst>
              <a:gd name="adj" fmla="val 2609"/>
            </a:avLst>
          </a:prstGeom>
          <a:solidFill>
            <a:srgbClr val="B85042"/>
          </a:solidFill>
          <a:ln/>
        </p:spPr>
      </p:sp>
      <p:sp>
        <p:nvSpPr>
          <p:cNvPr id="19" name="Text 17"/>
          <p:cNvSpPr/>
          <p:nvPr/>
        </p:nvSpPr>
        <p:spPr>
          <a:xfrm>
            <a:off x="9363456" y="3986784"/>
            <a:ext cx="208483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 = 0.000064</a:t>
            </a:r>
            <a:endParaRPr lang="en-US" sz="1600" dirty="0"/>
          </a:p>
        </p:txBody>
      </p:sp>
      <p:sp>
        <p:nvSpPr>
          <p:cNvPr id="20" name="Text 18"/>
          <p:cNvSpPr/>
          <p:nvPr/>
        </p:nvSpPr>
        <p:spPr>
          <a:xfrm>
            <a:off x="9363456" y="4389120"/>
            <a:ext cx="2084832" cy="548640"/>
          </a:xfrm>
          <a:prstGeom prst="rect">
            <a:avLst/>
          </a:prstGeom>
          <a:noFill/>
          <a:ln/>
        </p:spPr>
        <p:txBody>
          <a:bodyPr wrap="square" lIns="0" tIns="0" rIns="0" bIns="0" rtlCol="0" anchor="ctr"/>
          <a:lstStyle/>
          <a:p>
            <a:pPr algn="ctr" indent="0" marL="0">
              <a:buNone/>
            </a:pPr>
            <a:r>
              <a:rPr lang="en-US" sz="1100" dirty="0">
                <a:solidFill>
                  <a:srgbClr val="FBEAE7"/>
                </a:solidFill>
                <a:latin typeface="Calibri" pitchFamily="34" charset="0"/>
                <a:ea typeface="Calibri" pitchFamily="34" charset="-122"/>
                <a:cs typeface="Calibri" pitchFamily="34" charset="-120"/>
              </a:rPr>
              <a:t>68 vs 67</a:t>
            </a:r>
            <a:endParaRPr lang="en-US" sz="1100" dirty="0"/>
          </a:p>
          <a:p>
            <a:pPr algn="ctr" indent="0" marL="0">
              <a:buNone/>
            </a:pPr>
            <a:r>
              <a:rPr lang="en-US" sz="1100" dirty="0">
                <a:solidFill>
                  <a:srgbClr val="FBEAE7"/>
                </a:solidFill>
                <a:latin typeface="Calibri" pitchFamily="34" charset="0"/>
                <a:ea typeface="Calibri" pitchFamily="34" charset="-122"/>
                <a:cs typeface="Calibri" pitchFamily="34" charset="-120"/>
              </a:rPr>
              <a:t>district-months</a:t>
            </a:r>
            <a:endParaRPr lang="en-US" sz="1100" dirty="0"/>
          </a:p>
        </p:txBody>
      </p:sp>
      <p:sp>
        <p:nvSpPr>
          <p:cNvPr id="21" name="Text 19"/>
          <p:cNvSpPr/>
          <p:nvPr/>
        </p:nvSpPr>
        <p:spPr>
          <a:xfrm>
            <a:off x="566928" y="5687568"/>
            <a:ext cx="11027664" cy="658368"/>
          </a:xfrm>
          <a:prstGeom prst="rect">
            <a:avLst/>
          </a:prstGeom>
          <a:noFill/>
          <a:ln/>
        </p:spPr>
        <p:txBody>
          <a:bodyPr wrap="square" lIns="0" tIns="0" rIns="0" bIns="0" rtlCol="0" anchor="ctr"/>
          <a:lstStyle/>
          <a:p>
            <a:pPr indent="0" marL="0">
              <a:lnSpc>
                <a:spcPts val="1400"/>
              </a:lnSpc>
              <a:buNone/>
            </a:pPr>
            <a:r>
              <a:rPr lang="en-US" sz="1100" i="1" dirty="0">
                <a:solidFill>
                  <a:srgbClr val="E7E8D1"/>
                </a:solidFill>
                <a:latin typeface="Calibri" pitchFamily="34" charset="0"/>
                <a:ea typeface="Calibri" pitchFamily="34" charset="-122"/>
                <a:cs typeface="Calibri" pitchFamily="34" charset="-120"/>
              </a:rPr>
              <a:t>Severity is the worst decile on each axis, with district-months severe on both excluded. Limits: severity is relative to Somalia in 2024, not to absolute human need; the test measures same-month attention only, so slow-onset stress may be reported late rather than never; and it uses reporting of any kind, not food-security reporting specifically.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Next steps</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Ready means the data is already in hand; blocked means an external download is needed</a:t>
            </a:r>
            <a:endParaRPr lang="en-US" sz="1350" dirty="0"/>
          </a:p>
        </p:txBody>
      </p:sp>
      <p:sp>
        <p:nvSpPr>
          <p:cNvPr id="4" name="Shape 2"/>
          <p:cNvSpPr/>
          <p:nvPr/>
        </p:nvSpPr>
        <p:spPr>
          <a:xfrm>
            <a:off x="566928" y="1481328"/>
            <a:ext cx="11027664" cy="841248"/>
          </a:xfrm>
          <a:prstGeom prst="roundRect">
            <a:avLst>
              <a:gd name="adj" fmla="val 6522"/>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600200"/>
            <a:ext cx="27432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Sub-question 1</a:t>
            </a:r>
            <a:endParaRPr lang="en-US" sz="1350" dirty="0"/>
          </a:p>
        </p:txBody>
      </p:sp>
      <p:sp>
        <p:nvSpPr>
          <p:cNvPr id="6" name="Text 4"/>
          <p:cNvSpPr/>
          <p:nvPr/>
        </p:nvSpPr>
        <p:spPr>
          <a:xfrm>
            <a:off x="3584448" y="1591056"/>
            <a:ext cx="7680960" cy="658368"/>
          </a:xfrm>
          <a:prstGeom prst="rect">
            <a:avLst/>
          </a:prstGeom>
          <a:noFill/>
          <a:ln/>
        </p:spPr>
        <p:txBody>
          <a:bodyPr wrap="square" lIns="0" tIns="0" rIns="0" bIns="0" rtlCol="0" anchor="ctr"/>
          <a:lstStyle/>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Build the logistic regression model, with month as a control  ·  Ready</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Measure how much each additional source actually contributes  ·  Ready</a:t>
            </a:r>
            <a:endParaRPr lang="en-US" sz="1150" dirty="0"/>
          </a:p>
        </p:txBody>
      </p:sp>
      <p:sp>
        <p:nvSpPr>
          <p:cNvPr id="7" name="Shape 5"/>
          <p:cNvSpPr/>
          <p:nvPr/>
        </p:nvSpPr>
        <p:spPr>
          <a:xfrm>
            <a:off x="566928" y="2414016"/>
            <a:ext cx="11027664" cy="1078992"/>
          </a:xfrm>
          <a:prstGeom prst="roundRect">
            <a:avLst>
              <a:gd name="adj" fmla="val 5085"/>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04672" y="2532888"/>
            <a:ext cx="27432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Sub-question 2</a:t>
            </a:r>
            <a:endParaRPr lang="en-US" sz="1350" dirty="0"/>
          </a:p>
        </p:txBody>
      </p:sp>
      <p:sp>
        <p:nvSpPr>
          <p:cNvPr id="9" name="Text 7"/>
          <p:cNvSpPr/>
          <p:nvPr/>
        </p:nvSpPr>
        <p:spPr>
          <a:xfrm>
            <a:off x="3584448" y="2523744"/>
            <a:ext cx="7680960" cy="896112"/>
          </a:xfrm>
          <a:prstGeom prst="rect">
            <a:avLst/>
          </a:prstGeom>
          <a:noFill/>
          <a:ln/>
        </p:spPr>
        <p:txBody>
          <a:bodyPr wrap="square" lIns="0" tIns="0" rIns="0" bIns="0" rtlCol="0" anchor="ctr"/>
          <a:lstStyle/>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Repeat the severity comparison on food and nutrition reporting only  ·  Ready</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Test whether slow-onset stress is reported late rather than never  ·  Ready</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Test whether attention scales smoothly with severity  ·  Ready</a:t>
            </a:r>
            <a:endParaRPr lang="en-US" sz="1150" dirty="0"/>
          </a:p>
        </p:txBody>
      </p:sp>
      <p:sp>
        <p:nvSpPr>
          <p:cNvPr id="10" name="Shape 8"/>
          <p:cNvSpPr/>
          <p:nvPr/>
        </p:nvSpPr>
        <p:spPr>
          <a:xfrm>
            <a:off x="566928" y="3584448"/>
            <a:ext cx="11027664" cy="1078992"/>
          </a:xfrm>
          <a:prstGeom prst="roundRect">
            <a:avLst>
              <a:gd name="adj" fmla="val 5085"/>
            </a:avLst>
          </a:prstGeom>
          <a:solidFill>
            <a:srgbClr val="F7F5F1"/>
          </a:solidFill>
          <a:ln/>
          <a:effectLst>
            <a:outerShdw sx="100000" sy="100000" kx="0" ky="0" algn="bl" rotWithShape="0" blurRad="76200" dist="381" dir="5400000">
              <a:srgbClr val="000000">
                <a:alpha val="8000"/>
              </a:srgbClr>
            </a:outerShdw>
          </a:effectLst>
        </p:spPr>
      </p:sp>
      <p:sp>
        <p:nvSpPr>
          <p:cNvPr id="11" name="Text 9"/>
          <p:cNvSpPr/>
          <p:nvPr/>
        </p:nvSpPr>
        <p:spPr>
          <a:xfrm>
            <a:off x="804672" y="3703320"/>
            <a:ext cx="2743200" cy="274320"/>
          </a:xfrm>
          <a:prstGeom prst="rect">
            <a:avLst/>
          </a:prstGeom>
          <a:noFill/>
          <a:ln/>
        </p:spPr>
        <p:txBody>
          <a:bodyPr wrap="square" lIns="0" tIns="0" rIns="0" bIns="0" rtlCol="0" anchor="ctr"/>
          <a:lstStyle/>
          <a:p>
            <a:pPr indent="0" marL="0">
              <a:buNone/>
            </a:pPr>
            <a:r>
              <a:rPr lang="en-US" sz="1350" b="1" dirty="0">
                <a:solidFill>
                  <a:srgbClr val="A7BEAE"/>
                </a:solidFill>
                <a:latin typeface="Cambria" pitchFamily="34" charset="0"/>
                <a:ea typeface="Cambria" pitchFamily="34" charset="-122"/>
                <a:cs typeface="Cambria" pitchFamily="34" charset="-120"/>
              </a:rPr>
              <a:t>Sub-question 3</a:t>
            </a:r>
            <a:endParaRPr lang="en-US" sz="1350" dirty="0"/>
          </a:p>
        </p:txBody>
      </p:sp>
      <p:sp>
        <p:nvSpPr>
          <p:cNvPr id="12" name="Text 10"/>
          <p:cNvSpPr/>
          <p:nvPr/>
        </p:nvSpPr>
        <p:spPr>
          <a:xfrm>
            <a:off x="3584448" y="3694176"/>
            <a:ext cx="7680960" cy="896112"/>
          </a:xfrm>
          <a:prstGeom prst="rect">
            <a:avLst/>
          </a:prstGeom>
          <a:noFill/>
          <a:ln/>
        </p:spPr>
        <p:txBody>
          <a:bodyPr wrap="square" lIns="0" tIns="0" rIns="0" bIns="0" rtlCol="0" anchor="ctr"/>
          <a:lstStyle/>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Define this dataset's own derived assessment, which does not yet exist  ·  Ready</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Obtain the IPC export and run the divergence comparison  ·  Blocked</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Fallback: test whether the four sources agree with each other  ·  Ready</a:t>
            </a:r>
            <a:endParaRPr lang="en-US" sz="1150" dirty="0"/>
          </a:p>
        </p:txBody>
      </p:sp>
      <p:sp>
        <p:nvSpPr>
          <p:cNvPr id="13" name="Shape 11"/>
          <p:cNvSpPr/>
          <p:nvPr/>
        </p:nvSpPr>
        <p:spPr>
          <a:xfrm>
            <a:off x="566928" y="4754880"/>
            <a:ext cx="11027664" cy="1078992"/>
          </a:xfrm>
          <a:prstGeom prst="roundRect">
            <a:avLst>
              <a:gd name="adj" fmla="val 5085"/>
            </a:avLst>
          </a:prstGeom>
          <a:solidFill>
            <a:srgbClr val="F7F5F1"/>
          </a:solidFill>
          <a:ln/>
          <a:effectLst>
            <a:outerShdw sx="100000" sy="100000" kx="0" ky="0" algn="bl" rotWithShape="0" blurRad="76200" dist="381" dir="5400000">
              <a:srgbClr val="000000">
                <a:alpha val="8000"/>
              </a:srgbClr>
            </a:outerShdw>
          </a:effectLst>
        </p:spPr>
      </p:sp>
      <p:sp>
        <p:nvSpPr>
          <p:cNvPr id="14" name="Text 12"/>
          <p:cNvSpPr/>
          <p:nvPr/>
        </p:nvSpPr>
        <p:spPr>
          <a:xfrm>
            <a:off x="804672" y="4873752"/>
            <a:ext cx="2743200" cy="274320"/>
          </a:xfrm>
          <a:prstGeom prst="rect">
            <a:avLst/>
          </a:prstGeom>
          <a:noFill/>
          <a:ln/>
        </p:spPr>
        <p:txBody>
          <a:bodyPr wrap="square" lIns="0" tIns="0" rIns="0" bIns="0" rtlCol="0" anchor="ctr"/>
          <a:lstStyle/>
          <a:p>
            <a:pPr indent="0" marL="0">
              <a:buNone/>
            </a:pPr>
            <a:r>
              <a:rPr lang="en-US" sz="1350" b="1" dirty="0">
                <a:solidFill>
                  <a:srgbClr val="7A6E68"/>
                </a:solidFill>
                <a:latin typeface="Cambria" pitchFamily="34" charset="0"/>
                <a:ea typeface="Cambria" pitchFamily="34" charset="-122"/>
                <a:cs typeface="Cambria" pitchFamily="34" charset="-120"/>
              </a:rPr>
              <a:t>Strengthening</a:t>
            </a:r>
            <a:endParaRPr lang="en-US" sz="1350" dirty="0"/>
          </a:p>
        </p:txBody>
      </p:sp>
      <p:sp>
        <p:nvSpPr>
          <p:cNvPr id="15" name="Text 13"/>
          <p:cNvSpPr/>
          <p:nvPr/>
        </p:nvSpPr>
        <p:spPr>
          <a:xfrm>
            <a:off x="3584448" y="4864608"/>
            <a:ext cx="7680960" cy="896112"/>
          </a:xfrm>
          <a:prstGeom prst="rect">
            <a:avLst/>
          </a:prstGeom>
          <a:noFill/>
          <a:ln/>
        </p:spPr>
        <p:txBody>
          <a:bodyPr wrap="square" lIns="0" tIns="0" rIns="0" bIns="0" rtlCol="0" anchor="ctr"/>
          <a:lstStyle/>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Show how district rankings shift once observability is accounted for  ·  Ready</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Confirm results survive the 43% geoparsing precision  ·  Ready</a:t>
            </a:r>
            <a:endParaRPr lang="en-US" sz="1150" dirty="0"/>
          </a:p>
          <a:p>
            <a:pPr marL="342900" indent="-342900">
              <a:lnSpc>
                <a:spcPts val="1500"/>
              </a:lnSpc>
              <a:spcAft>
                <a:spcPts val="300"/>
              </a:spcAft>
              <a:buSzPct val="100000"/>
              <a:buChar char="•"/>
            </a:pPr>
            <a:r>
              <a:rPr lang="en-US" sz="1150" dirty="0">
                <a:solidFill>
                  <a:srgbClr val="2B2523"/>
                </a:solidFill>
                <a:latin typeface="Calibri" pitchFamily="34" charset="0"/>
                <a:ea typeface="Calibri" pitchFamily="34" charset="-122"/>
                <a:cs typeface="Calibri" pitchFamily="34" charset="-120"/>
              </a:rPr>
              <a:t>Produce observability maps from the boundary data  ·  Ready</a:t>
            </a:r>
            <a:endParaRPr lang="en-US" sz="1150" dirty="0"/>
          </a:p>
        </p:txBody>
      </p:sp>
      <p:sp>
        <p:nvSpPr>
          <p:cNvPr id="16" name="Text 14"/>
          <p:cNvSpPr/>
          <p:nvPr/>
        </p:nvSpPr>
        <p:spPr>
          <a:xfrm>
            <a:off x="566928" y="5907024"/>
            <a:ext cx="11027664" cy="457200"/>
          </a:xfrm>
          <a:prstGeom prst="rect">
            <a:avLst/>
          </a:prstGeom>
          <a:noFill/>
          <a:ln/>
        </p:spPr>
        <p:txBody>
          <a:bodyPr wrap="square" lIns="0" tIns="0" rIns="0" bIns="0" rtlCol="0" anchor="ctr"/>
          <a:lstStyle/>
          <a:p>
            <a:pPr indent="0" marL="0">
              <a:buNone/>
            </a:pPr>
            <a:r>
              <a:rPr lang="en-US" sz="1150" i="1" dirty="0">
                <a:solidFill>
                  <a:srgbClr val="7A6E68"/>
                </a:solidFill>
                <a:latin typeface="Calibri" pitchFamily="34" charset="0"/>
                <a:ea typeface="Calibri" pitchFamily="34" charset="-122"/>
                <a:cs typeface="Calibri" pitchFamily="34" charset="-120"/>
              </a:rPr>
              <a:t>Sequencing: the ready items under sub-question 2 are quick. Defining the derived assessment unblocks half of sub-question 3 without waiting for anything. The IPC download has the longest lead time and should start first.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of August 10, 2026</dc:title>
  <dc:subject>PptxGenJS Presentation</dc:subject>
  <dc:creator>Samuel Aracena</dc:creator>
  <cp:lastModifiedBy>Samuel Aracena</cp:lastModifiedBy>
  <cp:revision>1</cp:revision>
  <dcterms:created xsi:type="dcterms:W3CDTF">2026-08-14T08:23:12Z</dcterms:created>
  <dcterms:modified xsi:type="dcterms:W3CDTF">2026-08-14T08:23:12Z</dcterms:modified>
</cp:coreProperties>
</file>