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the question is mostly answered, half is untouched. The plan is built around closing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2900" b="1" dirty="0">
                <a:solidFill>
                  <a:srgbClr val="2B2523"/>
                </a:solidFill>
                <a:latin typeface="Cambria" pitchFamily="34" charset="0"/>
                <a:ea typeface="Cambria" pitchFamily="34" charset="-122"/>
                <a:cs typeface="Cambria" pitchFamily="34" charset="-120"/>
              </a:rPr>
              <a:t>Next steps: where the research question stands</a:t>
            </a:r>
            <a:endParaRPr lang="en-US" sz="29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The main question has two parts, and they are in very different states</a:t>
            </a:r>
            <a:endParaRPr lang="en-US" sz="1350" dirty="0"/>
          </a:p>
        </p:txBody>
      </p:sp>
      <p:sp>
        <p:nvSpPr>
          <p:cNvPr id="4" name="Shape 2"/>
          <p:cNvSpPr/>
          <p:nvPr/>
        </p:nvSpPr>
        <p:spPr>
          <a:xfrm>
            <a:off x="566928" y="1481328"/>
            <a:ext cx="11027664" cy="1005840"/>
          </a:xfrm>
          <a:prstGeom prst="roundRect">
            <a:avLst>
              <a:gd name="adj" fmla="val 5455"/>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59536" y="1627632"/>
            <a:ext cx="10442448" cy="731520"/>
          </a:xfrm>
          <a:prstGeom prst="rect">
            <a:avLst/>
          </a:prstGeom>
          <a:noFill/>
          <a:ln/>
        </p:spPr>
        <p:txBody>
          <a:bodyPr wrap="square" lIns="0" tIns="0" rIns="0" bIns="0" rtlCol="0" anchor="ctr"/>
          <a:lstStyle/>
          <a:p>
            <a:pPr indent="0" marL="0">
              <a:lnSpc>
                <a:spcPts val="2400"/>
              </a:lnSpc>
              <a:buNone/>
            </a:pPr>
            <a:r>
              <a:rPr lang="en-US" sz="1650" i="1" dirty="0">
                <a:solidFill>
                  <a:srgbClr val="FFFFFF"/>
                </a:solidFill>
                <a:latin typeface="Cambria" pitchFamily="34" charset="0"/>
                <a:ea typeface="Cambria" pitchFamily="34" charset="-122"/>
                <a:cs typeface="Cambria" pitchFamily="34" charset="-120"/>
              </a:rPr>
              <a:t>How unevenly do humanitarian data sources observe different places and crisis mechanisms, and what are the consequences for food-insecurity analysis?</a:t>
            </a:r>
            <a:endParaRPr lang="en-US" sz="1650" dirty="0"/>
          </a:p>
        </p:txBody>
      </p:sp>
      <p:sp>
        <p:nvSpPr>
          <p:cNvPr id="6" name="Shape 4"/>
          <p:cNvSpPr/>
          <p:nvPr/>
        </p:nvSpPr>
        <p:spPr>
          <a:xfrm>
            <a:off x="566928" y="2724912"/>
            <a:ext cx="5486400" cy="3017520"/>
          </a:xfrm>
          <a:prstGeom prst="roundRect">
            <a:avLst>
              <a:gd name="adj" fmla="val 1818"/>
            </a:avLst>
          </a:prstGeom>
          <a:solidFill>
            <a:srgbClr val="F7F5F1"/>
          </a:solidFill>
          <a:ln/>
          <a:effectLst>
            <a:outerShdw sx="100000" sy="100000" kx="0" ky="0" algn="bl" rotWithShape="0" blurRad="76200" dist="381" dir="5400000">
              <a:srgbClr val="000000">
                <a:alpha val="8000"/>
              </a:srgbClr>
            </a:outerShdw>
          </a:effectLst>
        </p:spPr>
      </p:sp>
      <p:sp>
        <p:nvSpPr>
          <p:cNvPr id="7" name="Text 5"/>
          <p:cNvSpPr/>
          <p:nvPr/>
        </p:nvSpPr>
        <p:spPr>
          <a:xfrm>
            <a:off x="822960" y="2871216"/>
            <a:ext cx="2011680" cy="237744"/>
          </a:xfrm>
          <a:prstGeom prst="rect">
            <a:avLst/>
          </a:prstGeom>
          <a:noFill/>
          <a:ln/>
        </p:spPr>
        <p:txBody>
          <a:bodyPr wrap="square" lIns="0" tIns="0" rIns="0" bIns="0" rtlCol="0" anchor="ctr"/>
          <a:lstStyle/>
          <a:p>
            <a:pPr indent="0" marL="0">
              <a:buNone/>
            </a:pPr>
            <a:r>
              <a:rPr lang="en-US" sz="950" b="1" spc="120" kern="0" dirty="0">
                <a:solidFill>
                  <a:srgbClr val="A7BEAE"/>
                </a:solidFill>
                <a:latin typeface="Calibri" pitchFamily="34" charset="0"/>
                <a:ea typeface="Calibri" pitchFamily="34" charset="-122"/>
                <a:cs typeface="Calibri" pitchFamily="34" charset="-120"/>
              </a:rPr>
              <a:t>MOSTLY ANSWERED</a:t>
            </a:r>
            <a:endParaRPr lang="en-US" sz="950" dirty="0"/>
          </a:p>
        </p:txBody>
      </p:sp>
      <p:sp>
        <p:nvSpPr>
          <p:cNvPr id="8" name="Text 6"/>
          <p:cNvSpPr/>
          <p:nvPr/>
        </p:nvSpPr>
        <p:spPr>
          <a:xfrm>
            <a:off x="822960" y="3145536"/>
            <a:ext cx="4937760" cy="566928"/>
          </a:xfrm>
          <a:prstGeom prst="rect">
            <a:avLst/>
          </a:prstGeom>
          <a:noFill/>
          <a:ln/>
        </p:spPr>
        <p:txBody>
          <a:bodyPr wrap="square" lIns="0" tIns="0" rIns="0" bIns="0" rtlCol="0" anchor="ctr"/>
          <a:lstStyle/>
          <a:p>
            <a:pPr indent="0" marL="0">
              <a:buNone/>
            </a:pPr>
            <a:r>
              <a:rPr lang="en-US" sz="1500" b="1" dirty="0">
                <a:solidFill>
                  <a:srgbClr val="2B2523"/>
                </a:solidFill>
                <a:latin typeface="Cambria" pitchFamily="34" charset="0"/>
                <a:ea typeface="Cambria" pitchFamily="34" charset="-122"/>
                <a:cs typeface="Cambria" pitchFamily="34" charset="-120"/>
              </a:rPr>
              <a:t>Part one: how unevenly do</a:t>
            </a:r>
            <a:endParaRPr lang="en-US" sz="1500" dirty="0"/>
          </a:p>
          <a:p>
            <a:pPr indent="0" marL="0">
              <a:buNone/>
            </a:pPr>
            <a:r>
              <a:rPr lang="en-US" sz="1500" b="1" dirty="0">
                <a:solidFill>
                  <a:srgbClr val="2B2523"/>
                </a:solidFill>
                <a:latin typeface="Cambria" pitchFamily="34" charset="0"/>
                <a:ea typeface="Cambria" pitchFamily="34" charset="-122"/>
                <a:cs typeface="Cambria" pitchFamily="34" charset="-120"/>
              </a:rPr>
              <a:t>sources observe the country?</a:t>
            </a:r>
            <a:endParaRPr lang="en-US" sz="1500" dirty="0"/>
          </a:p>
        </p:txBody>
      </p:sp>
      <p:sp>
        <p:nvSpPr>
          <p:cNvPr id="9" name="Text 7"/>
          <p:cNvSpPr/>
          <p:nvPr/>
        </p:nvSpPr>
        <p:spPr>
          <a:xfrm>
            <a:off x="822960" y="3803904"/>
            <a:ext cx="5029200" cy="18288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2B2523"/>
                </a:solidFill>
                <a:latin typeface="Calibri" pitchFamily="34" charset="0"/>
                <a:ea typeface="Calibri" pitchFamily="34" charset="-122"/>
                <a:cs typeface="Calibri" pitchFamily="34" charset="-120"/>
              </a:rPr>
              <a:t>By source: coverage runs from 47% of districts for market data up to 100% for satellite data.</a:t>
            </a:r>
            <a:endParaRPr lang="en-US" sz="1150" dirty="0"/>
          </a:p>
          <a:p>
            <a:pPr marL="342900" indent="-342900">
              <a:lnSpc>
                <a:spcPts val="1500"/>
              </a:lnSpc>
              <a:spcAft>
                <a:spcPts val="700"/>
              </a:spcAft>
              <a:buSzPct val="100000"/>
              <a:buChar char="•"/>
            </a:pPr>
            <a:r>
              <a:rPr lang="en-US" sz="1150" dirty="0">
                <a:solidFill>
                  <a:srgbClr val="2B2523"/>
                </a:solidFill>
                <a:latin typeface="Calibri" pitchFamily="34" charset="0"/>
                <a:ea typeface="Calibri" pitchFamily="34" charset="-122"/>
                <a:cs typeface="Calibri" pitchFamily="34" charset="-120"/>
              </a:rPr>
              <a:t>By district: one district, Bander Beyla, was not seen by any source except satellites all year.</a:t>
            </a:r>
            <a:endParaRPr lang="en-US" sz="1150" dirty="0"/>
          </a:p>
          <a:p>
            <a:pPr marL="342900" indent="-342900">
              <a:lnSpc>
                <a:spcPts val="1500"/>
              </a:lnSpc>
              <a:spcAft>
                <a:spcPts val="700"/>
              </a:spcAft>
              <a:buSzPct val="100000"/>
              <a:buChar char="•"/>
            </a:pPr>
            <a:r>
              <a:rPr lang="en-US" sz="1150" dirty="0">
                <a:solidFill>
                  <a:srgbClr val="2B2523"/>
                </a:solidFill>
                <a:latin typeface="Calibri" pitchFamily="34" charset="0"/>
                <a:ea typeface="Calibri" pitchFamily="34" charset="-122"/>
                <a:cs typeface="Calibri" pitchFamily="34" charset="-120"/>
              </a:rPr>
              <a:t>By month: reporting reached as few as 34 districts in one month and 54 in another. Market coverage never moved.</a:t>
            </a:r>
            <a:endParaRPr lang="en-US" sz="1150" dirty="0"/>
          </a:p>
          <a:p>
            <a:pPr marL="342900" indent="-342900">
              <a:lnSpc>
                <a:spcPts val="1500"/>
              </a:lnSpc>
              <a:buSzPct val="100000"/>
              <a:buChar char="•"/>
            </a:pPr>
            <a:r>
              <a:rPr lang="en-US" sz="1150" dirty="0">
                <a:solidFill>
                  <a:srgbClr val="2B2523"/>
                </a:solidFill>
                <a:latin typeface="Calibri" pitchFamily="34" charset="0"/>
                <a:ea typeface="Calibri" pitchFamily="34" charset="-122"/>
                <a:cs typeface="Calibri" pitchFamily="34" charset="-120"/>
              </a:rPr>
              <a:t>By crisis type: districts in severe conflict got 6.65 reports on average, against 2.67 for districts in equally severe drought.</a:t>
            </a:r>
            <a:endParaRPr lang="en-US" sz="1150" dirty="0"/>
          </a:p>
        </p:txBody>
      </p:sp>
      <p:sp>
        <p:nvSpPr>
          <p:cNvPr id="10" name="Shape 8"/>
          <p:cNvSpPr/>
          <p:nvPr/>
        </p:nvSpPr>
        <p:spPr>
          <a:xfrm>
            <a:off x="6309360" y="2724912"/>
            <a:ext cx="5285232" cy="3017520"/>
          </a:xfrm>
          <a:prstGeom prst="roundRect">
            <a:avLst>
              <a:gd name="adj" fmla="val 1818"/>
            </a:avLst>
          </a:prstGeom>
          <a:solidFill>
            <a:srgbClr val="2B2523"/>
          </a:solidFill>
          <a:ln/>
          <a:effectLst>
            <a:outerShdw sx="100000" sy="100000" kx="0" ky="0" algn="bl" rotWithShape="0" blurRad="76200" dist="381" dir="5400000">
              <a:srgbClr val="000000">
                <a:alpha val="8000"/>
              </a:srgbClr>
            </a:outerShdw>
          </a:effectLst>
        </p:spPr>
      </p:sp>
      <p:sp>
        <p:nvSpPr>
          <p:cNvPr id="11" name="Text 9"/>
          <p:cNvSpPr/>
          <p:nvPr/>
        </p:nvSpPr>
        <p:spPr>
          <a:xfrm>
            <a:off x="6547104" y="2871216"/>
            <a:ext cx="2011680" cy="237744"/>
          </a:xfrm>
          <a:prstGeom prst="rect">
            <a:avLst/>
          </a:prstGeom>
          <a:noFill/>
          <a:ln/>
        </p:spPr>
        <p:txBody>
          <a:bodyPr wrap="square" lIns="0" tIns="0" rIns="0" bIns="0" rtlCol="0" anchor="ctr"/>
          <a:lstStyle/>
          <a:p>
            <a:pPr indent="0" marL="0">
              <a:buNone/>
            </a:pPr>
            <a:r>
              <a:rPr lang="en-US" sz="950" b="1" spc="120" kern="0" dirty="0">
                <a:solidFill>
                  <a:srgbClr val="B85042"/>
                </a:solidFill>
                <a:latin typeface="Calibri" pitchFamily="34" charset="0"/>
                <a:ea typeface="Calibri" pitchFamily="34" charset="-122"/>
                <a:cs typeface="Calibri" pitchFamily="34" charset="-120"/>
              </a:rPr>
              <a:t>STILL OPEN</a:t>
            </a:r>
            <a:endParaRPr lang="en-US" sz="950" dirty="0"/>
          </a:p>
        </p:txBody>
      </p:sp>
      <p:sp>
        <p:nvSpPr>
          <p:cNvPr id="12" name="Text 10"/>
          <p:cNvSpPr/>
          <p:nvPr/>
        </p:nvSpPr>
        <p:spPr>
          <a:xfrm>
            <a:off x="6547104" y="3145536"/>
            <a:ext cx="4754880" cy="56692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Part two: and does that</a:t>
            </a:r>
            <a:endParaRPr lang="en-US" sz="1500" dirty="0"/>
          </a:p>
          <a:p>
            <a:pPr indent="0" marL="0">
              <a:buNone/>
            </a:pPr>
            <a:r>
              <a:rPr lang="en-US" sz="1500" b="1" dirty="0">
                <a:solidFill>
                  <a:srgbClr val="FFFFFF"/>
                </a:solidFill>
                <a:latin typeface="Cambria" pitchFamily="34" charset="0"/>
                <a:ea typeface="Cambria" pitchFamily="34" charset="-122"/>
                <a:cs typeface="Cambria" pitchFamily="34" charset="-120"/>
              </a:rPr>
              <a:t>unevenness actually matter?</a:t>
            </a:r>
            <a:endParaRPr lang="en-US" sz="1500" dirty="0"/>
          </a:p>
        </p:txBody>
      </p:sp>
      <p:sp>
        <p:nvSpPr>
          <p:cNvPr id="13" name="Text 11"/>
          <p:cNvSpPr/>
          <p:nvPr/>
        </p:nvSpPr>
        <p:spPr>
          <a:xfrm>
            <a:off x="6547104" y="3803904"/>
            <a:ext cx="4754880" cy="1060704"/>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So far nothing shows that these gaps change any conclusion. We know some districts are watched far less closely than others. We have not shown that watching a district less closely gives you a wrong picture of it, rather than simply a thinner one.</a:t>
            </a:r>
            <a:endParaRPr lang="en-US" sz="1150" dirty="0"/>
          </a:p>
        </p:txBody>
      </p:sp>
      <p:sp>
        <p:nvSpPr>
          <p:cNvPr id="14" name="Text 12"/>
          <p:cNvSpPr/>
          <p:nvPr/>
        </p:nvSpPr>
        <p:spPr>
          <a:xfrm>
            <a:off x="6547104" y="4937760"/>
            <a:ext cx="4754880" cy="603504"/>
          </a:xfrm>
          <a:prstGeom prst="rect">
            <a:avLst/>
          </a:prstGeom>
          <a:noFill/>
          <a:ln/>
        </p:spPr>
        <p:txBody>
          <a:bodyPr wrap="square" lIns="0" tIns="0" rIns="0" bIns="0" rtlCol="0" anchor="ctr"/>
          <a:lstStyle/>
          <a:p>
            <a:pPr indent="0" marL="0">
              <a:lnSpc>
                <a:spcPts val="1500"/>
              </a:lnSpc>
              <a:buNone/>
            </a:pPr>
            <a:r>
              <a:rPr lang="en-US" sz="1200" b="1" dirty="0">
                <a:solidFill>
                  <a:srgbClr val="A7BEAE"/>
                </a:solidFill>
                <a:latin typeface="Calibri" pitchFamily="34" charset="0"/>
                <a:ea typeface="Calibri" pitchFamily="34" charset="-122"/>
                <a:cs typeface="Calibri" pitchFamily="34" charset="-120"/>
              </a:rPr>
              <a:t>Sub-question 3 is the test for this, and it is the main priority for the coming weeks.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2900" b="1" dirty="0">
                <a:solidFill>
                  <a:srgbClr val="2B2523"/>
                </a:solidFill>
                <a:latin typeface="Cambria" pitchFamily="34" charset="0"/>
                <a:ea typeface="Cambria" pitchFamily="34" charset="-122"/>
                <a:cs typeface="Cambria" pitchFamily="34" charset="-120"/>
              </a:rPr>
              <a:t>The planned model, explained</a:t>
            </a:r>
            <a:endParaRPr lang="en-US" sz="29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A logistic regression, and what it is actually for</a:t>
            </a:r>
            <a:endParaRPr lang="en-US" sz="1350" dirty="0"/>
          </a:p>
        </p:txBody>
      </p:sp>
      <p:sp>
        <p:nvSpPr>
          <p:cNvPr id="4" name="Shape 2"/>
          <p:cNvSpPr/>
          <p:nvPr/>
        </p:nvSpPr>
        <p:spPr>
          <a:xfrm>
            <a:off x="566928" y="1463040"/>
            <a:ext cx="5486400" cy="1975104"/>
          </a:xfrm>
          <a:prstGeom prst="roundRect">
            <a:avLst>
              <a:gd name="adj" fmla="val 2778"/>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591056"/>
            <a:ext cx="4937760" cy="274320"/>
          </a:xfrm>
          <a:prstGeom prst="rect">
            <a:avLst/>
          </a:prstGeom>
          <a:noFill/>
          <a:ln/>
        </p:spPr>
        <p:txBody>
          <a:bodyPr wrap="square" lIns="0" tIns="0" rIns="0" bIns="0" rtlCol="0" anchor="ctr"/>
          <a:lstStyle/>
          <a:p>
            <a:pPr indent="0" marL="0">
              <a:buNone/>
            </a:pPr>
            <a:r>
              <a:rPr lang="en-US" sz="1400" b="1" dirty="0">
                <a:solidFill>
                  <a:srgbClr val="B85042"/>
                </a:solidFill>
                <a:latin typeface="Cambria" pitchFamily="34" charset="0"/>
                <a:ea typeface="Cambria" pitchFamily="34" charset="-122"/>
                <a:cs typeface="Cambria" pitchFamily="34" charset="-120"/>
              </a:rPr>
              <a:t>What it is</a:t>
            </a:r>
            <a:endParaRPr lang="en-US" sz="1400" dirty="0"/>
          </a:p>
        </p:txBody>
      </p:sp>
      <p:sp>
        <p:nvSpPr>
          <p:cNvPr id="6" name="Text 4"/>
          <p:cNvSpPr/>
          <p:nvPr/>
        </p:nvSpPr>
        <p:spPr>
          <a:xfrm>
            <a:off x="804672" y="1901952"/>
            <a:ext cx="5029200" cy="146304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A logistic regression predicts a yes or no outcome using several pieces of information at once. Here the outcome is simple: was this district mentioned in any humanitarian report this month, yes or no.</a:t>
            </a:r>
            <a:endParaRPr lang="en-US" sz="1150" dirty="0"/>
          </a:p>
          <a:p>
            <a:pPr indent="0" marL="0">
              <a:lnSpc>
                <a:spcPts val="1500"/>
              </a:lnSpc>
              <a:buNone/>
            </a:pPr>
            <a:endParaRPr lang="en-US" sz="1150" dirty="0"/>
          </a:p>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The useful part is not the prediction itself. It is that the model reports how much each piece of information matters once the others are already taken into account.</a:t>
            </a:r>
            <a:endParaRPr lang="en-US" sz="1150" dirty="0"/>
          </a:p>
        </p:txBody>
      </p:sp>
      <p:sp>
        <p:nvSpPr>
          <p:cNvPr id="7" name="Shape 5"/>
          <p:cNvSpPr/>
          <p:nvPr/>
        </p:nvSpPr>
        <p:spPr>
          <a:xfrm>
            <a:off x="6309360" y="1463040"/>
            <a:ext cx="5285232" cy="1975104"/>
          </a:xfrm>
          <a:prstGeom prst="roundRect">
            <a:avLst>
              <a:gd name="adj" fmla="val 2778"/>
            </a:avLst>
          </a:prstGeom>
          <a:solidFill>
            <a:srgbClr val="2B2523"/>
          </a:solidFill>
          <a:ln/>
          <a:effectLst>
            <a:outerShdw sx="100000" sy="100000" kx="0" ky="0" algn="bl" rotWithShape="0" blurRad="76200" dist="381" dir="5400000">
              <a:srgbClr val="000000">
                <a:alpha val="8000"/>
              </a:srgbClr>
            </a:outerShdw>
          </a:effectLst>
        </p:spPr>
      </p:sp>
      <p:sp>
        <p:nvSpPr>
          <p:cNvPr id="8" name="Text 6"/>
          <p:cNvSpPr/>
          <p:nvPr/>
        </p:nvSpPr>
        <p:spPr>
          <a:xfrm>
            <a:off x="6547104" y="1591056"/>
            <a:ext cx="4754880" cy="274320"/>
          </a:xfrm>
          <a:prstGeom prst="rect">
            <a:avLst/>
          </a:prstGeom>
          <a:noFill/>
          <a:ln/>
        </p:spPr>
        <p:txBody>
          <a:bodyPr wrap="square" lIns="0" tIns="0" rIns="0" bIns="0" rtlCol="0" anchor="ctr"/>
          <a:lstStyle/>
          <a:p>
            <a:pPr indent="0" marL="0">
              <a:buNone/>
            </a:pPr>
            <a:r>
              <a:rPr lang="en-US" sz="1400" b="1" dirty="0">
                <a:solidFill>
                  <a:srgbClr val="A7BEAE"/>
                </a:solidFill>
                <a:latin typeface="Cambria" pitchFamily="34" charset="0"/>
                <a:ea typeface="Cambria" pitchFamily="34" charset="-122"/>
                <a:cs typeface="Cambria" pitchFamily="34" charset="-120"/>
              </a:rPr>
              <a:t>Why we need it</a:t>
            </a:r>
            <a:endParaRPr lang="en-US" sz="1400" dirty="0"/>
          </a:p>
        </p:txBody>
      </p:sp>
      <p:sp>
        <p:nvSpPr>
          <p:cNvPr id="9" name="Text 7"/>
          <p:cNvSpPr/>
          <p:nvPr/>
        </p:nvSpPr>
        <p:spPr>
          <a:xfrm>
            <a:off x="6547104" y="1901952"/>
            <a:ext cx="4754880" cy="1463040"/>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So far each factor has been checked on its own. Conflict looked strong, market status looked strong, region looked strong. But these overlap: districts with lots of conflict often also have markets, and often sit in the same regions.</a:t>
            </a:r>
            <a:endParaRPr lang="en-US" sz="1150" dirty="0"/>
          </a:p>
          <a:p>
            <a:pPr indent="0" marL="0">
              <a:lnSpc>
                <a:spcPts val="1500"/>
              </a:lnSpc>
              <a:buNone/>
            </a:pPr>
            <a:endParaRPr lang="en-US" sz="1150" dirty="0"/>
          </a:p>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Checking them one at a time cannot tell us which factor is really driving coverage and which only looked important because it sits alongside another one.</a:t>
            </a:r>
            <a:endParaRPr lang="en-US" sz="1150" dirty="0"/>
          </a:p>
        </p:txBody>
      </p:sp>
      <p:sp>
        <p:nvSpPr>
          <p:cNvPr id="10" name="Text 8"/>
          <p:cNvSpPr/>
          <p:nvPr/>
        </p:nvSpPr>
        <p:spPr>
          <a:xfrm>
            <a:off x="566928" y="3602736"/>
            <a:ext cx="5486400" cy="292608"/>
          </a:xfrm>
          <a:prstGeom prst="rect">
            <a:avLst/>
          </a:prstGeom>
          <a:noFill/>
          <a:ln/>
        </p:spPr>
        <p:txBody>
          <a:bodyPr wrap="square" lIns="0" tIns="0" rIns="0" bIns="0" rtlCol="0" anchor="ctr"/>
          <a:lstStyle/>
          <a:p>
            <a:pPr indent="0" marL="0">
              <a:buNone/>
            </a:pPr>
            <a:r>
              <a:rPr lang="en-US" sz="1500" b="1" dirty="0">
                <a:solidFill>
                  <a:srgbClr val="2B2523"/>
                </a:solidFill>
                <a:latin typeface="Cambria" pitchFamily="34" charset="0"/>
                <a:ea typeface="Cambria" pitchFamily="34" charset="-122"/>
                <a:cs typeface="Cambria" pitchFamily="34" charset="-120"/>
              </a:rPr>
              <a:t>What goes into it</a:t>
            </a:r>
            <a:endParaRPr lang="en-US" sz="1500" dirty="0"/>
          </a:p>
        </p:txBody>
      </p:sp>
      <p:sp>
        <p:nvSpPr>
          <p:cNvPr id="11" name="Shape 9"/>
          <p:cNvSpPr/>
          <p:nvPr/>
        </p:nvSpPr>
        <p:spPr>
          <a:xfrm>
            <a:off x="566928" y="3968496"/>
            <a:ext cx="5486400" cy="1225296"/>
          </a:xfrm>
          <a:prstGeom prst="roundRect">
            <a:avLst>
              <a:gd name="adj" fmla="val 4478"/>
            </a:avLst>
          </a:prstGeom>
          <a:solidFill>
            <a:srgbClr val="E7E8D1"/>
          </a:solidFill>
          <a:ln/>
          <a:effectLst>
            <a:outerShdw sx="100000" sy="100000" kx="0" ky="0" algn="bl" rotWithShape="0" blurRad="76200" dist="381" dir="5400000">
              <a:srgbClr val="000000">
                <a:alpha val="8000"/>
              </a:srgbClr>
            </a:outerShdw>
          </a:effectLst>
        </p:spPr>
      </p:sp>
      <p:sp>
        <p:nvSpPr>
          <p:cNvPr id="12" name="Text 10"/>
          <p:cNvSpPr/>
          <p:nvPr/>
        </p:nvSpPr>
        <p:spPr>
          <a:xfrm>
            <a:off x="804672" y="4096512"/>
            <a:ext cx="5029200" cy="100584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1050" dirty="0">
                <a:solidFill>
                  <a:srgbClr val="2B2523"/>
                </a:solidFill>
                <a:latin typeface="Calibri" pitchFamily="34" charset="0"/>
                <a:ea typeface="Calibri" pitchFamily="34" charset="-122"/>
                <a:cs typeface="Calibri" pitchFamily="34" charset="-120"/>
              </a:rPr>
              <a:t>Outcome: was the district mentioned that month, across all 888 district-months.</a:t>
            </a:r>
            <a:endParaRPr lang="en-US" sz="1050" dirty="0"/>
          </a:p>
          <a:p>
            <a:pPr marL="342900" indent="-342900">
              <a:lnSpc>
                <a:spcPts val="1300"/>
              </a:lnSpc>
              <a:spcAft>
                <a:spcPts val="500"/>
              </a:spcAft>
              <a:buSzPct val="100000"/>
              <a:buChar char="•"/>
            </a:pPr>
            <a:r>
              <a:rPr lang="en-US" sz="1050" dirty="0">
                <a:solidFill>
                  <a:srgbClr val="2B2523"/>
                </a:solidFill>
                <a:latin typeface="Calibri" pitchFamily="34" charset="0"/>
                <a:ea typeface="Calibri" pitchFamily="34" charset="-122"/>
                <a:cs typeface="Calibri" pitchFamily="34" charset="-120"/>
              </a:rPr>
              <a:t>Factors: how much conflict occurred, whether the district has a market, which region it is in, and its rainfall and vegetation conditions.</a:t>
            </a:r>
            <a:endParaRPr lang="en-US" sz="1050" dirty="0"/>
          </a:p>
          <a:p>
            <a:pPr marL="342900" indent="-342900">
              <a:lnSpc>
                <a:spcPts val="1300"/>
              </a:lnSpc>
              <a:buSzPct val="100000"/>
              <a:buChar char="•"/>
            </a:pPr>
            <a:r>
              <a:rPr lang="en-US" sz="1050" dirty="0">
                <a:solidFill>
                  <a:srgbClr val="2B2523"/>
                </a:solidFill>
                <a:latin typeface="Calibri" pitchFamily="34" charset="0"/>
                <a:ea typeface="Calibri" pitchFamily="34" charset="-122"/>
                <a:cs typeface="Calibri" pitchFamily="34" charset="-120"/>
              </a:rPr>
              <a:t>Month is included as a control, because coverage rises and falls month to month for reasons none of the other factors explain.</a:t>
            </a:r>
            <a:endParaRPr lang="en-US" sz="1050" dirty="0"/>
          </a:p>
        </p:txBody>
      </p:sp>
      <p:sp>
        <p:nvSpPr>
          <p:cNvPr id="13" name="Text 11"/>
          <p:cNvSpPr/>
          <p:nvPr/>
        </p:nvSpPr>
        <p:spPr>
          <a:xfrm>
            <a:off x="6309360" y="3602736"/>
            <a:ext cx="5285232" cy="292608"/>
          </a:xfrm>
          <a:prstGeom prst="rect">
            <a:avLst/>
          </a:prstGeom>
          <a:noFill/>
          <a:ln/>
        </p:spPr>
        <p:txBody>
          <a:bodyPr wrap="square" lIns="0" tIns="0" rIns="0" bIns="0" rtlCol="0" anchor="ctr"/>
          <a:lstStyle/>
          <a:p>
            <a:pPr indent="0" marL="0">
              <a:buNone/>
            </a:pPr>
            <a:r>
              <a:rPr lang="en-US" sz="1500" b="1" dirty="0">
                <a:solidFill>
                  <a:srgbClr val="2B2523"/>
                </a:solidFill>
                <a:latin typeface="Cambria" pitchFamily="34" charset="0"/>
                <a:ea typeface="Cambria" pitchFamily="34" charset="-122"/>
                <a:cs typeface="Cambria" pitchFamily="34" charset="-120"/>
              </a:rPr>
              <a:t>How it helps</a:t>
            </a:r>
            <a:endParaRPr lang="en-US" sz="1500" dirty="0"/>
          </a:p>
        </p:txBody>
      </p:sp>
      <p:sp>
        <p:nvSpPr>
          <p:cNvPr id="14" name="Shape 12"/>
          <p:cNvSpPr/>
          <p:nvPr/>
        </p:nvSpPr>
        <p:spPr>
          <a:xfrm>
            <a:off x="6309360" y="3968496"/>
            <a:ext cx="5285232" cy="1225296"/>
          </a:xfrm>
          <a:prstGeom prst="roundRect">
            <a:avLst>
              <a:gd name="adj" fmla="val 4478"/>
            </a:avLst>
          </a:prstGeom>
          <a:solidFill>
            <a:srgbClr val="E7E8D1"/>
          </a:solidFill>
          <a:ln/>
          <a:effectLst>
            <a:outerShdw sx="100000" sy="100000" kx="0" ky="0" algn="bl" rotWithShape="0" blurRad="76200" dist="381" dir="5400000">
              <a:srgbClr val="000000">
                <a:alpha val="8000"/>
              </a:srgbClr>
            </a:outerShdw>
          </a:effectLst>
        </p:spPr>
      </p:sp>
      <p:sp>
        <p:nvSpPr>
          <p:cNvPr id="15" name="Text 13"/>
          <p:cNvSpPr/>
          <p:nvPr/>
        </p:nvSpPr>
        <p:spPr>
          <a:xfrm>
            <a:off x="6547104" y="4096512"/>
            <a:ext cx="4754880" cy="100584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1050" dirty="0">
                <a:solidFill>
                  <a:srgbClr val="2B2523"/>
                </a:solidFill>
                <a:latin typeface="Calibri" pitchFamily="34" charset="0"/>
                <a:ea typeface="Calibri" pitchFamily="34" charset="-122"/>
                <a:cs typeface="Calibri" pitchFamily="34" charset="-120"/>
              </a:rPr>
              <a:t>Separates real effects from ones that only looked important because they sit alongside another factor.</a:t>
            </a:r>
            <a:endParaRPr lang="en-US" sz="1050" dirty="0"/>
          </a:p>
          <a:p>
            <a:pPr marL="342900" indent="-342900">
              <a:lnSpc>
                <a:spcPts val="1300"/>
              </a:lnSpc>
              <a:spcAft>
                <a:spcPts val="500"/>
              </a:spcAft>
              <a:buSzPct val="100000"/>
              <a:buChar char="•"/>
            </a:pPr>
            <a:r>
              <a:rPr lang="en-US" sz="1050" dirty="0">
                <a:solidFill>
                  <a:srgbClr val="2B2523"/>
                </a:solidFill>
                <a:latin typeface="Calibri" pitchFamily="34" charset="0"/>
                <a:ea typeface="Calibri" pitchFamily="34" charset="-122"/>
                <a:cs typeface="Calibri" pitchFamily="34" charset="-120"/>
              </a:rPr>
              <a:t>Replaces a list of separate correlations with one measure of how well the pattern is explained overall.</a:t>
            </a:r>
            <a:endParaRPr lang="en-US" sz="1050" dirty="0"/>
          </a:p>
          <a:p>
            <a:pPr marL="342900" indent="-342900">
              <a:lnSpc>
                <a:spcPts val="1300"/>
              </a:lnSpc>
              <a:buSzPct val="100000"/>
              <a:buChar char="•"/>
            </a:pPr>
            <a:r>
              <a:rPr lang="en-US" sz="1050" dirty="0">
                <a:solidFill>
                  <a:srgbClr val="2B2523"/>
                </a:solidFill>
                <a:latin typeface="Calibri" pitchFamily="34" charset="0"/>
                <a:ea typeface="Calibri" pitchFamily="34" charset="-122"/>
                <a:cs typeface="Calibri" pitchFamily="34" charset="-120"/>
              </a:rPr>
              <a:t>Names the exceptions: districts covered far less, or far more, than expected. Those are the interesting cases.</a:t>
            </a:r>
            <a:endParaRPr lang="en-US" sz="1050" dirty="0"/>
          </a:p>
        </p:txBody>
      </p:sp>
      <p:sp>
        <p:nvSpPr>
          <p:cNvPr id="16" name="Shape 14"/>
          <p:cNvSpPr/>
          <p:nvPr/>
        </p:nvSpPr>
        <p:spPr>
          <a:xfrm>
            <a:off x="566928" y="5358384"/>
            <a:ext cx="11027664" cy="877824"/>
          </a:xfrm>
          <a:prstGeom prst="roundRect">
            <a:avLst>
              <a:gd name="adj" fmla="val 6250"/>
            </a:avLst>
          </a:prstGeom>
          <a:solidFill>
            <a:srgbClr val="2B2523"/>
          </a:solidFill>
          <a:ln/>
          <a:effectLst>
            <a:outerShdw sx="100000" sy="100000" kx="0" ky="0" algn="bl" rotWithShape="0" blurRad="76200" dist="381" dir="5400000">
              <a:srgbClr val="000000">
                <a:alpha val="8000"/>
              </a:srgbClr>
            </a:outerShdw>
          </a:effectLst>
        </p:spPr>
      </p:sp>
      <p:sp>
        <p:nvSpPr>
          <p:cNvPr id="17" name="Text 15"/>
          <p:cNvSpPr/>
          <p:nvPr/>
        </p:nvSpPr>
        <p:spPr>
          <a:xfrm>
            <a:off x="841248" y="5468112"/>
            <a:ext cx="10479024" cy="676656"/>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Why this matters for the dissertation: the research question asks whether the gaps are systematic. At the moment that claim rests on several separate correlations, which a reader has to combine in their head. The model turns it into one statement that can be defended: knowing a handful of facts about a district, we can or cannot explain whether it gets observed.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2900" b="1" dirty="0">
                <a:solidFill>
                  <a:srgbClr val="2B2523"/>
                </a:solidFill>
                <a:latin typeface="Cambria" pitchFamily="34" charset="0"/>
                <a:ea typeface="Cambria" pitchFamily="34" charset="-122"/>
                <a:cs typeface="Cambria" pitchFamily="34" charset="-120"/>
              </a:rPr>
              <a:t>Remaining work on sub-questions 1 and 2</a:t>
            </a:r>
            <a:endParaRPr lang="en-US" sz="29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Both are mostly answered. These items make the existing answers hold up</a:t>
            </a:r>
            <a:endParaRPr lang="en-US" sz="1350" dirty="0"/>
          </a:p>
        </p:txBody>
      </p:sp>
      <p:sp>
        <p:nvSpPr>
          <p:cNvPr id="4" name="Shape 2"/>
          <p:cNvSpPr/>
          <p:nvPr/>
        </p:nvSpPr>
        <p:spPr>
          <a:xfrm>
            <a:off x="566928" y="1444752"/>
            <a:ext cx="402336" cy="402336"/>
          </a:xfrm>
          <a:prstGeom prst="ellipse">
            <a:avLst/>
          </a:prstGeom>
          <a:solidFill>
            <a:srgbClr val="A7BEAE"/>
          </a:solidFill>
          <a:ln/>
        </p:spPr>
      </p:sp>
      <p:sp>
        <p:nvSpPr>
          <p:cNvPr id="5" name="Text 3"/>
          <p:cNvSpPr/>
          <p:nvPr/>
        </p:nvSpPr>
        <p:spPr>
          <a:xfrm>
            <a:off x="566928" y="144475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6" name="Text 4"/>
          <p:cNvSpPr/>
          <p:nvPr/>
        </p:nvSpPr>
        <p:spPr>
          <a:xfrm>
            <a:off x="1097280" y="1463040"/>
            <a:ext cx="5943600" cy="365760"/>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Where are the gaps, and are they systematic?</a:t>
            </a:r>
            <a:endParaRPr lang="en-US" sz="1600" dirty="0"/>
          </a:p>
        </p:txBody>
      </p:sp>
      <p:sp>
        <p:nvSpPr>
          <p:cNvPr id="7" name="Text 5"/>
          <p:cNvSpPr/>
          <p:nvPr/>
        </p:nvSpPr>
        <p:spPr>
          <a:xfrm>
            <a:off x="9509760" y="1536192"/>
            <a:ext cx="2011680" cy="237744"/>
          </a:xfrm>
          <a:prstGeom prst="rect">
            <a:avLst/>
          </a:prstGeom>
          <a:noFill/>
          <a:ln/>
        </p:spPr>
        <p:txBody>
          <a:bodyPr wrap="square" lIns="0" tIns="0" rIns="0" bIns="0" rtlCol="0" anchor="ctr"/>
          <a:lstStyle/>
          <a:p>
            <a:pPr indent="0" marL="0">
              <a:buNone/>
            </a:pPr>
            <a:r>
              <a:rPr lang="en-US" sz="950" b="1" spc="120" kern="0" dirty="0">
                <a:solidFill>
                  <a:srgbClr val="A7BEAE"/>
                </a:solidFill>
                <a:latin typeface="Calibri" pitchFamily="34" charset="0"/>
                <a:ea typeface="Calibri" pitchFamily="34" charset="-122"/>
                <a:cs typeface="Calibri" pitchFamily="34" charset="-120"/>
              </a:rPr>
              <a:t>MOSTLY ANSWERED</a:t>
            </a:r>
            <a:endParaRPr lang="en-US" sz="950" dirty="0"/>
          </a:p>
        </p:txBody>
      </p:sp>
      <p:sp>
        <p:nvSpPr>
          <p:cNvPr id="8" name="Shape 6"/>
          <p:cNvSpPr/>
          <p:nvPr/>
        </p:nvSpPr>
        <p:spPr>
          <a:xfrm>
            <a:off x="566928" y="1938528"/>
            <a:ext cx="5486400" cy="1463040"/>
          </a:xfrm>
          <a:prstGeom prst="roundRect">
            <a:avLst>
              <a:gd name="adj" fmla="val 3750"/>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804672" y="2066544"/>
            <a:ext cx="4937760" cy="274320"/>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Build the model described on the previous slide</a:t>
            </a:r>
            <a:endParaRPr lang="en-US" sz="1300" dirty="0"/>
          </a:p>
        </p:txBody>
      </p:sp>
      <p:sp>
        <p:nvSpPr>
          <p:cNvPr id="10" name="Text 8"/>
          <p:cNvSpPr/>
          <p:nvPr/>
        </p:nvSpPr>
        <p:spPr>
          <a:xfrm>
            <a:off x="804672" y="2377440"/>
            <a:ext cx="5029200" cy="914400"/>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This is the main analytical piece still outstanding. It turns the separate correlations already found into a single result showing which factors genuinely explain coverage, and which districts do not fit the pattern.</a:t>
            </a:r>
            <a:endParaRPr lang="en-US" sz="1050" dirty="0"/>
          </a:p>
        </p:txBody>
      </p:sp>
      <p:sp>
        <p:nvSpPr>
          <p:cNvPr id="11" name="Shape 9"/>
          <p:cNvSpPr/>
          <p:nvPr/>
        </p:nvSpPr>
        <p:spPr>
          <a:xfrm>
            <a:off x="6309360" y="1938528"/>
            <a:ext cx="5285232" cy="1463040"/>
          </a:xfrm>
          <a:prstGeom prst="roundRect">
            <a:avLst>
              <a:gd name="adj" fmla="val 3750"/>
            </a:avLst>
          </a:prstGeom>
          <a:solidFill>
            <a:srgbClr val="F7F5F1"/>
          </a:solidFill>
          <a:ln/>
          <a:effectLst>
            <a:outerShdw sx="100000" sy="100000" kx="0" ky="0" algn="bl" rotWithShape="0" blurRad="76200" dist="381" dir="5400000">
              <a:srgbClr val="000000">
                <a:alpha val="8000"/>
              </a:srgbClr>
            </a:outerShdw>
          </a:effectLst>
        </p:spPr>
      </p:sp>
      <p:sp>
        <p:nvSpPr>
          <p:cNvPr id="12" name="Text 10"/>
          <p:cNvSpPr/>
          <p:nvPr/>
        </p:nvSpPr>
        <p:spPr>
          <a:xfrm>
            <a:off x="6547104" y="2066544"/>
            <a:ext cx="4754880" cy="274320"/>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Measure what each extra source adds</a:t>
            </a:r>
            <a:endParaRPr lang="en-US" sz="1300" dirty="0"/>
          </a:p>
        </p:txBody>
      </p:sp>
      <p:sp>
        <p:nvSpPr>
          <p:cNvPr id="13" name="Text 11"/>
          <p:cNvSpPr/>
          <p:nvPr/>
        </p:nvSpPr>
        <p:spPr>
          <a:xfrm>
            <a:off x="6547104" y="2377440"/>
            <a:ext cx="4754880" cy="914400"/>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We know only one district is missed by every source, which answers the question in the narrowest way possible. We do not know how much each source adds beyond the last. Adding them one at a time and watching coverage climb turns that single observation into a real number.</a:t>
            </a:r>
            <a:endParaRPr lang="en-US" sz="1050" dirty="0"/>
          </a:p>
        </p:txBody>
      </p:sp>
      <p:sp>
        <p:nvSpPr>
          <p:cNvPr id="14" name="Shape 12"/>
          <p:cNvSpPr/>
          <p:nvPr/>
        </p:nvSpPr>
        <p:spPr>
          <a:xfrm>
            <a:off x="566928" y="3621024"/>
            <a:ext cx="402336" cy="402336"/>
          </a:xfrm>
          <a:prstGeom prst="ellipse">
            <a:avLst/>
          </a:prstGeom>
          <a:solidFill>
            <a:srgbClr val="B85042"/>
          </a:solidFill>
          <a:ln/>
        </p:spPr>
      </p:sp>
      <p:sp>
        <p:nvSpPr>
          <p:cNvPr id="15" name="Text 13"/>
          <p:cNvSpPr/>
          <p:nvPr/>
        </p:nvSpPr>
        <p:spPr>
          <a:xfrm>
            <a:off x="566928" y="362102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6" name="Text 14"/>
          <p:cNvSpPr/>
          <p:nvPr/>
        </p:nvSpPr>
        <p:spPr>
          <a:xfrm>
            <a:off x="1097280" y="3639312"/>
            <a:ext cx="5943600" cy="365760"/>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Does observability differ by crisis type?</a:t>
            </a:r>
            <a:endParaRPr lang="en-US" sz="1600" dirty="0"/>
          </a:p>
        </p:txBody>
      </p:sp>
      <p:sp>
        <p:nvSpPr>
          <p:cNvPr id="17" name="Text 15"/>
          <p:cNvSpPr/>
          <p:nvPr/>
        </p:nvSpPr>
        <p:spPr>
          <a:xfrm>
            <a:off x="9509760" y="3712464"/>
            <a:ext cx="2011680" cy="237744"/>
          </a:xfrm>
          <a:prstGeom prst="rect">
            <a:avLst/>
          </a:prstGeom>
          <a:noFill/>
          <a:ln/>
        </p:spPr>
        <p:txBody>
          <a:bodyPr wrap="square" lIns="0" tIns="0" rIns="0" bIns="0" rtlCol="0" anchor="ctr"/>
          <a:lstStyle/>
          <a:p>
            <a:pPr indent="0" marL="0">
              <a:buNone/>
            </a:pPr>
            <a:r>
              <a:rPr lang="en-US" sz="950" b="1" spc="120" kern="0" dirty="0">
                <a:solidFill>
                  <a:srgbClr val="B85042"/>
                </a:solidFill>
                <a:latin typeface="Calibri" pitchFamily="34" charset="0"/>
                <a:ea typeface="Calibri" pitchFamily="34" charset="-122"/>
                <a:cs typeface="Calibri" pitchFamily="34" charset="-120"/>
              </a:rPr>
              <a:t>ANSWERED THIS WEEK</a:t>
            </a:r>
            <a:endParaRPr lang="en-US" sz="950" dirty="0"/>
          </a:p>
        </p:txBody>
      </p:sp>
      <p:sp>
        <p:nvSpPr>
          <p:cNvPr id="18" name="Shape 16"/>
          <p:cNvSpPr/>
          <p:nvPr/>
        </p:nvSpPr>
        <p:spPr>
          <a:xfrm>
            <a:off x="566928" y="4114800"/>
            <a:ext cx="3584448" cy="1737360"/>
          </a:xfrm>
          <a:prstGeom prst="roundRect">
            <a:avLst>
              <a:gd name="adj" fmla="val 3158"/>
            </a:avLst>
          </a:prstGeom>
          <a:solidFill>
            <a:srgbClr val="E7E8D1"/>
          </a:solidFill>
          <a:ln/>
          <a:effectLst>
            <a:outerShdw sx="100000" sy="100000" kx="0" ky="0" algn="bl" rotWithShape="0" blurRad="76200" dist="381" dir="5400000">
              <a:srgbClr val="000000">
                <a:alpha val="8000"/>
              </a:srgbClr>
            </a:outerShdw>
          </a:effectLst>
        </p:spPr>
      </p:sp>
      <p:sp>
        <p:nvSpPr>
          <p:cNvPr id="19" name="Text 17"/>
          <p:cNvSpPr/>
          <p:nvPr/>
        </p:nvSpPr>
        <p:spPr>
          <a:xfrm>
            <a:off x="786384" y="4242816"/>
            <a:ext cx="3200400" cy="402336"/>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Repeat it using food and nutrition reports only</a:t>
            </a:r>
            <a:endParaRPr lang="en-US" sz="1200" dirty="0"/>
          </a:p>
        </p:txBody>
      </p:sp>
      <p:sp>
        <p:nvSpPr>
          <p:cNvPr id="20" name="Text 18"/>
          <p:cNvSpPr/>
          <p:nvPr/>
        </p:nvSpPr>
        <p:spPr>
          <a:xfrm>
            <a:off x="786384" y="4681728"/>
            <a:ext cx="3200400" cy="1097280"/>
          </a:xfrm>
          <a:prstGeom prst="rect">
            <a:avLst/>
          </a:prstGeom>
          <a:noFill/>
          <a:ln/>
        </p:spPr>
        <p:txBody>
          <a:bodyPr wrap="square" lIns="0" tIns="0" rIns="0" bIns="0" rtlCol="0" anchor="ctr"/>
          <a:lstStyle/>
          <a:p>
            <a:pPr indent="0" marL="0">
              <a:lnSpc>
                <a:spcPts val="1200"/>
              </a:lnSpc>
              <a:buNone/>
            </a:pPr>
            <a:r>
              <a:rPr lang="en-US" sz="1000" dirty="0">
                <a:solidFill>
                  <a:srgbClr val="7A6E68"/>
                </a:solidFill>
                <a:latin typeface="Calibri" pitchFamily="34" charset="0"/>
                <a:ea typeface="Calibri" pitchFamily="34" charset="-122"/>
                <a:cs typeface="Calibri" pitchFamily="34" charset="-120"/>
              </a:rPr>
              <a:t>This week's result counted reports of any kind. Since the project is about food insecurity, the sharper question is whether food and nutrition reporting shows the same bias towards conflict. Those columns have existed since the prototype and have never been used.</a:t>
            </a:r>
            <a:endParaRPr lang="en-US" sz="1000" dirty="0"/>
          </a:p>
        </p:txBody>
      </p:sp>
      <p:sp>
        <p:nvSpPr>
          <p:cNvPr id="21" name="Shape 19"/>
          <p:cNvSpPr/>
          <p:nvPr/>
        </p:nvSpPr>
        <p:spPr>
          <a:xfrm>
            <a:off x="4279392" y="4114800"/>
            <a:ext cx="3584448" cy="1737360"/>
          </a:xfrm>
          <a:prstGeom prst="roundRect">
            <a:avLst>
              <a:gd name="adj" fmla="val 3158"/>
            </a:avLst>
          </a:prstGeom>
          <a:solidFill>
            <a:srgbClr val="E7E8D1"/>
          </a:solidFill>
          <a:ln/>
          <a:effectLst>
            <a:outerShdw sx="100000" sy="100000" kx="0" ky="0" algn="bl" rotWithShape="0" blurRad="76200" dist="381" dir="5400000">
              <a:srgbClr val="000000">
                <a:alpha val="8000"/>
              </a:srgbClr>
            </a:outerShdw>
          </a:effectLst>
        </p:spPr>
      </p:sp>
      <p:sp>
        <p:nvSpPr>
          <p:cNvPr id="22" name="Text 20"/>
          <p:cNvSpPr/>
          <p:nvPr/>
        </p:nvSpPr>
        <p:spPr>
          <a:xfrm>
            <a:off x="4498848" y="4242816"/>
            <a:ext cx="3200400" cy="402336"/>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Check whether drought is reported late, not never</a:t>
            </a:r>
            <a:endParaRPr lang="en-US" sz="1200" dirty="0"/>
          </a:p>
        </p:txBody>
      </p:sp>
      <p:sp>
        <p:nvSpPr>
          <p:cNvPr id="23" name="Text 21"/>
          <p:cNvSpPr/>
          <p:nvPr/>
        </p:nvSpPr>
        <p:spPr>
          <a:xfrm>
            <a:off x="4498848" y="4681728"/>
            <a:ext cx="3200400" cy="1097280"/>
          </a:xfrm>
          <a:prstGeom prst="rect">
            <a:avLst/>
          </a:prstGeom>
          <a:noFill/>
          <a:ln/>
        </p:spPr>
        <p:txBody>
          <a:bodyPr wrap="square" lIns="0" tIns="0" rIns="0" bIns="0" rtlCol="0" anchor="ctr"/>
          <a:lstStyle/>
          <a:p>
            <a:pPr indent="0" marL="0">
              <a:lnSpc>
                <a:spcPts val="1200"/>
              </a:lnSpc>
              <a:buNone/>
            </a:pPr>
            <a:r>
              <a:rPr lang="en-US" sz="1000" dirty="0">
                <a:solidFill>
                  <a:srgbClr val="7A6E68"/>
                </a:solidFill>
                <a:latin typeface="Calibri" pitchFamily="34" charset="0"/>
                <a:ea typeface="Calibri" pitchFamily="34" charset="-122"/>
                <a:cs typeface="Calibri" pitchFamily="34" charset="-120"/>
              </a:rPr>
              <a:t>Droughts build slowly, so reporting may simply arrive months later rather than not at all. Only a one-month delay has been tested, and only for conflict. If drought does get attention later, the honest conclusion becomes noticed late instead of ignored.</a:t>
            </a:r>
            <a:endParaRPr lang="en-US" sz="1000" dirty="0"/>
          </a:p>
        </p:txBody>
      </p:sp>
      <p:sp>
        <p:nvSpPr>
          <p:cNvPr id="24" name="Shape 22"/>
          <p:cNvSpPr/>
          <p:nvPr/>
        </p:nvSpPr>
        <p:spPr>
          <a:xfrm>
            <a:off x="7991856" y="4114800"/>
            <a:ext cx="3584448" cy="1737360"/>
          </a:xfrm>
          <a:prstGeom prst="roundRect">
            <a:avLst>
              <a:gd name="adj" fmla="val 3158"/>
            </a:avLst>
          </a:prstGeom>
          <a:solidFill>
            <a:srgbClr val="E7E8D1"/>
          </a:solidFill>
          <a:ln/>
          <a:effectLst>
            <a:outerShdw sx="100000" sy="100000" kx="0" ky="0" algn="bl" rotWithShape="0" blurRad="76200" dist="381" dir="5400000">
              <a:srgbClr val="000000">
                <a:alpha val="8000"/>
              </a:srgbClr>
            </a:outerShdw>
          </a:effectLst>
        </p:spPr>
      </p:sp>
      <p:sp>
        <p:nvSpPr>
          <p:cNvPr id="25" name="Text 23"/>
          <p:cNvSpPr/>
          <p:nvPr/>
        </p:nvSpPr>
        <p:spPr>
          <a:xfrm>
            <a:off x="8211312" y="4242816"/>
            <a:ext cx="3200400" cy="402336"/>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Check whether attention grows with severity</a:t>
            </a:r>
            <a:endParaRPr lang="en-US" sz="1200" dirty="0"/>
          </a:p>
        </p:txBody>
      </p:sp>
      <p:sp>
        <p:nvSpPr>
          <p:cNvPr id="26" name="Text 24"/>
          <p:cNvSpPr/>
          <p:nvPr/>
        </p:nvSpPr>
        <p:spPr>
          <a:xfrm>
            <a:off x="8211312" y="4681728"/>
            <a:ext cx="3200400" cy="1097280"/>
          </a:xfrm>
          <a:prstGeom prst="rect">
            <a:avLst/>
          </a:prstGeom>
          <a:noFill/>
          <a:ln/>
        </p:spPr>
        <p:txBody>
          <a:bodyPr wrap="square" lIns="0" tIns="0" rIns="0" bIns="0" rtlCol="0" anchor="ctr"/>
          <a:lstStyle/>
          <a:p>
            <a:pPr indent="0" marL="0">
              <a:lnSpc>
                <a:spcPts val="1200"/>
              </a:lnSpc>
              <a:buNone/>
            </a:pPr>
            <a:r>
              <a:rPr lang="en-US" sz="1000" dirty="0">
                <a:solidFill>
                  <a:srgbClr val="7A6E68"/>
                </a:solidFill>
                <a:latin typeface="Calibri" pitchFamily="34" charset="0"/>
                <a:ea typeface="Calibri" pitchFamily="34" charset="-122"/>
                <a:cs typeface="Calibri" pitchFamily="34" charset="-120"/>
              </a:rPr>
              <a:t>The current test compares only the worst cases on each side. Seeing whether reporting rises steadily as conflict worsens, while staying flat however bad the drought gets, would make the same point far more strongly.</a:t>
            </a:r>
            <a:endParaRPr lang="en-US" sz="1000" dirty="0"/>
          </a:p>
        </p:txBody>
      </p:sp>
      <p:sp>
        <p:nvSpPr>
          <p:cNvPr id="27" name="Text 25"/>
          <p:cNvSpPr/>
          <p:nvPr/>
        </p:nvSpPr>
        <p:spPr>
          <a:xfrm>
            <a:off x="566928" y="5980176"/>
            <a:ext cx="11027664" cy="365760"/>
          </a:xfrm>
          <a:prstGeom prst="rect">
            <a:avLst/>
          </a:prstGeom>
          <a:noFill/>
          <a:ln/>
        </p:spPr>
        <p:txBody>
          <a:bodyPr wrap="square" lIns="0" tIns="0" rIns="0" bIns="0" rtlCol="0" anchor="ctr"/>
          <a:lstStyle/>
          <a:p>
            <a:pPr indent="0" marL="0">
              <a:buNone/>
            </a:pPr>
            <a:r>
              <a:rPr lang="en-US" sz="1150" i="1" dirty="0">
                <a:solidFill>
                  <a:srgbClr val="7A6E68"/>
                </a:solidFill>
                <a:latin typeface="Calibri" pitchFamily="34" charset="0"/>
                <a:ea typeface="Calibri" pitchFamily="34" charset="-122"/>
                <a:cs typeface="Calibri" pitchFamily="34" charset="-120"/>
              </a:rPr>
              <a:t>All of these use data already in hand. None depend on anything from outside.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2900" b="1" dirty="0">
                <a:solidFill>
                  <a:srgbClr val="2B2523"/>
                </a:solidFill>
                <a:latin typeface="Cambria" pitchFamily="34" charset="0"/>
                <a:ea typeface="Cambria" pitchFamily="34" charset="-122"/>
                <a:cs typeface="Cambria" pitchFamily="34" charset="-120"/>
              </a:rPr>
              <a:t>Sub-question 3: the only route to “does it matter”</a:t>
            </a:r>
            <a:endParaRPr lang="en-US" sz="29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The priority. Does thin coverage give a wrong picture, or just a thinner one?</a:t>
            </a:r>
            <a:endParaRPr lang="en-US" sz="1350" dirty="0"/>
          </a:p>
        </p:txBody>
      </p:sp>
      <p:sp>
        <p:nvSpPr>
          <p:cNvPr id="4" name="Shape 2"/>
          <p:cNvSpPr/>
          <p:nvPr/>
        </p:nvSpPr>
        <p:spPr>
          <a:xfrm>
            <a:off x="566928" y="1463040"/>
            <a:ext cx="11027664" cy="786384"/>
          </a:xfrm>
          <a:prstGeom prst="roundRect">
            <a:avLst>
              <a:gd name="adj" fmla="val 6977"/>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572768"/>
            <a:ext cx="10479024" cy="585216"/>
          </a:xfrm>
          <a:prstGeom prst="rect">
            <a:avLst/>
          </a:prstGeom>
          <a:noFill/>
          <a:ln/>
        </p:spPr>
        <p:txBody>
          <a:bodyPr wrap="square" lIns="0" tIns="0" rIns="0" bIns="0" rtlCol="0" anchor="ctr"/>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The test: in districts we already know are poorly covered, does our dataset disagree with IPC's official food-insecurity assessment more than it does in well-covered districts? If it does, thin coverage means less trustworthy data, not just less data.</a:t>
            </a:r>
            <a:endParaRPr lang="en-US" sz="1250" dirty="0"/>
          </a:p>
        </p:txBody>
      </p:sp>
      <p:sp>
        <p:nvSpPr>
          <p:cNvPr id="6" name="Text 4"/>
          <p:cNvSpPr/>
          <p:nvPr/>
        </p:nvSpPr>
        <p:spPr>
          <a:xfrm>
            <a:off x="566928" y="2432304"/>
            <a:ext cx="7315200" cy="310896"/>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Two things are holding this up, not one</a:t>
            </a:r>
            <a:endParaRPr lang="en-US" sz="1600" dirty="0"/>
          </a:p>
        </p:txBody>
      </p:sp>
      <p:sp>
        <p:nvSpPr>
          <p:cNvPr id="7" name="Shape 5"/>
          <p:cNvSpPr/>
          <p:nvPr/>
        </p:nvSpPr>
        <p:spPr>
          <a:xfrm>
            <a:off x="566928" y="2834640"/>
            <a:ext cx="5486400" cy="2286000"/>
          </a:xfrm>
          <a:prstGeom prst="roundRect">
            <a:avLst>
              <a:gd name="adj" fmla="val 2400"/>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04672" y="2962656"/>
            <a:ext cx="2011680" cy="237744"/>
          </a:xfrm>
          <a:prstGeom prst="rect">
            <a:avLst/>
          </a:prstGeom>
          <a:noFill/>
          <a:ln/>
        </p:spPr>
        <p:txBody>
          <a:bodyPr wrap="square" lIns="0" tIns="0" rIns="0" bIns="0" rtlCol="0" anchor="ctr"/>
          <a:lstStyle/>
          <a:p>
            <a:pPr indent="0" marL="0">
              <a:buNone/>
            </a:pPr>
            <a:r>
              <a:rPr lang="en-US" sz="950" b="1" spc="120" kern="0" dirty="0">
                <a:solidFill>
                  <a:srgbClr val="B85042"/>
                </a:solidFill>
                <a:latin typeface="Calibri" pitchFamily="34" charset="0"/>
                <a:ea typeface="Calibri" pitchFamily="34" charset="-122"/>
                <a:cs typeface="Calibri" pitchFamily="34" charset="-120"/>
              </a:rPr>
              <a:t>WAITING ON A DOWNLOAD</a:t>
            </a:r>
            <a:endParaRPr lang="en-US" sz="950" dirty="0"/>
          </a:p>
        </p:txBody>
      </p:sp>
      <p:sp>
        <p:nvSpPr>
          <p:cNvPr id="9" name="Text 7"/>
          <p:cNvSpPr/>
          <p:nvPr/>
        </p:nvSpPr>
        <p:spPr>
          <a:xfrm>
            <a:off x="804672" y="3200400"/>
            <a:ext cx="4937760" cy="274320"/>
          </a:xfrm>
          <a:prstGeom prst="rect">
            <a:avLst/>
          </a:prstGeom>
          <a:noFill/>
          <a:ln/>
        </p:spPr>
        <p:txBody>
          <a:bodyPr wrap="square" lIns="0" tIns="0" rIns="0" bIns="0" rtlCol="0" anchor="ctr"/>
          <a:lstStyle/>
          <a:p>
            <a:pPr indent="0" marL="0">
              <a:buNone/>
            </a:pPr>
            <a:r>
              <a:rPr lang="en-US" sz="1350" b="1" dirty="0">
                <a:solidFill>
                  <a:srgbClr val="2B2523"/>
                </a:solidFill>
                <a:latin typeface="Cambria" pitchFamily="34" charset="0"/>
                <a:ea typeface="Cambria" pitchFamily="34" charset="-122"/>
                <a:cs typeface="Cambria" pitchFamily="34" charset="-120"/>
              </a:rPr>
              <a:t>We do not have the IPC data yet</a:t>
            </a:r>
            <a:endParaRPr lang="en-US" sz="1350" dirty="0"/>
          </a:p>
        </p:txBody>
      </p:sp>
      <p:sp>
        <p:nvSpPr>
          <p:cNvPr id="10" name="Text 8"/>
          <p:cNvSpPr/>
          <p:nvPr/>
        </p:nvSpPr>
        <p:spPr>
          <a:xfrm>
            <a:off x="804672" y="3529584"/>
            <a:ext cx="5029200" cy="1517904"/>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1050" dirty="0">
                <a:solidFill>
                  <a:srgbClr val="7A6E68"/>
                </a:solidFill>
                <a:latin typeface="Calibri" pitchFamily="34" charset="0"/>
                <a:ea typeface="Calibri" pitchFamily="34" charset="-122"/>
                <a:cs typeface="Calibri" pitchFamily="34" charset="-120"/>
              </a:rPr>
              <a:t>IPC publishes district-level assessments covering Somalia in 2024, but the site cannot be reached from the working environment, so the file has to be downloaded by hand.</a:t>
            </a:r>
            <a:endParaRPr lang="en-US" sz="1050" dirty="0"/>
          </a:p>
          <a:p>
            <a:pPr marL="342900" indent="-342900">
              <a:lnSpc>
                <a:spcPts val="1300"/>
              </a:lnSpc>
              <a:spcAft>
                <a:spcPts val="600"/>
              </a:spcAft>
              <a:buSzPct val="100000"/>
              <a:buChar char="•"/>
            </a:pPr>
            <a:r>
              <a:rPr lang="en-US" sz="1050" dirty="0">
                <a:solidFill>
                  <a:srgbClr val="7A6E68"/>
                </a:solidFill>
                <a:latin typeface="Calibri" pitchFamily="34" charset="0"/>
                <a:ea typeface="Calibri" pitchFamily="34" charset="-122"/>
                <a:cs typeface="Calibri" pitchFamily="34" charset="-120"/>
              </a:rPr>
              <a:t>IPC publishes two or three times a year, not monthly, so we need a clear rule for spreading each assessment across the months it covers.</a:t>
            </a:r>
            <a:endParaRPr lang="en-US" sz="1050" dirty="0"/>
          </a:p>
          <a:p>
            <a:pPr marL="342900" indent="-342900">
              <a:lnSpc>
                <a:spcPts val="1300"/>
              </a:lnSpc>
              <a:buSzPct val="100000"/>
              <a:buChar char="•"/>
            </a:pPr>
            <a:r>
              <a:rPr lang="en-US" sz="1050" dirty="0">
                <a:solidFill>
                  <a:srgbClr val="7A6E68"/>
                </a:solidFill>
                <a:latin typeface="Calibri" pitchFamily="34" charset="0"/>
                <a:ea typeface="Calibri" pitchFamily="34" charset="-122"/>
                <a:cs typeface="Calibri" pitchFamily="34" charset="-120"/>
              </a:rPr>
              <a:t>IPC may name districts differently, which would mean a fourth round of the name-matching already done for WFP, ACLED and ReliefWeb.</a:t>
            </a:r>
            <a:endParaRPr lang="en-US" sz="1050" dirty="0"/>
          </a:p>
        </p:txBody>
      </p:sp>
      <p:sp>
        <p:nvSpPr>
          <p:cNvPr id="11" name="Shape 9"/>
          <p:cNvSpPr/>
          <p:nvPr/>
        </p:nvSpPr>
        <p:spPr>
          <a:xfrm>
            <a:off x="6309360" y="2834640"/>
            <a:ext cx="5285232" cy="2286000"/>
          </a:xfrm>
          <a:prstGeom prst="roundRect">
            <a:avLst>
              <a:gd name="adj" fmla="val 2400"/>
            </a:avLst>
          </a:prstGeom>
          <a:solidFill>
            <a:srgbClr val="E7E8D1"/>
          </a:solidFill>
          <a:ln/>
          <a:effectLst>
            <a:outerShdw sx="100000" sy="100000" kx="0" ky="0" algn="bl" rotWithShape="0" blurRad="76200" dist="381" dir="5400000">
              <a:srgbClr val="000000">
                <a:alpha val="8000"/>
              </a:srgbClr>
            </a:outerShdw>
          </a:effectLst>
        </p:spPr>
      </p:sp>
      <p:sp>
        <p:nvSpPr>
          <p:cNvPr id="12" name="Text 10"/>
          <p:cNvSpPr/>
          <p:nvPr/>
        </p:nvSpPr>
        <p:spPr>
          <a:xfrm>
            <a:off x="6547104" y="2962656"/>
            <a:ext cx="2011680" cy="237744"/>
          </a:xfrm>
          <a:prstGeom prst="rect">
            <a:avLst/>
          </a:prstGeom>
          <a:noFill/>
          <a:ln/>
        </p:spPr>
        <p:txBody>
          <a:bodyPr wrap="square" lIns="0" tIns="0" rIns="0" bIns="0" rtlCol="0" anchor="ctr"/>
          <a:lstStyle/>
          <a:p>
            <a:pPr indent="0" marL="0">
              <a:buNone/>
            </a:pPr>
            <a:r>
              <a:rPr lang="en-US" sz="950" b="1" spc="120" kern="0" dirty="0">
                <a:solidFill>
                  <a:srgbClr val="A7BEAE"/>
                </a:solidFill>
                <a:latin typeface="Calibri" pitchFamily="34" charset="0"/>
                <a:ea typeface="Calibri" pitchFamily="34" charset="-122"/>
                <a:cs typeface="Calibri" pitchFamily="34" charset="-120"/>
              </a:rPr>
              <a:t>SCHEDULED FOR NEXT WEEK</a:t>
            </a:r>
            <a:endParaRPr lang="en-US" sz="950" dirty="0"/>
          </a:p>
        </p:txBody>
      </p:sp>
      <p:sp>
        <p:nvSpPr>
          <p:cNvPr id="13" name="Text 11"/>
          <p:cNvSpPr/>
          <p:nvPr/>
        </p:nvSpPr>
        <p:spPr>
          <a:xfrm>
            <a:off x="6547104" y="3200400"/>
            <a:ext cx="4754880" cy="274320"/>
          </a:xfrm>
          <a:prstGeom prst="rect">
            <a:avLst/>
          </a:prstGeom>
          <a:noFill/>
          <a:ln/>
        </p:spPr>
        <p:txBody>
          <a:bodyPr wrap="square" lIns="0" tIns="0" rIns="0" bIns="0" rtlCol="0" anchor="ctr"/>
          <a:lstStyle/>
          <a:p>
            <a:pPr indent="0" marL="0">
              <a:buNone/>
            </a:pPr>
            <a:r>
              <a:rPr lang="en-US" sz="1350" b="1" dirty="0">
                <a:solidFill>
                  <a:srgbClr val="2B2523"/>
                </a:solidFill>
                <a:latin typeface="Cambria" pitchFamily="34" charset="0"/>
                <a:ea typeface="Cambria" pitchFamily="34" charset="-122"/>
                <a:cs typeface="Cambria" pitchFamily="34" charset="-120"/>
              </a:rPr>
              <a:t>Defining our own summary measure</a:t>
            </a:r>
            <a:endParaRPr lang="en-US" sz="1350" dirty="0"/>
          </a:p>
        </p:txBody>
      </p:sp>
      <p:sp>
        <p:nvSpPr>
          <p:cNvPr id="14" name="Text 12"/>
          <p:cNvSpPr/>
          <p:nvPr/>
        </p:nvSpPr>
        <p:spPr>
          <a:xfrm>
            <a:off x="6547104" y="3529584"/>
            <a:ext cx="4754880" cy="1517904"/>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The comparison needs a single measure on our side, summarising what this dataset indicates about each district. That measure has not been defined yet. The harmonised market-anomaly features built in Task 4 were designed as its ingredients, and the remaining step is to combine them into one defensible summary.</a:t>
            </a:r>
            <a:endParaRPr lang="en-US" sz="1050" dirty="0"/>
          </a:p>
          <a:p>
            <a:pPr indent="0" marL="0">
              <a:lnSpc>
                <a:spcPts val="1300"/>
              </a:lnSpc>
              <a:buNone/>
            </a:pPr>
            <a:endParaRPr lang="en-US" sz="1050" dirty="0"/>
          </a:p>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Until it exists, an IPC file arriving tomorrow would have nothing to be placed beside it. This work depends on nothing external and is scheduled for completion next week.</a:t>
            </a:r>
            <a:endParaRPr lang="en-US" sz="1050" dirty="0"/>
          </a:p>
        </p:txBody>
      </p:sp>
      <p:sp>
        <p:nvSpPr>
          <p:cNvPr id="15" name="Shape 13"/>
          <p:cNvSpPr/>
          <p:nvPr/>
        </p:nvSpPr>
        <p:spPr>
          <a:xfrm>
            <a:off x="566928" y="5266944"/>
            <a:ext cx="11027664" cy="1005840"/>
          </a:xfrm>
          <a:prstGeom prst="roundRect">
            <a:avLst>
              <a:gd name="adj" fmla="val 5455"/>
            </a:avLst>
          </a:prstGeom>
          <a:solidFill>
            <a:srgbClr val="2B2523"/>
          </a:solidFill>
          <a:ln/>
          <a:effectLst>
            <a:outerShdw sx="100000" sy="100000" kx="0" ky="0" algn="bl" rotWithShape="0" blurRad="76200" dist="381" dir="5400000">
              <a:srgbClr val="000000">
                <a:alpha val="8000"/>
              </a:srgbClr>
            </a:outerShdw>
          </a:effectLst>
        </p:spPr>
      </p:sp>
      <p:sp>
        <p:nvSpPr>
          <p:cNvPr id="16" name="Text 14"/>
          <p:cNvSpPr/>
          <p:nvPr/>
        </p:nvSpPr>
        <p:spPr>
          <a:xfrm>
            <a:off x="841248" y="5376672"/>
            <a:ext cx="4206240" cy="274320"/>
          </a:xfrm>
          <a:prstGeom prst="rect">
            <a:avLst/>
          </a:prstGeom>
          <a:noFill/>
          <a:ln/>
        </p:spPr>
        <p:txBody>
          <a:bodyPr wrap="square" lIns="0" tIns="0" rIns="0" bIns="0" rtlCol="0" anchor="ctr"/>
          <a:lstStyle/>
          <a:p>
            <a:pPr indent="0" marL="0">
              <a:buNone/>
            </a:pPr>
            <a:r>
              <a:rPr lang="en-US" sz="1300" b="1" dirty="0">
                <a:solidFill>
                  <a:srgbClr val="A7BEAE"/>
                </a:solidFill>
                <a:latin typeface="Cambria" pitchFamily="34" charset="0"/>
                <a:ea typeface="Cambria" pitchFamily="34" charset="-122"/>
                <a:cs typeface="Cambria" pitchFamily="34" charset="-120"/>
              </a:rPr>
              <a:t>Backup plan if IPC does not work out</a:t>
            </a:r>
            <a:endParaRPr lang="en-US" sz="1300" dirty="0"/>
          </a:p>
        </p:txBody>
      </p:sp>
      <p:sp>
        <p:nvSpPr>
          <p:cNvPr id="17" name="Text 15"/>
          <p:cNvSpPr/>
          <p:nvPr/>
        </p:nvSpPr>
        <p:spPr>
          <a:xfrm>
            <a:off x="5230368" y="5358384"/>
            <a:ext cx="6309360" cy="822960"/>
          </a:xfrm>
          <a:prstGeom prst="rect">
            <a:avLst/>
          </a:prstGeom>
          <a:noFill/>
          <a:ln/>
        </p:spPr>
        <p:txBody>
          <a:bodyPr wrap="square" lIns="0" tIns="0" rIns="0" bIns="0" rtlCol="0" anchor="ctr"/>
          <a:lstStyle/>
          <a:p>
            <a:pPr indent="0" marL="0">
              <a:lnSpc>
                <a:spcPts val="1300"/>
              </a:lnSpc>
              <a:buNone/>
            </a:pPr>
            <a:r>
              <a:rPr lang="en-US" sz="1050" dirty="0">
                <a:solidFill>
                  <a:srgbClr val="E7E8D1"/>
                </a:solidFill>
                <a:latin typeface="Calibri" pitchFamily="34" charset="0"/>
                <a:ea typeface="Calibri" pitchFamily="34" charset="-122"/>
                <a:cs typeface="Calibri" pitchFamily="34" charset="-120"/>
              </a:rPr>
              <a:t>Check whether our four sources agree with each other instead. If they tell the same story in well-covered districts but contradict each other where coverage is thin, that says something real about reliability without needing any outside benchmark. Worth planning on purpose, because this sub-question is currently the only path to the second half of the main question, and it rests on a download that may not work.</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27664" cy="548640"/>
          </a:xfrm>
          <a:prstGeom prst="rect">
            <a:avLst/>
          </a:prstGeom>
          <a:noFill/>
          <a:ln/>
        </p:spPr>
        <p:txBody>
          <a:bodyPr wrap="square" lIns="0" tIns="0" rIns="0" bIns="0" rtlCol="0" anchor="ctr"/>
          <a:lstStyle/>
          <a:p>
            <a:pPr indent="0" marL="0">
              <a:buNone/>
            </a:pPr>
            <a:r>
              <a:rPr lang="en-US" sz="2900" b="1" dirty="0">
                <a:solidFill>
                  <a:srgbClr val="2B2523"/>
                </a:solidFill>
                <a:latin typeface="Cambria" pitchFamily="34" charset="0"/>
                <a:ea typeface="Cambria" pitchFamily="34" charset="-122"/>
                <a:cs typeface="Cambria" pitchFamily="34" charset="-120"/>
              </a:rPr>
              <a:t>Supporting work, and the order of the coming weeks</a:t>
            </a:r>
            <a:endParaRPr lang="en-US" sz="2900" dirty="0"/>
          </a:p>
        </p:txBody>
      </p:sp>
      <p:sp>
        <p:nvSpPr>
          <p:cNvPr id="3" name="Text 1"/>
          <p:cNvSpPr/>
          <p:nvPr/>
        </p:nvSpPr>
        <p:spPr>
          <a:xfrm>
            <a:off x="566928" y="1042416"/>
            <a:ext cx="11027664" cy="329184"/>
          </a:xfrm>
          <a:prstGeom prst="rect">
            <a:avLst/>
          </a:prstGeom>
          <a:noFill/>
          <a:ln/>
        </p:spPr>
        <p:txBody>
          <a:bodyPr wrap="square" lIns="0" tIns="0" rIns="0" bIns="0" rtlCol="0" anchor="ctr"/>
          <a:lstStyle/>
          <a:p>
            <a:pPr indent="0" marL="0">
              <a:buNone/>
            </a:pPr>
            <a:r>
              <a:rPr lang="en-US" sz="1350" i="1" dirty="0">
                <a:solidFill>
                  <a:srgbClr val="7A6E68"/>
                </a:solidFill>
                <a:latin typeface="Calibri" pitchFamily="34" charset="0"/>
                <a:ea typeface="Calibri" pitchFamily="34" charset="-122"/>
                <a:cs typeface="Calibri" pitchFamily="34" charset="-120"/>
              </a:rPr>
              <a:t>Three items that strengthen the argument, then how the work is sequenced</a:t>
            </a:r>
            <a:endParaRPr lang="en-US" sz="1350" dirty="0"/>
          </a:p>
        </p:txBody>
      </p:sp>
      <p:sp>
        <p:nvSpPr>
          <p:cNvPr id="4" name="Shape 2"/>
          <p:cNvSpPr/>
          <p:nvPr/>
        </p:nvSpPr>
        <p:spPr>
          <a:xfrm>
            <a:off x="566928" y="1463040"/>
            <a:ext cx="3584448" cy="2011680"/>
          </a:xfrm>
          <a:prstGeom prst="roundRect">
            <a:avLst>
              <a:gd name="adj" fmla="val 2727"/>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609344"/>
            <a:ext cx="3108960" cy="384048"/>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Show what actually changes</a:t>
            </a:r>
            <a:endParaRPr lang="en-US" sz="1300" dirty="0"/>
          </a:p>
        </p:txBody>
      </p:sp>
      <p:sp>
        <p:nvSpPr>
          <p:cNvPr id="6" name="Text 4"/>
          <p:cNvSpPr/>
          <p:nvPr/>
        </p:nvSpPr>
        <p:spPr>
          <a:xfrm>
            <a:off x="804672" y="2048256"/>
            <a:ext cx="3145536" cy="1316736"/>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Rank the districts by how bad their situation looks in our data, then rank them again allowing for how well each is observed. If districts that looked fine move up the list, that is a clear demonstration of why uneven coverage matters.</a:t>
            </a:r>
            <a:endParaRPr lang="en-US" sz="1050" dirty="0"/>
          </a:p>
        </p:txBody>
      </p:sp>
      <p:sp>
        <p:nvSpPr>
          <p:cNvPr id="7" name="Shape 5"/>
          <p:cNvSpPr/>
          <p:nvPr/>
        </p:nvSpPr>
        <p:spPr>
          <a:xfrm>
            <a:off x="4279392" y="1463040"/>
            <a:ext cx="3584448" cy="2011680"/>
          </a:xfrm>
          <a:prstGeom prst="roundRect">
            <a:avLst>
              <a:gd name="adj" fmla="val 2727"/>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4517136" y="1609344"/>
            <a:ext cx="3108960" cy="384048"/>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Check the reporting results hold up</a:t>
            </a:r>
            <a:endParaRPr lang="en-US" sz="1300" dirty="0"/>
          </a:p>
        </p:txBody>
      </p:sp>
      <p:sp>
        <p:nvSpPr>
          <p:cNvPr id="9" name="Text 7"/>
          <p:cNvSpPr/>
          <p:nvPr/>
        </p:nvSpPr>
        <p:spPr>
          <a:xfrm>
            <a:off x="4517136" y="2048256"/>
            <a:ext cx="3145536" cy="1316736"/>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Manual checking found that only about 43% of matched reports were genuinely about the district they matched. Re-running the main results using only the most confident matches would show whether the conclusions survive.</a:t>
            </a:r>
            <a:endParaRPr lang="en-US" sz="1050" dirty="0"/>
          </a:p>
        </p:txBody>
      </p:sp>
      <p:sp>
        <p:nvSpPr>
          <p:cNvPr id="10" name="Shape 8"/>
          <p:cNvSpPr/>
          <p:nvPr/>
        </p:nvSpPr>
        <p:spPr>
          <a:xfrm>
            <a:off x="7991856" y="1463040"/>
            <a:ext cx="3584448" cy="2011680"/>
          </a:xfrm>
          <a:prstGeom prst="roundRect">
            <a:avLst>
              <a:gd name="adj" fmla="val 2727"/>
            </a:avLst>
          </a:prstGeom>
          <a:solidFill>
            <a:srgbClr val="F7F5F1"/>
          </a:solidFill>
          <a:ln/>
          <a:effectLst>
            <a:outerShdw sx="100000" sy="100000" kx="0" ky="0" algn="bl" rotWithShape="0" blurRad="76200" dist="381" dir="5400000">
              <a:srgbClr val="000000">
                <a:alpha val="8000"/>
              </a:srgbClr>
            </a:outerShdw>
          </a:effectLst>
        </p:spPr>
      </p:sp>
      <p:sp>
        <p:nvSpPr>
          <p:cNvPr id="11" name="Text 9"/>
          <p:cNvSpPr/>
          <p:nvPr/>
        </p:nvSpPr>
        <p:spPr>
          <a:xfrm>
            <a:off x="8229600" y="1609344"/>
            <a:ext cx="3108960" cy="384048"/>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Draw observability maps</a:t>
            </a:r>
            <a:endParaRPr lang="en-US" sz="1300" dirty="0"/>
          </a:p>
        </p:txBody>
      </p:sp>
      <p:sp>
        <p:nvSpPr>
          <p:cNvPr id="12" name="Text 10"/>
          <p:cNvSpPr/>
          <p:nvPr/>
        </p:nvSpPr>
        <p:spPr>
          <a:xfrm>
            <a:off x="8229600" y="2048256"/>
            <a:ext cx="3145536" cy="1316736"/>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The district boundaries have been in the project from the start and have only been used to calculate areas. Simple coloured maps of coverage by district and by source make the argument much easier to follow than a table.</a:t>
            </a:r>
            <a:endParaRPr lang="en-US" sz="1050" dirty="0"/>
          </a:p>
        </p:txBody>
      </p:sp>
      <p:sp>
        <p:nvSpPr>
          <p:cNvPr id="13" name="Text 11"/>
          <p:cNvSpPr/>
          <p:nvPr/>
        </p:nvSpPr>
        <p:spPr>
          <a:xfrm>
            <a:off x="566928" y="3657600"/>
            <a:ext cx="7315200" cy="310896"/>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Order of work, and the reason for it</a:t>
            </a:r>
            <a:endParaRPr lang="en-US" sz="1600" dirty="0"/>
          </a:p>
        </p:txBody>
      </p:sp>
      <p:sp>
        <p:nvSpPr>
          <p:cNvPr id="14" name="Shape 12"/>
          <p:cNvSpPr/>
          <p:nvPr/>
        </p:nvSpPr>
        <p:spPr>
          <a:xfrm>
            <a:off x="566928" y="4078224"/>
            <a:ext cx="310896" cy="310896"/>
          </a:xfrm>
          <a:prstGeom prst="ellipse">
            <a:avLst/>
          </a:prstGeom>
          <a:solidFill>
            <a:srgbClr val="B85042"/>
          </a:solidFill>
          <a:ln/>
        </p:spPr>
      </p:sp>
      <p:sp>
        <p:nvSpPr>
          <p:cNvPr id="15" name="Text 13"/>
          <p:cNvSpPr/>
          <p:nvPr/>
        </p:nvSpPr>
        <p:spPr>
          <a:xfrm>
            <a:off x="566928" y="4078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6" name="Text 14"/>
          <p:cNvSpPr/>
          <p:nvPr/>
        </p:nvSpPr>
        <p:spPr>
          <a:xfrm>
            <a:off x="1024128" y="4059936"/>
            <a:ext cx="3291840" cy="310896"/>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Request the IPC data</a:t>
            </a:r>
            <a:endParaRPr lang="en-US" sz="1250" dirty="0"/>
          </a:p>
        </p:txBody>
      </p:sp>
      <p:sp>
        <p:nvSpPr>
          <p:cNvPr id="17" name="Text 15"/>
          <p:cNvSpPr/>
          <p:nvPr/>
        </p:nvSpPr>
        <p:spPr>
          <a:xfrm>
            <a:off x="4407408" y="4050792"/>
            <a:ext cx="7223760" cy="365760"/>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It takes the longest and is the only thing we cannot do ourselves, so it should start first even though the analysis using it comes later.</a:t>
            </a:r>
            <a:endParaRPr lang="en-US" sz="1050" dirty="0"/>
          </a:p>
        </p:txBody>
      </p:sp>
      <p:sp>
        <p:nvSpPr>
          <p:cNvPr id="18" name="Shape 16"/>
          <p:cNvSpPr/>
          <p:nvPr/>
        </p:nvSpPr>
        <p:spPr>
          <a:xfrm>
            <a:off x="566928" y="4498848"/>
            <a:ext cx="310896" cy="310896"/>
          </a:xfrm>
          <a:prstGeom prst="ellipse">
            <a:avLst/>
          </a:prstGeom>
          <a:solidFill>
            <a:srgbClr val="B85042"/>
          </a:solidFill>
          <a:ln/>
        </p:spPr>
      </p:sp>
      <p:sp>
        <p:nvSpPr>
          <p:cNvPr id="19" name="Text 17"/>
          <p:cNvSpPr/>
          <p:nvPr/>
        </p:nvSpPr>
        <p:spPr>
          <a:xfrm>
            <a:off x="566928" y="44988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0" name="Text 18"/>
          <p:cNvSpPr/>
          <p:nvPr/>
        </p:nvSpPr>
        <p:spPr>
          <a:xfrm>
            <a:off x="1024128" y="4480560"/>
            <a:ext cx="3291840" cy="310896"/>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Define what our dataset says</a:t>
            </a:r>
            <a:endParaRPr lang="en-US" sz="1250" dirty="0"/>
          </a:p>
        </p:txBody>
      </p:sp>
      <p:sp>
        <p:nvSpPr>
          <p:cNvPr id="21" name="Text 19"/>
          <p:cNvSpPr/>
          <p:nvPr/>
        </p:nvSpPr>
        <p:spPr>
          <a:xfrm>
            <a:off x="4407408" y="4471416"/>
            <a:ext cx="7223760" cy="365760"/>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Scheduled for next week. Opens up half of sub-question 3 without waiting for IPC, and is needed whichever route that sub-question takes.</a:t>
            </a:r>
            <a:endParaRPr lang="en-US" sz="1050" dirty="0"/>
          </a:p>
        </p:txBody>
      </p:sp>
      <p:sp>
        <p:nvSpPr>
          <p:cNvPr id="22" name="Shape 20"/>
          <p:cNvSpPr/>
          <p:nvPr/>
        </p:nvSpPr>
        <p:spPr>
          <a:xfrm>
            <a:off x="566928" y="4919472"/>
            <a:ext cx="310896" cy="310896"/>
          </a:xfrm>
          <a:prstGeom prst="ellipse">
            <a:avLst/>
          </a:prstGeom>
          <a:solidFill>
            <a:srgbClr val="A7BEAE"/>
          </a:solidFill>
          <a:ln/>
        </p:spPr>
      </p:sp>
      <p:sp>
        <p:nvSpPr>
          <p:cNvPr id="23" name="Text 21"/>
          <p:cNvSpPr/>
          <p:nvPr/>
        </p:nvSpPr>
        <p:spPr>
          <a:xfrm>
            <a:off x="566928" y="4919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4" name="Text 22"/>
          <p:cNvSpPr/>
          <p:nvPr/>
        </p:nvSpPr>
        <p:spPr>
          <a:xfrm>
            <a:off x="1024128" y="4901184"/>
            <a:ext cx="3291840" cy="310896"/>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Finish the sub-question 2 checks</a:t>
            </a:r>
            <a:endParaRPr lang="en-US" sz="1250" dirty="0"/>
          </a:p>
        </p:txBody>
      </p:sp>
      <p:sp>
        <p:nvSpPr>
          <p:cNvPr id="25" name="Text 23"/>
          <p:cNvSpPr/>
          <p:nvPr/>
        </p:nvSpPr>
        <p:spPr>
          <a:xfrm>
            <a:off x="4407408" y="4892040"/>
            <a:ext cx="7223760" cy="365760"/>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Quick, use data already in hand, and strengthen the newest finding, which is the one most likely to be challenged.</a:t>
            </a:r>
            <a:endParaRPr lang="en-US" sz="1050" dirty="0"/>
          </a:p>
        </p:txBody>
      </p:sp>
      <p:sp>
        <p:nvSpPr>
          <p:cNvPr id="26" name="Shape 24"/>
          <p:cNvSpPr/>
          <p:nvPr/>
        </p:nvSpPr>
        <p:spPr>
          <a:xfrm>
            <a:off x="566928" y="5340096"/>
            <a:ext cx="310896" cy="310896"/>
          </a:xfrm>
          <a:prstGeom prst="ellipse">
            <a:avLst/>
          </a:prstGeom>
          <a:solidFill>
            <a:srgbClr val="A7BEAE"/>
          </a:solidFill>
          <a:ln/>
        </p:spPr>
      </p:sp>
      <p:sp>
        <p:nvSpPr>
          <p:cNvPr id="27" name="Text 25"/>
          <p:cNvSpPr/>
          <p:nvPr/>
        </p:nvSpPr>
        <p:spPr>
          <a:xfrm>
            <a:off x="566928" y="53400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8" name="Text 26"/>
          <p:cNvSpPr/>
          <p:nvPr/>
        </p:nvSpPr>
        <p:spPr>
          <a:xfrm>
            <a:off x="1024128" y="5321808"/>
            <a:ext cx="3291840" cy="310896"/>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Build the model</a:t>
            </a:r>
            <a:endParaRPr lang="en-US" sz="1250" dirty="0"/>
          </a:p>
        </p:txBody>
      </p:sp>
      <p:sp>
        <p:nvSpPr>
          <p:cNvPr id="29" name="Text 27"/>
          <p:cNvSpPr/>
          <p:nvPr/>
        </p:nvSpPr>
        <p:spPr>
          <a:xfrm>
            <a:off x="4407408" y="5312664"/>
            <a:ext cx="7223760" cy="365760"/>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The main analytical piece, turning several separate correlations into one statement that can be defended.</a:t>
            </a:r>
            <a:endParaRPr lang="en-US" sz="1050" dirty="0"/>
          </a:p>
        </p:txBody>
      </p:sp>
      <p:sp>
        <p:nvSpPr>
          <p:cNvPr id="30" name="Shape 28"/>
          <p:cNvSpPr/>
          <p:nvPr/>
        </p:nvSpPr>
        <p:spPr>
          <a:xfrm>
            <a:off x="566928" y="5760720"/>
            <a:ext cx="310896" cy="310896"/>
          </a:xfrm>
          <a:prstGeom prst="ellipse">
            <a:avLst/>
          </a:prstGeom>
          <a:solidFill>
            <a:srgbClr val="7A6E68"/>
          </a:solidFill>
          <a:ln/>
        </p:spPr>
      </p:sp>
      <p:sp>
        <p:nvSpPr>
          <p:cNvPr id="31" name="Text 29"/>
          <p:cNvSpPr/>
          <p:nvPr/>
        </p:nvSpPr>
        <p:spPr>
          <a:xfrm>
            <a:off x="566928" y="5760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32" name="Text 30"/>
          <p:cNvSpPr/>
          <p:nvPr/>
        </p:nvSpPr>
        <p:spPr>
          <a:xfrm>
            <a:off x="1024128" y="5742432"/>
            <a:ext cx="3291840" cy="310896"/>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Supporting work and maps</a:t>
            </a:r>
            <a:endParaRPr lang="en-US" sz="1250" dirty="0"/>
          </a:p>
        </p:txBody>
      </p:sp>
      <p:sp>
        <p:nvSpPr>
          <p:cNvPr id="33" name="Text 31"/>
          <p:cNvSpPr/>
          <p:nvPr/>
        </p:nvSpPr>
        <p:spPr>
          <a:xfrm>
            <a:off x="4407408" y="5733288"/>
            <a:ext cx="7223760" cy="365760"/>
          </a:xfrm>
          <a:prstGeom prst="rect">
            <a:avLst/>
          </a:prstGeom>
          <a:noFill/>
          <a:ln/>
        </p:spPr>
        <p:txBody>
          <a:bodyPr wrap="square" lIns="0" tIns="0" rIns="0" bIns="0" rtlCol="0" anchor="ctr"/>
          <a:lstStyle/>
          <a:p>
            <a:pPr indent="0" marL="0">
              <a:lnSpc>
                <a:spcPts val="1300"/>
              </a:lnSpc>
              <a:buNone/>
            </a:pPr>
            <a:r>
              <a:rPr lang="en-US" sz="1050" dirty="0">
                <a:solidFill>
                  <a:srgbClr val="7A6E68"/>
                </a:solidFill>
                <a:latin typeface="Calibri" pitchFamily="34" charset="0"/>
                <a:ea typeface="Calibri" pitchFamily="34" charset="-122"/>
                <a:cs typeface="Calibri" pitchFamily="34" charset="-120"/>
              </a:rPr>
              <a:t>Robustness checks and visuals, once the core analysis is settled.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 steps</dc:title>
  <dc:subject>PptxGenJS Presentation</dc:subject>
  <dc:creator>Samuel Aracena</dc:creator>
  <cp:lastModifiedBy>Samuel Aracena</cp:lastModifiedBy>
  <cp:revision>1</cp:revision>
  <dcterms:created xsi:type="dcterms:W3CDTF">2026-08-14T09:18:25Z</dcterms:created>
  <dcterms:modified xsi:type="dcterms:W3CDTF">2026-08-14T09:18:25Z</dcterms:modified>
</cp:coreProperties>
</file>