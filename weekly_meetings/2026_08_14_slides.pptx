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30"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154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validity work on the prototype (tasks 1-9), then the full-year extension (task 10) and the analyses it made possible.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third of severely drought-stressed district-months passed with no report naming the district at all, against roughly one in eight for conflict.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the question is mostly answered, half is untouched. The plan is built around closing the second half.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B85042"/>
          </a:solidFill>
          <a:ln/>
        </p:spPr>
      </p:sp>
      <p:sp>
        <p:nvSpPr>
          <p:cNvPr id="3" name="Shape 1"/>
          <p:cNvSpPr/>
          <p:nvPr/>
        </p:nvSpPr>
        <p:spPr>
          <a:xfrm>
            <a:off x="10607040" y="4023360"/>
            <a:ext cx="3108960" cy="3108960"/>
          </a:xfrm>
          <a:prstGeom prst="ellipse">
            <a:avLst/>
          </a:prstGeom>
          <a:solidFill>
            <a:srgbClr val="A7BEAE"/>
          </a:solidFill>
          <a:ln/>
        </p:spPr>
      </p:sp>
      <p:sp>
        <p:nvSpPr>
          <p:cNvPr id="4" name="Text 2"/>
          <p:cNvSpPr/>
          <p:nvPr/>
        </p:nvSpPr>
        <p:spPr>
          <a:xfrm>
            <a:off x="566928" y="1600200"/>
            <a:ext cx="8229600" cy="310896"/>
          </a:xfrm>
          <a:prstGeom prst="rect">
            <a:avLst/>
          </a:prstGeom>
          <a:noFill/>
          <a:ln/>
        </p:spPr>
        <p:txBody>
          <a:bodyPr wrap="square" lIns="0" tIns="0" rIns="0" bIns="0" rtlCol="0" anchor="ctr"/>
          <a:lstStyle/>
          <a:p>
            <a:pPr marL="0" indent="0">
              <a:buNone/>
            </a:pPr>
            <a:r>
              <a:rPr lang="en-US" sz="1300" b="1" kern="0" spc="300" dirty="0">
                <a:solidFill>
                  <a:srgbClr val="A7BEAE"/>
                </a:solidFill>
                <a:latin typeface="Calibri" pitchFamily="34" charset="0"/>
                <a:ea typeface="Calibri" pitchFamily="34" charset="-122"/>
                <a:cs typeface="Calibri" pitchFamily="34" charset="-120"/>
              </a:rPr>
              <a:t>WEEK OF AUGUST 10, 2026</a:t>
            </a:r>
            <a:endParaRPr lang="en-US" sz="1300" dirty="0"/>
          </a:p>
        </p:txBody>
      </p:sp>
      <p:sp>
        <p:nvSpPr>
          <p:cNvPr id="5" name="Text 3"/>
          <p:cNvSpPr/>
          <p:nvPr/>
        </p:nvSpPr>
        <p:spPr>
          <a:xfrm>
            <a:off x="566928" y="2057400"/>
            <a:ext cx="8595360" cy="173736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Validating the prototype,</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then scaling to a full year</a:t>
            </a:r>
            <a:endParaRPr lang="en-US" sz="4000" dirty="0"/>
          </a:p>
        </p:txBody>
      </p:sp>
      <p:sp>
        <p:nvSpPr>
          <p:cNvPr id="6" name="Text 4"/>
          <p:cNvSpPr/>
          <p:nvPr/>
        </p:nvSpPr>
        <p:spPr>
          <a:xfrm>
            <a:off x="566928" y="3977640"/>
            <a:ext cx="7863840" cy="822960"/>
          </a:xfrm>
          <a:prstGeom prst="rect">
            <a:avLst/>
          </a:prstGeom>
          <a:noFill/>
          <a:ln/>
        </p:spPr>
        <p:txBody>
          <a:bodyPr wrap="square" lIns="0" tIns="0" rIns="0" bIns="0" rtlCol="0" anchor="ctr"/>
          <a:lstStyle/>
          <a:p>
            <a:pPr marL="0" indent="0">
              <a:buNone/>
            </a:pPr>
            <a:r>
              <a:rPr lang="en-US" sz="1450" dirty="0">
                <a:solidFill>
                  <a:srgbClr val="E7E8D1"/>
                </a:solidFill>
                <a:latin typeface="Calibri" pitchFamily="34" charset="0"/>
                <a:ea typeface="Calibri" pitchFamily="34" charset="-122"/>
                <a:cs typeface="Calibri" pitchFamily="34" charset="-120"/>
              </a:rPr>
              <a:t>Ten validity tasks completed on the two-month Somalia prototype, the pipeline extended to all of 2024, and a new result on which kinds of crisis get observed.</a:t>
            </a:r>
            <a:endParaRPr lang="en-US" sz="1450" dirty="0"/>
          </a:p>
        </p:txBody>
      </p:sp>
      <p:sp>
        <p:nvSpPr>
          <p:cNvPr id="7" name="Text 5"/>
          <p:cNvSpPr/>
          <p:nvPr/>
        </p:nvSpPr>
        <p:spPr>
          <a:xfrm>
            <a:off x="566928" y="5806440"/>
            <a:ext cx="8229600" cy="310896"/>
          </a:xfrm>
          <a:prstGeom prst="rect">
            <a:avLst/>
          </a:prstGeom>
          <a:noFill/>
          <a:ln/>
        </p:spPr>
        <p:txBody>
          <a:bodyPr wrap="square" lIns="0" tIns="0" rIns="0" bIns="0" rtlCol="0" anchor="ctr"/>
          <a:lstStyle/>
          <a:p>
            <a:pPr marL="0" indent="0">
              <a:buNone/>
            </a:pPr>
            <a:r>
              <a:rPr lang="en-US" sz="1150" dirty="0">
                <a:solidFill>
                  <a:srgbClr val="7A6E68"/>
                </a:solidFill>
                <a:latin typeface="Calibri" pitchFamily="34" charset="0"/>
                <a:ea typeface="Calibri" pitchFamily="34" charset="-122"/>
                <a:cs typeface="Calibri" pitchFamily="34" charset="-120"/>
              </a:rPr>
              <a:t>Samuel Aracena   ·   MSc Dissertation   ·   Somalia, Admin2 × Month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3000" b="1" dirty="0">
                <a:solidFill>
                  <a:srgbClr val="2B2523"/>
                </a:solidFill>
                <a:latin typeface="Cambria" pitchFamily="34" charset="0"/>
                <a:ea typeface="Cambria" pitchFamily="34" charset="-122"/>
                <a:cs typeface="Cambria" pitchFamily="34" charset="-120"/>
              </a:rPr>
              <a:t>Tasks 1 and 2: the research question, fixed</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Framed around humanitarian observability</a:t>
            </a:r>
            <a:endParaRPr lang="en-US" sz="1350" dirty="0"/>
          </a:p>
        </p:txBody>
      </p:sp>
      <p:sp>
        <p:nvSpPr>
          <p:cNvPr id="4" name="Shape 2"/>
          <p:cNvSpPr/>
          <p:nvPr/>
        </p:nvSpPr>
        <p:spPr>
          <a:xfrm>
            <a:off x="566928" y="1517904"/>
            <a:ext cx="11027664" cy="1152144"/>
          </a:xfrm>
          <a:prstGeom prst="roundRect">
            <a:avLst>
              <a:gd name="adj" fmla="val 4762"/>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59536" y="1682496"/>
            <a:ext cx="10442448" cy="841248"/>
          </a:xfrm>
          <a:prstGeom prst="rect">
            <a:avLst/>
          </a:prstGeom>
          <a:noFill/>
          <a:ln/>
        </p:spPr>
        <p:txBody>
          <a:bodyPr wrap="square" lIns="0" tIns="0" rIns="0" bIns="0" rtlCol="0" anchor="ctr"/>
          <a:lstStyle/>
          <a:p>
            <a:pPr marL="0" indent="0">
              <a:lnSpc>
                <a:spcPts val="2600"/>
              </a:lnSpc>
              <a:buNone/>
            </a:pPr>
            <a:r>
              <a:rPr lang="en-US" sz="1800" i="1" dirty="0">
                <a:solidFill>
                  <a:srgbClr val="FFFFFF"/>
                </a:solidFill>
                <a:latin typeface="Cambria" pitchFamily="34" charset="0"/>
                <a:ea typeface="Cambria" pitchFamily="34" charset="-122"/>
                <a:cs typeface="Cambria" pitchFamily="34" charset="-120"/>
              </a:rPr>
              <a:t>How unevenly do humanitarian data sources observe different places and crisis mechanisms, and what are the consequences for food-insecurity analysis?</a:t>
            </a:r>
            <a:endParaRPr lang="en-US" sz="1800" dirty="0"/>
          </a:p>
        </p:txBody>
      </p:sp>
      <p:sp>
        <p:nvSpPr>
          <p:cNvPr id="6" name="Shape 4"/>
          <p:cNvSpPr/>
          <p:nvPr/>
        </p:nvSpPr>
        <p:spPr>
          <a:xfrm>
            <a:off x="566928" y="3201706"/>
            <a:ext cx="3584448" cy="2743200"/>
          </a:xfrm>
          <a:prstGeom prst="roundRect">
            <a:avLst>
              <a:gd name="adj" fmla="val 2000"/>
            </a:avLst>
          </a:prstGeom>
          <a:solidFill>
            <a:srgbClr val="F7F5F1"/>
          </a:solidFill>
          <a:ln/>
          <a:effectLst>
            <a:outerShdw blurRad="76200" dist="381" dir="5400000" algn="bl" rotWithShape="0">
              <a:srgbClr val="000000">
                <a:alpha val="8000"/>
              </a:srgbClr>
            </a:outerShdw>
          </a:effectLst>
        </p:spPr>
      </p:sp>
      <p:sp>
        <p:nvSpPr>
          <p:cNvPr id="7" name="Shape 5"/>
          <p:cNvSpPr/>
          <p:nvPr/>
        </p:nvSpPr>
        <p:spPr>
          <a:xfrm>
            <a:off x="804672" y="3402874"/>
            <a:ext cx="402336" cy="402336"/>
          </a:xfrm>
          <a:prstGeom prst="ellipse">
            <a:avLst/>
          </a:prstGeom>
          <a:solidFill>
            <a:srgbClr val="A7BEAE"/>
          </a:solidFill>
          <a:ln/>
        </p:spPr>
      </p:sp>
      <p:sp>
        <p:nvSpPr>
          <p:cNvPr id="8" name="Text 6"/>
          <p:cNvSpPr/>
          <p:nvPr/>
        </p:nvSpPr>
        <p:spPr>
          <a:xfrm>
            <a:off x="804672" y="3402874"/>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7"/>
          <p:cNvSpPr/>
          <p:nvPr/>
        </p:nvSpPr>
        <p:spPr>
          <a:xfrm>
            <a:off x="1316736" y="3402874"/>
            <a:ext cx="2651760" cy="548640"/>
          </a:xfrm>
          <a:prstGeom prst="rect">
            <a:avLst/>
          </a:prstGeom>
          <a:noFill/>
          <a:ln/>
        </p:spPr>
        <p:txBody>
          <a:bodyPr wrap="square" lIns="0" tIns="0" rIns="0" bIns="0" rtlCol="0" anchor="ctr"/>
          <a:lstStyle/>
          <a:p>
            <a:pPr marL="0" indent="0">
              <a:buNone/>
            </a:pPr>
            <a:r>
              <a:rPr lang="en-US" sz="1450" b="1" dirty="0">
                <a:solidFill>
                  <a:srgbClr val="2B2523"/>
                </a:solidFill>
                <a:latin typeface="Cambria" pitchFamily="34" charset="0"/>
                <a:ea typeface="Cambria" pitchFamily="34" charset="-122"/>
                <a:cs typeface="Cambria" pitchFamily="34" charset="-120"/>
              </a:rPr>
              <a:t>Where are the gaps, and</a:t>
            </a:r>
            <a:endParaRPr lang="en-US" sz="1450" dirty="0"/>
          </a:p>
          <a:p>
            <a:pPr marL="0" indent="0">
              <a:buNone/>
            </a:pPr>
            <a:r>
              <a:rPr lang="en-US" sz="1450" b="1" dirty="0">
                <a:solidFill>
                  <a:srgbClr val="2B2523"/>
                </a:solidFill>
                <a:latin typeface="Cambria" pitchFamily="34" charset="0"/>
                <a:ea typeface="Cambria" pitchFamily="34" charset="-122"/>
                <a:cs typeface="Cambria" pitchFamily="34" charset="-120"/>
              </a:rPr>
              <a:t>are they systematic?</a:t>
            </a:r>
            <a:endParaRPr lang="en-US" sz="1450" dirty="0"/>
          </a:p>
        </p:txBody>
      </p:sp>
      <p:sp>
        <p:nvSpPr>
          <p:cNvPr id="10" name="Text 8"/>
          <p:cNvSpPr/>
          <p:nvPr/>
        </p:nvSpPr>
        <p:spPr>
          <a:xfrm>
            <a:off x="804672" y="4079530"/>
            <a:ext cx="3127248" cy="128016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Which mechanisms have the largest coverage gaps, and are those gaps random or tied to district characteristics such as conflict exposure?</a:t>
            </a:r>
            <a:endParaRPr lang="en-US" sz="1150" dirty="0"/>
          </a:p>
        </p:txBody>
      </p:sp>
      <p:sp>
        <p:nvSpPr>
          <p:cNvPr id="11" name="Text 9"/>
          <p:cNvSpPr/>
          <p:nvPr/>
        </p:nvSpPr>
        <p:spPr>
          <a:xfrm>
            <a:off x="804672" y="5414554"/>
            <a:ext cx="3127248" cy="292608"/>
          </a:xfrm>
          <a:prstGeom prst="rect">
            <a:avLst/>
          </a:prstGeom>
          <a:noFill/>
          <a:ln/>
        </p:spPr>
        <p:txBody>
          <a:bodyPr wrap="square" lIns="0" tIns="0" rIns="0" bIns="0" rtlCol="0" anchor="ctr"/>
          <a:lstStyle/>
          <a:p>
            <a:pPr marL="0" indent="0">
              <a:buNone/>
            </a:pPr>
            <a:r>
              <a:rPr lang="en-US" sz="1000" b="1" kern="0" spc="100" dirty="0">
                <a:solidFill>
                  <a:srgbClr val="A7BEAE"/>
                </a:solidFill>
                <a:latin typeface="Calibri" pitchFamily="34" charset="0"/>
                <a:ea typeface="Calibri" pitchFamily="34" charset="-122"/>
                <a:cs typeface="Calibri" pitchFamily="34" charset="-120"/>
              </a:rPr>
              <a:t>SUBSTANTIALLY COVERED</a:t>
            </a:r>
            <a:endParaRPr lang="en-US" sz="1000" dirty="0"/>
          </a:p>
        </p:txBody>
      </p:sp>
      <p:sp>
        <p:nvSpPr>
          <p:cNvPr id="12" name="Shape 10"/>
          <p:cNvSpPr/>
          <p:nvPr/>
        </p:nvSpPr>
        <p:spPr>
          <a:xfrm>
            <a:off x="4279392" y="3201706"/>
            <a:ext cx="3584448" cy="2743200"/>
          </a:xfrm>
          <a:prstGeom prst="roundRect">
            <a:avLst>
              <a:gd name="adj" fmla="val 2000"/>
            </a:avLst>
          </a:prstGeom>
          <a:solidFill>
            <a:srgbClr val="F7F5F1"/>
          </a:solidFill>
          <a:ln/>
          <a:effectLst>
            <a:outerShdw blurRad="76200" dist="381" dir="5400000" algn="bl" rotWithShape="0">
              <a:srgbClr val="000000">
                <a:alpha val="8000"/>
              </a:srgbClr>
            </a:outerShdw>
          </a:effectLst>
        </p:spPr>
      </p:sp>
      <p:sp>
        <p:nvSpPr>
          <p:cNvPr id="13" name="Shape 11"/>
          <p:cNvSpPr/>
          <p:nvPr/>
        </p:nvSpPr>
        <p:spPr>
          <a:xfrm>
            <a:off x="4517136" y="3402874"/>
            <a:ext cx="402336" cy="402336"/>
          </a:xfrm>
          <a:prstGeom prst="ellipse">
            <a:avLst/>
          </a:prstGeom>
          <a:solidFill>
            <a:srgbClr val="B85042"/>
          </a:solidFill>
          <a:ln/>
        </p:spPr>
      </p:sp>
      <p:sp>
        <p:nvSpPr>
          <p:cNvPr id="14" name="Text 12"/>
          <p:cNvSpPr/>
          <p:nvPr/>
        </p:nvSpPr>
        <p:spPr>
          <a:xfrm>
            <a:off x="4517136" y="3402874"/>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5" name="Text 13"/>
          <p:cNvSpPr/>
          <p:nvPr/>
        </p:nvSpPr>
        <p:spPr>
          <a:xfrm>
            <a:off x="5029200" y="3402874"/>
            <a:ext cx="2651760" cy="548640"/>
          </a:xfrm>
          <a:prstGeom prst="rect">
            <a:avLst/>
          </a:prstGeom>
          <a:noFill/>
          <a:ln/>
        </p:spPr>
        <p:txBody>
          <a:bodyPr wrap="square" lIns="0" tIns="0" rIns="0" bIns="0" rtlCol="0" anchor="ctr"/>
          <a:lstStyle/>
          <a:p>
            <a:pPr marL="0" indent="0">
              <a:buNone/>
            </a:pPr>
            <a:r>
              <a:rPr lang="en-US" sz="1450" b="1" dirty="0">
                <a:solidFill>
                  <a:srgbClr val="2B2523"/>
                </a:solidFill>
                <a:latin typeface="Cambria" pitchFamily="34" charset="0"/>
                <a:ea typeface="Cambria" pitchFamily="34" charset="-122"/>
                <a:cs typeface="Cambria" pitchFamily="34" charset="-120"/>
              </a:rPr>
              <a:t>Does observability differ</a:t>
            </a:r>
            <a:endParaRPr lang="en-US" sz="1450" dirty="0"/>
          </a:p>
          <a:p>
            <a:pPr marL="0" indent="0">
              <a:buNone/>
            </a:pPr>
            <a:r>
              <a:rPr lang="en-US" sz="1450" b="1" dirty="0">
                <a:solidFill>
                  <a:srgbClr val="2B2523"/>
                </a:solidFill>
                <a:latin typeface="Cambria" pitchFamily="34" charset="0"/>
                <a:ea typeface="Cambria" pitchFamily="34" charset="-122"/>
                <a:cs typeface="Cambria" pitchFamily="34" charset="-120"/>
              </a:rPr>
              <a:t>by crisis type?</a:t>
            </a:r>
            <a:endParaRPr lang="en-US" sz="1450" dirty="0"/>
          </a:p>
        </p:txBody>
      </p:sp>
      <p:sp>
        <p:nvSpPr>
          <p:cNvPr id="16" name="Text 14"/>
          <p:cNvSpPr/>
          <p:nvPr/>
        </p:nvSpPr>
        <p:spPr>
          <a:xfrm>
            <a:off x="4517136" y="4079530"/>
            <a:ext cx="3127248" cy="128016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Is conflict-driven distress captured more consistently than slow-onset climate stress of comparable severity?</a:t>
            </a:r>
            <a:endParaRPr lang="en-US" sz="1150" dirty="0"/>
          </a:p>
        </p:txBody>
      </p:sp>
      <p:sp>
        <p:nvSpPr>
          <p:cNvPr id="17" name="Text 15"/>
          <p:cNvSpPr/>
          <p:nvPr/>
        </p:nvSpPr>
        <p:spPr>
          <a:xfrm>
            <a:off x="4517136" y="5414554"/>
            <a:ext cx="3127248" cy="292608"/>
          </a:xfrm>
          <a:prstGeom prst="rect">
            <a:avLst/>
          </a:prstGeom>
          <a:noFill/>
          <a:ln/>
        </p:spPr>
        <p:txBody>
          <a:bodyPr wrap="square" lIns="0" tIns="0" rIns="0" bIns="0" rtlCol="0" anchor="ctr"/>
          <a:lstStyle/>
          <a:p>
            <a:pPr marL="0" indent="0">
              <a:buNone/>
            </a:pPr>
            <a:r>
              <a:rPr lang="en-US" sz="1000" b="1" kern="0" spc="100" dirty="0">
                <a:solidFill>
                  <a:srgbClr val="B85042"/>
                </a:solidFill>
                <a:latin typeface="Calibri" pitchFamily="34" charset="0"/>
                <a:ea typeface="Calibri" pitchFamily="34" charset="-122"/>
                <a:cs typeface="Calibri" pitchFamily="34" charset="-120"/>
              </a:rPr>
              <a:t>ANSWERED THIS WEEK</a:t>
            </a:r>
            <a:endParaRPr lang="en-US" sz="1000" dirty="0"/>
          </a:p>
        </p:txBody>
      </p:sp>
      <p:sp>
        <p:nvSpPr>
          <p:cNvPr id="18" name="Shape 16"/>
          <p:cNvSpPr/>
          <p:nvPr/>
        </p:nvSpPr>
        <p:spPr>
          <a:xfrm>
            <a:off x="7991856" y="3201706"/>
            <a:ext cx="3584448" cy="2743200"/>
          </a:xfrm>
          <a:prstGeom prst="roundRect">
            <a:avLst>
              <a:gd name="adj" fmla="val 2000"/>
            </a:avLst>
          </a:prstGeom>
          <a:solidFill>
            <a:srgbClr val="F7F5F1"/>
          </a:solidFill>
          <a:ln/>
          <a:effectLst>
            <a:outerShdw blurRad="76200" dist="381" dir="5400000" algn="bl" rotWithShape="0">
              <a:srgbClr val="000000">
                <a:alpha val="8000"/>
              </a:srgbClr>
            </a:outerShdw>
          </a:effectLst>
        </p:spPr>
      </p:sp>
      <p:sp>
        <p:nvSpPr>
          <p:cNvPr id="19" name="Shape 17"/>
          <p:cNvSpPr/>
          <p:nvPr/>
        </p:nvSpPr>
        <p:spPr>
          <a:xfrm>
            <a:off x="8229600" y="3402874"/>
            <a:ext cx="402336" cy="402336"/>
          </a:xfrm>
          <a:prstGeom prst="ellipse">
            <a:avLst/>
          </a:prstGeom>
          <a:solidFill>
            <a:srgbClr val="7A6E68"/>
          </a:solidFill>
          <a:ln/>
        </p:spPr>
      </p:sp>
      <p:sp>
        <p:nvSpPr>
          <p:cNvPr id="20" name="Text 18"/>
          <p:cNvSpPr/>
          <p:nvPr/>
        </p:nvSpPr>
        <p:spPr>
          <a:xfrm>
            <a:off x="8229600" y="3402874"/>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1" name="Text 19"/>
          <p:cNvSpPr/>
          <p:nvPr/>
        </p:nvSpPr>
        <p:spPr>
          <a:xfrm>
            <a:off x="8741664" y="3402874"/>
            <a:ext cx="2651760" cy="548640"/>
          </a:xfrm>
          <a:prstGeom prst="rect">
            <a:avLst/>
          </a:prstGeom>
          <a:noFill/>
          <a:ln/>
        </p:spPr>
        <p:txBody>
          <a:bodyPr wrap="square" lIns="0" tIns="0" rIns="0" bIns="0" rtlCol="0" anchor="ctr"/>
          <a:lstStyle/>
          <a:p>
            <a:pPr marL="0" indent="0">
              <a:buNone/>
            </a:pPr>
            <a:r>
              <a:rPr lang="en-US" sz="1450" b="1" dirty="0">
                <a:solidFill>
                  <a:srgbClr val="2B2523"/>
                </a:solidFill>
                <a:latin typeface="Cambria" pitchFamily="34" charset="0"/>
                <a:ea typeface="Cambria" pitchFamily="34" charset="-122"/>
                <a:cs typeface="Cambria" pitchFamily="34" charset="-120"/>
              </a:rPr>
              <a:t>Does poor observability</a:t>
            </a:r>
            <a:endParaRPr lang="en-US" sz="1450" dirty="0"/>
          </a:p>
          <a:p>
            <a:pPr marL="0" indent="0">
              <a:buNone/>
            </a:pPr>
            <a:r>
              <a:rPr lang="en-US" sz="1450" b="1" dirty="0">
                <a:solidFill>
                  <a:srgbClr val="2B2523"/>
                </a:solidFill>
                <a:latin typeface="Cambria" pitchFamily="34" charset="0"/>
                <a:ea typeface="Cambria" pitchFamily="34" charset="-122"/>
                <a:cs typeface="Cambria" pitchFamily="34" charset="-120"/>
              </a:rPr>
              <a:t>mean being wrong?</a:t>
            </a:r>
            <a:endParaRPr lang="en-US" sz="1450" dirty="0"/>
          </a:p>
        </p:txBody>
      </p:sp>
      <p:sp>
        <p:nvSpPr>
          <p:cNvPr id="22" name="Text 20"/>
          <p:cNvSpPr/>
          <p:nvPr/>
        </p:nvSpPr>
        <p:spPr>
          <a:xfrm>
            <a:off x="8229600" y="4079530"/>
            <a:ext cx="3127248" cy="128016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In weakly covered districts, does this dataset's assessment diverge further from IPC's official classification?</a:t>
            </a:r>
            <a:endParaRPr lang="en-US" sz="1150" dirty="0"/>
          </a:p>
        </p:txBody>
      </p:sp>
      <p:sp>
        <p:nvSpPr>
          <p:cNvPr id="23" name="Text 21"/>
          <p:cNvSpPr/>
          <p:nvPr/>
        </p:nvSpPr>
        <p:spPr>
          <a:xfrm>
            <a:off x="8229600" y="5414554"/>
            <a:ext cx="3127248" cy="292608"/>
          </a:xfrm>
          <a:prstGeom prst="rect">
            <a:avLst/>
          </a:prstGeom>
          <a:noFill/>
          <a:ln/>
        </p:spPr>
        <p:txBody>
          <a:bodyPr wrap="square" lIns="0" tIns="0" rIns="0" bIns="0" rtlCol="0" anchor="ctr"/>
          <a:lstStyle/>
          <a:p>
            <a:pPr marL="0" indent="0">
              <a:buNone/>
            </a:pPr>
            <a:r>
              <a:rPr lang="en-US" sz="1000" b="1" kern="0" spc="100" dirty="0">
                <a:solidFill>
                  <a:srgbClr val="7A6E68"/>
                </a:solidFill>
                <a:latin typeface="Calibri" pitchFamily="34" charset="0"/>
                <a:ea typeface="Calibri" pitchFamily="34" charset="-122"/>
                <a:cs typeface="Calibri" pitchFamily="34" charset="-120"/>
              </a:rPr>
              <a:t>NOT STARTED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3000" b="1" dirty="0">
                <a:solidFill>
                  <a:srgbClr val="2B2523"/>
                </a:solidFill>
                <a:latin typeface="Cambria" pitchFamily="34" charset="0"/>
                <a:ea typeface="Cambria" pitchFamily="34" charset="-122"/>
                <a:cs typeface="Cambria" pitchFamily="34" charset="-120"/>
              </a:rPr>
              <a:t>Tasks 3 and 4: the market features</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Evaluated as one family, then given a country-agnostic layer on top</a:t>
            </a:r>
            <a:endParaRPr lang="en-US" sz="1350" dirty="0"/>
          </a:p>
        </p:txBody>
      </p:sp>
      <p:sp>
        <p:nvSpPr>
          <p:cNvPr id="4" name="Shape 2"/>
          <p:cNvSpPr/>
          <p:nvPr/>
        </p:nvSpPr>
        <p:spPr>
          <a:xfrm>
            <a:off x="566928" y="1481328"/>
            <a:ext cx="420624" cy="420624"/>
          </a:xfrm>
          <a:prstGeom prst="ellipse">
            <a:avLst/>
          </a:prstGeom>
          <a:solidFill>
            <a:srgbClr val="B85042"/>
          </a:solidFill>
          <a:ln/>
        </p:spPr>
      </p:sp>
      <p:sp>
        <p:nvSpPr>
          <p:cNvPr id="5" name="Text 3"/>
          <p:cNvSpPr/>
          <p:nvPr/>
        </p:nvSpPr>
        <p:spPr>
          <a:xfrm>
            <a:off x="566928" y="148132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6" name="Text 4"/>
          <p:cNvSpPr/>
          <p:nvPr/>
        </p:nvSpPr>
        <p:spPr>
          <a:xfrm>
            <a:off x="1133856" y="1499616"/>
            <a:ext cx="4919472" cy="384048"/>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Missingness and redundancy</a:t>
            </a:r>
            <a:endParaRPr lang="en-US" sz="1600" dirty="0"/>
          </a:p>
        </p:txBody>
      </p:sp>
      <p:sp>
        <p:nvSpPr>
          <p:cNvPr id="7" name="Shape 5"/>
          <p:cNvSpPr/>
          <p:nvPr/>
        </p:nvSpPr>
        <p:spPr>
          <a:xfrm>
            <a:off x="566928" y="1975104"/>
            <a:ext cx="5486400" cy="3703320"/>
          </a:xfrm>
          <a:prstGeom prst="roundRect">
            <a:avLst>
              <a:gd name="adj" fmla="val 1481"/>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822960" y="2157984"/>
            <a:ext cx="5029200" cy="338328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00" dirty="0">
                <a:solidFill>
                  <a:srgbClr val="2B2523"/>
                </a:solidFill>
                <a:latin typeface="Calibri" pitchFamily="34" charset="0"/>
                <a:ea typeface="Calibri" pitchFamily="34" charset="-122"/>
                <a:cs typeface="Calibri" pitchFamily="34" charset="-120"/>
              </a:rPr>
              <a:t>All 12 commodity features share identical missingness at 79 of 148 district-months (53.4%), because every one depends on the same thing: whether a market exists in that district at all.</a:t>
            </a:r>
            <a:endParaRPr lang="en-US" sz="1200" dirty="0"/>
          </a:p>
          <a:p>
            <a:pPr marL="342900" indent="-342900">
              <a:lnSpc>
                <a:spcPts val="1600"/>
              </a:lnSpc>
              <a:spcAft>
                <a:spcPts val="900"/>
              </a:spcAft>
              <a:buSzPct val="100000"/>
              <a:buChar char="•"/>
            </a:pPr>
            <a:r>
              <a:rPr lang="en-US" sz="1200" dirty="0">
                <a:solidFill>
                  <a:srgbClr val="2B2523"/>
                </a:solidFill>
                <a:latin typeface="Calibri" pitchFamily="34" charset="0"/>
                <a:ea typeface="Calibri" pitchFamily="34" charset="-122"/>
                <a:cs typeface="Calibri" pitchFamily="34" charset="-120"/>
              </a:rPr>
              <a:t>Wheat flour and rice are highly correlated (r = 0.89 on price, r = 0.61 on anomaly score), both being imported staples driven by shared exchange-rate and import costs.</a:t>
            </a:r>
            <a:endParaRPr lang="en-US" sz="1200" dirty="0"/>
          </a:p>
          <a:p>
            <a:pPr marL="342900" indent="-342900">
              <a:lnSpc>
                <a:spcPts val="1600"/>
              </a:lnSpc>
              <a:spcAft>
                <a:spcPts val="900"/>
              </a:spcAft>
              <a:buSzPct val="100000"/>
              <a:buChar char="•"/>
            </a:pPr>
            <a:r>
              <a:rPr lang="en-US" sz="1200" dirty="0">
                <a:solidFill>
                  <a:srgbClr val="2B2523"/>
                </a:solidFill>
                <a:latin typeface="Calibri" pitchFamily="34" charset="0"/>
                <a:ea typeface="Calibri" pitchFamily="34" charset="-122"/>
                <a:cs typeface="Calibri" pitchFamily="34" charset="-120"/>
              </a:rPr>
              <a:t>Sugar is almost uncorrelated with everything else (r = 0.02 to 0.21), so it carries genuinely independent information that a single combined index would destroy.</a:t>
            </a:r>
            <a:endParaRPr lang="en-US" sz="1200" dirty="0"/>
          </a:p>
          <a:p>
            <a:pPr marL="342900" indent="-342900">
              <a:lnSpc>
                <a:spcPts val="1600"/>
              </a:lnSpc>
              <a:buSzPct val="100000"/>
              <a:buChar char="•"/>
            </a:pPr>
            <a:r>
              <a:rPr lang="en-US" sz="1200" dirty="0">
                <a:solidFill>
                  <a:srgbClr val="2B2523"/>
                </a:solidFill>
                <a:latin typeface="Calibri" pitchFamily="34" charset="0"/>
                <a:ea typeface="Calibri" pitchFamily="34" charset="-122"/>
                <a:cs typeface="Calibri" pitchFamily="34" charset="-120"/>
              </a:rPr>
              <a:t>Decision: all four commodities kept. Wheat flour and rice flagged as the pair to merge first if the feature set ever needs to shrink.</a:t>
            </a:r>
            <a:endParaRPr lang="en-US" sz="1200" dirty="0"/>
          </a:p>
        </p:txBody>
      </p:sp>
      <p:sp>
        <p:nvSpPr>
          <p:cNvPr id="9" name="Shape 7"/>
          <p:cNvSpPr/>
          <p:nvPr/>
        </p:nvSpPr>
        <p:spPr>
          <a:xfrm>
            <a:off x="6492240" y="1481328"/>
            <a:ext cx="420624" cy="420624"/>
          </a:xfrm>
          <a:prstGeom prst="ellipse">
            <a:avLst/>
          </a:prstGeom>
          <a:solidFill>
            <a:srgbClr val="A7BEAE"/>
          </a:solidFill>
          <a:ln/>
        </p:spPr>
      </p:sp>
      <p:sp>
        <p:nvSpPr>
          <p:cNvPr id="10" name="Text 8"/>
          <p:cNvSpPr/>
          <p:nvPr/>
        </p:nvSpPr>
        <p:spPr>
          <a:xfrm>
            <a:off x="6492240" y="148132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1" name="Text 9"/>
          <p:cNvSpPr/>
          <p:nvPr/>
        </p:nvSpPr>
        <p:spPr>
          <a:xfrm>
            <a:off x="7059168" y="1499616"/>
            <a:ext cx="4553712" cy="384048"/>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Harmonised market-anomaly layer</a:t>
            </a:r>
            <a:endParaRPr lang="en-US" sz="1600" dirty="0"/>
          </a:p>
        </p:txBody>
      </p:sp>
      <p:sp>
        <p:nvSpPr>
          <p:cNvPr id="12" name="Shape 10"/>
          <p:cNvSpPr/>
          <p:nvPr/>
        </p:nvSpPr>
        <p:spPr>
          <a:xfrm>
            <a:off x="6492240" y="1975104"/>
            <a:ext cx="5102352" cy="3703320"/>
          </a:xfrm>
          <a:prstGeom prst="roundRect">
            <a:avLst>
              <a:gd name="adj" fmla="val 1481"/>
            </a:avLst>
          </a:prstGeom>
          <a:solidFill>
            <a:srgbClr val="2B2523"/>
          </a:solidFill>
          <a:ln/>
          <a:effectLst>
            <a:outerShdw blurRad="76200" dist="381" dir="5400000" algn="bl" rotWithShape="0">
              <a:srgbClr val="000000">
                <a:alpha val="8000"/>
              </a:srgbClr>
            </a:outerShdw>
          </a:effectLst>
        </p:spPr>
      </p:sp>
      <p:sp>
        <p:nvSpPr>
          <p:cNvPr id="13" name="Text 11"/>
          <p:cNvSpPr/>
          <p:nvPr/>
        </p:nvSpPr>
        <p:spPr>
          <a:xfrm>
            <a:off x="6729984" y="2121408"/>
            <a:ext cx="4754880" cy="329184"/>
          </a:xfrm>
          <a:prstGeom prst="rect">
            <a:avLst/>
          </a:prstGeom>
          <a:noFill/>
          <a:ln/>
        </p:spPr>
        <p:txBody>
          <a:bodyPr wrap="square" lIns="0" tIns="0" rIns="0" bIns="0" rtlCol="0" anchor="ctr"/>
          <a:lstStyle/>
          <a:p>
            <a:pPr marL="0" indent="0">
              <a:buNone/>
            </a:pPr>
            <a:r>
              <a:rPr lang="en-US" sz="1150" dirty="0">
                <a:solidFill>
                  <a:srgbClr val="E7E8D1"/>
                </a:solidFill>
                <a:latin typeface="Calibri" pitchFamily="34" charset="0"/>
                <a:ea typeface="Calibri" pitchFamily="34" charset="-122"/>
                <a:cs typeface="Calibri" pitchFamily="34" charset="-120"/>
              </a:rPr>
              <a:t>Four new features, computable no matter which commodities a country tracks:</a:t>
            </a:r>
            <a:endParaRPr lang="en-US" sz="1150" dirty="0"/>
          </a:p>
        </p:txBody>
      </p:sp>
      <p:sp>
        <p:nvSpPr>
          <p:cNvPr id="14" name="Text 12"/>
          <p:cNvSpPr/>
          <p:nvPr/>
        </p:nvSpPr>
        <p:spPr>
          <a:xfrm>
            <a:off x="6729984" y="2542032"/>
            <a:ext cx="4754880" cy="237744"/>
          </a:xfrm>
          <a:prstGeom prst="rect">
            <a:avLst/>
          </a:prstGeom>
          <a:noFill/>
          <a:ln/>
        </p:spPr>
        <p:txBody>
          <a:bodyPr wrap="square" lIns="0" tIns="0" rIns="0" bIns="0" rtlCol="0" anchor="ctr"/>
          <a:lstStyle/>
          <a:p>
            <a:pPr marL="0" indent="0">
              <a:buNone/>
            </a:pPr>
            <a:r>
              <a:rPr lang="en-US" sz="1100" b="1" dirty="0">
                <a:solidFill>
                  <a:srgbClr val="A7BEAE"/>
                </a:solidFill>
                <a:latin typeface="Courier New" pitchFamily="34" charset="0"/>
                <a:ea typeface="Courier New" pitchFamily="34" charset="-122"/>
                <a:cs typeface="Courier New" pitchFamily="34" charset="-120"/>
              </a:rPr>
              <a:t>commodities_tracked_count</a:t>
            </a:r>
            <a:endParaRPr lang="en-US" sz="1100" dirty="0"/>
          </a:p>
        </p:txBody>
      </p:sp>
      <p:sp>
        <p:nvSpPr>
          <p:cNvPr id="15" name="Text 13"/>
          <p:cNvSpPr/>
          <p:nvPr/>
        </p:nvSpPr>
        <p:spPr>
          <a:xfrm>
            <a:off x="6729984" y="2761488"/>
            <a:ext cx="4754880" cy="256032"/>
          </a:xfrm>
          <a:prstGeom prst="rect">
            <a:avLst/>
          </a:prstGeom>
          <a:noFill/>
          <a:ln/>
        </p:spPr>
        <p:txBody>
          <a:bodyPr wrap="square" lIns="0" tIns="0" rIns="0" bIns="0" rtlCol="0" anchor="ctr"/>
          <a:lstStyle/>
          <a:p>
            <a:pPr marL="0" indent="0">
              <a:buNone/>
            </a:pPr>
            <a:r>
              <a:rPr lang="en-US" sz="1100" dirty="0">
                <a:solidFill>
                  <a:srgbClr val="E7E8D1"/>
                </a:solidFill>
                <a:latin typeface="Calibri" pitchFamily="34" charset="0"/>
                <a:ea typeface="Calibri" pitchFamily="34" charset="-122"/>
                <a:cs typeface="Calibri" pitchFamily="34" charset="-120"/>
              </a:rPr>
              <a:t>how many commodities have data that district-month</a:t>
            </a:r>
            <a:endParaRPr lang="en-US" sz="1100" dirty="0"/>
          </a:p>
        </p:txBody>
      </p:sp>
      <p:sp>
        <p:nvSpPr>
          <p:cNvPr id="16" name="Text 14"/>
          <p:cNvSpPr/>
          <p:nvPr/>
        </p:nvSpPr>
        <p:spPr>
          <a:xfrm>
            <a:off x="6729984" y="3108960"/>
            <a:ext cx="4754880" cy="237744"/>
          </a:xfrm>
          <a:prstGeom prst="rect">
            <a:avLst/>
          </a:prstGeom>
          <a:noFill/>
          <a:ln/>
        </p:spPr>
        <p:txBody>
          <a:bodyPr wrap="square" lIns="0" tIns="0" rIns="0" bIns="0" rtlCol="0" anchor="ctr"/>
          <a:lstStyle/>
          <a:p>
            <a:pPr marL="0" indent="0">
              <a:buNone/>
            </a:pPr>
            <a:r>
              <a:rPr lang="en-US" sz="1100" b="1" dirty="0">
                <a:solidFill>
                  <a:srgbClr val="A7BEAE"/>
                </a:solidFill>
                <a:latin typeface="Courier New" pitchFamily="34" charset="0"/>
                <a:ea typeface="Courier New" pitchFamily="34" charset="-122"/>
                <a:cs typeface="Courier New" pitchFamily="34" charset="-120"/>
              </a:rPr>
              <a:t>market_anomaly_mean</a:t>
            </a:r>
            <a:endParaRPr lang="en-US" sz="1100" dirty="0"/>
          </a:p>
        </p:txBody>
      </p:sp>
      <p:sp>
        <p:nvSpPr>
          <p:cNvPr id="17" name="Text 15"/>
          <p:cNvSpPr/>
          <p:nvPr/>
        </p:nvSpPr>
        <p:spPr>
          <a:xfrm>
            <a:off x="6729984" y="3328416"/>
            <a:ext cx="4754880" cy="256032"/>
          </a:xfrm>
          <a:prstGeom prst="rect">
            <a:avLst/>
          </a:prstGeom>
          <a:noFill/>
          <a:ln/>
        </p:spPr>
        <p:txBody>
          <a:bodyPr wrap="square" lIns="0" tIns="0" rIns="0" bIns="0" rtlCol="0" anchor="ctr"/>
          <a:lstStyle/>
          <a:p>
            <a:pPr marL="0" indent="0">
              <a:buNone/>
            </a:pPr>
            <a:r>
              <a:rPr lang="en-US" sz="1100" dirty="0">
                <a:solidFill>
                  <a:srgbClr val="E7E8D1"/>
                </a:solidFill>
                <a:latin typeface="Calibri" pitchFamily="34" charset="0"/>
                <a:ea typeface="Calibri" pitchFamily="34" charset="-122"/>
                <a:cs typeface="Calibri" pitchFamily="34" charset="-120"/>
              </a:rPr>
              <a:t>average anomaly score across available commodities</a:t>
            </a:r>
            <a:endParaRPr lang="en-US" sz="1100" dirty="0"/>
          </a:p>
        </p:txBody>
      </p:sp>
      <p:sp>
        <p:nvSpPr>
          <p:cNvPr id="18" name="Text 16"/>
          <p:cNvSpPr/>
          <p:nvPr/>
        </p:nvSpPr>
        <p:spPr>
          <a:xfrm>
            <a:off x="6729984" y="3675888"/>
            <a:ext cx="4754880" cy="237744"/>
          </a:xfrm>
          <a:prstGeom prst="rect">
            <a:avLst/>
          </a:prstGeom>
          <a:noFill/>
          <a:ln/>
        </p:spPr>
        <p:txBody>
          <a:bodyPr wrap="square" lIns="0" tIns="0" rIns="0" bIns="0" rtlCol="0" anchor="ctr"/>
          <a:lstStyle/>
          <a:p>
            <a:pPr marL="0" indent="0">
              <a:buNone/>
            </a:pPr>
            <a:r>
              <a:rPr lang="en-US" sz="1100" b="1" dirty="0">
                <a:solidFill>
                  <a:srgbClr val="A7BEAE"/>
                </a:solidFill>
                <a:latin typeface="Courier New" pitchFamily="34" charset="0"/>
                <a:ea typeface="Courier New" pitchFamily="34" charset="-122"/>
                <a:cs typeface="Courier New" pitchFamily="34" charset="-120"/>
              </a:rPr>
              <a:t>market_anomaly_max</a:t>
            </a:r>
            <a:endParaRPr lang="en-US" sz="1100" dirty="0"/>
          </a:p>
        </p:txBody>
      </p:sp>
      <p:sp>
        <p:nvSpPr>
          <p:cNvPr id="19" name="Text 17"/>
          <p:cNvSpPr/>
          <p:nvPr/>
        </p:nvSpPr>
        <p:spPr>
          <a:xfrm>
            <a:off x="6729984" y="3895344"/>
            <a:ext cx="4754880" cy="256032"/>
          </a:xfrm>
          <a:prstGeom prst="rect">
            <a:avLst/>
          </a:prstGeom>
          <a:noFill/>
          <a:ln/>
        </p:spPr>
        <p:txBody>
          <a:bodyPr wrap="square" lIns="0" tIns="0" rIns="0" bIns="0" rtlCol="0" anchor="ctr"/>
          <a:lstStyle/>
          <a:p>
            <a:pPr marL="0" indent="0">
              <a:buNone/>
            </a:pPr>
            <a:r>
              <a:rPr lang="en-US" sz="1100" dirty="0">
                <a:solidFill>
                  <a:srgbClr val="E7E8D1"/>
                </a:solidFill>
                <a:latin typeface="Calibri" pitchFamily="34" charset="0"/>
                <a:ea typeface="Calibri" pitchFamily="34" charset="-122"/>
                <a:cs typeface="Calibri" pitchFamily="34" charset="-120"/>
              </a:rPr>
              <a:t>the single highest anomaly among them</a:t>
            </a:r>
            <a:endParaRPr lang="en-US" sz="1100" dirty="0"/>
          </a:p>
        </p:txBody>
      </p:sp>
      <p:sp>
        <p:nvSpPr>
          <p:cNvPr id="20" name="Text 18"/>
          <p:cNvSpPr/>
          <p:nvPr/>
        </p:nvSpPr>
        <p:spPr>
          <a:xfrm>
            <a:off x="6729984" y="4242816"/>
            <a:ext cx="4754880" cy="237744"/>
          </a:xfrm>
          <a:prstGeom prst="rect">
            <a:avLst/>
          </a:prstGeom>
          <a:noFill/>
          <a:ln/>
        </p:spPr>
        <p:txBody>
          <a:bodyPr wrap="square" lIns="0" tIns="0" rIns="0" bIns="0" rtlCol="0" anchor="ctr"/>
          <a:lstStyle/>
          <a:p>
            <a:pPr marL="0" indent="0">
              <a:buNone/>
            </a:pPr>
            <a:r>
              <a:rPr lang="en-US" sz="1100" b="1" dirty="0">
                <a:solidFill>
                  <a:srgbClr val="A7BEAE"/>
                </a:solidFill>
                <a:latin typeface="Courier New" pitchFamily="34" charset="0"/>
                <a:ea typeface="Courier New" pitchFamily="34" charset="-122"/>
                <a:cs typeface="Courier New" pitchFamily="34" charset="-120"/>
              </a:rPr>
              <a:t>market_stress_count</a:t>
            </a:r>
            <a:endParaRPr lang="en-US" sz="1100" dirty="0"/>
          </a:p>
        </p:txBody>
      </p:sp>
      <p:sp>
        <p:nvSpPr>
          <p:cNvPr id="21" name="Text 19"/>
          <p:cNvSpPr/>
          <p:nvPr/>
        </p:nvSpPr>
        <p:spPr>
          <a:xfrm>
            <a:off x="6729984" y="4462272"/>
            <a:ext cx="4754880" cy="256032"/>
          </a:xfrm>
          <a:prstGeom prst="rect">
            <a:avLst/>
          </a:prstGeom>
          <a:noFill/>
          <a:ln/>
        </p:spPr>
        <p:txBody>
          <a:bodyPr wrap="square" lIns="0" tIns="0" rIns="0" bIns="0" rtlCol="0" anchor="ctr"/>
          <a:lstStyle/>
          <a:p>
            <a:pPr marL="0" indent="0">
              <a:buNone/>
            </a:pPr>
            <a:r>
              <a:rPr lang="en-US" sz="1100" dirty="0">
                <a:solidFill>
                  <a:srgbClr val="E7E8D1"/>
                </a:solidFill>
                <a:latin typeface="Calibri" pitchFamily="34" charset="0"/>
                <a:ea typeface="Calibri" pitchFamily="34" charset="-122"/>
                <a:cs typeface="Calibri" pitchFamily="34" charset="-120"/>
              </a:rPr>
              <a:t>how many exceed a stress threshold of 1.0</a:t>
            </a:r>
            <a:endParaRPr lang="en-US" sz="1100" dirty="0"/>
          </a:p>
        </p:txBody>
      </p:sp>
      <p:sp>
        <p:nvSpPr>
          <p:cNvPr id="22" name="Text 20"/>
          <p:cNvSpPr/>
          <p:nvPr/>
        </p:nvSpPr>
        <p:spPr>
          <a:xfrm>
            <a:off x="6729984" y="4882896"/>
            <a:ext cx="4754880" cy="749808"/>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Coverage is close to all-or-nothing: 62 district-months report all four commodities, 85 report none, and only one reports a partial set. The 1.0 stress threshold is a documented modelling choice, since WFP's exact cutoffs were not available.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3000" b="1" dirty="0">
                <a:solidFill>
                  <a:srgbClr val="2B2523"/>
                </a:solidFill>
                <a:latin typeface="Cambria" pitchFamily="34" charset="0"/>
                <a:ea typeface="Cambria" pitchFamily="34" charset="-122"/>
                <a:cs typeface="Cambria" pitchFamily="34" charset="-120"/>
              </a:rPr>
              <a:t>Tasks 5 and 6: two features that did not survive testing</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One removed outright, five rewritten</a:t>
            </a:r>
            <a:endParaRPr lang="en-US" sz="1350" dirty="0"/>
          </a:p>
        </p:txBody>
      </p:sp>
      <p:sp>
        <p:nvSpPr>
          <p:cNvPr id="4" name="Shape 2"/>
          <p:cNvSpPr/>
          <p:nvPr/>
        </p:nvSpPr>
        <p:spPr>
          <a:xfrm>
            <a:off x="548640" y="1645920"/>
            <a:ext cx="420624" cy="420624"/>
          </a:xfrm>
          <a:prstGeom prst="ellipse">
            <a:avLst/>
          </a:prstGeom>
          <a:solidFill>
            <a:srgbClr val="B85042"/>
          </a:solidFill>
          <a:ln/>
        </p:spPr>
      </p:sp>
      <p:sp>
        <p:nvSpPr>
          <p:cNvPr id="5" name="Text 3"/>
          <p:cNvSpPr/>
          <p:nvPr/>
        </p:nvSpPr>
        <p:spPr>
          <a:xfrm>
            <a:off x="548640" y="16459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6" name="Text 4"/>
          <p:cNvSpPr/>
          <p:nvPr/>
        </p:nvSpPr>
        <p:spPr>
          <a:xfrm>
            <a:off x="1115568" y="1664208"/>
            <a:ext cx="4919472" cy="384048"/>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conflict_events_per_1000_km2</a:t>
            </a:r>
            <a:endParaRPr lang="en-US" sz="1600" dirty="0"/>
          </a:p>
        </p:txBody>
      </p:sp>
      <p:sp>
        <p:nvSpPr>
          <p:cNvPr id="7" name="Shape 5"/>
          <p:cNvSpPr/>
          <p:nvPr/>
        </p:nvSpPr>
        <p:spPr>
          <a:xfrm>
            <a:off x="548640" y="2139696"/>
            <a:ext cx="5486400" cy="3703320"/>
          </a:xfrm>
          <a:prstGeom prst="roundRect">
            <a:avLst>
              <a:gd name="adj" fmla="val 1481"/>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804672" y="2304288"/>
            <a:ext cx="5029200" cy="786384"/>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Renamed from conflict_density to describe what it actually measures: events per unit area, not humanitarian intensity or exposure. Then tested to see whether it adds anything beyond the plain event count it is derived from.</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880272331"/>
              </p:ext>
            </p:extLst>
          </p:nvPr>
        </p:nvGraphicFramePr>
        <p:xfrm>
          <a:off x="804672" y="3182112"/>
          <a:ext cx="5029200" cy="1554480"/>
        </p:xfrm>
        <a:graphic>
          <a:graphicData uri="http://schemas.openxmlformats.org/drawingml/2006/table">
            <a:tbl>
              <a:tblPr/>
              <a:tblGrid>
                <a:gridCol w="26517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was tested</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Correlation with plain event count</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r = 0.96</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Same, only districts with ≥1 event</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r = 0.85</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Correlation with district area</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r = −0.34 (−0.64 if conflict-affected)</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Predicting fatalities: count vs density</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050" dirty="0">
                          <a:solidFill>
                            <a:srgbClr val="2B2523"/>
                          </a:solidFill>
                          <a:latin typeface="Calibri" pitchFamily="34" charset="0"/>
                          <a:ea typeface="Calibri" pitchFamily="34" charset="-122"/>
                          <a:cs typeface="Calibri" pitchFamily="34" charset="-120"/>
                        </a:rPr>
                        <a:t>0.776 vs 0.727</a:t>
                      </a:r>
                      <a:endParaRPr lang="en-US" sz="10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7"/>
          <p:cNvSpPr/>
          <p:nvPr/>
        </p:nvSpPr>
        <p:spPr>
          <a:xfrm>
            <a:off x="804672" y="4956048"/>
            <a:ext cx="5029200" cy="749808"/>
          </a:xfrm>
          <a:prstGeom prst="rect">
            <a:avLst/>
          </a:prstGeom>
          <a:noFill/>
          <a:ln/>
        </p:spPr>
        <p:txBody>
          <a:bodyPr wrap="square" lIns="0" tIns="0" rIns="0" bIns="0" rtlCol="0" anchor="ctr"/>
          <a:lstStyle/>
          <a:p>
            <a:pPr marL="0" indent="0">
              <a:lnSpc>
                <a:spcPts val="1500"/>
              </a:lnSpc>
              <a:buNone/>
            </a:pPr>
            <a:r>
              <a:rPr lang="en-US" sz="1150" b="1" dirty="0">
                <a:solidFill>
                  <a:srgbClr val="B85042"/>
                </a:solidFill>
                <a:latin typeface="Calibri" pitchFamily="34" charset="0"/>
                <a:ea typeface="Calibri" pitchFamily="34" charset="-122"/>
                <a:cs typeface="Calibri" pitchFamily="34" charset="-120"/>
              </a:rPr>
              <a:t>Dropped. It tracks how big a district is more than anything humanitarian, and predicts severity worse than the plain count. This reverses an earlier decision to keep it.</a:t>
            </a:r>
            <a:endParaRPr lang="en-US" sz="1150" dirty="0"/>
          </a:p>
        </p:txBody>
      </p:sp>
      <p:sp>
        <p:nvSpPr>
          <p:cNvPr id="11" name="Shape 8"/>
          <p:cNvSpPr/>
          <p:nvPr/>
        </p:nvSpPr>
        <p:spPr>
          <a:xfrm>
            <a:off x="6473952" y="1645920"/>
            <a:ext cx="420624" cy="420624"/>
          </a:xfrm>
          <a:prstGeom prst="ellipse">
            <a:avLst/>
          </a:prstGeom>
          <a:solidFill>
            <a:srgbClr val="A7BEAE"/>
          </a:solidFill>
          <a:ln/>
        </p:spPr>
      </p:sp>
      <p:sp>
        <p:nvSpPr>
          <p:cNvPr id="12" name="Text 9"/>
          <p:cNvSpPr/>
          <p:nvPr/>
        </p:nvSpPr>
        <p:spPr>
          <a:xfrm>
            <a:off x="6473952" y="16459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13" name="Text 10"/>
          <p:cNvSpPr/>
          <p:nvPr/>
        </p:nvSpPr>
        <p:spPr>
          <a:xfrm>
            <a:off x="7040880" y="1664208"/>
            <a:ext cx="4553712" cy="384048"/>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Percentage change replaced</a:t>
            </a:r>
            <a:endParaRPr lang="en-US" sz="1600" dirty="0"/>
          </a:p>
        </p:txBody>
      </p:sp>
      <p:sp>
        <p:nvSpPr>
          <p:cNvPr id="14" name="Shape 11"/>
          <p:cNvSpPr/>
          <p:nvPr/>
        </p:nvSpPr>
        <p:spPr>
          <a:xfrm>
            <a:off x="6473952" y="2139696"/>
            <a:ext cx="5102352" cy="3703320"/>
          </a:xfrm>
          <a:prstGeom prst="roundRect">
            <a:avLst>
              <a:gd name="adj" fmla="val 1481"/>
            </a:avLst>
          </a:prstGeom>
          <a:solidFill>
            <a:srgbClr val="2B2523"/>
          </a:solidFill>
          <a:ln/>
          <a:effectLst>
            <a:outerShdw blurRad="76200" dist="381" dir="5400000" algn="bl" rotWithShape="0">
              <a:srgbClr val="000000">
                <a:alpha val="8000"/>
              </a:srgbClr>
            </a:outerShdw>
          </a:effectLst>
        </p:spPr>
      </p:sp>
      <p:sp>
        <p:nvSpPr>
          <p:cNvPr id="15" name="Text 12"/>
          <p:cNvSpPr/>
          <p:nvPr/>
        </p:nvSpPr>
        <p:spPr>
          <a:xfrm>
            <a:off x="6711696" y="2304288"/>
            <a:ext cx="4754880" cy="786384"/>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Percentage change is undefined when the previous month is zero, and explodes when the previous month is small. Both problems affect the conflict trend and all four commodity price trends.</a:t>
            </a:r>
            <a:endParaRPr lang="en-US" sz="1150" dirty="0"/>
          </a:p>
        </p:txBody>
      </p:sp>
      <p:graphicFrame>
        <p:nvGraphicFramePr>
          <p:cNvPr id="9" name="Table 1"/>
          <p:cNvGraphicFramePr>
            <a:graphicFrameLocks noGrp="1"/>
          </p:cNvGraphicFramePr>
          <p:nvPr>
            <p:extLst>
              <p:ext uri="{D42A27DB-BD31-4B8C-83A1-F6EECF244321}">
                <p14:modId xmlns:p14="http://schemas.microsoft.com/office/powerpoint/2010/main" val="1467426556"/>
              </p:ext>
            </p:extLst>
          </p:nvPr>
        </p:nvGraphicFramePr>
        <p:xfrm>
          <a:off x="6711696" y="3182112"/>
          <a:ext cx="4754880" cy="1243584"/>
        </p:xfrm>
        <a:graphic>
          <a:graphicData uri="http://schemas.openxmlformats.org/drawingml/2006/table">
            <a:tbl>
              <a:tblPr/>
              <a:tblGrid>
                <a:gridCol w="21031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tblGrid>
              <a:tr h="310896">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Percentage</a:t>
                      </a:r>
                      <a:endParaRPr lang="en-US" sz="110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Log difference</a:t>
                      </a:r>
                      <a:endParaRPr lang="en-US" sz="110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Conflict trend missing</a:t>
                      </a:r>
                      <a:endParaRPr lang="en-US" sz="105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99 / 148</a:t>
                      </a:r>
                      <a:endParaRPr lang="en-US" sz="105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marL="0" indent="0">
                        <a:buNone/>
                      </a:pPr>
                      <a:r>
                        <a:rPr lang="en-US" sz="1050" dirty="0">
                          <a:solidFill>
                            <a:srgbClr val="A7BEAE"/>
                          </a:solidFill>
                          <a:latin typeface="Calibri" pitchFamily="34" charset="0"/>
                          <a:ea typeface="Calibri" pitchFamily="34" charset="-122"/>
                          <a:cs typeface="Calibri" pitchFamily="34" charset="-120"/>
                        </a:rPr>
                        <a:t>74 / 148</a:t>
                      </a:r>
                      <a:endParaRPr lang="en-US" sz="105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extLst>
                  <a:ext uri="{0D108BD9-81ED-4DB2-BD59-A6C34878D82A}">
                    <a16:rowId xmlns:a16="http://schemas.microsoft.com/office/drawing/2014/main" val="10001"/>
                  </a:ext>
                </a:extLst>
              </a:tr>
              <a:tr h="310896">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District going 1 → 7 events</a:t>
                      </a:r>
                      <a:endParaRPr lang="en-US" sz="105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+600%</a:t>
                      </a:r>
                      <a:endParaRPr lang="en-US" sz="105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marL="0" indent="0">
                        <a:buNone/>
                      </a:pPr>
                      <a:r>
                        <a:rPr lang="en-US" sz="1050" dirty="0">
                          <a:solidFill>
                            <a:srgbClr val="A7BEAE"/>
                          </a:solidFill>
                          <a:latin typeface="Calibri" pitchFamily="34" charset="0"/>
                          <a:ea typeface="Calibri" pitchFamily="34" charset="-122"/>
                          <a:cs typeface="Calibri" pitchFamily="34" charset="-120"/>
                        </a:rPr>
                        <a:t>1.39</a:t>
                      </a:r>
                      <a:endParaRPr lang="en-US" sz="105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extLst>
                  <a:ext uri="{0D108BD9-81ED-4DB2-BD59-A6C34878D82A}">
                    <a16:rowId xmlns:a16="http://schemas.microsoft.com/office/drawing/2014/main" val="10002"/>
                  </a:ext>
                </a:extLst>
              </a:tr>
              <a:tr h="310896">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Largest sugar price jump</a:t>
                      </a:r>
                      <a:endParaRPr lang="en-US" sz="105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+709%</a:t>
                      </a:r>
                      <a:endParaRPr lang="en-US" sz="105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tc>
                  <a:txBody>
                    <a:bodyPr/>
                    <a:lstStyle/>
                    <a:p>
                      <a:pPr marL="0" indent="0">
                        <a:buNone/>
                      </a:pPr>
                      <a:r>
                        <a:rPr lang="en-US" sz="1050" dirty="0">
                          <a:solidFill>
                            <a:srgbClr val="A7BEAE"/>
                          </a:solidFill>
                          <a:latin typeface="Calibri" pitchFamily="34" charset="0"/>
                          <a:ea typeface="Calibri" pitchFamily="34" charset="-122"/>
                          <a:cs typeface="Calibri" pitchFamily="34" charset="-120"/>
                        </a:rPr>
                        <a:t>2.09</a:t>
                      </a:r>
                      <a:endParaRPr lang="en-US" sz="1050" dirty="0">
                        <a:latin typeface="Calibri" charset="0"/>
                        <a:ea typeface="Calibri" charset="0"/>
                        <a:cs typeface="Calibri" charset="0"/>
                      </a:endParaRPr>
                    </a:p>
                  </a:txBody>
                  <a:tcPr anchor="ctr">
                    <a:lnL w="6350" cap="flat" cmpd="sng" algn="ctr">
                      <a:solidFill>
                        <a:srgbClr val="4A423E"/>
                      </a:solidFill>
                      <a:prstDash val="solid"/>
                      <a:round/>
                      <a:headEnd type="none" w="med" len="med"/>
                      <a:tailEnd type="none" w="med" len="med"/>
                    </a:lnL>
                    <a:lnR w="6350" cap="flat" cmpd="sng" algn="ctr">
                      <a:solidFill>
                        <a:srgbClr val="4A423E"/>
                      </a:solidFill>
                      <a:prstDash val="solid"/>
                      <a:round/>
                      <a:headEnd type="none" w="med" len="med"/>
                      <a:tailEnd type="none" w="med" len="med"/>
                    </a:lnR>
                    <a:lnT w="6350" cap="flat" cmpd="sng" algn="ctr">
                      <a:solidFill>
                        <a:srgbClr val="4A423E"/>
                      </a:solidFill>
                      <a:prstDash val="solid"/>
                      <a:round/>
                      <a:headEnd type="none" w="med" len="med"/>
                      <a:tailEnd type="none" w="med" len="med"/>
                    </a:lnT>
                    <a:lnB w="6350" cap="flat" cmpd="sng" algn="ctr">
                      <a:solidFill>
                        <a:srgbClr val="4A423E"/>
                      </a:solidFill>
                      <a:prstDash val="solid"/>
                      <a:round/>
                      <a:headEnd type="none" w="med" len="med"/>
                      <a:tailEnd type="none" w="med" len="med"/>
                    </a:lnB>
                    <a:solidFill>
                      <a:srgbClr val="3A3330"/>
                    </a:solidFill>
                  </a:tcPr>
                </a:tc>
                <a:extLst>
                  <a:ext uri="{0D108BD9-81ED-4DB2-BD59-A6C34878D82A}">
                    <a16:rowId xmlns:a16="http://schemas.microsoft.com/office/drawing/2014/main" val="10003"/>
                  </a:ext>
                </a:extLst>
              </a:tr>
            </a:tbl>
          </a:graphicData>
        </a:graphic>
      </p:graphicFrame>
      <p:sp>
        <p:nvSpPr>
          <p:cNvPr id="17" name="Text 13"/>
          <p:cNvSpPr/>
          <p:nvPr/>
        </p:nvSpPr>
        <p:spPr>
          <a:xfrm>
            <a:off x="6711696" y="4956048"/>
            <a:ext cx="4754880" cy="749808"/>
          </a:xfrm>
          <a:prstGeom prst="rect">
            <a:avLst/>
          </a:prstGeom>
          <a:noFill/>
          <a:ln/>
        </p:spPr>
        <p:txBody>
          <a:bodyPr wrap="square" lIns="0" tIns="0" rIns="0" bIns="0" rtlCol="0" anchor="ctr"/>
          <a:lstStyle/>
          <a:p>
            <a:pPr marL="0" indent="0">
              <a:lnSpc>
                <a:spcPts val="1500"/>
              </a:lnSpc>
              <a:buNone/>
            </a:pPr>
            <a:r>
              <a:rPr lang="en-US" sz="1150" b="1" dirty="0">
                <a:solidFill>
                  <a:srgbClr val="A7BEAE"/>
                </a:solidFill>
                <a:latin typeface="Calibri" pitchFamily="34" charset="0"/>
                <a:ea typeface="Calibri" pitchFamily="34" charset="-122"/>
                <a:cs typeface="Calibri" pitchFamily="34" charset="-120"/>
              </a:rPr>
              <a:t>The percentage-based trend features were replaced by their log-difference equivalents (</a:t>
            </a:r>
            <a:r>
              <a:rPr lang="en-US" sz="1150" b="1" dirty="0" err="1">
                <a:solidFill>
                  <a:srgbClr val="A7BEAE"/>
                </a:solidFill>
                <a:latin typeface="Calibri" pitchFamily="34" charset="0"/>
                <a:ea typeface="Calibri" pitchFamily="34" charset="-122"/>
                <a:cs typeface="Calibri" pitchFamily="34" charset="-120"/>
              </a:rPr>
              <a:t>conflict_trend_log</a:t>
            </a:r>
            <a:r>
              <a:rPr lang="en-US" sz="1150" b="1" dirty="0">
                <a:solidFill>
                  <a:srgbClr val="A7BEAE"/>
                </a:solidFill>
                <a:latin typeface="Calibri" pitchFamily="34" charset="0"/>
                <a:ea typeface="Calibri" pitchFamily="34" charset="-122"/>
                <a:cs typeface="Calibri" pitchFamily="34" charset="-120"/>
              </a:rPr>
              <a:t>), (</a:t>
            </a:r>
            <a:r>
              <a:rPr lang="en-US" sz="1150" b="1" dirty="0" err="1">
                <a:solidFill>
                  <a:srgbClr val="A7BEAE"/>
                </a:solidFill>
                <a:latin typeface="Calibri" pitchFamily="34" charset="0"/>
                <a:ea typeface="Calibri" pitchFamily="34" charset="-122"/>
                <a:cs typeface="Calibri" pitchFamily="34" charset="-120"/>
              </a:rPr>
              <a:t>commodity_trend_log</a:t>
            </a:r>
            <a:r>
              <a:rPr lang="en-US" sz="1150" b="1" dirty="0">
                <a:solidFill>
                  <a:srgbClr val="A7BEAE"/>
                </a:solidFill>
                <a:latin typeface="Calibri" pitchFamily="34" charset="0"/>
                <a:ea typeface="Calibri" pitchFamily="34" charset="-122"/>
                <a:cs typeface="Calibri" pitchFamily="34" charset="-120"/>
              </a:rPr>
              <a:t>.) The remaining 74 missing values are unavoidable first-month observations.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3000" b="1" dirty="0">
                <a:solidFill>
                  <a:srgbClr val="2B2523"/>
                </a:solidFill>
                <a:latin typeface="Cambria" pitchFamily="34" charset="0"/>
                <a:ea typeface="Cambria" pitchFamily="34" charset="-122"/>
                <a:cs typeface="Cambria" pitchFamily="34" charset="-120"/>
              </a:rPr>
              <a:t>Task 7 (1 of 2): validating the ReliefWeb geoparsing</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The district-matching had never been checked against real report text</a:t>
            </a:r>
            <a:endParaRPr lang="en-US" sz="1350" dirty="0"/>
          </a:p>
        </p:txBody>
      </p:sp>
      <p:sp>
        <p:nvSpPr>
          <p:cNvPr id="4" name="Text 2"/>
          <p:cNvSpPr/>
          <p:nvPr/>
        </p:nvSpPr>
        <p:spPr>
          <a:xfrm>
            <a:off x="566928" y="1699042"/>
            <a:ext cx="11027664" cy="310896"/>
          </a:xfrm>
          <a:prstGeom prst="rect">
            <a:avLst/>
          </a:prstGeom>
          <a:noFill/>
          <a:ln/>
        </p:spPr>
        <p:txBody>
          <a:bodyPr wrap="square" lIns="0" tIns="0" rIns="0" bIns="0" rtlCol="0" anchor="ctr"/>
          <a:lstStyle/>
          <a:p>
            <a:pPr marL="0" indent="0">
              <a:buNone/>
            </a:pPr>
            <a:r>
              <a:rPr lang="en-US" sz="1250" dirty="0">
                <a:solidFill>
                  <a:srgbClr val="2B2523"/>
                </a:solidFill>
                <a:latin typeface="Calibri" pitchFamily="34" charset="0"/>
                <a:ea typeface="Calibri" pitchFamily="34" charset="-122"/>
                <a:cs typeface="Calibri" pitchFamily="34" charset="-120"/>
              </a:rPr>
              <a:t>Method: two independent random samples, each of 15 matched and 15 unmatched reports, read and classified by hand.</a:t>
            </a:r>
            <a:endParaRPr lang="en-US" sz="1250" dirty="0"/>
          </a:p>
        </p:txBody>
      </p:sp>
      <p:sp>
        <p:nvSpPr>
          <p:cNvPr id="5" name="Shape 3"/>
          <p:cNvSpPr/>
          <p:nvPr/>
        </p:nvSpPr>
        <p:spPr>
          <a:xfrm>
            <a:off x="566928" y="2101378"/>
            <a:ext cx="5486400" cy="1874520"/>
          </a:xfrm>
          <a:prstGeom prst="roundRect">
            <a:avLst>
              <a:gd name="adj" fmla="val 2927"/>
            </a:avLst>
          </a:prstGeom>
          <a:solidFill>
            <a:srgbClr val="F7F5F1"/>
          </a:solidFill>
          <a:ln/>
          <a:effectLst>
            <a:outerShdw blurRad="76200" dist="381" dir="5400000" algn="bl" rotWithShape="0">
              <a:srgbClr val="000000">
                <a:alpha val="8000"/>
              </a:srgbClr>
            </a:outerShdw>
          </a:effectLst>
        </p:spPr>
      </p:sp>
      <p:sp>
        <p:nvSpPr>
          <p:cNvPr id="6" name="Text 4"/>
          <p:cNvSpPr/>
          <p:nvPr/>
        </p:nvSpPr>
        <p:spPr>
          <a:xfrm>
            <a:off x="822960" y="2247682"/>
            <a:ext cx="2743200" cy="256032"/>
          </a:xfrm>
          <a:prstGeom prst="rect">
            <a:avLst/>
          </a:prstGeom>
          <a:noFill/>
          <a:ln/>
        </p:spPr>
        <p:txBody>
          <a:bodyPr wrap="square" lIns="0" tIns="0" rIns="0" bIns="0" rtlCol="0" anchor="ctr"/>
          <a:lstStyle/>
          <a:p>
            <a:pPr marL="0" indent="0">
              <a:buNone/>
            </a:pPr>
            <a:r>
              <a:rPr lang="en-US" sz="1050" b="1" kern="0" spc="150" dirty="0">
                <a:solidFill>
                  <a:srgbClr val="B85042"/>
                </a:solidFill>
                <a:latin typeface="Calibri" pitchFamily="34" charset="0"/>
                <a:ea typeface="Calibri" pitchFamily="34" charset="-122"/>
                <a:cs typeface="Calibri" pitchFamily="34" charset="-120"/>
              </a:rPr>
              <a:t>PRECISION</a:t>
            </a:r>
            <a:endParaRPr lang="en-US" sz="1050" dirty="0"/>
          </a:p>
        </p:txBody>
      </p:sp>
      <p:sp>
        <p:nvSpPr>
          <p:cNvPr id="7" name="Text 5"/>
          <p:cNvSpPr/>
          <p:nvPr/>
        </p:nvSpPr>
        <p:spPr>
          <a:xfrm>
            <a:off x="822960" y="2503714"/>
            <a:ext cx="1554480" cy="658368"/>
          </a:xfrm>
          <a:prstGeom prst="rect">
            <a:avLst/>
          </a:prstGeom>
          <a:noFill/>
          <a:ln/>
        </p:spPr>
        <p:txBody>
          <a:bodyPr wrap="square" lIns="0" tIns="0" rIns="0" bIns="0" rtlCol="0" anchor="ctr"/>
          <a:lstStyle/>
          <a:p>
            <a:pPr marL="0" indent="0">
              <a:buNone/>
            </a:pPr>
            <a:r>
              <a:rPr lang="en-US" sz="4200" b="1" dirty="0">
                <a:solidFill>
                  <a:srgbClr val="B85042"/>
                </a:solidFill>
                <a:latin typeface="Cambria" pitchFamily="34" charset="0"/>
                <a:ea typeface="Cambria" pitchFamily="34" charset="-122"/>
                <a:cs typeface="Cambria" pitchFamily="34" charset="-120"/>
              </a:rPr>
              <a:t>43%</a:t>
            </a:r>
            <a:endParaRPr lang="en-US" sz="4200" dirty="0"/>
          </a:p>
        </p:txBody>
      </p:sp>
      <p:sp>
        <p:nvSpPr>
          <p:cNvPr id="8" name="Text 6"/>
          <p:cNvSpPr/>
          <p:nvPr/>
        </p:nvSpPr>
        <p:spPr>
          <a:xfrm>
            <a:off x="2395728" y="2522002"/>
            <a:ext cx="3429000" cy="914400"/>
          </a:xfrm>
          <a:prstGeom prst="rect">
            <a:avLst/>
          </a:prstGeom>
          <a:noFill/>
          <a:ln/>
        </p:spPr>
        <p:txBody>
          <a:bodyPr wrap="square" lIns="0" tIns="0" rIns="0" bIns="0" rtlCol="0" anchor="ctr"/>
          <a:lstStyle/>
          <a:p>
            <a:pPr marL="0" indent="0">
              <a:lnSpc>
                <a:spcPts val="1400"/>
              </a:lnSpc>
              <a:buNone/>
            </a:pPr>
            <a:r>
              <a:rPr lang="en-US" sz="1100" dirty="0">
                <a:solidFill>
                  <a:srgbClr val="7A6E68"/>
                </a:solidFill>
                <a:latin typeface="Calibri" pitchFamily="34" charset="0"/>
                <a:ea typeface="Calibri" pitchFamily="34" charset="-122"/>
                <a:cs typeface="Calibri" pitchFamily="34" charset="-120"/>
              </a:rPr>
              <a:t>13 of 30 matched reports were genuinely about the district they matched.</a:t>
            </a:r>
            <a:endParaRPr lang="en-US" sz="1100" dirty="0"/>
          </a:p>
          <a:p>
            <a:pPr marL="0" indent="0">
              <a:lnSpc>
                <a:spcPts val="1400"/>
              </a:lnSpc>
              <a:buNone/>
            </a:pPr>
            <a:r>
              <a:rPr lang="en-US" sz="1100" dirty="0">
                <a:solidFill>
                  <a:srgbClr val="7A6E68"/>
                </a:solidFill>
                <a:latin typeface="Calibri" pitchFamily="34" charset="0"/>
                <a:ea typeface="Calibri" pitchFamily="34" charset="-122"/>
                <a:cs typeface="Calibri" pitchFamily="34" charset="-120"/>
              </a:rPr>
              <a:t>Sample 1: 8/15 (53%).  Sample 2: 5/15 (33%).</a:t>
            </a:r>
            <a:endParaRPr lang="en-US" sz="1100" dirty="0"/>
          </a:p>
        </p:txBody>
      </p:sp>
      <p:sp>
        <p:nvSpPr>
          <p:cNvPr id="9" name="Shape 7"/>
          <p:cNvSpPr/>
          <p:nvPr/>
        </p:nvSpPr>
        <p:spPr>
          <a:xfrm>
            <a:off x="6492240" y="2101378"/>
            <a:ext cx="5102352" cy="1874520"/>
          </a:xfrm>
          <a:prstGeom prst="roundRect">
            <a:avLst>
              <a:gd name="adj" fmla="val 2927"/>
            </a:avLst>
          </a:prstGeom>
          <a:solidFill>
            <a:srgbClr val="2B2523"/>
          </a:solidFill>
          <a:ln/>
          <a:effectLst>
            <a:outerShdw blurRad="76200" dist="381" dir="5400000" algn="bl" rotWithShape="0">
              <a:srgbClr val="000000">
                <a:alpha val="8000"/>
              </a:srgbClr>
            </a:outerShdw>
          </a:effectLst>
        </p:spPr>
      </p:sp>
      <p:sp>
        <p:nvSpPr>
          <p:cNvPr id="10" name="Text 8"/>
          <p:cNvSpPr/>
          <p:nvPr/>
        </p:nvSpPr>
        <p:spPr>
          <a:xfrm>
            <a:off x="6729984" y="2247682"/>
            <a:ext cx="2743200" cy="256032"/>
          </a:xfrm>
          <a:prstGeom prst="rect">
            <a:avLst/>
          </a:prstGeom>
          <a:noFill/>
          <a:ln/>
        </p:spPr>
        <p:txBody>
          <a:bodyPr wrap="square" lIns="0" tIns="0" rIns="0" bIns="0" rtlCol="0" anchor="ctr"/>
          <a:lstStyle/>
          <a:p>
            <a:pPr marL="0" indent="0">
              <a:buNone/>
            </a:pPr>
            <a:r>
              <a:rPr lang="en-US" sz="1050" b="1" kern="0" spc="150" dirty="0">
                <a:solidFill>
                  <a:srgbClr val="A7BEAE"/>
                </a:solidFill>
                <a:latin typeface="Calibri" pitchFamily="34" charset="0"/>
                <a:ea typeface="Calibri" pitchFamily="34" charset="-122"/>
                <a:cs typeface="Calibri" pitchFamily="34" charset="-120"/>
              </a:rPr>
              <a:t>RECALL</a:t>
            </a:r>
            <a:endParaRPr lang="en-US" sz="1050" dirty="0"/>
          </a:p>
        </p:txBody>
      </p:sp>
      <p:sp>
        <p:nvSpPr>
          <p:cNvPr id="11" name="Text 9"/>
          <p:cNvSpPr/>
          <p:nvPr/>
        </p:nvSpPr>
        <p:spPr>
          <a:xfrm>
            <a:off x="6729984" y="2503714"/>
            <a:ext cx="914400" cy="658368"/>
          </a:xfrm>
          <a:prstGeom prst="rect">
            <a:avLst/>
          </a:prstGeom>
          <a:noFill/>
          <a:ln/>
        </p:spPr>
        <p:txBody>
          <a:bodyPr wrap="square" lIns="0" tIns="0" rIns="0" bIns="0" rtlCol="0" anchor="ctr"/>
          <a:lstStyle/>
          <a:p>
            <a:pPr marL="0" indent="0">
              <a:buNone/>
            </a:pPr>
            <a:r>
              <a:rPr lang="en-US" sz="4200" b="1" dirty="0">
                <a:solidFill>
                  <a:srgbClr val="A7BEAE"/>
                </a:solidFill>
                <a:latin typeface="Cambria" pitchFamily="34" charset="0"/>
                <a:ea typeface="Cambria" pitchFamily="34" charset="-122"/>
                <a:cs typeface="Cambria" pitchFamily="34" charset="-120"/>
              </a:rPr>
              <a:t>1</a:t>
            </a:r>
            <a:endParaRPr lang="en-US" sz="4200" dirty="0"/>
          </a:p>
        </p:txBody>
      </p:sp>
      <p:sp>
        <p:nvSpPr>
          <p:cNvPr id="12" name="Text 10"/>
          <p:cNvSpPr/>
          <p:nvPr/>
        </p:nvSpPr>
        <p:spPr>
          <a:xfrm>
            <a:off x="7781544" y="2503714"/>
            <a:ext cx="3703320" cy="1005840"/>
          </a:xfrm>
          <a:prstGeom prst="rect">
            <a:avLst/>
          </a:prstGeom>
          <a:noFill/>
          <a:ln/>
        </p:spPr>
        <p:txBody>
          <a:bodyPr wrap="square" lIns="0" tIns="0" rIns="0" bIns="0" rtlCol="0" anchor="ctr"/>
          <a:lstStyle/>
          <a:p>
            <a:pPr marL="0" indent="0">
              <a:lnSpc>
                <a:spcPts val="1400"/>
              </a:lnSpc>
              <a:buNone/>
            </a:pPr>
            <a:r>
              <a:rPr lang="en-US" sz="1100" dirty="0">
                <a:solidFill>
                  <a:srgbClr val="E7E8D1"/>
                </a:solidFill>
                <a:latin typeface="Calibri" pitchFamily="34" charset="0"/>
                <a:ea typeface="Calibri" pitchFamily="34" charset="-122"/>
                <a:cs typeface="Calibri" pitchFamily="34" charset="-120"/>
              </a:rPr>
              <a:t>Confirmed miss across 30 unmatched reports. A flood-response report naming Baardheere went uncaught, because the district was stored under the GADM spelling "Baar Dheere" with no alias.</a:t>
            </a:r>
            <a:endParaRPr lang="en-US" sz="1100" dirty="0"/>
          </a:p>
        </p:txBody>
      </p:sp>
      <p:sp>
        <p:nvSpPr>
          <p:cNvPr id="13" name="Text 11"/>
          <p:cNvSpPr/>
          <p:nvPr/>
        </p:nvSpPr>
        <p:spPr>
          <a:xfrm>
            <a:off x="585216" y="4428962"/>
            <a:ext cx="5486400" cy="310896"/>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Why the false matches happened</a:t>
            </a:r>
            <a:endParaRPr lang="en-US" sz="1600" dirty="0"/>
          </a:p>
        </p:txBody>
      </p:sp>
      <p:sp>
        <p:nvSpPr>
          <p:cNvPr id="14" name="Shape 12"/>
          <p:cNvSpPr/>
          <p:nvPr/>
        </p:nvSpPr>
        <p:spPr>
          <a:xfrm>
            <a:off x="585216" y="4867874"/>
            <a:ext cx="3584448" cy="1280160"/>
          </a:xfrm>
          <a:prstGeom prst="roundRect">
            <a:avLst>
              <a:gd name="adj" fmla="val 4286"/>
            </a:avLst>
          </a:prstGeom>
          <a:solidFill>
            <a:srgbClr val="E7E8D1"/>
          </a:solidFill>
          <a:ln/>
          <a:effectLst>
            <a:outerShdw blurRad="76200" dist="381" dir="5400000" algn="bl" rotWithShape="0">
              <a:srgbClr val="000000">
                <a:alpha val="8000"/>
              </a:srgbClr>
            </a:outerShdw>
          </a:effectLst>
        </p:spPr>
      </p:sp>
      <p:sp>
        <p:nvSpPr>
          <p:cNvPr id="15" name="Text 13"/>
          <p:cNvSpPr/>
          <p:nvPr/>
        </p:nvSpPr>
        <p:spPr>
          <a:xfrm>
            <a:off x="804672" y="4995890"/>
            <a:ext cx="3200400" cy="274320"/>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Datelines</a:t>
            </a:r>
            <a:endParaRPr lang="en-US" sz="1300" dirty="0"/>
          </a:p>
        </p:txBody>
      </p:sp>
      <p:sp>
        <p:nvSpPr>
          <p:cNvPr id="16" name="Text 14"/>
          <p:cNvSpPr/>
          <p:nvPr/>
        </p:nvSpPr>
        <p:spPr>
          <a:xfrm>
            <a:off x="804672" y="5288498"/>
            <a:ext cx="3200400" cy="768096"/>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National press releases naming a district only in the opening dateline, such as "Mogadishu, the UK has donated…".</a:t>
            </a:r>
            <a:endParaRPr lang="en-US" sz="1050" dirty="0"/>
          </a:p>
        </p:txBody>
      </p:sp>
      <p:sp>
        <p:nvSpPr>
          <p:cNvPr id="17" name="Shape 15"/>
          <p:cNvSpPr/>
          <p:nvPr/>
        </p:nvSpPr>
        <p:spPr>
          <a:xfrm>
            <a:off x="4297680" y="4867874"/>
            <a:ext cx="3584448" cy="1280160"/>
          </a:xfrm>
          <a:prstGeom prst="roundRect">
            <a:avLst>
              <a:gd name="adj" fmla="val 4286"/>
            </a:avLst>
          </a:prstGeom>
          <a:solidFill>
            <a:srgbClr val="E7E8D1"/>
          </a:solidFill>
          <a:ln/>
          <a:effectLst>
            <a:outerShdw blurRad="76200" dist="381" dir="5400000" algn="bl" rotWithShape="0">
              <a:srgbClr val="000000">
                <a:alpha val="8000"/>
              </a:srgbClr>
            </a:outerShdw>
          </a:effectLst>
        </p:spPr>
      </p:sp>
      <p:sp>
        <p:nvSpPr>
          <p:cNvPr id="18" name="Text 16"/>
          <p:cNvSpPr/>
          <p:nvPr/>
        </p:nvSpPr>
        <p:spPr>
          <a:xfrm>
            <a:off x="4517136" y="4995890"/>
            <a:ext cx="3200400" cy="274320"/>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Reference bulletins</a:t>
            </a:r>
            <a:endParaRPr lang="en-US" sz="1300" dirty="0"/>
          </a:p>
        </p:txBody>
      </p:sp>
      <p:sp>
        <p:nvSpPr>
          <p:cNvPr id="19" name="Text 17"/>
          <p:cNvSpPr/>
          <p:nvPr/>
        </p:nvSpPr>
        <p:spPr>
          <a:xfrm>
            <a:off x="4517136" y="5288498"/>
            <a:ext cx="3200400" cy="768096"/>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Price and livestock bulletins listing many districts purely as comparison points, not because anything happened there.</a:t>
            </a:r>
            <a:endParaRPr lang="en-US" sz="1050" dirty="0"/>
          </a:p>
        </p:txBody>
      </p:sp>
      <p:sp>
        <p:nvSpPr>
          <p:cNvPr id="20" name="Shape 18"/>
          <p:cNvSpPr/>
          <p:nvPr/>
        </p:nvSpPr>
        <p:spPr>
          <a:xfrm>
            <a:off x="8010144" y="4867874"/>
            <a:ext cx="3584448" cy="1280160"/>
          </a:xfrm>
          <a:prstGeom prst="roundRect">
            <a:avLst>
              <a:gd name="adj" fmla="val 4286"/>
            </a:avLst>
          </a:prstGeom>
          <a:solidFill>
            <a:srgbClr val="E7E8D1"/>
          </a:solidFill>
          <a:ln/>
          <a:effectLst>
            <a:outerShdw blurRad="76200" dist="381" dir="5400000" algn="bl" rotWithShape="0">
              <a:srgbClr val="000000">
                <a:alpha val="8000"/>
              </a:srgbClr>
            </a:outerShdw>
          </a:effectLst>
        </p:spPr>
      </p:sp>
      <p:sp>
        <p:nvSpPr>
          <p:cNvPr id="21" name="Text 19"/>
          <p:cNvSpPr/>
          <p:nvPr/>
        </p:nvSpPr>
        <p:spPr>
          <a:xfrm>
            <a:off x="8229600" y="4995890"/>
            <a:ext cx="3200400" cy="274320"/>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Missing aliases</a:t>
            </a:r>
            <a:endParaRPr lang="en-US" sz="1300" dirty="0"/>
          </a:p>
        </p:txBody>
      </p:sp>
      <p:sp>
        <p:nvSpPr>
          <p:cNvPr id="22" name="Text 20"/>
          <p:cNvSpPr/>
          <p:nvPr/>
        </p:nvSpPr>
        <p:spPr>
          <a:xfrm>
            <a:off x="8229600" y="5288498"/>
            <a:ext cx="3200400" cy="768096"/>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Districts stored under a spelling the reports never use, so genuine mentions were never found.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3000" b="1" dirty="0">
                <a:solidFill>
                  <a:srgbClr val="2B2523"/>
                </a:solidFill>
                <a:latin typeface="Cambria" pitchFamily="34" charset="0"/>
                <a:ea typeface="Cambria" pitchFamily="34" charset="-122"/>
                <a:cs typeface="Cambria" pitchFamily="34" charset="-120"/>
              </a:rPr>
              <a:t>Task 7 (2 of 2): what was done about it</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Precision filters, then a three-stage alias expansion</a:t>
            </a:r>
            <a:endParaRPr lang="en-US" sz="1350" dirty="0"/>
          </a:p>
        </p:txBody>
      </p:sp>
      <p:sp>
        <p:nvSpPr>
          <p:cNvPr id="4" name="Shape 2"/>
          <p:cNvSpPr/>
          <p:nvPr/>
        </p:nvSpPr>
        <p:spPr>
          <a:xfrm>
            <a:off x="566928" y="1463040"/>
            <a:ext cx="5486400" cy="2103120"/>
          </a:xfrm>
          <a:prstGeom prst="roundRect">
            <a:avLst>
              <a:gd name="adj" fmla="val 2609"/>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22960" y="1591056"/>
            <a:ext cx="4572000" cy="292608"/>
          </a:xfrm>
          <a:prstGeom prst="rect">
            <a:avLst/>
          </a:prstGeom>
          <a:noFill/>
          <a:ln/>
        </p:spPr>
        <p:txBody>
          <a:bodyPr wrap="square" lIns="0" tIns="0" rIns="0" bIns="0" rtlCol="0" anchor="ctr"/>
          <a:lstStyle/>
          <a:p>
            <a:pPr marL="0" indent="0">
              <a:buNone/>
            </a:pPr>
            <a:r>
              <a:rPr lang="en-US" sz="1500" b="1" dirty="0">
                <a:solidFill>
                  <a:srgbClr val="2B2523"/>
                </a:solidFill>
                <a:latin typeface="Cambria" pitchFamily="34" charset="0"/>
                <a:ea typeface="Cambria" pitchFamily="34" charset="-122"/>
                <a:cs typeface="Cambria" pitchFamily="34" charset="-120"/>
              </a:rPr>
              <a:t>Precision filters</a:t>
            </a:r>
            <a:endParaRPr lang="en-US" sz="1500" dirty="0"/>
          </a:p>
        </p:txBody>
      </p:sp>
      <p:sp>
        <p:nvSpPr>
          <p:cNvPr id="6" name="Text 4"/>
          <p:cNvSpPr/>
          <p:nvPr/>
        </p:nvSpPr>
        <p:spPr>
          <a:xfrm>
            <a:off x="822960" y="1920240"/>
            <a:ext cx="5029200" cy="1572768"/>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7A6E68"/>
                </a:solidFill>
                <a:latin typeface="Calibri" pitchFamily="34" charset="0"/>
                <a:ea typeface="Calibri" pitchFamily="34" charset="-122"/>
                <a:cs typeface="Calibri" pitchFamily="34" charset="-120"/>
              </a:rPr>
              <a:t>Datelines stripped from the report body before matching, so a district named only there no longer counts.</a:t>
            </a:r>
            <a:endParaRPr lang="en-US" sz="1100" dirty="0"/>
          </a:p>
          <a:p>
            <a:pPr marL="342900" indent="-342900">
              <a:lnSpc>
                <a:spcPts val="1400"/>
              </a:lnSpc>
              <a:spcAft>
                <a:spcPts val="700"/>
              </a:spcAft>
              <a:buSzPct val="100000"/>
              <a:buChar char="•"/>
            </a:pPr>
            <a:r>
              <a:rPr lang="en-US" sz="1100" dirty="0">
                <a:solidFill>
                  <a:srgbClr val="7A6E68"/>
                </a:solidFill>
                <a:latin typeface="Calibri" pitchFamily="34" charset="0"/>
                <a:ea typeface="Calibri" pitchFamily="34" charset="-122"/>
                <a:cs typeface="Calibri" pitchFamily="34" charset="-120"/>
              </a:rPr>
              <a:t>Bulletins excluded by title. A district-count threshold was tried first and rejected: the Livestock Price Bulletin names four districts, exactly as many as a genuine UNHCR update.</a:t>
            </a:r>
            <a:endParaRPr lang="en-US" sz="1100" dirty="0"/>
          </a:p>
          <a:p>
            <a:pPr marL="342900" indent="-342900">
              <a:lnSpc>
                <a:spcPts val="1400"/>
              </a:lnSpc>
              <a:buSzPct val="100000"/>
              <a:buChar char="•"/>
            </a:pPr>
            <a:r>
              <a:rPr lang="en-US" sz="1100" dirty="0">
                <a:solidFill>
                  <a:srgbClr val="7A6E68"/>
                </a:solidFill>
                <a:latin typeface="Calibri" pitchFamily="34" charset="0"/>
                <a:ea typeface="Calibri" pitchFamily="34" charset="-122"/>
                <a:cs typeface="Calibri" pitchFamily="34" charset="-120"/>
              </a:rPr>
              <a:t>Both rules were checked against six hand-labelled cases first and got all six right.</a:t>
            </a:r>
            <a:endParaRPr lang="en-US" sz="1100" dirty="0"/>
          </a:p>
        </p:txBody>
      </p:sp>
      <p:sp>
        <p:nvSpPr>
          <p:cNvPr id="7" name="Shape 5"/>
          <p:cNvSpPr/>
          <p:nvPr/>
        </p:nvSpPr>
        <p:spPr>
          <a:xfrm>
            <a:off x="6492240" y="1463040"/>
            <a:ext cx="5102352" cy="2103120"/>
          </a:xfrm>
          <a:prstGeom prst="roundRect">
            <a:avLst>
              <a:gd name="adj" fmla="val 2609"/>
            </a:avLst>
          </a:prstGeom>
          <a:solidFill>
            <a:srgbClr val="2B2523"/>
          </a:solidFill>
          <a:ln/>
          <a:effectLst>
            <a:outerShdw blurRad="76200" dist="381" dir="5400000" algn="bl" rotWithShape="0">
              <a:srgbClr val="000000">
                <a:alpha val="8000"/>
              </a:srgbClr>
            </a:outerShdw>
          </a:effectLst>
        </p:spPr>
      </p:sp>
      <p:sp>
        <p:nvSpPr>
          <p:cNvPr id="8" name="Text 6"/>
          <p:cNvSpPr/>
          <p:nvPr/>
        </p:nvSpPr>
        <p:spPr>
          <a:xfrm>
            <a:off x="6729984" y="1591056"/>
            <a:ext cx="4572000" cy="29260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Alias expansion, 16 → 65 of 74 districts</a:t>
            </a:r>
            <a:endParaRPr lang="en-US" sz="1500" dirty="0"/>
          </a:p>
        </p:txBody>
      </p:sp>
      <p:sp>
        <p:nvSpPr>
          <p:cNvPr id="9" name="Text 7"/>
          <p:cNvSpPr/>
          <p:nvPr/>
        </p:nvSpPr>
        <p:spPr>
          <a:xfrm>
            <a:off x="6729984" y="1920240"/>
            <a:ext cx="4754880" cy="1572768"/>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E7E8D1"/>
                </a:solidFill>
                <a:latin typeface="Calibri" pitchFamily="34" charset="0"/>
                <a:ea typeface="Calibri" pitchFamily="34" charset="-122"/>
                <a:cs typeface="Calibri" pitchFamily="34" charset="-120"/>
              </a:rPr>
              <a:t>Reused the ACLED naming crosswalk already built, taking coverage from 16 to 30 districts.</a:t>
            </a:r>
            <a:endParaRPr lang="en-US" sz="1100" dirty="0"/>
          </a:p>
          <a:p>
            <a:pPr marL="342900" indent="-342900">
              <a:lnSpc>
                <a:spcPts val="1400"/>
              </a:lnSpc>
              <a:spcAft>
                <a:spcPts val="700"/>
              </a:spcAft>
              <a:buSzPct val="100000"/>
              <a:buChar char="•"/>
            </a:pPr>
            <a:r>
              <a:rPr lang="en-US" sz="1100" dirty="0">
                <a:solidFill>
                  <a:srgbClr val="E7E8D1"/>
                </a:solidFill>
                <a:latin typeface="Calibri" pitchFamily="34" charset="0"/>
                <a:ea typeface="Calibri" pitchFamily="34" charset="-122"/>
                <a:cs typeface="Calibri" pitchFamily="34" charset="-120"/>
              </a:rPr>
              <a:t>Parsed GADM's own variant-name field, which had sat unused in the boundary file since download, reaching 65 districts.</a:t>
            </a:r>
            <a:endParaRPr lang="en-US" sz="1100" dirty="0"/>
          </a:p>
          <a:p>
            <a:pPr marL="342900" indent="-342900">
              <a:lnSpc>
                <a:spcPts val="1400"/>
              </a:lnSpc>
              <a:buSzPct val="100000"/>
              <a:buChar char="•"/>
            </a:pPr>
            <a:r>
              <a:rPr lang="en-US" sz="1100" dirty="0">
                <a:solidFill>
                  <a:srgbClr val="E7E8D1"/>
                </a:solidFill>
                <a:latin typeface="Calibri" pitchFamily="34" charset="0"/>
                <a:ea typeface="Calibri" pitchFamily="34" charset="-122"/>
                <a:cs typeface="Calibri" pitchFamily="34" charset="-120"/>
              </a:rPr>
              <a:t>Manual research on the remaining nine found real variants for two more, and confirmed seven genuinely have a single spelling.</a:t>
            </a:r>
            <a:endParaRPr lang="en-US" sz="1100" dirty="0"/>
          </a:p>
        </p:txBody>
      </p:sp>
      <p:sp>
        <p:nvSpPr>
          <p:cNvPr id="10" name="Text 8"/>
          <p:cNvSpPr/>
          <p:nvPr/>
        </p:nvSpPr>
        <p:spPr>
          <a:xfrm>
            <a:off x="566928" y="3749040"/>
            <a:ext cx="5486400" cy="310896"/>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Final result</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4169664"/>
          <a:ext cx="6583680" cy="1463040"/>
        </p:xfrm>
        <a:graphic>
          <a:graphicData uri="http://schemas.openxmlformats.org/drawingml/2006/table">
            <a:tbl>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Reports matched</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Districts covered</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365760">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Original, unvalidated</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108 / 220</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44 / 74</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Precision filters only</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95 / 220</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43 / 74</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50" b="1" dirty="0">
                          <a:solidFill>
                            <a:srgbClr val="2B2523"/>
                          </a:solidFill>
                          <a:latin typeface="Calibri" pitchFamily="34" charset="0"/>
                          <a:ea typeface="Calibri" pitchFamily="34" charset="-122"/>
                          <a:cs typeface="Calibri" pitchFamily="34" charset="-120"/>
                        </a:rPr>
                        <a:t>Filters plus full alias expansion</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b="1" dirty="0">
                          <a:solidFill>
                            <a:srgbClr val="B85042"/>
                          </a:solidFill>
                          <a:latin typeface="Calibri" pitchFamily="34" charset="0"/>
                          <a:ea typeface="Calibri" pitchFamily="34" charset="-122"/>
                          <a:cs typeface="Calibri" pitchFamily="34" charset="-120"/>
                        </a:rPr>
                        <a:t>99 / 220</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b="1" dirty="0">
                          <a:solidFill>
                            <a:srgbClr val="B85042"/>
                          </a:solidFill>
                          <a:latin typeface="Calibri" pitchFamily="34" charset="0"/>
                          <a:ea typeface="Calibri" pitchFamily="34" charset="-122"/>
                          <a:cs typeface="Calibri" pitchFamily="34" charset="-120"/>
                        </a:rPr>
                        <a:t>50 / 74</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Shape 9"/>
          <p:cNvSpPr/>
          <p:nvPr/>
        </p:nvSpPr>
        <p:spPr>
          <a:xfrm>
            <a:off x="7498080" y="4169664"/>
            <a:ext cx="4096512" cy="1463040"/>
          </a:xfrm>
          <a:prstGeom prst="roundRect">
            <a:avLst>
              <a:gd name="adj" fmla="val 3750"/>
            </a:avLst>
          </a:prstGeom>
          <a:solidFill>
            <a:srgbClr val="E7E8D1"/>
          </a:solidFill>
          <a:ln/>
          <a:effectLst>
            <a:outerShdw blurRad="76200" dist="381" dir="5400000" algn="bl" rotWithShape="0">
              <a:srgbClr val="000000">
                <a:alpha val="8000"/>
              </a:srgbClr>
            </a:outerShdw>
          </a:effectLst>
        </p:spPr>
      </p:sp>
      <p:sp>
        <p:nvSpPr>
          <p:cNvPr id="13" name="Text 10"/>
          <p:cNvSpPr/>
          <p:nvPr/>
        </p:nvSpPr>
        <p:spPr>
          <a:xfrm>
            <a:off x="7735824" y="4297680"/>
            <a:ext cx="3840480" cy="274320"/>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Fewer reports, more districts</a:t>
            </a:r>
            <a:endParaRPr lang="en-US" sz="1300" dirty="0"/>
          </a:p>
        </p:txBody>
      </p:sp>
      <p:sp>
        <p:nvSpPr>
          <p:cNvPr id="14" name="Text 11"/>
          <p:cNvSpPr/>
          <p:nvPr/>
        </p:nvSpPr>
        <p:spPr>
          <a:xfrm>
            <a:off x="7735824" y="4590288"/>
            <a:ext cx="3840480" cy="969264"/>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Matching fewer reports than the unvalidated version is the intended outcome, since low-precision matches were deliberately removed. District coverage still rose, because the alias work recovered genuine mentions that had been missed.</a:t>
            </a:r>
            <a:endParaRPr lang="en-US" sz="1050" dirty="0"/>
          </a:p>
        </p:txBody>
      </p:sp>
      <p:sp>
        <p:nvSpPr>
          <p:cNvPr id="15" name="Text 12"/>
          <p:cNvSpPr/>
          <p:nvPr/>
        </p:nvSpPr>
        <p:spPr>
          <a:xfrm>
            <a:off x="566928" y="5870448"/>
            <a:ext cx="11027664" cy="420624"/>
          </a:xfrm>
          <a:prstGeom prst="rect">
            <a:avLst/>
          </a:prstGeom>
          <a:noFill/>
          <a:ln/>
        </p:spPr>
        <p:txBody>
          <a:bodyPr wrap="square" lIns="0" tIns="0" rIns="0" bIns="0" rtlCol="0" anchor="ctr"/>
          <a:lstStyle/>
          <a:p>
            <a:pPr marL="0" indent="0">
              <a:buNone/>
            </a:pPr>
            <a:r>
              <a:rPr lang="en-US" sz="1150" i="1" dirty="0">
                <a:solidFill>
                  <a:srgbClr val="7A6E68"/>
                </a:solidFill>
                <a:latin typeface="Calibri" pitchFamily="34" charset="0"/>
                <a:ea typeface="Calibri" pitchFamily="34" charset="-122"/>
                <a:cs typeface="Calibri" pitchFamily="34" charset="-120"/>
              </a:rPr>
              <a:t>Known limitation: the dateline rule has at least one false negative. A report on a mortar attack at Aden Adde airport is genuinely about Mogadishu, but the only mention sits in the dateline the rule strips.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3000" b="1" dirty="0">
                <a:solidFill>
                  <a:srgbClr val="2B2523"/>
                </a:solidFill>
                <a:latin typeface="Cambria" pitchFamily="34" charset="0"/>
                <a:ea typeface="Cambria" pitchFamily="34" charset="-122"/>
                <a:cs typeface="Cambria" pitchFamily="34" charset="-120"/>
              </a:rPr>
              <a:t>Task 8: three things “coverage” was quietly conflating</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A complete table does not mean a fully observed country</a:t>
            </a:r>
            <a:endParaRPr lang="en-US" sz="1350" dirty="0"/>
          </a:p>
        </p:txBody>
      </p:sp>
      <p:sp>
        <p:nvSpPr>
          <p:cNvPr id="4" name="Shape 2"/>
          <p:cNvSpPr/>
          <p:nvPr/>
        </p:nvSpPr>
        <p:spPr>
          <a:xfrm>
            <a:off x="548640" y="1885188"/>
            <a:ext cx="3584448" cy="1773936"/>
          </a:xfrm>
          <a:prstGeom prst="roundRect">
            <a:avLst>
              <a:gd name="adj" fmla="val 3093"/>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2031492"/>
            <a:ext cx="3017520" cy="585216"/>
          </a:xfrm>
          <a:prstGeom prst="rect">
            <a:avLst/>
          </a:prstGeom>
          <a:noFill/>
          <a:ln/>
        </p:spPr>
        <p:txBody>
          <a:bodyPr wrap="square" lIns="0" tIns="0" rIns="0" bIns="0" rtlCol="0" anchor="ctr"/>
          <a:lstStyle/>
          <a:p>
            <a:pPr marL="0" indent="0">
              <a:buNone/>
            </a:pPr>
            <a:r>
              <a:rPr lang="en-US" sz="1700" b="1" dirty="0">
                <a:solidFill>
                  <a:srgbClr val="2B2523"/>
                </a:solidFill>
                <a:latin typeface="Cambria" pitchFamily="34" charset="0"/>
                <a:ea typeface="Cambria" pitchFamily="34" charset="-122"/>
                <a:cs typeface="Cambria" pitchFamily="34" charset="-120"/>
              </a:rPr>
              <a:t>Structural</a:t>
            </a:r>
            <a:endParaRPr lang="en-US" sz="1700" dirty="0"/>
          </a:p>
          <a:p>
            <a:pPr marL="0" indent="0">
              <a:buNone/>
            </a:pPr>
            <a:r>
              <a:rPr lang="en-US" sz="1700" b="1" dirty="0">
                <a:solidFill>
                  <a:srgbClr val="2B2523"/>
                </a:solidFill>
                <a:latin typeface="Cambria" pitchFamily="34" charset="0"/>
                <a:ea typeface="Cambria" pitchFamily="34" charset="-122"/>
                <a:cs typeface="Cambria" pitchFamily="34" charset="-120"/>
              </a:rPr>
              <a:t>availability</a:t>
            </a:r>
            <a:endParaRPr lang="en-US" sz="1700" dirty="0"/>
          </a:p>
        </p:txBody>
      </p:sp>
      <p:sp>
        <p:nvSpPr>
          <p:cNvPr id="6" name="Text 4"/>
          <p:cNvSpPr/>
          <p:nvPr/>
        </p:nvSpPr>
        <p:spPr>
          <a:xfrm>
            <a:off x="804672" y="2653284"/>
            <a:ext cx="3072384" cy="658368"/>
          </a:xfrm>
          <a:prstGeom prst="rect">
            <a:avLst/>
          </a:prstGeom>
          <a:noFill/>
          <a:ln/>
        </p:spPr>
        <p:txBody>
          <a:bodyPr wrap="square" lIns="0" tIns="0" rIns="0" bIns="0" rtlCol="0" anchor="ctr"/>
          <a:lstStyle/>
          <a:p>
            <a:pPr marL="0" indent="0">
              <a:lnSpc>
                <a:spcPts val="1400"/>
              </a:lnSpc>
              <a:buNone/>
            </a:pPr>
            <a:r>
              <a:rPr lang="en-US" sz="1150" dirty="0">
                <a:solidFill>
                  <a:srgbClr val="7A6E68"/>
                </a:solidFill>
                <a:latin typeface="Calibri" pitchFamily="34" charset="0"/>
                <a:ea typeface="Calibri" pitchFamily="34" charset="-122"/>
                <a:cs typeface="Calibri" pitchFamily="34" charset="-120"/>
              </a:rPr>
              <a:t>Could this source produce a value here at all, even in principle?</a:t>
            </a:r>
            <a:endParaRPr lang="en-US" sz="1150" dirty="0"/>
          </a:p>
        </p:txBody>
      </p:sp>
      <p:sp>
        <p:nvSpPr>
          <p:cNvPr id="7" name="Text 5"/>
          <p:cNvSpPr/>
          <p:nvPr/>
        </p:nvSpPr>
        <p:spPr>
          <a:xfrm>
            <a:off x="804672" y="3329940"/>
            <a:ext cx="3072384" cy="256032"/>
          </a:xfrm>
          <a:prstGeom prst="rect">
            <a:avLst/>
          </a:prstGeom>
          <a:noFill/>
          <a:ln/>
        </p:spPr>
        <p:txBody>
          <a:bodyPr wrap="square" lIns="0" tIns="0" rIns="0" bIns="0" rtlCol="0" anchor="ctr"/>
          <a:lstStyle/>
          <a:p>
            <a:pPr marL="0" indent="0">
              <a:buNone/>
            </a:pPr>
            <a:r>
              <a:rPr lang="en-US" sz="950" b="1" kern="0" spc="100" dirty="0">
                <a:solidFill>
                  <a:srgbClr val="A7BEAE"/>
                </a:solidFill>
                <a:latin typeface="Calibri" pitchFamily="34" charset="0"/>
                <a:ea typeface="Calibri" pitchFamily="34" charset="-122"/>
                <a:cs typeface="Calibri" pitchFamily="34" charset="-120"/>
              </a:rPr>
              <a:t>MEASURABLE</a:t>
            </a:r>
            <a:endParaRPr lang="en-US" sz="950" dirty="0"/>
          </a:p>
        </p:txBody>
      </p:sp>
      <p:sp>
        <p:nvSpPr>
          <p:cNvPr id="8" name="Shape 6"/>
          <p:cNvSpPr/>
          <p:nvPr/>
        </p:nvSpPr>
        <p:spPr>
          <a:xfrm>
            <a:off x="4261104" y="1885188"/>
            <a:ext cx="3584448" cy="1773936"/>
          </a:xfrm>
          <a:prstGeom prst="roundRect">
            <a:avLst>
              <a:gd name="adj" fmla="val 3093"/>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4517136" y="2031492"/>
            <a:ext cx="3017520" cy="585216"/>
          </a:xfrm>
          <a:prstGeom prst="rect">
            <a:avLst/>
          </a:prstGeom>
          <a:noFill/>
          <a:ln/>
        </p:spPr>
        <p:txBody>
          <a:bodyPr wrap="square" lIns="0" tIns="0" rIns="0" bIns="0" rtlCol="0" anchor="ctr"/>
          <a:lstStyle/>
          <a:p>
            <a:pPr marL="0" indent="0">
              <a:buNone/>
            </a:pPr>
            <a:r>
              <a:rPr lang="en-US" sz="1700" b="1" dirty="0">
                <a:solidFill>
                  <a:srgbClr val="2B2523"/>
                </a:solidFill>
                <a:latin typeface="Cambria" pitchFamily="34" charset="0"/>
                <a:ea typeface="Cambria" pitchFamily="34" charset="-122"/>
                <a:cs typeface="Cambria" pitchFamily="34" charset="-120"/>
              </a:rPr>
              <a:t>Recorded</a:t>
            </a:r>
            <a:endParaRPr lang="en-US" sz="1700" dirty="0"/>
          </a:p>
          <a:p>
            <a:pPr marL="0" indent="0">
              <a:buNone/>
            </a:pPr>
            <a:r>
              <a:rPr lang="en-US" sz="1700" b="1" dirty="0">
                <a:solidFill>
                  <a:srgbClr val="2B2523"/>
                </a:solidFill>
                <a:latin typeface="Cambria" pitchFamily="34" charset="0"/>
                <a:ea typeface="Cambria" pitchFamily="34" charset="-122"/>
                <a:cs typeface="Cambria" pitchFamily="34" charset="-120"/>
              </a:rPr>
              <a:t>coverage</a:t>
            </a:r>
            <a:endParaRPr lang="en-US" sz="1700" dirty="0"/>
          </a:p>
        </p:txBody>
      </p:sp>
      <p:sp>
        <p:nvSpPr>
          <p:cNvPr id="10" name="Text 8"/>
          <p:cNvSpPr/>
          <p:nvPr/>
        </p:nvSpPr>
        <p:spPr>
          <a:xfrm>
            <a:off x="4517136" y="2653284"/>
            <a:ext cx="3072384" cy="658368"/>
          </a:xfrm>
          <a:prstGeom prst="rect">
            <a:avLst/>
          </a:prstGeom>
          <a:noFill/>
          <a:ln/>
        </p:spPr>
        <p:txBody>
          <a:bodyPr wrap="square" lIns="0" tIns="0" rIns="0" bIns="0" rtlCol="0" anchor="ctr"/>
          <a:lstStyle/>
          <a:p>
            <a:pPr marL="0" indent="0">
              <a:lnSpc>
                <a:spcPts val="1400"/>
              </a:lnSpc>
              <a:buNone/>
            </a:pPr>
            <a:r>
              <a:rPr lang="en-US" sz="1150" dirty="0">
                <a:solidFill>
                  <a:srgbClr val="7A6E68"/>
                </a:solidFill>
                <a:latin typeface="Calibri" pitchFamily="34" charset="0"/>
                <a:ea typeface="Calibri" pitchFamily="34" charset="-122"/>
                <a:cs typeface="Calibri" pitchFamily="34" charset="-120"/>
              </a:rPr>
              <a:t>Does the dataset actually contain a value for this district-month?</a:t>
            </a:r>
            <a:endParaRPr lang="en-US" sz="1150" dirty="0"/>
          </a:p>
        </p:txBody>
      </p:sp>
      <p:sp>
        <p:nvSpPr>
          <p:cNvPr id="11" name="Text 9"/>
          <p:cNvSpPr/>
          <p:nvPr/>
        </p:nvSpPr>
        <p:spPr>
          <a:xfrm>
            <a:off x="4517136" y="3329940"/>
            <a:ext cx="3072384" cy="256032"/>
          </a:xfrm>
          <a:prstGeom prst="rect">
            <a:avLst/>
          </a:prstGeom>
          <a:noFill/>
          <a:ln/>
        </p:spPr>
        <p:txBody>
          <a:bodyPr wrap="square" lIns="0" tIns="0" rIns="0" bIns="0" rtlCol="0" anchor="ctr"/>
          <a:lstStyle/>
          <a:p>
            <a:pPr marL="0" indent="0">
              <a:buNone/>
            </a:pPr>
            <a:r>
              <a:rPr lang="en-US" sz="950" b="1" kern="0" spc="100" dirty="0">
                <a:solidFill>
                  <a:srgbClr val="A7BEAE"/>
                </a:solidFill>
                <a:latin typeface="Calibri" pitchFamily="34" charset="0"/>
                <a:ea typeface="Calibri" pitchFamily="34" charset="-122"/>
                <a:cs typeface="Calibri" pitchFamily="34" charset="-120"/>
              </a:rPr>
              <a:t>MEASURABLE</a:t>
            </a:r>
            <a:endParaRPr lang="en-US" sz="950" dirty="0"/>
          </a:p>
        </p:txBody>
      </p:sp>
      <p:sp>
        <p:nvSpPr>
          <p:cNvPr id="12" name="Shape 10"/>
          <p:cNvSpPr/>
          <p:nvPr/>
        </p:nvSpPr>
        <p:spPr>
          <a:xfrm>
            <a:off x="7973568" y="1885188"/>
            <a:ext cx="3584448" cy="1773936"/>
          </a:xfrm>
          <a:prstGeom prst="roundRect">
            <a:avLst>
              <a:gd name="adj" fmla="val 3093"/>
            </a:avLst>
          </a:prstGeom>
          <a:solidFill>
            <a:srgbClr val="F7F5F1"/>
          </a:solidFill>
          <a:ln/>
          <a:effectLst>
            <a:outerShdw blurRad="76200" dist="381" dir="5400000" algn="bl" rotWithShape="0">
              <a:srgbClr val="000000">
                <a:alpha val="8000"/>
              </a:srgbClr>
            </a:outerShdw>
          </a:effectLst>
        </p:spPr>
      </p:sp>
      <p:sp>
        <p:nvSpPr>
          <p:cNvPr id="13" name="Text 11"/>
          <p:cNvSpPr/>
          <p:nvPr/>
        </p:nvSpPr>
        <p:spPr>
          <a:xfrm>
            <a:off x="8229600" y="2031492"/>
            <a:ext cx="3017520" cy="585216"/>
          </a:xfrm>
          <a:prstGeom prst="rect">
            <a:avLst/>
          </a:prstGeom>
          <a:noFill/>
          <a:ln/>
        </p:spPr>
        <p:txBody>
          <a:bodyPr wrap="square" lIns="0" tIns="0" rIns="0" bIns="0" rtlCol="0" anchor="ctr"/>
          <a:lstStyle/>
          <a:p>
            <a:pPr marL="0" indent="0">
              <a:buNone/>
            </a:pPr>
            <a:r>
              <a:rPr lang="en-US" sz="1700" b="1" dirty="0">
                <a:solidFill>
                  <a:srgbClr val="2B2523"/>
                </a:solidFill>
                <a:latin typeface="Cambria" pitchFamily="34" charset="0"/>
                <a:ea typeface="Cambria" pitchFamily="34" charset="-122"/>
                <a:cs typeface="Cambria" pitchFamily="34" charset="-120"/>
              </a:rPr>
              <a:t>True</a:t>
            </a:r>
            <a:endParaRPr lang="en-US" sz="1700" dirty="0"/>
          </a:p>
          <a:p>
            <a:pPr marL="0" indent="0">
              <a:buNone/>
            </a:pPr>
            <a:r>
              <a:rPr lang="en-US" sz="1700" b="1" dirty="0">
                <a:solidFill>
                  <a:srgbClr val="2B2523"/>
                </a:solidFill>
                <a:latin typeface="Cambria" pitchFamily="34" charset="0"/>
                <a:ea typeface="Cambria" pitchFamily="34" charset="-122"/>
                <a:cs typeface="Cambria" pitchFamily="34" charset="-120"/>
              </a:rPr>
              <a:t>observability</a:t>
            </a:r>
            <a:endParaRPr lang="en-US" sz="1700" dirty="0"/>
          </a:p>
        </p:txBody>
      </p:sp>
      <p:sp>
        <p:nvSpPr>
          <p:cNvPr id="14" name="Text 12"/>
          <p:cNvSpPr/>
          <p:nvPr/>
        </p:nvSpPr>
        <p:spPr>
          <a:xfrm>
            <a:off x="8229600" y="2653284"/>
            <a:ext cx="3072384" cy="658368"/>
          </a:xfrm>
          <a:prstGeom prst="rect">
            <a:avLst/>
          </a:prstGeom>
          <a:noFill/>
          <a:ln/>
        </p:spPr>
        <p:txBody>
          <a:bodyPr wrap="square" lIns="0" tIns="0" rIns="0" bIns="0" rtlCol="0" anchor="ctr"/>
          <a:lstStyle/>
          <a:p>
            <a:pPr marL="0" indent="0">
              <a:lnSpc>
                <a:spcPts val="1400"/>
              </a:lnSpc>
              <a:buNone/>
            </a:pPr>
            <a:r>
              <a:rPr lang="en-US" sz="1150" dirty="0">
                <a:solidFill>
                  <a:srgbClr val="7A6E68"/>
                </a:solidFill>
                <a:latin typeface="Calibri" pitchFamily="34" charset="0"/>
                <a:ea typeface="Calibri" pitchFamily="34" charset="-122"/>
                <a:cs typeface="Calibri" pitchFamily="34" charset="-120"/>
              </a:rPr>
              <a:t>How well does that value reflect what was really happening?</a:t>
            </a:r>
            <a:endParaRPr lang="en-US" sz="1150" dirty="0"/>
          </a:p>
        </p:txBody>
      </p:sp>
      <p:sp>
        <p:nvSpPr>
          <p:cNvPr id="15" name="Text 13"/>
          <p:cNvSpPr/>
          <p:nvPr/>
        </p:nvSpPr>
        <p:spPr>
          <a:xfrm>
            <a:off x="8229600" y="3329940"/>
            <a:ext cx="3072384" cy="256032"/>
          </a:xfrm>
          <a:prstGeom prst="rect">
            <a:avLst/>
          </a:prstGeom>
          <a:noFill/>
          <a:ln/>
        </p:spPr>
        <p:txBody>
          <a:bodyPr wrap="square" lIns="0" tIns="0" rIns="0" bIns="0" rtlCol="0" anchor="ctr"/>
          <a:lstStyle/>
          <a:p>
            <a:pPr marL="0" indent="0">
              <a:buNone/>
            </a:pPr>
            <a:r>
              <a:rPr lang="en-US" sz="950" b="1" kern="0" spc="100" dirty="0">
                <a:solidFill>
                  <a:srgbClr val="B85042"/>
                </a:solidFill>
                <a:latin typeface="Calibri" pitchFamily="34" charset="0"/>
                <a:ea typeface="Calibri" pitchFamily="34" charset="-122"/>
                <a:cs typeface="Calibri" pitchFamily="34" charset="-120"/>
              </a:rPr>
              <a:t>MOSTLY NOT MEASURABLE</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998419754"/>
              </p:ext>
            </p:extLst>
          </p:nvPr>
        </p:nvGraphicFramePr>
        <p:xfrm>
          <a:off x="548640" y="3896868"/>
          <a:ext cx="11027664" cy="192024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5907024">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Structural</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Recorded</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True observability</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Conflict (ACLED)</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Unknown. A zero may mean no event, or no report of one.</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Climate (CHIRPS / VHI)</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Strong. Satellites do not depend on local reporting.</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Market (WFP)</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47%</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47%</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Mixed. Depends on enumerator visits and vendor choice.</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Reporting (ReliefWeb)</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68%</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50" dirty="0">
                          <a:solidFill>
                            <a:srgbClr val="2B2523"/>
                          </a:solidFill>
                          <a:latin typeface="Calibri" pitchFamily="34" charset="0"/>
                          <a:ea typeface="Calibri" pitchFamily="34" charset="-122"/>
                          <a:cs typeface="Calibri" pitchFamily="34" charset="-120"/>
                        </a:rPr>
                        <a:t>Weakest. About 43% precision on matched reports.</a:t>
                      </a:r>
                      <a:endParaRPr lang="en-US" sz="115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3000" b="1" dirty="0">
                <a:solidFill>
                  <a:srgbClr val="2B2523"/>
                </a:solidFill>
                <a:latin typeface="Cambria" pitchFamily="34" charset="0"/>
                <a:ea typeface="Cambria" pitchFamily="34" charset="-122"/>
                <a:cs typeface="Cambria" pitchFamily="34" charset="-120"/>
              </a:rPr>
              <a:t>Task 9: the pilot results, reframed as exploratory</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Two months of one country cannot support firm conclusions</a:t>
            </a:r>
            <a:endParaRPr lang="en-US" sz="1350" dirty="0"/>
          </a:p>
        </p:txBody>
      </p:sp>
      <p:sp>
        <p:nvSpPr>
          <p:cNvPr id="4" name="Shape 2"/>
          <p:cNvSpPr/>
          <p:nvPr/>
        </p:nvSpPr>
        <p:spPr>
          <a:xfrm>
            <a:off x="539496" y="1856885"/>
            <a:ext cx="5486400" cy="2286000"/>
          </a:xfrm>
          <a:prstGeom prst="roundRect">
            <a:avLst>
              <a:gd name="adj" fmla="val 2400"/>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95528" y="2003189"/>
            <a:ext cx="5029200" cy="292608"/>
          </a:xfrm>
          <a:prstGeom prst="rect">
            <a:avLst/>
          </a:prstGeom>
          <a:noFill/>
          <a:ln/>
        </p:spPr>
        <p:txBody>
          <a:bodyPr wrap="square" lIns="0" tIns="0" rIns="0" bIns="0" rtlCol="0" anchor="ctr"/>
          <a:lstStyle/>
          <a:p>
            <a:pPr marL="0" indent="0">
              <a:buNone/>
            </a:pPr>
            <a:r>
              <a:rPr lang="en-US" sz="1450" b="1" dirty="0">
                <a:solidFill>
                  <a:srgbClr val="2B2523"/>
                </a:solidFill>
                <a:latin typeface="Cambria" pitchFamily="34" charset="0"/>
                <a:ea typeface="Cambria" pitchFamily="34" charset="-122"/>
                <a:cs typeface="Cambria" pitchFamily="34" charset="-120"/>
              </a:rPr>
              <a:t>Pilot 1 · Does market coverage track conflict?</a:t>
            </a:r>
            <a:endParaRPr lang="en-US" sz="1450" dirty="0"/>
          </a:p>
        </p:txBody>
      </p:sp>
      <p:graphicFrame>
        <p:nvGraphicFramePr>
          <p:cNvPr id="9" name="Table 0"/>
          <p:cNvGraphicFramePr>
            <a:graphicFrameLocks noGrp="1"/>
          </p:cNvGraphicFramePr>
          <p:nvPr>
            <p:extLst>
              <p:ext uri="{D42A27DB-BD31-4B8C-83A1-F6EECF244321}">
                <p14:modId xmlns:p14="http://schemas.microsoft.com/office/powerpoint/2010/main" val="3383148989"/>
              </p:ext>
            </p:extLst>
          </p:nvPr>
        </p:nvGraphicFramePr>
        <p:xfrm>
          <a:off x="795528" y="2387237"/>
          <a:ext cx="5029200" cy="932688"/>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With market</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Without</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Conflict events</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4.57</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3.24</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0.18</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Fatalities</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4.61</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7.37</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100" dirty="0">
                          <a:solidFill>
                            <a:srgbClr val="2B2523"/>
                          </a:solidFill>
                          <a:latin typeface="Calibri" pitchFamily="34" charset="0"/>
                          <a:ea typeface="Calibri" pitchFamily="34" charset="-122"/>
                          <a:cs typeface="Calibri" pitchFamily="34" charset="-120"/>
                        </a:rPr>
                        <a:t>0.47</a:t>
                      </a:r>
                      <a:endParaRPr lang="en-US" sz="11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795528" y="3484517"/>
            <a:ext cx="5029200" cy="566928"/>
          </a:xfrm>
          <a:prstGeom prst="rect">
            <a:avLst/>
          </a:prstGeom>
          <a:noFill/>
          <a:ln/>
        </p:spPr>
        <p:txBody>
          <a:bodyPr wrap="square" lIns="0" tIns="0" rIns="0" bIns="0" rtlCol="0" anchor="ctr"/>
          <a:lstStyle/>
          <a:p>
            <a:pPr marL="0" indent="0">
              <a:lnSpc>
                <a:spcPts val="1400"/>
              </a:lnSpc>
              <a:buNone/>
            </a:pPr>
            <a:r>
              <a:rPr lang="en-US" sz="1100" dirty="0">
                <a:solidFill>
                  <a:srgbClr val="7A6E68"/>
                </a:solidFill>
                <a:latin typeface="Calibri" pitchFamily="34" charset="0"/>
                <a:ea typeface="Calibri" pitchFamily="34" charset="-122"/>
                <a:cs typeface="Calibri" pitchFamily="34" charset="-120"/>
              </a:rPr>
              <a:t>No significant difference on either measure, and the direction was not even consistent. Density was excluded here, following its removal in Task 5.</a:t>
            </a:r>
            <a:endParaRPr lang="en-US" sz="1100" dirty="0"/>
          </a:p>
        </p:txBody>
      </p:sp>
      <p:sp>
        <p:nvSpPr>
          <p:cNvPr id="8" name="Shape 5"/>
          <p:cNvSpPr/>
          <p:nvPr/>
        </p:nvSpPr>
        <p:spPr>
          <a:xfrm>
            <a:off x="6464808" y="1856885"/>
            <a:ext cx="5102352" cy="2286000"/>
          </a:xfrm>
          <a:prstGeom prst="roundRect">
            <a:avLst>
              <a:gd name="adj" fmla="val 2400"/>
            </a:avLst>
          </a:prstGeom>
          <a:solidFill>
            <a:srgbClr val="2B2523"/>
          </a:solidFill>
          <a:ln/>
          <a:effectLst>
            <a:outerShdw blurRad="76200" dist="381" dir="5400000" algn="bl" rotWithShape="0">
              <a:srgbClr val="000000">
                <a:alpha val="8000"/>
              </a:srgbClr>
            </a:outerShdw>
          </a:effectLst>
        </p:spPr>
      </p:sp>
      <p:sp>
        <p:nvSpPr>
          <p:cNvPr id="6" name="Text 6"/>
          <p:cNvSpPr/>
          <p:nvPr/>
        </p:nvSpPr>
        <p:spPr>
          <a:xfrm>
            <a:off x="6702552" y="2003189"/>
            <a:ext cx="4754880" cy="292608"/>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Pilot 2 · Does reporting follow conflict?</a:t>
            </a:r>
            <a:endParaRPr lang="en-US" sz="1450" dirty="0"/>
          </a:p>
        </p:txBody>
      </p:sp>
      <p:sp>
        <p:nvSpPr>
          <p:cNvPr id="10" name="Text 7"/>
          <p:cNvSpPr/>
          <p:nvPr/>
        </p:nvSpPr>
        <p:spPr>
          <a:xfrm>
            <a:off x="6702552" y="2350661"/>
            <a:ext cx="4754880" cy="1700784"/>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E7E8D1"/>
                </a:solidFill>
                <a:latin typeface="Calibri" pitchFamily="34" charset="0"/>
                <a:ea typeface="Calibri" pitchFamily="34" charset="-122"/>
                <a:cs typeface="Calibri" pitchFamily="34" charset="-120"/>
              </a:rPr>
              <a:t>Same month, all districts: r = 0.32, p &lt; 0.001.</a:t>
            </a:r>
            <a:endParaRPr lang="en-US" sz="1100" dirty="0"/>
          </a:p>
          <a:p>
            <a:pPr marL="342900" indent="-342900">
              <a:lnSpc>
                <a:spcPts val="1400"/>
              </a:lnSpc>
              <a:spcAft>
                <a:spcPts val="600"/>
              </a:spcAft>
              <a:buSzPct val="100000"/>
              <a:buChar char="•"/>
            </a:pPr>
            <a:r>
              <a:rPr lang="en-US" sz="1100" dirty="0">
                <a:solidFill>
                  <a:srgbClr val="E7E8D1"/>
                </a:solidFill>
                <a:latin typeface="Calibri" pitchFamily="34" charset="0"/>
                <a:ea typeface="Calibri" pitchFamily="34" charset="-122"/>
                <a:cs typeface="Calibri" pitchFamily="34" charset="-120"/>
              </a:rPr>
              <a:t>Excluding the capital barely moved it, to r = 0.29.</a:t>
            </a:r>
            <a:endParaRPr lang="en-US" sz="1100" dirty="0"/>
          </a:p>
          <a:p>
            <a:pPr marL="342900" indent="-342900">
              <a:lnSpc>
                <a:spcPts val="1400"/>
              </a:lnSpc>
              <a:spcAft>
                <a:spcPts val="600"/>
              </a:spcAft>
              <a:buSzPct val="100000"/>
              <a:buChar char="•"/>
            </a:pPr>
            <a:r>
              <a:rPr lang="en-US" sz="1100" dirty="0">
                <a:solidFill>
                  <a:srgbClr val="E7E8D1"/>
                </a:solidFill>
                <a:latin typeface="Calibri" pitchFamily="34" charset="0"/>
                <a:ea typeface="Calibri" pitchFamily="34" charset="-122"/>
                <a:cs typeface="Calibri" pitchFamily="34" charset="-120"/>
              </a:rPr>
              <a:t>January was strong (r = 0.48) but February was not significant, and with only two months there was no way to tell which was typical.</a:t>
            </a:r>
            <a:endParaRPr lang="en-US" sz="1100" dirty="0"/>
          </a:p>
          <a:p>
            <a:pPr marL="342900" indent="-342900">
              <a:lnSpc>
                <a:spcPts val="1400"/>
              </a:lnSpc>
              <a:buSzPct val="100000"/>
              <a:buChar char="•"/>
            </a:pPr>
            <a:r>
              <a:rPr lang="en-US" sz="1100" dirty="0">
                <a:solidFill>
                  <a:srgbClr val="E7E8D1"/>
                </a:solidFill>
                <a:latin typeface="Calibri" pitchFamily="34" charset="0"/>
                <a:ea typeface="Calibri" pitchFamily="34" charset="-122"/>
                <a:cs typeface="Calibri" pitchFamily="34" charset="-120"/>
              </a:rPr>
              <a:t>January conflict against February reports suggested a one-month lag, testable on exactly one pair of months.</a:t>
            </a:r>
            <a:endParaRPr lang="en-US" sz="1100" dirty="0"/>
          </a:p>
        </p:txBody>
      </p:sp>
      <p:sp>
        <p:nvSpPr>
          <p:cNvPr id="11" name="Shape 8"/>
          <p:cNvSpPr/>
          <p:nvPr/>
        </p:nvSpPr>
        <p:spPr>
          <a:xfrm>
            <a:off x="539496" y="4325765"/>
            <a:ext cx="11027664" cy="1737360"/>
          </a:xfrm>
          <a:prstGeom prst="roundRect">
            <a:avLst>
              <a:gd name="adj" fmla="val 3158"/>
            </a:avLst>
          </a:prstGeom>
          <a:solidFill>
            <a:srgbClr val="E7E8D1"/>
          </a:solidFill>
          <a:ln/>
          <a:effectLst>
            <a:outerShdw blurRad="76200" dist="381" dir="5400000" algn="bl" rotWithShape="0">
              <a:srgbClr val="000000">
                <a:alpha val="8000"/>
              </a:srgbClr>
            </a:outerShdw>
          </a:effectLst>
        </p:spPr>
      </p:sp>
      <p:sp>
        <p:nvSpPr>
          <p:cNvPr id="12" name="Text 9"/>
          <p:cNvSpPr/>
          <p:nvPr/>
        </p:nvSpPr>
        <p:spPr>
          <a:xfrm>
            <a:off x="813816" y="4472069"/>
            <a:ext cx="5486400" cy="292608"/>
          </a:xfrm>
          <a:prstGeom prst="rect">
            <a:avLst/>
          </a:prstGeom>
          <a:noFill/>
          <a:ln/>
        </p:spPr>
        <p:txBody>
          <a:bodyPr wrap="square" lIns="0" tIns="0" rIns="0" bIns="0" rtlCol="0" anchor="ctr"/>
          <a:lstStyle/>
          <a:p>
            <a:pPr marL="0" indent="0">
              <a:buNone/>
            </a:pPr>
            <a:r>
              <a:rPr lang="en-US" sz="1500" b="1" dirty="0">
                <a:solidFill>
                  <a:srgbClr val="B85042"/>
                </a:solidFill>
                <a:latin typeface="Cambria" pitchFamily="34" charset="0"/>
                <a:ea typeface="Cambria" pitchFamily="34" charset="-122"/>
                <a:cs typeface="Cambria" pitchFamily="34" charset="-120"/>
              </a:rPr>
              <a:t>How these are presented</a:t>
            </a:r>
            <a:endParaRPr lang="en-US" sz="1500" dirty="0"/>
          </a:p>
        </p:txBody>
      </p:sp>
      <p:sp>
        <p:nvSpPr>
          <p:cNvPr id="13" name="Text 10"/>
          <p:cNvSpPr/>
          <p:nvPr/>
        </p:nvSpPr>
        <p:spPr>
          <a:xfrm>
            <a:off x="813816" y="4801253"/>
            <a:ext cx="10479024" cy="1133856"/>
          </a:xfrm>
          <a:prstGeom prst="rect">
            <a:avLst/>
          </a:prstGeom>
          <a:noFill/>
          <a:ln/>
        </p:spPr>
        <p:txBody>
          <a:bodyPr wrap="square" lIns="0" tIns="0" rIns="0" bIns="0" rtlCol="0" anchor="ctr"/>
          <a:lstStyle/>
          <a:p>
            <a:pPr marL="0" indent="0">
              <a:lnSpc>
                <a:spcPts val="1600"/>
              </a:lnSpc>
              <a:buNone/>
            </a:pPr>
            <a:r>
              <a:rPr lang="en-US" sz="1200" dirty="0">
                <a:solidFill>
                  <a:srgbClr val="2B2523"/>
                </a:solidFill>
                <a:latin typeface="Calibri" pitchFamily="34" charset="0"/>
                <a:ea typeface="Calibri" pitchFamily="34" charset="-122"/>
                <a:cs typeface="Calibri" pitchFamily="34" charset="-120"/>
              </a:rPr>
              <a:t>Both experiments exist to show that the integrated dataset can support cross-mechanism questions that no single source could answer alone. They are demonstrations of what the dataset makes possible, not findings about Somalia. With 74 districts observed over two months, neither result should be read as evidence of a real-world pattern, and both are written up as hypotheses to carry into the full study rather than as conclusions.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1463040" y="3108960"/>
            <a:ext cx="5120640" cy="5120640"/>
          </a:xfrm>
          <a:prstGeom prst="ellipse">
            <a:avLst/>
          </a:prstGeom>
          <a:solidFill>
            <a:srgbClr val="B85042"/>
          </a:solidFill>
          <a:ln/>
        </p:spPr>
      </p:sp>
      <p:sp>
        <p:nvSpPr>
          <p:cNvPr id="3" name="Text 1"/>
          <p:cNvSpPr/>
          <p:nvPr/>
        </p:nvSpPr>
        <p:spPr>
          <a:xfrm>
            <a:off x="566928" y="2286000"/>
            <a:ext cx="7315200" cy="310896"/>
          </a:xfrm>
          <a:prstGeom prst="rect">
            <a:avLst/>
          </a:prstGeom>
          <a:noFill/>
          <a:ln/>
        </p:spPr>
        <p:txBody>
          <a:bodyPr wrap="square" lIns="0" tIns="0" rIns="0" bIns="0" rtlCol="0" anchor="ctr"/>
          <a:lstStyle/>
          <a:p>
            <a:pPr marL="0" indent="0">
              <a:buNone/>
            </a:pPr>
            <a:r>
              <a:rPr lang="en-US" sz="1300" b="1" kern="0" spc="300" dirty="0">
                <a:solidFill>
                  <a:srgbClr val="A7BEAE"/>
                </a:solidFill>
                <a:latin typeface="Calibri" pitchFamily="34" charset="0"/>
                <a:ea typeface="Calibri" pitchFamily="34" charset="-122"/>
                <a:cs typeface="Calibri" pitchFamily="34" charset="-120"/>
              </a:rPr>
              <a:t>TASK 10</a:t>
            </a:r>
            <a:endParaRPr lang="en-US" sz="1300" dirty="0"/>
          </a:p>
        </p:txBody>
      </p:sp>
      <p:sp>
        <p:nvSpPr>
          <p:cNvPr id="4" name="Text 2"/>
          <p:cNvSpPr/>
          <p:nvPr/>
        </p:nvSpPr>
        <p:spPr>
          <a:xfrm>
            <a:off x="566928" y="2697480"/>
            <a:ext cx="9144000" cy="8686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Extending to the full year</a:t>
            </a:r>
            <a:endParaRPr lang="en-US" sz="4000" dirty="0"/>
          </a:p>
        </p:txBody>
      </p:sp>
      <p:sp>
        <p:nvSpPr>
          <p:cNvPr id="5" name="Text 3"/>
          <p:cNvSpPr/>
          <p:nvPr/>
        </p:nvSpPr>
        <p:spPr>
          <a:xfrm>
            <a:off x="566928" y="3703320"/>
            <a:ext cx="7680960" cy="822960"/>
          </a:xfrm>
          <a:prstGeom prst="rect">
            <a:avLst/>
          </a:prstGeom>
          <a:noFill/>
          <a:ln/>
        </p:spPr>
        <p:txBody>
          <a:bodyPr wrap="square" lIns="0" tIns="0" rIns="0" bIns="0" rtlCol="0" anchor="ctr"/>
          <a:lstStyle/>
          <a:p>
            <a:pPr marL="0" indent="0">
              <a:buNone/>
            </a:pPr>
            <a:r>
              <a:rPr lang="en-US" sz="1450" dirty="0">
                <a:solidFill>
                  <a:srgbClr val="E7E8D1"/>
                </a:solidFill>
                <a:latin typeface="Calibri" pitchFamily="34" charset="0"/>
                <a:ea typeface="Calibri" pitchFamily="34" charset="-122"/>
                <a:cs typeface="Calibri" pitchFamily="34" charset="-120"/>
              </a:rPr>
              <a:t>Only after the validity checks above were complete. Two months became twelve and 148 district-months became 888, with the feature set left exactly as validated.</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3000" b="1" dirty="0">
                <a:solidFill>
                  <a:srgbClr val="2B2523"/>
                </a:solidFill>
                <a:latin typeface="Cambria" pitchFamily="34" charset="0"/>
                <a:ea typeface="Cambria" pitchFamily="34" charset="-122"/>
                <a:cs typeface="Cambria" pitchFamily="34" charset="-120"/>
              </a:rPr>
              <a:t>Task 10 (1 of 3): building the full 2024 panel</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Same pipeline, same features, six times the observations</a:t>
            </a:r>
            <a:endParaRPr lang="en-US" sz="1350" dirty="0"/>
          </a:p>
        </p:txBody>
      </p:sp>
      <p:sp>
        <p:nvSpPr>
          <p:cNvPr id="4" name="Shape 2"/>
          <p:cNvSpPr/>
          <p:nvPr/>
        </p:nvSpPr>
        <p:spPr>
          <a:xfrm>
            <a:off x="530352" y="1877133"/>
            <a:ext cx="2377440" cy="1371600"/>
          </a:xfrm>
          <a:prstGeom prst="roundRect">
            <a:avLst>
              <a:gd name="adj" fmla="val 4000"/>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749808" y="1986861"/>
            <a:ext cx="1920240" cy="603504"/>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888</a:t>
            </a:r>
            <a:endParaRPr lang="en-US" sz="3400" dirty="0"/>
          </a:p>
        </p:txBody>
      </p:sp>
      <p:sp>
        <p:nvSpPr>
          <p:cNvPr id="6" name="Text 4"/>
          <p:cNvSpPr/>
          <p:nvPr/>
        </p:nvSpPr>
        <p:spPr>
          <a:xfrm>
            <a:off x="768096" y="2608653"/>
            <a:ext cx="2011680" cy="548640"/>
          </a:xfrm>
          <a:prstGeom prst="rect">
            <a:avLst/>
          </a:prstGeom>
          <a:noFill/>
          <a:ln/>
        </p:spPr>
        <p:txBody>
          <a:bodyPr wrap="square" lIns="0" tIns="0" rIns="0" bIns="0" rtlCol="0" anchor="ctr"/>
          <a:lstStyle/>
          <a:p>
            <a:pPr marL="0" indent="0">
              <a:buNone/>
            </a:pPr>
            <a:r>
              <a:rPr lang="en-US" sz="1100" dirty="0">
                <a:solidFill>
                  <a:srgbClr val="7A6E68"/>
                </a:solidFill>
                <a:latin typeface="Calibri" pitchFamily="34" charset="0"/>
                <a:ea typeface="Calibri" pitchFamily="34" charset="-122"/>
                <a:cs typeface="Calibri" pitchFamily="34" charset="-120"/>
              </a:rPr>
              <a:t>district-months</a:t>
            </a:r>
            <a:endParaRPr lang="en-US" sz="1100" dirty="0"/>
          </a:p>
          <a:p>
            <a:pPr marL="0" indent="0">
              <a:buNone/>
            </a:pPr>
            <a:r>
              <a:rPr lang="en-US" sz="1100" dirty="0">
                <a:solidFill>
                  <a:srgbClr val="7A6E68"/>
                </a:solidFill>
                <a:latin typeface="Calibri" pitchFamily="34" charset="0"/>
                <a:ea typeface="Calibri" pitchFamily="34" charset="-122"/>
                <a:cs typeface="Calibri" pitchFamily="34" charset="-120"/>
              </a:rPr>
              <a:t>74 × 12</a:t>
            </a:r>
            <a:endParaRPr lang="en-US" sz="1100" dirty="0"/>
          </a:p>
        </p:txBody>
      </p:sp>
      <p:sp>
        <p:nvSpPr>
          <p:cNvPr id="7" name="Shape 5"/>
          <p:cNvSpPr/>
          <p:nvPr/>
        </p:nvSpPr>
        <p:spPr>
          <a:xfrm>
            <a:off x="3054096" y="1877133"/>
            <a:ext cx="2377440" cy="1371600"/>
          </a:xfrm>
          <a:prstGeom prst="roundRect">
            <a:avLst>
              <a:gd name="adj" fmla="val 4000"/>
            </a:avLst>
          </a:prstGeom>
          <a:solidFill>
            <a:srgbClr val="F7F5F1"/>
          </a:solidFill>
          <a:ln/>
          <a:effectLst>
            <a:outerShdw blurRad="76200" dist="381" dir="5400000" algn="bl" rotWithShape="0">
              <a:srgbClr val="000000">
                <a:alpha val="8000"/>
              </a:srgbClr>
            </a:outerShdw>
          </a:effectLst>
        </p:spPr>
      </p:sp>
      <p:sp>
        <p:nvSpPr>
          <p:cNvPr id="8" name="Text 6"/>
          <p:cNvSpPr/>
          <p:nvPr/>
        </p:nvSpPr>
        <p:spPr>
          <a:xfrm>
            <a:off x="3273552" y="1986861"/>
            <a:ext cx="1920240" cy="603504"/>
          </a:xfrm>
          <a:prstGeom prst="rect">
            <a:avLst/>
          </a:prstGeom>
          <a:noFill/>
          <a:ln/>
        </p:spPr>
        <p:txBody>
          <a:bodyPr wrap="square" lIns="0" tIns="0" rIns="0" bIns="0" rtlCol="0" anchor="ctr"/>
          <a:lstStyle/>
          <a:p>
            <a:pPr marL="0" indent="0">
              <a:buNone/>
            </a:pPr>
            <a:r>
              <a:rPr lang="en-US" sz="3400" b="1" dirty="0">
                <a:solidFill>
                  <a:srgbClr val="2B2523"/>
                </a:solidFill>
                <a:latin typeface="Cambria" pitchFamily="34" charset="0"/>
                <a:ea typeface="Cambria" pitchFamily="34" charset="-122"/>
                <a:cs typeface="Cambria" pitchFamily="34" charset="-120"/>
              </a:rPr>
              <a:t>30</a:t>
            </a:r>
            <a:endParaRPr lang="en-US" sz="3400" dirty="0"/>
          </a:p>
        </p:txBody>
      </p:sp>
      <p:sp>
        <p:nvSpPr>
          <p:cNvPr id="9" name="Text 7"/>
          <p:cNvSpPr/>
          <p:nvPr/>
        </p:nvSpPr>
        <p:spPr>
          <a:xfrm>
            <a:off x="3291840" y="2608653"/>
            <a:ext cx="2011680" cy="548640"/>
          </a:xfrm>
          <a:prstGeom prst="rect">
            <a:avLst/>
          </a:prstGeom>
          <a:noFill/>
          <a:ln/>
        </p:spPr>
        <p:txBody>
          <a:bodyPr wrap="square" lIns="0" tIns="0" rIns="0" bIns="0" rtlCol="0" anchor="ctr"/>
          <a:lstStyle/>
          <a:p>
            <a:pPr marL="0" indent="0">
              <a:buNone/>
            </a:pPr>
            <a:r>
              <a:rPr lang="en-US" sz="1100" dirty="0">
                <a:solidFill>
                  <a:srgbClr val="7A6E68"/>
                </a:solidFill>
                <a:latin typeface="Calibri" pitchFamily="34" charset="0"/>
                <a:ea typeface="Calibri" pitchFamily="34" charset="-122"/>
                <a:cs typeface="Calibri" pitchFamily="34" charset="-120"/>
              </a:rPr>
              <a:t>columns, identical</a:t>
            </a:r>
            <a:endParaRPr lang="en-US" sz="1100" dirty="0"/>
          </a:p>
          <a:p>
            <a:pPr marL="0" indent="0">
              <a:buNone/>
            </a:pPr>
            <a:r>
              <a:rPr lang="en-US" sz="1100" dirty="0">
                <a:solidFill>
                  <a:srgbClr val="7A6E68"/>
                </a:solidFill>
                <a:latin typeface="Calibri" pitchFamily="34" charset="0"/>
                <a:ea typeface="Calibri" pitchFamily="34" charset="-122"/>
                <a:cs typeface="Calibri" pitchFamily="34" charset="-120"/>
              </a:rPr>
              <a:t>to the prototype</a:t>
            </a:r>
            <a:endParaRPr lang="en-US" sz="1100" dirty="0"/>
          </a:p>
        </p:txBody>
      </p:sp>
      <p:sp>
        <p:nvSpPr>
          <p:cNvPr id="10" name="Shape 8"/>
          <p:cNvSpPr/>
          <p:nvPr/>
        </p:nvSpPr>
        <p:spPr>
          <a:xfrm>
            <a:off x="5577840" y="1877133"/>
            <a:ext cx="2377440" cy="1371600"/>
          </a:xfrm>
          <a:prstGeom prst="roundRect">
            <a:avLst>
              <a:gd name="adj" fmla="val 4000"/>
            </a:avLst>
          </a:prstGeom>
          <a:solidFill>
            <a:srgbClr val="F7F5F1"/>
          </a:solidFill>
          <a:ln/>
          <a:effectLst>
            <a:outerShdw blurRad="76200" dist="381" dir="5400000" algn="bl" rotWithShape="0">
              <a:srgbClr val="000000">
                <a:alpha val="8000"/>
              </a:srgbClr>
            </a:outerShdw>
          </a:effectLst>
        </p:spPr>
      </p:sp>
      <p:sp>
        <p:nvSpPr>
          <p:cNvPr id="11" name="Text 9"/>
          <p:cNvSpPr/>
          <p:nvPr/>
        </p:nvSpPr>
        <p:spPr>
          <a:xfrm>
            <a:off x="5797296" y="1986861"/>
            <a:ext cx="1920240" cy="603504"/>
          </a:xfrm>
          <a:prstGeom prst="rect">
            <a:avLst/>
          </a:prstGeom>
          <a:noFill/>
          <a:ln/>
        </p:spPr>
        <p:txBody>
          <a:bodyPr wrap="square" lIns="0" tIns="0" rIns="0" bIns="0" rtlCol="0" anchor="ctr"/>
          <a:lstStyle/>
          <a:p>
            <a:pPr marL="0" indent="0">
              <a:buNone/>
            </a:pPr>
            <a:r>
              <a:rPr lang="en-US" sz="3400" b="1" dirty="0">
                <a:solidFill>
                  <a:srgbClr val="A7BEAE"/>
                </a:solidFill>
                <a:latin typeface="Cambria" pitchFamily="34" charset="0"/>
                <a:ea typeface="Cambria" pitchFamily="34" charset="-122"/>
                <a:cs typeface="Cambria" pitchFamily="34" charset="-120"/>
              </a:rPr>
              <a:t>0</a:t>
            </a:r>
            <a:endParaRPr lang="en-US" sz="3400" dirty="0"/>
          </a:p>
        </p:txBody>
      </p:sp>
      <p:sp>
        <p:nvSpPr>
          <p:cNvPr id="12" name="Text 10"/>
          <p:cNvSpPr/>
          <p:nvPr/>
        </p:nvSpPr>
        <p:spPr>
          <a:xfrm>
            <a:off x="5815584" y="2608653"/>
            <a:ext cx="2011680" cy="548640"/>
          </a:xfrm>
          <a:prstGeom prst="rect">
            <a:avLst/>
          </a:prstGeom>
          <a:noFill/>
          <a:ln/>
        </p:spPr>
        <p:txBody>
          <a:bodyPr wrap="square" lIns="0" tIns="0" rIns="0" bIns="0" rtlCol="0" anchor="ctr"/>
          <a:lstStyle/>
          <a:p>
            <a:pPr marL="0" indent="0">
              <a:buNone/>
            </a:pPr>
            <a:r>
              <a:rPr lang="en-US" sz="1100" dirty="0">
                <a:solidFill>
                  <a:srgbClr val="7A6E68"/>
                </a:solidFill>
                <a:latin typeface="Calibri" pitchFamily="34" charset="0"/>
                <a:ea typeface="Calibri" pitchFamily="34" charset="-122"/>
                <a:cs typeface="Calibri" pitchFamily="34" charset="-120"/>
              </a:rPr>
              <a:t>features added</a:t>
            </a:r>
            <a:endParaRPr lang="en-US" sz="1100" dirty="0"/>
          </a:p>
          <a:p>
            <a:pPr marL="0" indent="0">
              <a:buNone/>
            </a:pPr>
            <a:r>
              <a:rPr lang="en-US" sz="1100" dirty="0">
                <a:solidFill>
                  <a:srgbClr val="7A6E68"/>
                </a:solidFill>
                <a:latin typeface="Calibri" pitchFamily="34" charset="0"/>
                <a:ea typeface="Calibri" pitchFamily="34" charset="-122"/>
                <a:cs typeface="Calibri" pitchFamily="34" charset="-120"/>
              </a:rPr>
              <a:t>or dropped</a:t>
            </a:r>
            <a:endParaRPr lang="en-US" sz="1100" dirty="0"/>
          </a:p>
        </p:txBody>
      </p:sp>
      <p:sp>
        <p:nvSpPr>
          <p:cNvPr id="13" name="Shape 11"/>
          <p:cNvSpPr/>
          <p:nvPr/>
        </p:nvSpPr>
        <p:spPr>
          <a:xfrm>
            <a:off x="8101584" y="1877133"/>
            <a:ext cx="3456432" cy="1371600"/>
          </a:xfrm>
          <a:prstGeom prst="roundRect">
            <a:avLst>
              <a:gd name="adj" fmla="val 4000"/>
            </a:avLst>
          </a:prstGeom>
          <a:solidFill>
            <a:srgbClr val="E7E8D1"/>
          </a:solidFill>
          <a:ln/>
          <a:effectLst>
            <a:outerShdw blurRad="76200" dist="381" dir="5400000" algn="bl" rotWithShape="0">
              <a:srgbClr val="000000">
                <a:alpha val="8000"/>
              </a:srgbClr>
            </a:outerShdw>
          </a:effectLst>
        </p:spPr>
      </p:sp>
      <p:sp>
        <p:nvSpPr>
          <p:cNvPr id="14" name="Text 12"/>
          <p:cNvSpPr/>
          <p:nvPr/>
        </p:nvSpPr>
        <p:spPr>
          <a:xfrm>
            <a:off x="8321040" y="2005149"/>
            <a:ext cx="3108960" cy="274320"/>
          </a:xfrm>
          <a:prstGeom prst="rect">
            <a:avLst/>
          </a:prstGeom>
          <a:noFill/>
          <a:ln/>
        </p:spPr>
        <p:txBody>
          <a:bodyPr wrap="square" lIns="0" tIns="0" rIns="0" bIns="0" rtlCol="0" anchor="ctr"/>
          <a:lstStyle/>
          <a:p>
            <a:pPr marL="0" indent="0">
              <a:buNone/>
            </a:pPr>
            <a:r>
              <a:rPr lang="en-US" sz="1300" b="1" dirty="0">
                <a:solidFill>
                  <a:srgbClr val="2B2523"/>
                </a:solidFill>
                <a:latin typeface="Cambria" pitchFamily="34" charset="0"/>
                <a:ea typeface="Cambria" pitchFamily="34" charset="-122"/>
                <a:cs typeface="Cambria" pitchFamily="34" charset="-120"/>
              </a:rPr>
              <a:t>Consistency check</a:t>
            </a:r>
            <a:endParaRPr lang="en-US" sz="1300" dirty="0"/>
          </a:p>
        </p:txBody>
      </p:sp>
      <p:sp>
        <p:nvSpPr>
          <p:cNvPr id="15" name="Text 13"/>
          <p:cNvSpPr/>
          <p:nvPr/>
        </p:nvSpPr>
        <p:spPr>
          <a:xfrm>
            <a:off x="8321040" y="2297757"/>
            <a:ext cx="3200400" cy="859536"/>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Market missingness is 52.8% across the full year against 53.4% in the prototype, as expected since market availability does not change month to month.</a:t>
            </a:r>
            <a:endParaRPr lang="en-US" sz="1050" dirty="0"/>
          </a:p>
        </p:txBody>
      </p:sp>
      <p:sp>
        <p:nvSpPr>
          <p:cNvPr id="16" name="Text 14"/>
          <p:cNvSpPr/>
          <p:nvPr/>
        </p:nvSpPr>
        <p:spPr>
          <a:xfrm>
            <a:off x="530352" y="3468189"/>
            <a:ext cx="7315200" cy="310896"/>
          </a:xfrm>
          <a:prstGeom prst="rect">
            <a:avLst/>
          </a:prstGeom>
          <a:noFill/>
          <a:ln/>
        </p:spPr>
        <p:txBody>
          <a:bodyPr wrap="square" lIns="0" tIns="0" rIns="0" bIns="0" rtlCol="0" anchor="ctr"/>
          <a:lstStyle/>
          <a:p>
            <a:pPr marL="0" indent="0">
              <a:buNone/>
            </a:pPr>
            <a:r>
              <a:rPr lang="en-US" sz="1700" b="1" dirty="0">
                <a:solidFill>
                  <a:srgbClr val="2B2523"/>
                </a:solidFill>
                <a:latin typeface="Cambria" pitchFamily="34" charset="0"/>
                <a:ea typeface="Cambria" pitchFamily="34" charset="-122"/>
                <a:cs typeface="Cambria" pitchFamily="34" charset="-120"/>
              </a:rPr>
              <a:t>Two things worth flagging</a:t>
            </a:r>
            <a:endParaRPr lang="en-US" sz="1700" dirty="0"/>
          </a:p>
        </p:txBody>
      </p:sp>
      <p:sp>
        <p:nvSpPr>
          <p:cNvPr id="17" name="Shape 15"/>
          <p:cNvSpPr/>
          <p:nvPr/>
        </p:nvSpPr>
        <p:spPr>
          <a:xfrm>
            <a:off x="530352" y="3888813"/>
            <a:ext cx="5486400" cy="2194560"/>
          </a:xfrm>
          <a:prstGeom prst="roundRect">
            <a:avLst>
              <a:gd name="adj" fmla="val 2500"/>
            </a:avLst>
          </a:prstGeom>
          <a:solidFill>
            <a:srgbClr val="F7F5F1"/>
          </a:solidFill>
          <a:ln/>
          <a:effectLst>
            <a:outerShdw blurRad="76200" dist="381" dir="5400000" algn="bl" rotWithShape="0">
              <a:srgbClr val="000000">
                <a:alpha val="8000"/>
              </a:srgbClr>
            </a:outerShdw>
          </a:effectLst>
        </p:spPr>
      </p:sp>
      <p:sp>
        <p:nvSpPr>
          <p:cNvPr id="18" name="Text 16"/>
          <p:cNvSpPr/>
          <p:nvPr/>
        </p:nvSpPr>
        <p:spPr>
          <a:xfrm>
            <a:off x="768096" y="4035117"/>
            <a:ext cx="4937760" cy="274320"/>
          </a:xfrm>
          <a:prstGeom prst="rect">
            <a:avLst/>
          </a:prstGeom>
          <a:noFill/>
          <a:ln/>
        </p:spPr>
        <p:txBody>
          <a:bodyPr wrap="square" lIns="0" tIns="0" rIns="0" bIns="0" rtlCol="0" anchor="ctr"/>
          <a:lstStyle/>
          <a:p>
            <a:pPr marL="0" indent="0">
              <a:buNone/>
            </a:pPr>
            <a:r>
              <a:rPr lang="en-US" sz="1400" b="1" dirty="0">
                <a:solidFill>
                  <a:srgbClr val="2B2523"/>
                </a:solidFill>
                <a:latin typeface="Cambria" pitchFamily="34" charset="0"/>
                <a:ea typeface="Cambria" pitchFamily="34" charset="-122"/>
                <a:cs typeface="Cambria" pitchFamily="34" charset="-120"/>
              </a:rPr>
              <a:t>Reporting coverage improved sharply</a:t>
            </a:r>
            <a:endParaRPr lang="en-US" sz="1400" dirty="0"/>
          </a:p>
        </p:txBody>
      </p:sp>
      <p:sp>
        <p:nvSpPr>
          <p:cNvPr id="19" name="Text 17"/>
          <p:cNvSpPr/>
          <p:nvPr/>
        </p:nvSpPr>
        <p:spPr>
          <a:xfrm>
            <a:off x="768096" y="4346013"/>
            <a:ext cx="5029200" cy="1609344"/>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District-level ReliefWeb coverage rose from 50 of 74 districts in the prototype to 73 of 74 across the year. Only SO_BANDER_BEYLA was never mentioned in any report in all of 2024, and it also has no market, making it the one district invisible to both non-satellite sources.</a:t>
            </a:r>
            <a:endParaRPr lang="en-US" sz="1150" dirty="0"/>
          </a:p>
        </p:txBody>
      </p:sp>
      <p:sp>
        <p:nvSpPr>
          <p:cNvPr id="20" name="Shape 18"/>
          <p:cNvSpPr/>
          <p:nvPr/>
        </p:nvSpPr>
        <p:spPr>
          <a:xfrm>
            <a:off x="6272784" y="3888813"/>
            <a:ext cx="5285232" cy="2194560"/>
          </a:xfrm>
          <a:prstGeom prst="roundRect">
            <a:avLst>
              <a:gd name="adj" fmla="val 2500"/>
            </a:avLst>
          </a:prstGeom>
          <a:solidFill>
            <a:srgbClr val="2B2523"/>
          </a:solidFill>
          <a:ln/>
          <a:effectLst>
            <a:outerShdw blurRad="76200" dist="381" dir="5400000" algn="bl" rotWithShape="0">
              <a:srgbClr val="000000">
                <a:alpha val="8000"/>
              </a:srgbClr>
            </a:outerShdw>
          </a:effectLst>
        </p:spPr>
      </p:sp>
      <p:sp>
        <p:nvSpPr>
          <p:cNvPr id="21" name="Text 19"/>
          <p:cNvSpPr/>
          <p:nvPr/>
        </p:nvSpPr>
        <p:spPr>
          <a:xfrm>
            <a:off x="6510528" y="4035117"/>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A leap-year edge case, documented</a:t>
            </a:r>
            <a:endParaRPr lang="en-US" sz="1400" dirty="0"/>
          </a:p>
        </p:txBody>
      </p:sp>
      <p:sp>
        <p:nvSpPr>
          <p:cNvPr id="22" name="Text 20"/>
          <p:cNvSpPr/>
          <p:nvPr/>
        </p:nvSpPr>
        <p:spPr>
          <a:xfrm>
            <a:off x="6510528" y="4346013"/>
            <a:ext cx="4937760" cy="1609344"/>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NOAA's 52 weekly vegetation files do not evenly divide a 366-day year. Week 52 ends on 29 December, leaving two days uncovered, so December is normalised by the days actually observed. The day-weighting was checked to reproduce the prototype's hand-written January and February weights exactly before being trusted.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3000" b="1" dirty="0">
                <a:solidFill>
                  <a:srgbClr val="2B2523"/>
                </a:solidFill>
                <a:latin typeface="Cambria" pitchFamily="34" charset="0"/>
                <a:ea typeface="Cambria" pitchFamily="34" charset="-122"/>
                <a:cs typeface="Cambria" pitchFamily="34" charset="-120"/>
              </a:rPr>
              <a:t>Task 10 (2 of 3): re-running the pilots on 888 rows</a:t>
            </a:r>
            <a:endParaRPr lang="en-US" sz="30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Identical code, six times the sample</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2830971408"/>
              </p:ext>
            </p:extLst>
          </p:nvPr>
        </p:nvGraphicFramePr>
        <p:xfrm>
          <a:off x="566928" y="1481328"/>
          <a:ext cx="11027664" cy="2560320"/>
        </p:xfrm>
        <a:graphic>
          <a:graphicData uri="http://schemas.openxmlformats.org/drawingml/2006/table">
            <a:tbl>
              <a:tblPr/>
              <a:tblGrid>
                <a:gridCol w="39319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609344">
                  <a:extLst>
                    <a:ext uri="{9D8B030D-6E8A-4147-A177-3AD203B41FA5}">
                      <a16:colId xmlns:a16="http://schemas.microsoft.com/office/drawing/2014/main" val="20003"/>
                    </a:ext>
                  </a:extLst>
                </a:gridCol>
              </a:tblGrid>
              <a:tr h="42062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Two months (148)</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Full year (888)</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extLst>
                  <a:ext uri="{0D108BD9-81ED-4DB2-BD59-A6C34878D82A}">
                    <a16:rowId xmlns:a16="http://schemas.microsoft.com/office/drawing/2014/main" val="10000"/>
                  </a:ext>
                </a:extLst>
              </a:tr>
              <a:tr h="420624">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Market coverage vs conflict events</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p = 0.18, not significant</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p = 0.0001, significant</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b="1" dirty="0">
                          <a:solidFill>
                            <a:srgbClr val="B85042"/>
                          </a:solidFill>
                          <a:latin typeface="Calibri" pitchFamily="34" charset="0"/>
                          <a:ea typeface="Calibri" pitchFamily="34" charset="-122"/>
                          <a:cs typeface="Calibri" pitchFamily="34" charset="-120"/>
                        </a:rPr>
                        <a:t>Changed</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Market coverage vs fatalities</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p = 0.47, not significant</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p = 0.087, still not significant</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Held</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Reporting attention vs conflict</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r = 0.32</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r = 0.366, p &lt; 0.0001</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Held, stronger</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B2523"/>
                          </a:solidFill>
                          <a:latin typeface="Calibri" pitchFamily="34" charset="0"/>
                          <a:ea typeface="Calibri" pitchFamily="34" charset="-122"/>
                          <a:cs typeface="Calibri" pitchFamily="34" charset="-120"/>
                        </a:rPr>
                        <a:t> Reporting attention vs conflict</a:t>
                      </a:r>
                      <a:endParaRPr lang="en-US" sz="1200" dirty="0">
                        <a:latin typeface="Calibri" charset="0"/>
                        <a:ea typeface="Calibri" charset="0"/>
                        <a:cs typeface="Calibri" charset="0"/>
                      </a:endParaRPr>
                    </a:p>
                    <a:p>
                      <a:pPr marL="0" indent="0">
                        <a:buNone/>
                      </a:pPr>
                      <a:r>
                        <a:rPr lang="en-US" sz="1200" dirty="0">
                          <a:solidFill>
                            <a:srgbClr val="2B2523"/>
                          </a:solidFill>
                          <a:latin typeface="Calibri" pitchFamily="34" charset="0"/>
                          <a:ea typeface="Calibri" pitchFamily="34" charset="-122"/>
                          <a:cs typeface="Calibri" pitchFamily="34" charset="-120"/>
                        </a:rPr>
                        <a:t> (excluding the capital)</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r = 0.29</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r = 0.338</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Held</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Conflict leading reporting by a month</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One pair available</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r = 0.382 across 11 pairs</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buNone/>
                      </a:pPr>
                      <a:r>
                        <a:rPr lang="en-US" sz="1200" dirty="0">
                          <a:solidFill>
                            <a:srgbClr val="2B2523"/>
                          </a:solidFill>
                          <a:latin typeface="Calibri" pitchFamily="34" charset="0"/>
                          <a:ea typeface="Calibri" pitchFamily="34" charset="-122"/>
                          <a:cs typeface="Calibri" pitchFamily="34" charset="-120"/>
                        </a:rPr>
                        <a:t>Held at scale</a:t>
                      </a:r>
                      <a:endParaRPr lang="en-US" sz="1200" dirty="0">
                        <a:latin typeface="Calibri" charset="0"/>
                        <a:ea typeface="Calibri" charset="0"/>
                        <a:cs typeface="Calibri" charset="0"/>
                      </a:endParaRPr>
                    </a:p>
                  </a:txBody>
                  <a:tcPr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566928" y="4535424"/>
            <a:ext cx="5486400" cy="1243584"/>
          </a:xfrm>
          <a:prstGeom prst="roundRect">
            <a:avLst>
              <a:gd name="adj" fmla="val 4412"/>
            </a:avLst>
          </a:prstGeom>
          <a:solidFill>
            <a:srgbClr val="E7E8D1"/>
          </a:solidFill>
          <a:ln/>
          <a:effectLst>
            <a:outerShdw blurRad="76200" dist="381" dir="5400000" algn="bl" rotWithShape="0">
              <a:srgbClr val="000000">
                <a:alpha val="8000"/>
              </a:srgbClr>
            </a:outerShdw>
          </a:effectLst>
        </p:spPr>
      </p:sp>
      <p:sp>
        <p:nvSpPr>
          <p:cNvPr id="6" name="Text 3"/>
          <p:cNvSpPr/>
          <p:nvPr/>
        </p:nvSpPr>
        <p:spPr>
          <a:xfrm>
            <a:off x="804672" y="4663440"/>
            <a:ext cx="4937760" cy="274320"/>
          </a:xfrm>
          <a:prstGeom prst="rect">
            <a:avLst/>
          </a:prstGeom>
          <a:noFill/>
          <a:ln/>
        </p:spPr>
        <p:txBody>
          <a:bodyPr wrap="square" lIns="0" tIns="0" rIns="0" bIns="0" rtlCol="0" anchor="ctr"/>
          <a:lstStyle/>
          <a:p>
            <a:pPr marL="0" indent="0">
              <a:buNone/>
            </a:pPr>
            <a:r>
              <a:rPr lang="en-US" sz="1400" b="1" dirty="0">
                <a:solidFill>
                  <a:srgbClr val="2B2523"/>
                </a:solidFill>
                <a:latin typeface="Cambria" pitchFamily="34" charset="0"/>
                <a:ea typeface="Cambria" pitchFamily="34" charset="-122"/>
                <a:cs typeface="Cambria" pitchFamily="34" charset="-120"/>
              </a:rPr>
              <a:t>10 of 12 months significant on their own</a:t>
            </a:r>
            <a:endParaRPr lang="en-US" sz="1400" dirty="0"/>
          </a:p>
        </p:txBody>
      </p:sp>
      <p:sp>
        <p:nvSpPr>
          <p:cNvPr id="7" name="Text 4"/>
          <p:cNvSpPr/>
          <p:nvPr/>
        </p:nvSpPr>
        <p:spPr>
          <a:xfrm>
            <a:off x="804672" y="4974336"/>
            <a:ext cx="5029200" cy="694944"/>
          </a:xfrm>
          <a:prstGeom prst="rect">
            <a:avLst/>
          </a:prstGeom>
          <a:noFill/>
          <a:ln/>
        </p:spPr>
        <p:txBody>
          <a:bodyPr wrap="square" lIns="0" tIns="0" rIns="0" bIns="0" rtlCol="0" anchor="ctr"/>
          <a:lstStyle/>
          <a:p>
            <a:pPr marL="0" indent="0">
              <a:lnSpc>
                <a:spcPts val="1400"/>
              </a:lnSpc>
              <a:buNone/>
            </a:pPr>
            <a:r>
              <a:rPr lang="en-US" sz="1150" dirty="0">
                <a:solidFill>
                  <a:srgbClr val="7A6E68"/>
                </a:solidFill>
                <a:latin typeface="Calibri" pitchFamily="34" charset="0"/>
                <a:ea typeface="Calibri" pitchFamily="34" charset="-122"/>
                <a:cs typeface="Calibri" pitchFamily="34" charset="-120"/>
              </a:rPr>
              <a:t>The conflict-to-reporting relationship holds independently in every month except February and April, rather than resting on one or two unusual months.</a:t>
            </a:r>
            <a:endParaRPr lang="en-US" sz="1150" dirty="0"/>
          </a:p>
        </p:txBody>
      </p:sp>
      <p:sp>
        <p:nvSpPr>
          <p:cNvPr id="8" name="Shape 5"/>
          <p:cNvSpPr/>
          <p:nvPr/>
        </p:nvSpPr>
        <p:spPr>
          <a:xfrm>
            <a:off x="6309360" y="4535424"/>
            <a:ext cx="5285232" cy="1243584"/>
          </a:xfrm>
          <a:prstGeom prst="roundRect">
            <a:avLst>
              <a:gd name="adj" fmla="val 4412"/>
            </a:avLst>
          </a:prstGeom>
          <a:solidFill>
            <a:srgbClr val="2B2523"/>
          </a:solidFill>
          <a:ln/>
          <a:effectLst>
            <a:outerShdw blurRad="76200" dist="381" dir="5400000" algn="bl" rotWithShape="0">
              <a:srgbClr val="000000">
                <a:alpha val="8000"/>
              </a:srgbClr>
            </a:outerShdw>
          </a:effectLst>
        </p:spPr>
      </p:sp>
      <p:sp>
        <p:nvSpPr>
          <p:cNvPr id="9" name="Text 6"/>
          <p:cNvSpPr/>
          <p:nvPr/>
        </p:nvSpPr>
        <p:spPr>
          <a:xfrm>
            <a:off x="6547104" y="4663440"/>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Why Task 9's caution was right</a:t>
            </a:r>
            <a:endParaRPr lang="en-US" sz="1400" dirty="0"/>
          </a:p>
        </p:txBody>
      </p:sp>
      <p:sp>
        <p:nvSpPr>
          <p:cNvPr id="10" name="Text 7"/>
          <p:cNvSpPr/>
          <p:nvPr/>
        </p:nvSpPr>
        <p:spPr>
          <a:xfrm>
            <a:off x="6547104" y="4974336"/>
            <a:ext cx="4937760" cy="694944"/>
          </a:xfrm>
          <a:prstGeom prst="rect">
            <a:avLst/>
          </a:prstGeom>
          <a:noFill/>
          <a:ln/>
        </p:spPr>
        <p:txBody>
          <a:bodyPr wrap="square" lIns="0" tIns="0" rIns="0" bIns="0" rtlCol="0" anchor="ctr"/>
          <a:lstStyle/>
          <a:p>
            <a:pPr marL="0" indent="0">
              <a:lnSpc>
                <a:spcPts val="1400"/>
              </a:lnSpc>
              <a:buNone/>
            </a:pPr>
            <a:r>
              <a:rPr lang="en-US" sz="1150" dirty="0">
                <a:solidFill>
                  <a:srgbClr val="E7E8D1"/>
                </a:solidFill>
                <a:latin typeface="Calibri" pitchFamily="34" charset="0"/>
                <a:ea typeface="Calibri" pitchFamily="34" charset="-122"/>
                <a:cs typeface="Calibri" pitchFamily="34" charset="-120"/>
              </a:rPr>
              <a:t>One result genuinely changed once the sample grew. Presenting the pilots as exploratory rather than conclusive was the correct call, and the full year is what settled them.</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2523"/>
        </a:solidFill>
        <a:effectLst/>
      </p:bgPr>
    </p:bg>
    <p:spTree>
      <p:nvGrpSpPr>
        <p:cNvPr id="1" name=""/>
        <p:cNvGrpSpPr/>
        <p:nvPr/>
      </p:nvGrpSpPr>
      <p:grpSpPr>
        <a:xfrm>
          <a:off x="0" y="0"/>
          <a:ext cx="0" cy="0"/>
          <a:chOff x="0" y="0"/>
          <a:chExt cx="0" cy="0"/>
        </a:xfrm>
      </p:grpSpPr>
      <p:sp>
        <p:nvSpPr>
          <p:cNvPr id="2" name="Shape 0"/>
          <p:cNvSpPr/>
          <p:nvPr/>
        </p:nvSpPr>
        <p:spPr>
          <a:xfrm>
            <a:off x="9052560" y="-1737360"/>
            <a:ext cx="5303520" cy="5303520"/>
          </a:xfrm>
          <a:prstGeom prst="ellipse">
            <a:avLst/>
          </a:prstGeom>
          <a:solidFill>
            <a:srgbClr val="B85042"/>
          </a:solidFill>
          <a:ln/>
        </p:spPr>
      </p:sp>
      <p:sp>
        <p:nvSpPr>
          <p:cNvPr id="3" name="Text 1"/>
          <p:cNvSpPr/>
          <p:nvPr/>
        </p:nvSpPr>
        <p:spPr>
          <a:xfrm>
            <a:off x="566928" y="777240"/>
            <a:ext cx="8229600" cy="292608"/>
          </a:xfrm>
          <a:prstGeom prst="rect">
            <a:avLst/>
          </a:prstGeom>
          <a:noFill/>
          <a:ln/>
        </p:spPr>
        <p:txBody>
          <a:bodyPr wrap="square" lIns="0" tIns="0" rIns="0" bIns="0" rtlCol="0" anchor="ctr"/>
          <a:lstStyle/>
          <a:p>
            <a:pPr marL="0" indent="0">
              <a:buNone/>
            </a:pPr>
            <a:r>
              <a:rPr lang="en-US" sz="1250" b="1" kern="0" spc="300" dirty="0">
                <a:solidFill>
                  <a:srgbClr val="A7BEAE"/>
                </a:solidFill>
                <a:latin typeface="Calibri" pitchFamily="34" charset="0"/>
                <a:ea typeface="Calibri" pitchFamily="34" charset="-122"/>
                <a:cs typeface="Calibri" pitchFamily="34" charset="-120"/>
              </a:rPr>
              <a:t>TASK 10 (3 OF 3) · NEW THIS WEEK</a:t>
            </a:r>
            <a:endParaRPr lang="en-US" sz="1250" dirty="0"/>
          </a:p>
        </p:txBody>
      </p:sp>
      <p:sp>
        <p:nvSpPr>
          <p:cNvPr id="4" name="Text 2"/>
          <p:cNvSpPr/>
          <p:nvPr/>
        </p:nvSpPr>
        <p:spPr>
          <a:xfrm>
            <a:off x="566928" y="1188720"/>
            <a:ext cx="8778240" cy="1234440"/>
          </a:xfrm>
          <a:prstGeom prst="rect">
            <a:avLst/>
          </a:prstGeom>
          <a:noFill/>
          <a:ln/>
        </p:spPr>
        <p:txBody>
          <a:bodyPr wrap="square" lIns="0" tIns="0" rIns="0" bIns="0" rtlCol="0" anchor="ctr"/>
          <a:lstStyle/>
          <a:p>
            <a:pPr marL="0" indent="0">
              <a:lnSpc>
                <a:spcPts val="3900"/>
              </a:lnSpc>
              <a:buNone/>
            </a:pPr>
            <a:r>
              <a:rPr lang="en-US" sz="3100" b="1" dirty="0">
                <a:solidFill>
                  <a:srgbClr val="FFFFFF"/>
                </a:solidFill>
                <a:latin typeface="Cambria" pitchFamily="34" charset="0"/>
                <a:ea typeface="Cambria" pitchFamily="34" charset="-122"/>
                <a:cs typeface="Cambria" pitchFamily="34" charset="-120"/>
              </a:rPr>
              <a:t>Two districts, comparable severity,</a:t>
            </a:r>
            <a:endParaRPr lang="en-US" sz="3100" dirty="0"/>
          </a:p>
          <a:p>
            <a:pPr marL="0" indent="0">
              <a:lnSpc>
                <a:spcPts val="3900"/>
              </a:lnSpc>
              <a:buNone/>
            </a:pPr>
            <a:r>
              <a:rPr lang="en-US" sz="3100" b="1" dirty="0">
                <a:solidFill>
                  <a:srgbClr val="FFFFFF"/>
                </a:solidFill>
                <a:latin typeface="Cambria" pitchFamily="34" charset="0"/>
                <a:ea typeface="Cambria" pitchFamily="34" charset="-122"/>
                <a:cs typeface="Cambria" pitchFamily="34" charset="-120"/>
              </a:rPr>
              <a:t>very different attention</a:t>
            </a:r>
            <a:endParaRPr lang="en-US" sz="3100" dirty="0"/>
          </a:p>
        </p:txBody>
      </p:sp>
      <p:sp>
        <p:nvSpPr>
          <p:cNvPr id="5" name="Text 3"/>
          <p:cNvSpPr/>
          <p:nvPr/>
        </p:nvSpPr>
        <p:spPr>
          <a:xfrm>
            <a:off x="566928" y="2487168"/>
            <a:ext cx="8229600" cy="731520"/>
          </a:xfrm>
          <a:prstGeom prst="rect">
            <a:avLst/>
          </a:prstGeom>
          <a:noFill/>
          <a:ln/>
        </p:spPr>
        <p:txBody>
          <a:bodyPr wrap="square" lIns="0" tIns="0" rIns="0" bIns="0" rtlCol="0" anchor="ctr"/>
          <a:lstStyle/>
          <a:p>
            <a:pPr marL="0" indent="0">
              <a:buNone/>
            </a:pPr>
            <a:r>
              <a:rPr lang="en-US" sz="1300" dirty="0">
                <a:solidFill>
                  <a:srgbClr val="E7E8D1"/>
                </a:solidFill>
                <a:latin typeface="Calibri" pitchFamily="34" charset="0"/>
                <a:ea typeface="Calibri" pitchFamily="34" charset="-122"/>
                <a:cs typeface="Calibri" pitchFamily="34" charset="-120"/>
              </a:rPr>
              <a:t>The full year made sub-question 2 testable for the first time. The prototype contained almost no vegetation stress; 2024 contains 143 district-months below the conventional stress threshold.</a:t>
            </a:r>
            <a:endParaRPr lang="en-US" sz="1300" dirty="0"/>
          </a:p>
        </p:txBody>
      </p:sp>
      <p:sp>
        <p:nvSpPr>
          <p:cNvPr id="6" name="Shape 4"/>
          <p:cNvSpPr/>
          <p:nvPr/>
        </p:nvSpPr>
        <p:spPr>
          <a:xfrm>
            <a:off x="472717" y="3282696"/>
            <a:ext cx="4114800" cy="2103120"/>
          </a:xfrm>
          <a:prstGeom prst="roundRect">
            <a:avLst>
              <a:gd name="adj" fmla="val 2609"/>
            </a:avLst>
          </a:prstGeom>
          <a:solidFill>
            <a:srgbClr val="3A3330"/>
          </a:solidFill>
          <a:ln/>
        </p:spPr>
      </p:sp>
      <p:sp>
        <p:nvSpPr>
          <p:cNvPr id="7" name="Text 5"/>
          <p:cNvSpPr/>
          <p:nvPr/>
        </p:nvSpPr>
        <p:spPr>
          <a:xfrm>
            <a:off x="747037" y="3447288"/>
            <a:ext cx="3566160" cy="274320"/>
          </a:xfrm>
          <a:prstGeom prst="rect">
            <a:avLst/>
          </a:prstGeom>
          <a:noFill/>
          <a:ln/>
        </p:spPr>
        <p:txBody>
          <a:bodyPr wrap="square" lIns="0" tIns="0" rIns="0" bIns="0" rtlCol="0" anchor="ctr"/>
          <a:lstStyle/>
          <a:p>
            <a:pPr marL="0" indent="0">
              <a:buNone/>
            </a:pPr>
            <a:r>
              <a:rPr lang="en-US" sz="1050" b="1" kern="0" spc="150" dirty="0">
                <a:solidFill>
                  <a:srgbClr val="B85042"/>
                </a:solidFill>
                <a:latin typeface="Calibri" pitchFamily="34" charset="0"/>
                <a:ea typeface="Calibri" pitchFamily="34" charset="-122"/>
                <a:cs typeface="Calibri" pitchFamily="34" charset="-120"/>
              </a:rPr>
              <a:t>SEVERE CONFLICT</a:t>
            </a:r>
            <a:endParaRPr lang="en-US" sz="1050" dirty="0"/>
          </a:p>
        </p:txBody>
      </p:sp>
      <p:sp>
        <p:nvSpPr>
          <p:cNvPr id="8" name="Text 6"/>
          <p:cNvSpPr/>
          <p:nvPr/>
        </p:nvSpPr>
        <p:spPr>
          <a:xfrm>
            <a:off x="747037" y="3739896"/>
            <a:ext cx="1828800" cy="6400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6.65</a:t>
            </a:r>
            <a:endParaRPr lang="en-US" sz="3800" dirty="0"/>
          </a:p>
        </p:txBody>
      </p:sp>
      <p:sp>
        <p:nvSpPr>
          <p:cNvPr id="9" name="Text 7"/>
          <p:cNvSpPr/>
          <p:nvPr/>
        </p:nvSpPr>
        <p:spPr>
          <a:xfrm>
            <a:off x="747037" y="4398264"/>
            <a:ext cx="2011680" cy="457200"/>
          </a:xfrm>
          <a:prstGeom prst="rect">
            <a:avLst/>
          </a:prstGeom>
          <a:noFill/>
          <a:ln/>
        </p:spPr>
        <p:txBody>
          <a:bodyPr wrap="square" lIns="0" tIns="0" rIns="0" bIns="0" rtlCol="0" anchor="ctr"/>
          <a:lstStyle/>
          <a:p>
            <a:pPr marL="0" indent="0">
              <a:buNone/>
            </a:pPr>
            <a:r>
              <a:rPr lang="en-US" sz="1050" dirty="0">
                <a:solidFill>
                  <a:srgbClr val="7A6E68"/>
                </a:solidFill>
                <a:latin typeface="Calibri" pitchFamily="34" charset="0"/>
                <a:ea typeface="Calibri" pitchFamily="34" charset="-122"/>
                <a:cs typeface="Calibri" pitchFamily="34" charset="-120"/>
              </a:rPr>
              <a:t>mean reports that month</a:t>
            </a:r>
            <a:endParaRPr lang="en-US" sz="1050" dirty="0"/>
          </a:p>
        </p:txBody>
      </p:sp>
      <p:sp>
        <p:nvSpPr>
          <p:cNvPr id="10" name="Text 8"/>
          <p:cNvSpPr/>
          <p:nvPr/>
        </p:nvSpPr>
        <p:spPr>
          <a:xfrm>
            <a:off x="2758717" y="3831336"/>
            <a:ext cx="1645920" cy="493776"/>
          </a:xfrm>
          <a:prstGeom prst="rect">
            <a:avLst/>
          </a:prstGeom>
          <a:noFill/>
          <a:ln/>
        </p:spPr>
        <p:txBody>
          <a:bodyPr wrap="square" lIns="0" tIns="0" rIns="0" bIns="0" rtlCol="0" anchor="ctr"/>
          <a:lstStyle/>
          <a:p>
            <a:pPr marL="0" indent="0">
              <a:buNone/>
            </a:pPr>
            <a:r>
              <a:rPr lang="en-US" sz="2500" b="1" dirty="0">
                <a:solidFill>
                  <a:srgbClr val="B85042"/>
                </a:solidFill>
                <a:latin typeface="Cambria" pitchFamily="34" charset="0"/>
                <a:ea typeface="Cambria" pitchFamily="34" charset="-122"/>
                <a:cs typeface="Cambria" pitchFamily="34" charset="-120"/>
              </a:rPr>
              <a:t>88.2%</a:t>
            </a:r>
            <a:endParaRPr lang="en-US" sz="2500" dirty="0"/>
          </a:p>
        </p:txBody>
      </p:sp>
      <p:sp>
        <p:nvSpPr>
          <p:cNvPr id="11" name="Text 9"/>
          <p:cNvSpPr/>
          <p:nvPr/>
        </p:nvSpPr>
        <p:spPr>
          <a:xfrm>
            <a:off x="2758717" y="4343400"/>
            <a:ext cx="1737360" cy="457200"/>
          </a:xfrm>
          <a:prstGeom prst="rect">
            <a:avLst/>
          </a:prstGeom>
          <a:noFill/>
          <a:ln/>
        </p:spPr>
        <p:txBody>
          <a:bodyPr wrap="square" lIns="0" tIns="0" rIns="0" bIns="0" rtlCol="0" anchor="ctr"/>
          <a:lstStyle/>
          <a:p>
            <a:pPr marL="0" indent="0">
              <a:buNone/>
            </a:pPr>
            <a:r>
              <a:rPr lang="en-US" sz="1050" dirty="0">
                <a:solidFill>
                  <a:srgbClr val="7A6E68"/>
                </a:solidFill>
                <a:latin typeface="Calibri" pitchFamily="34" charset="0"/>
                <a:ea typeface="Calibri" pitchFamily="34" charset="-122"/>
                <a:cs typeface="Calibri" pitchFamily="34" charset="-120"/>
              </a:rPr>
              <a:t>received any report</a:t>
            </a:r>
            <a:endParaRPr lang="en-US" sz="1050" dirty="0"/>
          </a:p>
        </p:txBody>
      </p:sp>
      <p:sp>
        <p:nvSpPr>
          <p:cNvPr id="12" name="Shape 10"/>
          <p:cNvSpPr/>
          <p:nvPr/>
        </p:nvSpPr>
        <p:spPr>
          <a:xfrm>
            <a:off x="4806973" y="3282696"/>
            <a:ext cx="4114800" cy="2103120"/>
          </a:xfrm>
          <a:prstGeom prst="roundRect">
            <a:avLst>
              <a:gd name="adj" fmla="val 2609"/>
            </a:avLst>
          </a:prstGeom>
          <a:solidFill>
            <a:srgbClr val="3A3330"/>
          </a:solidFill>
          <a:ln/>
        </p:spPr>
      </p:sp>
      <p:sp>
        <p:nvSpPr>
          <p:cNvPr id="13" name="Text 11"/>
          <p:cNvSpPr/>
          <p:nvPr/>
        </p:nvSpPr>
        <p:spPr>
          <a:xfrm>
            <a:off x="5081293" y="3447288"/>
            <a:ext cx="3566160" cy="274320"/>
          </a:xfrm>
          <a:prstGeom prst="rect">
            <a:avLst/>
          </a:prstGeom>
          <a:noFill/>
          <a:ln/>
        </p:spPr>
        <p:txBody>
          <a:bodyPr wrap="square" lIns="0" tIns="0" rIns="0" bIns="0" rtlCol="0" anchor="ctr"/>
          <a:lstStyle/>
          <a:p>
            <a:pPr marL="0" indent="0">
              <a:buNone/>
            </a:pPr>
            <a:r>
              <a:rPr lang="en-US" sz="1050" b="1" kern="0" spc="150" dirty="0">
                <a:solidFill>
                  <a:srgbClr val="A7BEAE"/>
                </a:solidFill>
                <a:latin typeface="Calibri" pitchFamily="34" charset="0"/>
                <a:ea typeface="Calibri" pitchFamily="34" charset="-122"/>
                <a:cs typeface="Calibri" pitchFamily="34" charset="-120"/>
              </a:rPr>
              <a:t>SEVERE CLIMATE STRESS</a:t>
            </a:r>
            <a:endParaRPr lang="en-US" sz="1050" dirty="0"/>
          </a:p>
        </p:txBody>
      </p:sp>
      <p:sp>
        <p:nvSpPr>
          <p:cNvPr id="14" name="Text 12"/>
          <p:cNvSpPr/>
          <p:nvPr/>
        </p:nvSpPr>
        <p:spPr>
          <a:xfrm>
            <a:off x="5081293" y="3739896"/>
            <a:ext cx="1828800" cy="6400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2.67</a:t>
            </a:r>
            <a:endParaRPr lang="en-US" sz="3800" dirty="0"/>
          </a:p>
        </p:txBody>
      </p:sp>
      <p:sp>
        <p:nvSpPr>
          <p:cNvPr id="15" name="Text 13"/>
          <p:cNvSpPr/>
          <p:nvPr/>
        </p:nvSpPr>
        <p:spPr>
          <a:xfrm>
            <a:off x="5081293" y="4398264"/>
            <a:ext cx="2011680" cy="457200"/>
          </a:xfrm>
          <a:prstGeom prst="rect">
            <a:avLst/>
          </a:prstGeom>
          <a:noFill/>
          <a:ln/>
        </p:spPr>
        <p:txBody>
          <a:bodyPr wrap="square" lIns="0" tIns="0" rIns="0" bIns="0" rtlCol="0" anchor="ctr"/>
          <a:lstStyle/>
          <a:p>
            <a:pPr marL="0" indent="0">
              <a:buNone/>
            </a:pPr>
            <a:r>
              <a:rPr lang="en-US" sz="1050" dirty="0">
                <a:solidFill>
                  <a:srgbClr val="7A6E68"/>
                </a:solidFill>
                <a:latin typeface="Calibri" pitchFamily="34" charset="0"/>
                <a:ea typeface="Calibri" pitchFamily="34" charset="-122"/>
                <a:cs typeface="Calibri" pitchFamily="34" charset="-120"/>
              </a:rPr>
              <a:t>mean reports that month</a:t>
            </a:r>
            <a:endParaRPr lang="en-US" sz="1050" dirty="0"/>
          </a:p>
        </p:txBody>
      </p:sp>
      <p:sp>
        <p:nvSpPr>
          <p:cNvPr id="16" name="Text 14"/>
          <p:cNvSpPr/>
          <p:nvPr/>
        </p:nvSpPr>
        <p:spPr>
          <a:xfrm>
            <a:off x="7092973" y="3831336"/>
            <a:ext cx="1645920" cy="493776"/>
          </a:xfrm>
          <a:prstGeom prst="rect">
            <a:avLst/>
          </a:prstGeom>
          <a:noFill/>
          <a:ln/>
        </p:spPr>
        <p:txBody>
          <a:bodyPr wrap="square" lIns="0" tIns="0" rIns="0" bIns="0" rtlCol="0" anchor="ctr"/>
          <a:lstStyle/>
          <a:p>
            <a:pPr marL="0" indent="0">
              <a:buNone/>
            </a:pPr>
            <a:r>
              <a:rPr lang="en-US" sz="2500" b="1" dirty="0">
                <a:solidFill>
                  <a:srgbClr val="A7BEAE"/>
                </a:solidFill>
                <a:latin typeface="Cambria" pitchFamily="34" charset="0"/>
                <a:ea typeface="Cambria" pitchFamily="34" charset="-122"/>
                <a:cs typeface="Cambria" pitchFamily="34" charset="-120"/>
              </a:rPr>
              <a:t>65.7%</a:t>
            </a:r>
            <a:endParaRPr lang="en-US" sz="2500" dirty="0"/>
          </a:p>
        </p:txBody>
      </p:sp>
      <p:sp>
        <p:nvSpPr>
          <p:cNvPr id="17" name="Text 15"/>
          <p:cNvSpPr/>
          <p:nvPr/>
        </p:nvSpPr>
        <p:spPr>
          <a:xfrm>
            <a:off x="7092973" y="4343400"/>
            <a:ext cx="1737360" cy="457200"/>
          </a:xfrm>
          <a:prstGeom prst="rect">
            <a:avLst/>
          </a:prstGeom>
          <a:noFill/>
          <a:ln/>
        </p:spPr>
        <p:txBody>
          <a:bodyPr wrap="square" lIns="0" tIns="0" rIns="0" bIns="0" rtlCol="0" anchor="ctr"/>
          <a:lstStyle/>
          <a:p>
            <a:pPr marL="0" indent="0">
              <a:buNone/>
            </a:pPr>
            <a:r>
              <a:rPr lang="en-US" sz="1050" dirty="0">
                <a:solidFill>
                  <a:srgbClr val="7A6E68"/>
                </a:solidFill>
                <a:latin typeface="Calibri" pitchFamily="34" charset="0"/>
                <a:ea typeface="Calibri" pitchFamily="34" charset="-122"/>
                <a:cs typeface="Calibri" pitchFamily="34" charset="-120"/>
              </a:rPr>
              <a:t>received any report</a:t>
            </a:r>
            <a:endParaRPr lang="en-US" sz="1050" dirty="0"/>
          </a:p>
        </p:txBody>
      </p:sp>
      <p:sp>
        <p:nvSpPr>
          <p:cNvPr id="18" name="Shape 16"/>
          <p:cNvSpPr/>
          <p:nvPr/>
        </p:nvSpPr>
        <p:spPr>
          <a:xfrm>
            <a:off x="9122941" y="3282696"/>
            <a:ext cx="2377440" cy="2103120"/>
          </a:xfrm>
          <a:prstGeom prst="roundRect">
            <a:avLst>
              <a:gd name="adj" fmla="val 2609"/>
            </a:avLst>
          </a:prstGeom>
          <a:solidFill>
            <a:srgbClr val="B85042"/>
          </a:solidFill>
          <a:ln/>
        </p:spPr>
      </p:sp>
      <p:sp>
        <p:nvSpPr>
          <p:cNvPr id="19" name="Text 17"/>
          <p:cNvSpPr/>
          <p:nvPr/>
        </p:nvSpPr>
        <p:spPr>
          <a:xfrm>
            <a:off x="9269245" y="3904488"/>
            <a:ext cx="2084832"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 = 0.000064</a:t>
            </a:r>
            <a:endParaRPr lang="en-US" sz="1600" dirty="0"/>
          </a:p>
        </p:txBody>
      </p:sp>
      <p:sp>
        <p:nvSpPr>
          <p:cNvPr id="20" name="Text 18"/>
          <p:cNvSpPr/>
          <p:nvPr/>
        </p:nvSpPr>
        <p:spPr>
          <a:xfrm>
            <a:off x="9269245" y="4306824"/>
            <a:ext cx="2084832" cy="548640"/>
          </a:xfrm>
          <a:prstGeom prst="rect">
            <a:avLst/>
          </a:prstGeom>
          <a:noFill/>
          <a:ln/>
        </p:spPr>
        <p:txBody>
          <a:bodyPr wrap="square" lIns="0" tIns="0" rIns="0" bIns="0" rtlCol="0" anchor="ctr"/>
          <a:lstStyle/>
          <a:p>
            <a:pPr marL="0" indent="0" algn="ctr">
              <a:buNone/>
            </a:pPr>
            <a:r>
              <a:rPr lang="en-US" sz="1100" dirty="0">
                <a:solidFill>
                  <a:srgbClr val="FBEAE7"/>
                </a:solidFill>
                <a:latin typeface="Calibri" pitchFamily="34" charset="0"/>
                <a:ea typeface="Calibri" pitchFamily="34" charset="-122"/>
                <a:cs typeface="Calibri" pitchFamily="34" charset="-120"/>
              </a:rPr>
              <a:t>68 vs 67</a:t>
            </a:r>
            <a:endParaRPr lang="en-US" sz="1100" dirty="0"/>
          </a:p>
          <a:p>
            <a:pPr marL="0" indent="0" algn="ctr">
              <a:buNone/>
            </a:pPr>
            <a:r>
              <a:rPr lang="en-US" sz="1100" dirty="0">
                <a:solidFill>
                  <a:srgbClr val="FBEAE7"/>
                </a:solidFill>
                <a:latin typeface="Calibri" pitchFamily="34" charset="0"/>
                <a:ea typeface="Calibri" pitchFamily="34" charset="-122"/>
                <a:cs typeface="Calibri" pitchFamily="34" charset="-120"/>
              </a:rPr>
              <a:t>district-months</a:t>
            </a:r>
            <a:endParaRPr lang="en-US" sz="1100" dirty="0"/>
          </a:p>
        </p:txBody>
      </p:sp>
      <p:sp>
        <p:nvSpPr>
          <p:cNvPr id="23" name="TextBox 22">
            <a:extLst>
              <a:ext uri="{FF2B5EF4-FFF2-40B4-BE49-F238E27FC236}">
                <a16:creationId xmlns:a16="http://schemas.microsoft.com/office/drawing/2014/main" id="{66CE0248-74B5-2C50-6FFD-3986690B2FD5}"/>
              </a:ext>
            </a:extLst>
          </p:cNvPr>
          <p:cNvSpPr txBox="1"/>
          <p:nvPr/>
        </p:nvSpPr>
        <p:spPr>
          <a:xfrm>
            <a:off x="435587" y="5743655"/>
            <a:ext cx="11027664" cy="692497"/>
          </a:xfrm>
          <a:prstGeom prst="rect">
            <a:avLst/>
          </a:prstGeom>
          <a:noFill/>
        </p:spPr>
        <p:txBody>
          <a:bodyPr wrap="square">
            <a:spAutoFit/>
          </a:bodyPr>
          <a:lstStyle/>
          <a:p>
            <a:r>
              <a:rPr lang="en-US" sz="1300" dirty="0">
                <a:solidFill>
                  <a:srgbClr val="E7E8D1"/>
                </a:solidFill>
                <a:latin typeface="Calibri" pitchFamily="34" charset="0"/>
                <a:ea typeface="Calibri" pitchFamily="34" charset="-122"/>
                <a:cs typeface="Calibri" pitchFamily="34" charset="-120"/>
              </a:rPr>
              <a:t>We compared the worst 10% of district-months for conflict against the worst 10% for drought, leaving out any that were severe on both. Three limits are worth noting. "Severe" here means severe compared to the rest of Somalia in 2024, not a measure of how much people actually suffered. The test only looks at reporting in the same month, so drought may be reported later rather than not at all. And it counts reports of any kind, not food-security reports specifically.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2900" b="1" dirty="0">
                <a:solidFill>
                  <a:srgbClr val="2B2523"/>
                </a:solidFill>
                <a:latin typeface="Cambria" pitchFamily="34" charset="0"/>
                <a:ea typeface="Cambria" pitchFamily="34" charset="-122"/>
                <a:cs typeface="Cambria" pitchFamily="34" charset="-120"/>
              </a:rPr>
              <a:t>Next steps: where the research question stands</a:t>
            </a:r>
            <a:endParaRPr lang="en-US" sz="29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The main question has two parts, and they are in very different states</a:t>
            </a:r>
            <a:endParaRPr lang="en-US" sz="1350" dirty="0"/>
          </a:p>
        </p:txBody>
      </p:sp>
      <p:sp>
        <p:nvSpPr>
          <p:cNvPr id="4" name="Shape 2"/>
          <p:cNvSpPr/>
          <p:nvPr/>
        </p:nvSpPr>
        <p:spPr>
          <a:xfrm>
            <a:off x="566928" y="1481328"/>
            <a:ext cx="11027664" cy="1005840"/>
          </a:xfrm>
          <a:prstGeom prst="roundRect">
            <a:avLst>
              <a:gd name="adj" fmla="val 5455"/>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59536" y="1627632"/>
            <a:ext cx="10442448" cy="731520"/>
          </a:xfrm>
          <a:prstGeom prst="rect">
            <a:avLst/>
          </a:prstGeom>
          <a:noFill/>
          <a:ln/>
        </p:spPr>
        <p:txBody>
          <a:bodyPr wrap="square" lIns="0" tIns="0" rIns="0" bIns="0" rtlCol="0" anchor="ctr"/>
          <a:lstStyle/>
          <a:p>
            <a:pPr marL="0" indent="0">
              <a:lnSpc>
                <a:spcPts val="2400"/>
              </a:lnSpc>
              <a:buNone/>
            </a:pPr>
            <a:r>
              <a:rPr lang="en-US" sz="1650" i="1" dirty="0">
                <a:solidFill>
                  <a:srgbClr val="FFFFFF"/>
                </a:solidFill>
                <a:latin typeface="Cambria" pitchFamily="34" charset="0"/>
                <a:ea typeface="Cambria" pitchFamily="34" charset="-122"/>
                <a:cs typeface="Cambria" pitchFamily="34" charset="-120"/>
              </a:rPr>
              <a:t>How unevenly do humanitarian data sources observe different places and crisis mechanisms, and what are the consequences for food-insecurity analysis?</a:t>
            </a:r>
            <a:endParaRPr lang="en-US" sz="1650" dirty="0"/>
          </a:p>
        </p:txBody>
      </p:sp>
      <p:sp>
        <p:nvSpPr>
          <p:cNvPr id="6" name="Shape 4"/>
          <p:cNvSpPr/>
          <p:nvPr/>
        </p:nvSpPr>
        <p:spPr>
          <a:xfrm>
            <a:off x="566928" y="2724912"/>
            <a:ext cx="5486400" cy="3017520"/>
          </a:xfrm>
          <a:prstGeom prst="roundRect">
            <a:avLst>
              <a:gd name="adj" fmla="val 1818"/>
            </a:avLst>
          </a:prstGeom>
          <a:solidFill>
            <a:srgbClr val="F7F5F1"/>
          </a:solidFill>
          <a:ln/>
          <a:effectLst>
            <a:outerShdw blurRad="76200" dist="381" dir="5400000" algn="bl" rotWithShape="0">
              <a:srgbClr val="000000">
                <a:alpha val="8000"/>
              </a:srgbClr>
            </a:outerShdw>
          </a:effectLst>
        </p:spPr>
      </p:sp>
      <p:sp>
        <p:nvSpPr>
          <p:cNvPr id="7" name="Text 5"/>
          <p:cNvSpPr/>
          <p:nvPr/>
        </p:nvSpPr>
        <p:spPr>
          <a:xfrm>
            <a:off x="822960" y="2871216"/>
            <a:ext cx="2011680" cy="237744"/>
          </a:xfrm>
          <a:prstGeom prst="rect">
            <a:avLst/>
          </a:prstGeom>
          <a:noFill/>
          <a:ln/>
        </p:spPr>
        <p:txBody>
          <a:bodyPr wrap="square" lIns="0" tIns="0" rIns="0" bIns="0" rtlCol="0" anchor="ctr"/>
          <a:lstStyle/>
          <a:p>
            <a:pPr marL="0" indent="0">
              <a:buNone/>
            </a:pPr>
            <a:r>
              <a:rPr lang="en-US" sz="950" b="1" kern="0" spc="120" dirty="0">
                <a:solidFill>
                  <a:srgbClr val="A7BEAE"/>
                </a:solidFill>
                <a:latin typeface="Calibri" pitchFamily="34" charset="0"/>
                <a:ea typeface="Calibri" pitchFamily="34" charset="-122"/>
                <a:cs typeface="Calibri" pitchFamily="34" charset="-120"/>
              </a:rPr>
              <a:t>MOSTLY ANSWERED</a:t>
            </a:r>
            <a:endParaRPr lang="en-US" sz="950" dirty="0"/>
          </a:p>
        </p:txBody>
      </p:sp>
      <p:sp>
        <p:nvSpPr>
          <p:cNvPr id="8" name="Text 6"/>
          <p:cNvSpPr/>
          <p:nvPr/>
        </p:nvSpPr>
        <p:spPr>
          <a:xfrm>
            <a:off x="822960" y="3145536"/>
            <a:ext cx="4937760" cy="566928"/>
          </a:xfrm>
          <a:prstGeom prst="rect">
            <a:avLst/>
          </a:prstGeom>
          <a:noFill/>
          <a:ln/>
        </p:spPr>
        <p:txBody>
          <a:bodyPr wrap="square" lIns="0" tIns="0" rIns="0" bIns="0" rtlCol="0" anchor="ctr"/>
          <a:lstStyle/>
          <a:p>
            <a:pPr marL="0" indent="0">
              <a:buNone/>
            </a:pPr>
            <a:r>
              <a:rPr lang="en-US" sz="1500" b="1" dirty="0">
                <a:solidFill>
                  <a:srgbClr val="2B2523"/>
                </a:solidFill>
                <a:latin typeface="Cambria" pitchFamily="34" charset="0"/>
                <a:ea typeface="Cambria" pitchFamily="34" charset="-122"/>
                <a:cs typeface="Cambria" pitchFamily="34" charset="-120"/>
              </a:rPr>
              <a:t>Part one: how unevenly do</a:t>
            </a:r>
            <a:endParaRPr lang="en-US" sz="1500" dirty="0"/>
          </a:p>
          <a:p>
            <a:pPr marL="0" indent="0">
              <a:buNone/>
            </a:pPr>
            <a:r>
              <a:rPr lang="en-US" sz="1500" b="1" dirty="0">
                <a:solidFill>
                  <a:srgbClr val="2B2523"/>
                </a:solidFill>
                <a:latin typeface="Cambria" pitchFamily="34" charset="0"/>
                <a:ea typeface="Cambria" pitchFamily="34" charset="-122"/>
                <a:cs typeface="Cambria" pitchFamily="34" charset="-120"/>
              </a:rPr>
              <a:t>sources observe the country?</a:t>
            </a:r>
            <a:endParaRPr lang="en-US" sz="1500" dirty="0"/>
          </a:p>
        </p:txBody>
      </p:sp>
      <p:sp>
        <p:nvSpPr>
          <p:cNvPr id="9" name="Text 7"/>
          <p:cNvSpPr/>
          <p:nvPr/>
        </p:nvSpPr>
        <p:spPr>
          <a:xfrm>
            <a:off x="822960" y="3803904"/>
            <a:ext cx="5029200" cy="18288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2B2523"/>
                </a:solidFill>
                <a:latin typeface="Calibri" pitchFamily="34" charset="0"/>
                <a:ea typeface="Calibri" pitchFamily="34" charset="-122"/>
                <a:cs typeface="Calibri" pitchFamily="34" charset="-120"/>
              </a:rPr>
              <a:t>By source: coverage runs from 47% of districts for market data up to 100% for satellite data.</a:t>
            </a:r>
            <a:endParaRPr lang="en-US" sz="1150" dirty="0"/>
          </a:p>
          <a:p>
            <a:pPr marL="342900" indent="-342900">
              <a:lnSpc>
                <a:spcPts val="1500"/>
              </a:lnSpc>
              <a:spcAft>
                <a:spcPts val="700"/>
              </a:spcAft>
              <a:buSzPct val="100000"/>
              <a:buChar char="•"/>
            </a:pPr>
            <a:r>
              <a:rPr lang="en-US" sz="1150" dirty="0">
                <a:solidFill>
                  <a:srgbClr val="2B2523"/>
                </a:solidFill>
                <a:latin typeface="Calibri" pitchFamily="34" charset="0"/>
                <a:ea typeface="Calibri" pitchFamily="34" charset="-122"/>
                <a:cs typeface="Calibri" pitchFamily="34" charset="-120"/>
              </a:rPr>
              <a:t>By district: one district, Bander Beyla, was not seen by any source except satellites all year.</a:t>
            </a:r>
            <a:endParaRPr lang="en-US" sz="1150" dirty="0"/>
          </a:p>
          <a:p>
            <a:pPr marL="342900" indent="-342900">
              <a:lnSpc>
                <a:spcPts val="1500"/>
              </a:lnSpc>
              <a:spcAft>
                <a:spcPts val="700"/>
              </a:spcAft>
              <a:buSzPct val="100000"/>
              <a:buChar char="•"/>
            </a:pPr>
            <a:r>
              <a:rPr lang="en-US" sz="1150" dirty="0">
                <a:solidFill>
                  <a:srgbClr val="2B2523"/>
                </a:solidFill>
                <a:latin typeface="Calibri" pitchFamily="34" charset="0"/>
                <a:ea typeface="Calibri" pitchFamily="34" charset="-122"/>
                <a:cs typeface="Calibri" pitchFamily="34" charset="-120"/>
              </a:rPr>
              <a:t>By month: reporting reached as few as 34 districts in one month and 54 in another. Market coverage never moved.</a:t>
            </a:r>
            <a:endParaRPr lang="en-US" sz="1150" dirty="0"/>
          </a:p>
          <a:p>
            <a:pPr marL="342900" indent="-342900">
              <a:lnSpc>
                <a:spcPts val="1500"/>
              </a:lnSpc>
              <a:buSzPct val="100000"/>
              <a:buChar char="•"/>
            </a:pPr>
            <a:r>
              <a:rPr lang="en-US" sz="1150" dirty="0">
                <a:solidFill>
                  <a:srgbClr val="2B2523"/>
                </a:solidFill>
                <a:latin typeface="Calibri" pitchFamily="34" charset="0"/>
                <a:ea typeface="Calibri" pitchFamily="34" charset="-122"/>
                <a:cs typeface="Calibri" pitchFamily="34" charset="-120"/>
              </a:rPr>
              <a:t>By crisis type: districts in severe conflict got 6.65 reports on average, against 2.67 for districts in equally severe drought.</a:t>
            </a:r>
            <a:endParaRPr lang="en-US" sz="1150" dirty="0"/>
          </a:p>
        </p:txBody>
      </p:sp>
      <p:sp>
        <p:nvSpPr>
          <p:cNvPr id="10" name="Shape 8"/>
          <p:cNvSpPr/>
          <p:nvPr/>
        </p:nvSpPr>
        <p:spPr>
          <a:xfrm>
            <a:off x="6309360" y="2724912"/>
            <a:ext cx="5285232" cy="3017520"/>
          </a:xfrm>
          <a:prstGeom prst="roundRect">
            <a:avLst>
              <a:gd name="adj" fmla="val 1818"/>
            </a:avLst>
          </a:prstGeom>
          <a:solidFill>
            <a:srgbClr val="2B2523"/>
          </a:solidFill>
          <a:ln/>
          <a:effectLst>
            <a:outerShdw blurRad="76200" dist="381" dir="5400000" algn="bl" rotWithShape="0">
              <a:srgbClr val="000000">
                <a:alpha val="8000"/>
              </a:srgbClr>
            </a:outerShdw>
          </a:effectLst>
        </p:spPr>
      </p:sp>
      <p:sp>
        <p:nvSpPr>
          <p:cNvPr id="11" name="Text 9"/>
          <p:cNvSpPr/>
          <p:nvPr/>
        </p:nvSpPr>
        <p:spPr>
          <a:xfrm>
            <a:off x="6547104" y="2871216"/>
            <a:ext cx="2011680" cy="237744"/>
          </a:xfrm>
          <a:prstGeom prst="rect">
            <a:avLst/>
          </a:prstGeom>
          <a:noFill/>
          <a:ln/>
        </p:spPr>
        <p:txBody>
          <a:bodyPr wrap="square" lIns="0" tIns="0" rIns="0" bIns="0" rtlCol="0" anchor="ctr"/>
          <a:lstStyle/>
          <a:p>
            <a:pPr marL="0" indent="0">
              <a:buNone/>
            </a:pPr>
            <a:r>
              <a:rPr lang="en-US" sz="950" b="1" kern="0" spc="120" dirty="0">
                <a:solidFill>
                  <a:srgbClr val="B85042"/>
                </a:solidFill>
                <a:latin typeface="Calibri" pitchFamily="34" charset="0"/>
                <a:ea typeface="Calibri" pitchFamily="34" charset="-122"/>
                <a:cs typeface="Calibri" pitchFamily="34" charset="-120"/>
              </a:rPr>
              <a:t>STILL OPEN</a:t>
            </a:r>
            <a:endParaRPr lang="en-US" sz="950" dirty="0"/>
          </a:p>
        </p:txBody>
      </p:sp>
      <p:sp>
        <p:nvSpPr>
          <p:cNvPr id="12" name="Text 10"/>
          <p:cNvSpPr/>
          <p:nvPr/>
        </p:nvSpPr>
        <p:spPr>
          <a:xfrm>
            <a:off x="6547104" y="3145536"/>
            <a:ext cx="4754880" cy="566928"/>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Part two: and does that</a:t>
            </a:r>
            <a:endParaRPr lang="en-US" sz="1500" dirty="0"/>
          </a:p>
          <a:p>
            <a:pPr marL="0" indent="0">
              <a:buNone/>
            </a:pPr>
            <a:r>
              <a:rPr lang="en-US" sz="1500" b="1" dirty="0">
                <a:solidFill>
                  <a:srgbClr val="FFFFFF"/>
                </a:solidFill>
                <a:latin typeface="Cambria" pitchFamily="34" charset="0"/>
                <a:ea typeface="Cambria" pitchFamily="34" charset="-122"/>
                <a:cs typeface="Cambria" pitchFamily="34" charset="-120"/>
              </a:rPr>
              <a:t>unevenness actually matter?</a:t>
            </a:r>
            <a:endParaRPr lang="en-US" sz="1500" dirty="0"/>
          </a:p>
        </p:txBody>
      </p:sp>
      <p:sp>
        <p:nvSpPr>
          <p:cNvPr id="13" name="Text 11"/>
          <p:cNvSpPr/>
          <p:nvPr/>
        </p:nvSpPr>
        <p:spPr>
          <a:xfrm>
            <a:off x="6547104" y="3803904"/>
            <a:ext cx="4754880" cy="1060704"/>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So far nothing shows that these gaps change any conclusion. We know some districts are watched far less closely than others. We have not shown that watching a district less closely gives you a wrong picture of it, rather than simply a thinner one.</a:t>
            </a:r>
            <a:endParaRPr lang="en-US" sz="1150" dirty="0"/>
          </a:p>
        </p:txBody>
      </p:sp>
      <p:sp>
        <p:nvSpPr>
          <p:cNvPr id="14" name="Text 12"/>
          <p:cNvSpPr/>
          <p:nvPr/>
        </p:nvSpPr>
        <p:spPr>
          <a:xfrm>
            <a:off x="6547104" y="4937760"/>
            <a:ext cx="4754880" cy="603504"/>
          </a:xfrm>
          <a:prstGeom prst="rect">
            <a:avLst/>
          </a:prstGeom>
          <a:noFill/>
          <a:ln/>
        </p:spPr>
        <p:txBody>
          <a:bodyPr wrap="square" lIns="0" tIns="0" rIns="0" bIns="0" rtlCol="0" anchor="ctr"/>
          <a:lstStyle/>
          <a:p>
            <a:pPr marL="0" indent="0">
              <a:lnSpc>
                <a:spcPts val="1500"/>
              </a:lnSpc>
              <a:buNone/>
            </a:pPr>
            <a:r>
              <a:rPr lang="en-US" sz="1200" b="1" dirty="0">
                <a:solidFill>
                  <a:srgbClr val="A7BEAE"/>
                </a:solidFill>
                <a:latin typeface="Calibri" pitchFamily="34" charset="0"/>
                <a:ea typeface="Calibri" pitchFamily="34" charset="-122"/>
                <a:cs typeface="Calibri" pitchFamily="34" charset="-120"/>
              </a:rPr>
              <a:t>Sub-question 3 is the test for this, and it is the main priority for the coming weeks.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2900" b="1" dirty="0">
                <a:solidFill>
                  <a:srgbClr val="2B2523"/>
                </a:solidFill>
                <a:latin typeface="Cambria" pitchFamily="34" charset="0"/>
                <a:ea typeface="Cambria" pitchFamily="34" charset="-122"/>
                <a:cs typeface="Cambria" pitchFamily="34" charset="-120"/>
              </a:rPr>
              <a:t>The planned model, explained</a:t>
            </a:r>
            <a:endParaRPr lang="en-US" sz="29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A logistic regression, and what it is actually for</a:t>
            </a:r>
            <a:endParaRPr lang="en-US" sz="1350" dirty="0"/>
          </a:p>
        </p:txBody>
      </p:sp>
      <p:sp>
        <p:nvSpPr>
          <p:cNvPr id="4" name="Shape 2"/>
          <p:cNvSpPr/>
          <p:nvPr/>
        </p:nvSpPr>
        <p:spPr>
          <a:xfrm>
            <a:off x="566928" y="1463040"/>
            <a:ext cx="5486400" cy="1975104"/>
          </a:xfrm>
          <a:prstGeom prst="roundRect">
            <a:avLst>
              <a:gd name="adj" fmla="val 2778"/>
            </a:avLst>
          </a:prstGeom>
          <a:solidFill>
            <a:srgbClr val="F7F5F1"/>
          </a:solidFill>
          <a:ln/>
          <a:effectLst>
            <a:outerShdw blurRad="76200" dist="381" dir="5400000" algn="bl" rotWithShape="0">
              <a:srgbClr val="000000">
                <a:alpha val="8000"/>
              </a:srgbClr>
            </a:outerShdw>
          </a:effectLst>
        </p:spPr>
      </p:sp>
      <p:sp>
        <p:nvSpPr>
          <p:cNvPr id="5" name="Text 3"/>
          <p:cNvSpPr/>
          <p:nvPr/>
        </p:nvSpPr>
        <p:spPr>
          <a:xfrm>
            <a:off x="804672" y="1591056"/>
            <a:ext cx="4937760" cy="274320"/>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What it is</a:t>
            </a:r>
            <a:endParaRPr lang="en-US" sz="1400" dirty="0"/>
          </a:p>
        </p:txBody>
      </p:sp>
      <p:sp>
        <p:nvSpPr>
          <p:cNvPr id="6" name="Text 4"/>
          <p:cNvSpPr/>
          <p:nvPr/>
        </p:nvSpPr>
        <p:spPr>
          <a:xfrm>
            <a:off x="804672" y="1901952"/>
            <a:ext cx="5029200" cy="1463040"/>
          </a:xfrm>
          <a:prstGeom prst="rect">
            <a:avLst/>
          </a:prstGeom>
          <a:noFill/>
          <a:ln/>
        </p:spPr>
        <p:txBody>
          <a:bodyPr wrap="square" lIns="0" tIns="0" rIns="0" bIns="0" rtlCol="0" anchor="ctr"/>
          <a:lstStyle/>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A logistic regression predicts a yes or no outcome using several pieces of information at once. Here the outcome is simple: was this district mentioned in any humanitarian report this month, yes or no.</a:t>
            </a:r>
            <a:endParaRPr lang="en-US" sz="1150" dirty="0"/>
          </a:p>
          <a:p>
            <a:pPr marL="0" indent="0">
              <a:lnSpc>
                <a:spcPts val="1500"/>
              </a:lnSpc>
              <a:buNone/>
            </a:pPr>
            <a:endParaRPr lang="en-US" sz="1150" dirty="0"/>
          </a:p>
          <a:p>
            <a:pPr marL="0" indent="0">
              <a:lnSpc>
                <a:spcPts val="1500"/>
              </a:lnSpc>
              <a:buNone/>
            </a:pPr>
            <a:r>
              <a:rPr lang="en-US" sz="1150" dirty="0">
                <a:solidFill>
                  <a:srgbClr val="7A6E68"/>
                </a:solidFill>
                <a:latin typeface="Calibri" pitchFamily="34" charset="0"/>
                <a:ea typeface="Calibri" pitchFamily="34" charset="-122"/>
                <a:cs typeface="Calibri" pitchFamily="34" charset="-120"/>
              </a:rPr>
              <a:t>The useful part is not the prediction itself. It is that the model reports how much each piece of information matters once the others are already taken into account.</a:t>
            </a:r>
            <a:endParaRPr lang="en-US" sz="1150" dirty="0"/>
          </a:p>
        </p:txBody>
      </p:sp>
      <p:sp>
        <p:nvSpPr>
          <p:cNvPr id="7" name="Shape 5"/>
          <p:cNvSpPr/>
          <p:nvPr/>
        </p:nvSpPr>
        <p:spPr>
          <a:xfrm>
            <a:off x="6309360" y="1463040"/>
            <a:ext cx="5285232" cy="1975104"/>
          </a:xfrm>
          <a:prstGeom prst="roundRect">
            <a:avLst>
              <a:gd name="adj" fmla="val 2778"/>
            </a:avLst>
          </a:prstGeom>
          <a:solidFill>
            <a:srgbClr val="2B2523"/>
          </a:solidFill>
          <a:ln/>
          <a:effectLst>
            <a:outerShdw blurRad="76200" dist="381" dir="5400000" algn="bl" rotWithShape="0">
              <a:srgbClr val="000000">
                <a:alpha val="8000"/>
              </a:srgbClr>
            </a:outerShdw>
          </a:effectLst>
        </p:spPr>
      </p:sp>
      <p:sp>
        <p:nvSpPr>
          <p:cNvPr id="8" name="Text 6"/>
          <p:cNvSpPr/>
          <p:nvPr/>
        </p:nvSpPr>
        <p:spPr>
          <a:xfrm>
            <a:off x="6547104" y="1591056"/>
            <a:ext cx="4754880" cy="274320"/>
          </a:xfrm>
          <a:prstGeom prst="rect">
            <a:avLst/>
          </a:prstGeom>
          <a:noFill/>
          <a:ln/>
        </p:spPr>
        <p:txBody>
          <a:bodyPr wrap="square" lIns="0" tIns="0" rIns="0" bIns="0" rtlCol="0" anchor="ctr"/>
          <a:lstStyle/>
          <a:p>
            <a:pPr marL="0" indent="0">
              <a:buNone/>
            </a:pPr>
            <a:r>
              <a:rPr lang="en-US" sz="1400" b="1" dirty="0">
                <a:solidFill>
                  <a:srgbClr val="A7BEAE"/>
                </a:solidFill>
                <a:latin typeface="Cambria" pitchFamily="34" charset="0"/>
                <a:ea typeface="Cambria" pitchFamily="34" charset="-122"/>
                <a:cs typeface="Cambria" pitchFamily="34" charset="-120"/>
              </a:rPr>
              <a:t>Why we need it</a:t>
            </a:r>
            <a:endParaRPr lang="en-US" sz="1400" dirty="0"/>
          </a:p>
        </p:txBody>
      </p:sp>
      <p:sp>
        <p:nvSpPr>
          <p:cNvPr id="9" name="Text 7"/>
          <p:cNvSpPr/>
          <p:nvPr/>
        </p:nvSpPr>
        <p:spPr>
          <a:xfrm>
            <a:off x="6547104" y="1901952"/>
            <a:ext cx="4754880" cy="1463040"/>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So far each factor has been checked on its own. Conflict looked strong, market status looked strong, region looked strong. But these overlap: districts with lots of conflict often also have markets, and often sit in the same regions.</a:t>
            </a:r>
            <a:endParaRPr lang="en-US" sz="1150" dirty="0"/>
          </a:p>
          <a:p>
            <a:pPr marL="0" indent="0">
              <a:lnSpc>
                <a:spcPts val="1500"/>
              </a:lnSpc>
              <a:buNone/>
            </a:pPr>
            <a:endParaRPr lang="en-US" sz="1150" dirty="0"/>
          </a:p>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Checking them one at a time cannot tell us which factor is really driving coverage and which only looked important because it sits alongside another one.</a:t>
            </a:r>
            <a:endParaRPr lang="en-US" sz="1150" dirty="0"/>
          </a:p>
        </p:txBody>
      </p:sp>
      <p:sp>
        <p:nvSpPr>
          <p:cNvPr id="10" name="Text 8"/>
          <p:cNvSpPr/>
          <p:nvPr/>
        </p:nvSpPr>
        <p:spPr>
          <a:xfrm>
            <a:off x="566928" y="3602736"/>
            <a:ext cx="5486400" cy="292608"/>
          </a:xfrm>
          <a:prstGeom prst="rect">
            <a:avLst/>
          </a:prstGeom>
          <a:noFill/>
          <a:ln/>
        </p:spPr>
        <p:txBody>
          <a:bodyPr wrap="square" lIns="0" tIns="0" rIns="0" bIns="0" rtlCol="0" anchor="ctr"/>
          <a:lstStyle/>
          <a:p>
            <a:pPr marL="0" indent="0">
              <a:buNone/>
            </a:pPr>
            <a:r>
              <a:rPr lang="en-US" sz="1500" b="1" dirty="0">
                <a:solidFill>
                  <a:srgbClr val="2B2523"/>
                </a:solidFill>
                <a:latin typeface="Cambria" pitchFamily="34" charset="0"/>
                <a:ea typeface="Cambria" pitchFamily="34" charset="-122"/>
                <a:cs typeface="Cambria" pitchFamily="34" charset="-120"/>
              </a:rPr>
              <a:t>What goes into it</a:t>
            </a:r>
            <a:endParaRPr lang="en-US" sz="1500" dirty="0"/>
          </a:p>
        </p:txBody>
      </p:sp>
      <p:sp>
        <p:nvSpPr>
          <p:cNvPr id="11" name="Shape 9"/>
          <p:cNvSpPr/>
          <p:nvPr/>
        </p:nvSpPr>
        <p:spPr>
          <a:xfrm>
            <a:off x="566928" y="3968496"/>
            <a:ext cx="5486400" cy="1225296"/>
          </a:xfrm>
          <a:prstGeom prst="roundRect">
            <a:avLst>
              <a:gd name="adj" fmla="val 4478"/>
            </a:avLst>
          </a:prstGeom>
          <a:solidFill>
            <a:srgbClr val="E7E8D1"/>
          </a:solidFill>
          <a:ln/>
          <a:effectLst>
            <a:outerShdw blurRad="76200" dist="381" dir="5400000" algn="bl" rotWithShape="0">
              <a:srgbClr val="000000">
                <a:alpha val="8000"/>
              </a:srgbClr>
            </a:outerShdw>
          </a:effectLst>
        </p:spPr>
      </p:sp>
      <p:sp>
        <p:nvSpPr>
          <p:cNvPr id="12" name="Text 10"/>
          <p:cNvSpPr/>
          <p:nvPr/>
        </p:nvSpPr>
        <p:spPr>
          <a:xfrm>
            <a:off x="804672" y="4096512"/>
            <a:ext cx="5029200" cy="100584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1050" dirty="0">
                <a:solidFill>
                  <a:srgbClr val="2B2523"/>
                </a:solidFill>
                <a:latin typeface="Calibri" pitchFamily="34" charset="0"/>
                <a:ea typeface="Calibri" pitchFamily="34" charset="-122"/>
                <a:cs typeface="Calibri" pitchFamily="34" charset="-120"/>
              </a:rPr>
              <a:t>Outcome: was the district mentioned that month, across all 888 district-months.</a:t>
            </a:r>
            <a:endParaRPr lang="en-US" sz="1050" dirty="0"/>
          </a:p>
          <a:p>
            <a:pPr marL="342900" indent="-342900">
              <a:lnSpc>
                <a:spcPts val="1300"/>
              </a:lnSpc>
              <a:spcAft>
                <a:spcPts val="500"/>
              </a:spcAft>
              <a:buSzPct val="100000"/>
              <a:buChar char="•"/>
            </a:pPr>
            <a:r>
              <a:rPr lang="en-US" sz="1050" dirty="0">
                <a:solidFill>
                  <a:srgbClr val="2B2523"/>
                </a:solidFill>
                <a:latin typeface="Calibri" pitchFamily="34" charset="0"/>
                <a:ea typeface="Calibri" pitchFamily="34" charset="-122"/>
                <a:cs typeface="Calibri" pitchFamily="34" charset="-120"/>
              </a:rPr>
              <a:t>Factors: how much conflict occurred, whether the district has a market, which region it is in, and its rainfall and vegetation conditions.</a:t>
            </a:r>
            <a:endParaRPr lang="en-US" sz="1050" dirty="0"/>
          </a:p>
          <a:p>
            <a:pPr marL="342900" indent="-342900">
              <a:lnSpc>
                <a:spcPts val="1300"/>
              </a:lnSpc>
              <a:buSzPct val="100000"/>
              <a:buChar char="•"/>
            </a:pPr>
            <a:r>
              <a:rPr lang="en-US" sz="1050" dirty="0">
                <a:solidFill>
                  <a:srgbClr val="2B2523"/>
                </a:solidFill>
                <a:latin typeface="Calibri" pitchFamily="34" charset="0"/>
                <a:ea typeface="Calibri" pitchFamily="34" charset="-122"/>
                <a:cs typeface="Calibri" pitchFamily="34" charset="-120"/>
              </a:rPr>
              <a:t>Month is included as a control, because coverage rises and falls month to month for reasons none of the other factors explain.</a:t>
            </a:r>
            <a:endParaRPr lang="en-US" sz="1050" dirty="0"/>
          </a:p>
        </p:txBody>
      </p:sp>
      <p:sp>
        <p:nvSpPr>
          <p:cNvPr id="13" name="Text 11"/>
          <p:cNvSpPr/>
          <p:nvPr/>
        </p:nvSpPr>
        <p:spPr>
          <a:xfrm>
            <a:off x="6309360" y="3602736"/>
            <a:ext cx="5285232" cy="292608"/>
          </a:xfrm>
          <a:prstGeom prst="rect">
            <a:avLst/>
          </a:prstGeom>
          <a:noFill/>
          <a:ln/>
        </p:spPr>
        <p:txBody>
          <a:bodyPr wrap="square" lIns="0" tIns="0" rIns="0" bIns="0" rtlCol="0" anchor="ctr"/>
          <a:lstStyle/>
          <a:p>
            <a:pPr marL="0" indent="0">
              <a:buNone/>
            </a:pPr>
            <a:r>
              <a:rPr lang="en-US" sz="1500" b="1" dirty="0">
                <a:solidFill>
                  <a:srgbClr val="2B2523"/>
                </a:solidFill>
                <a:latin typeface="Cambria" pitchFamily="34" charset="0"/>
                <a:ea typeface="Cambria" pitchFamily="34" charset="-122"/>
                <a:cs typeface="Cambria" pitchFamily="34" charset="-120"/>
              </a:rPr>
              <a:t>How it helps</a:t>
            </a:r>
            <a:endParaRPr lang="en-US" sz="1500" dirty="0"/>
          </a:p>
        </p:txBody>
      </p:sp>
      <p:sp>
        <p:nvSpPr>
          <p:cNvPr id="14" name="Shape 12"/>
          <p:cNvSpPr/>
          <p:nvPr/>
        </p:nvSpPr>
        <p:spPr>
          <a:xfrm>
            <a:off x="6309360" y="3968496"/>
            <a:ext cx="5285232" cy="1225296"/>
          </a:xfrm>
          <a:prstGeom prst="roundRect">
            <a:avLst>
              <a:gd name="adj" fmla="val 4478"/>
            </a:avLst>
          </a:prstGeom>
          <a:solidFill>
            <a:srgbClr val="E7E8D1"/>
          </a:solidFill>
          <a:ln/>
          <a:effectLst>
            <a:outerShdw blurRad="76200" dist="381" dir="5400000" algn="bl" rotWithShape="0">
              <a:srgbClr val="000000">
                <a:alpha val="8000"/>
              </a:srgbClr>
            </a:outerShdw>
          </a:effectLst>
        </p:spPr>
      </p:sp>
      <p:sp>
        <p:nvSpPr>
          <p:cNvPr id="15" name="Text 13"/>
          <p:cNvSpPr/>
          <p:nvPr/>
        </p:nvSpPr>
        <p:spPr>
          <a:xfrm>
            <a:off x="6547104" y="4096512"/>
            <a:ext cx="4754880" cy="100584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1050" dirty="0">
                <a:solidFill>
                  <a:srgbClr val="2B2523"/>
                </a:solidFill>
                <a:latin typeface="Calibri" pitchFamily="34" charset="0"/>
                <a:ea typeface="Calibri" pitchFamily="34" charset="-122"/>
                <a:cs typeface="Calibri" pitchFamily="34" charset="-120"/>
              </a:rPr>
              <a:t>Separates real effects from ones that only looked important because they sit alongside another factor.</a:t>
            </a:r>
            <a:endParaRPr lang="en-US" sz="1050" dirty="0"/>
          </a:p>
          <a:p>
            <a:pPr marL="342900" indent="-342900">
              <a:lnSpc>
                <a:spcPts val="1300"/>
              </a:lnSpc>
              <a:spcAft>
                <a:spcPts val="500"/>
              </a:spcAft>
              <a:buSzPct val="100000"/>
              <a:buChar char="•"/>
            </a:pPr>
            <a:r>
              <a:rPr lang="en-US" sz="1050" dirty="0">
                <a:solidFill>
                  <a:srgbClr val="2B2523"/>
                </a:solidFill>
                <a:latin typeface="Calibri" pitchFamily="34" charset="0"/>
                <a:ea typeface="Calibri" pitchFamily="34" charset="-122"/>
                <a:cs typeface="Calibri" pitchFamily="34" charset="-120"/>
              </a:rPr>
              <a:t>Replaces a list of separate correlations with one measure of how well the pattern is explained overall.</a:t>
            </a:r>
            <a:endParaRPr lang="en-US" sz="1050" dirty="0"/>
          </a:p>
          <a:p>
            <a:pPr marL="342900" indent="-342900">
              <a:lnSpc>
                <a:spcPts val="1300"/>
              </a:lnSpc>
              <a:buSzPct val="100000"/>
              <a:buChar char="•"/>
            </a:pPr>
            <a:r>
              <a:rPr lang="en-US" sz="1050" dirty="0">
                <a:solidFill>
                  <a:srgbClr val="2B2523"/>
                </a:solidFill>
                <a:latin typeface="Calibri" pitchFamily="34" charset="0"/>
                <a:ea typeface="Calibri" pitchFamily="34" charset="-122"/>
                <a:cs typeface="Calibri" pitchFamily="34" charset="-120"/>
              </a:rPr>
              <a:t>Names the exceptions: districts covered far less, or far more, than expected. Those are the interesting cases.</a:t>
            </a:r>
            <a:endParaRPr lang="en-US" sz="1050" dirty="0"/>
          </a:p>
        </p:txBody>
      </p:sp>
      <p:sp>
        <p:nvSpPr>
          <p:cNvPr id="16" name="Shape 14"/>
          <p:cNvSpPr/>
          <p:nvPr/>
        </p:nvSpPr>
        <p:spPr>
          <a:xfrm>
            <a:off x="566928" y="5358384"/>
            <a:ext cx="11027664" cy="877824"/>
          </a:xfrm>
          <a:prstGeom prst="roundRect">
            <a:avLst>
              <a:gd name="adj" fmla="val 6250"/>
            </a:avLst>
          </a:prstGeom>
          <a:solidFill>
            <a:srgbClr val="2B2523"/>
          </a:solidFill>
          <a:ln/>
          <a:effectLst>
            <a:outerShdw blurRad="76200" dist="381" dir="5400000" algn="bl" rotWithShape="0">
              <a:srgbClr val="000000">
                <a:alpha val="8000"/>
              </a:srgbClr>
            </a:outerShdw>
          </a:effectLst>
        </p:spPr>
      </p:sp>
      <p:sp>
        <p:nvSpPr>
          <p:cNvPr id="17" name="Text 15"/>
          <p:cNvSpPr/>
          <p:nvPr/>
        </p:nvSpPr>
        <p:spPr>
          <a:xfrm>
            <a:off x="841248" y="5468112"/>
            <a:ext cx="10479024" cy="676656"/>
          </a:xfrm>
          <a:prstGeom prst="rect">
            <a:avLst/>
          </a:prstGeom>
          <a:noFill/>
          <a:ln/>
        </p:spPr>
        <p:txBody>
          <a:bodyPr wrap="square" lIns="0" tIns="0" rIns="0" bIns="0" rtlCol="0" anchor="ctr"/>
          <a:lstStyle/>
          <a:p>
            <a:pPr marL="0" indent="0">
              <a:lnSpc>
                <a:spcPts val="1500"/>
              </a:lnSpc>
              <a:buNone/>
            </a:pPr>
            <a:r>
              <a:rPr lang="en-US" sz="1150" dirty="0">
                <a:solidFill>
                  <a:srgbClr val="E7E8D1"/>
                </a:solidFill>
                <a:latin typeface="Calibri" pitchFamily="34" charset="0"/>
                <a:ea typeface="Calibri" pitchFamily="34" charset="-122"/>
                <a:cs typeface="Calibri" pitchFamily="34" charset="-120"/>
              </a:rPr>
              <a:t>Why this matters for the dissertation: the research question asks whether the gaps are systematic. At the moment that claim rests on several separate correlations, which a reader has to combine in their head. The model turns it into one statement that can be defended: knowing a handful of facts about a district, we can or cannot explain whether it gets observed.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2900" b="1" dirty="0">
                <a:solidFill>
                  <a:srgbClr val="2B2523"/>
                </a:solidFill>
                <a:latin typeface="Cambria" pitchFamily="34" charset="0"/>
                <a:ea typeface="Cambria" pitchFamily="34" charset="-122"/>
                <a:cs typeface="Cambria" pitchFamily="34" charset="-120"/>
              </a:rPr>
              <a:t>Remaining work on sub-questions 1 and 2</a:t>
            </a:r>
            <a:endParaRPr lang="en-US" sz="29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Both are mostly answered. These items make the existing answers hold up</a:t>
            </a:r>
            <a:endParaRPr lang="en-US" sz="1350" dirty="0"/>
          </a:p>
        </p:txBody>
      </p:sp>
      <p:sp>
        <p:nvSpPr>
          <p:cNvPr id="4" name="Shape 2"/>
          <p:cNvSpPr/>
          <p:nvPr/>
        </p:nvSpPr>
        <p:spPr>
          <a:xfrm>
            <a:off x="566928" y="1444752"/>
            <a:ext cx="402336" cy="402336"/>
          </a:xfrm>
          <a:prstGeom prst="ellipse">
            <a:avLst/>
          </a:prstGeom>
          <a:solidFill>
            <a:srgbClr val="A7BEAE"/>
          </a:solidFill>
          <a:ln/>
        </p:spPr>
      </p:sp>
      <p:sp>
        <p:nvSpPr>
          <p:cNvPr id="5" name="Text 3"/>
          <p:cNvSpPr/>
          <p:nvPr/>
        </p:nvSpPr>
        <p:spPr>
          <a:xfrm>
            <a:off x="566928" y="144475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6" name="Text 4"/>
          <p:cNvSpPr/>
          <p:nvPr/>
        </p:nvSpPr>
        <p:spPr>
          <a:xfrm>
            <a:off x="1097280" y="1463040"/>
            <a:ext cx="5943600" cy="365760"/>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Where are the gaps, and are they systematic?</a:t>
            </a:r>
            <a:endParaRPr lang="en-US" sz="1600" dirty="0"/>
          </a:p>
        </p:txBody>
      </p:sp>
      <p:sp>
        <p:nvSpPr>
          <p:cNvPr id="7" name="Text 5"/>
          <p:cNvSpPr/>
          <p:nvPr/>
        </p:nvSpPr>
        <p:spPr>
          <a:xfrm>
            <a:off x="9509760" y="1536192"/>
            <a:ext cx="2011680" cy="237744"/>
          </a:xfrm>
          <a:prstGeom prst="rect">
            <a:avLst/>
          </a:prstGeom>
          <a:noFill/>
          <a:ln/>
        </p:spPr>
        <p:txBody>
          <a:bodyPr wrap="square" lIns="0" tIns="0" rIns="0" bIns="0" rtlCol="0" anchor="ctr"/>
          <a:lstStyle/>
          <a:p>
            <a:pPr marL="0" indent="0">
              <a:buNone/>
            </a:pPr>
            <a:r>
              <a:rPr lang="en-US" sz="950" b="1" kern="0" spc="120" dirty="0">
                <a:solidFill>
                  <a:srgbClr val="A7BEAE"/>
                </a:solidFill>
                <a:latin typeface="Calibri" pitchFamily="34" charset="0"/>
                <a:ea typeface="Calibri" pitchFamily="34" charset="-122"/>
                <a:cs typeface="Calibri" pitchFamily="34" charset="-120"/>
              </a:rPr>
              <a:t>MOSTLY ANSWERED</a:t>
            </a:r>
            <a:endParaRPr lang="en-US" sz="950" dirty="0"/>
          </a:p>
        </p:txBody>
      </p:sp>
      <p:sp>
        <p:nvSpPr>
          <p:cNvPr id="8" name="Shape 6"/>
          <p:cNvSpPr/>
          <p:nvPr/>
        </p:nvSpPr>
        <p:spPr>
          <a:xfrm>
            <a:off x="566928" y="1938528"/>
            <a:ext cx="5486400" cy="1463040"/>
          </a:xfrm>
          <a:prstGeom prst="roundRect">
            <a:avLst>
              <a:gd name="adj" fmla="val 3750"/>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804672" y="2066544"/>
            <a:ext cx="4937760" cy="274320"/>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Build the model described on the previous slide</a:t>
            </a:r>
            <a:endParaRPr lang="en-US" sz="1300" dirty="0"/>
          </a:p>
        </p:txBody>
      </p:sp>
      <p:sp>
        <p:nvSpPr>
          <p:cNvPr id="10" name="Text 8"/>
          <p:cNvSpPr/>
          <p:nvPr/>
        </p:nvSpPr>
        <p:spPr>
          <a:xfrm>
            <a:off x="804672" y="2377440"/>
            <a:ext cx="5029200" cy="914400"/>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This is the main analytical piece still outstanding. It turns the separate correlations already found into a single result showing which factors genuinely explain coverage, and which districts do not fit the pattern.</a:t>
            </a:r>
            <a:endParaRPr lang="en-US" sz="1050" dirty="0"/>
          </a:p>
        </p:txBody>
      </p:sp>
      <p:sp>
        <p:nvSpPr>
          <p:cNvPr id="11" name="Shape 9"/>
          <p:cNvSpPr/>
          <p:nvPr/>
        </p:nvSpPr>
        <p:spPr>
          <a:xfrm>
            <a:off x="6309360" y="1938528"/>
            <a:ext cx="5285232" cy="1463040"/>
          </a:xfrm>
          <a:prstGeom prst="roundRect">
            <a:avLst>
              <a:gd name="adj" fmla="val 3750"/>
            </a:avLst>
          </a:prstGeom>
          <a:solidFill>
            <a:srgbClr val="F7F5F1"/>
          </a:solidFill>
          <a:ln/>
          <a:effectLst>
            <a:outerShdw blurRad="76200" dist="381" dir="5400000" algn="bl" rotWithShape="0">
              <a:srgbClr val="000000">
                <a:alpha val="8000"/>
              </a:srgbClr>
            </a:outerShdw>
          </a:effectLst>
        </p:spPr>
      </p:sp>
      <p:sp>
        <p:nvSpPr>
          <p:cNvPr id="12" name="Text 10"/>
          <p:cNvSpPr/>
          <p:nvPr/>
        </p:nvSpPr>
        <p:spPr>
          <a:xfrm>
            <a:off x="6547104" y="2066544"/>
            <a:ext cx="4754880" cy="274320"/>
          </a:xfrm>
          <a:prstGeom prst="rect">
            <a:avLst/>
          </a:prstGeom>
          <a:noFill/>
          <a:ln/>
        </p:spPr>
        <p:txBody>
          <a:bodyPr wrap="square" lIns="0" tIns="0" rIns="0" bIns="0" rtlCol="0" anchor="ctr"/>
          <a:lstStyle/>
          <a:p>
            <a:pPr marL="0" indent="0">
              <a:buNone/>
            </a:pPr>
            <a:r>
              <a:rPr lang="en-US" sz="1300" b="1" dirty="0">
                <a:solidFill>
                  <a:srgbClr val="B85042"/>
                </a:solidFill>
                <a:latin typeface="Cambria" pitchFamily="34" charset="0"/>
                <a:ea typeface="Cambria" pitchFamily="34" charset="-122"/>
                <a:cs typeface="Cambria" pitchFamily="34" charset="-120"/>
              </a:rPr>
              <a:t>Measure what each extra source adds</a:t>
            </a:r>
            <a:endParaRPr lang="en-US" sz="1300" dirty="0"/>
          </a:p>
        </p:txBody>
      </p:sp>
      <p:sp>
        <p:nvSpPr>
          <p:cNvPr id="13" name="Text 11"/>
          <p:cNvSpPr/>
          <p:nvPr/>
        </p:nvSpPr>
        <p:spPr>
          <a:xfrm>
            <a:off x="6547104" y="2377440"/>
            <a:ext cx="4754880" cy="914400"/>
          </a:xfrm>
          <a:prstGeom prst="rect">
            <a:avLst/>
          </a:prstGeom>
          <a:noFill/>
          <a:ln/>
        </p:spPr>
        <p:txBody>
          <a:bodyPr wrap="square" lIns="0" tIns="0" rIns="0" bIns="0" rtlCol="0" anchor="ctr"/>
          <a:lstStyle/>
          <a:p>
            <a:pPr marL="0" indent="0">
              <a:lnSpc>
                <a:spcPts val="1300"/>
              </a:lnSpc>
              <a:buNone/>
            </a:pPr>
            <a:r>
              <a:rPr lang="en-US" sz="1050" dirty="0">
                <a:solidFill>
                  <a:srgbClr val="7A6E68"/>
                </a:solidFill>
                <a:latin typeface="Calibri" pitchFamily="34" charset="0"/>
                <a:ea typeface="Calibri" pitchFamily="34" charset="-122"/>
                <a:cs typeface="Calibri" pitchFamily="34" charset="-120"/>
              </a:rPr>
              <a:t>We know only one district is missed by every source, which answers the question in the narrowest way possible. We do not know how much each source adds beyond the last. Adding them one at a time and watching coverage climb turns that single observation into a real number.</a:t>
            </a:r>
            <a:endParaRPr lang="en-US" sz="1050" dirty="0"/>
          </a:p>
        </p:txBody>
      </p:sp>
      <p:sp>
        <p:nvSpPr>
          <p:cNvPr id="14" name="Shape 12"/>
          <p:cNvSpPr/>
          <p:nvPr/>
        </p:nvSpPr>
        <p:spPr>
          <a:xfrm>
            <a:off x="566928" y="3621024"/>
            <a:ext cx="402336" cy="402336"/>
          </a:xfrm>
          <a:prstGeom prst="ellipse">
            <a:avLst/>
          </a:prstGeom>
          <a:solidFill>
            <a:srgbClr val="B85042"/>
          </a:solidFill>
          <a:ln/>
        </p:spPr>
      </p:sp>
      <p:sp>
        <p:nvSpPr>
          <p:cNvPr id="15" name="Text 13"/>
          <p:cNvSpPr/>
          <p:nvPr/>
        </p:nvSpPr>
        <p:spPr>
          <a:xfrm>
            <a:off x="566928" y="3621024"/>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6" name="Text 14"/>
          <p:cNvSpPr/>
          <p:nvPr/>
        </p:nvSpPr>
        <p:spPr>
          <a:xfrm>
            <a:off x="1097280" y="3639312"/>
            <a:ext cx="5943600" cy="365760"/>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Does observability differ by crisis type?</a:t>
            </a:r>
            <a:endParaRPr lang="en-US" sz="1600" dirty="0"/>
          </a:p>
        </p:txBody>
      </p:sp>
      <p:sp>
        <p:nvSpPr>
          <p:cNvPr id="17" name="Text 15"/>
          <p:cNvSpPr/>
          <p:nvPr/>
        </p:nvSpPr>
        <p:spPr>
          <a:xfrm>
            <a:off x="9509760" y="3712464"/>
            <a:ext cx="2011680" cy="237744"/>
          </a:xfrm>
          <a:prstGeom prst="rect">
            <a:avLst/>
          </a:prstGeom>
          <a:noFill/>
          <a:ln/>
        </p:spPr>
        <p:txBody>
          <a:bodyPr wrap="square" lIns="0" tIns="0" rIns="0" bIns="0" rtlCol="0" anchor="ctr"/>
          <a:lstStyle/>
          <a:p>
            <a:pPr marL="0" indent="0">
              <a:buNone/>
            </a:pPr>
            <a:r>
              <a:rPr lang="en-US" sz="950" b="1" kern="0" spc="120" dirty="0">
                <a:solidFill>
                  <a:srgbClr val="B85042"/>
                </a:solidFill>
                <a:latin typeface="Calibri" pitchFamily="34" charset="0"/>
                <a:ea typeface="Calibri" pitchFamily="34" charset="-122"/>
                <a:cs typeface="Calibri" pitchFamily="34" charset="-120"/>
              </a:rPr>
              <a:t>ANSWERED THIS WEEK</a:t>
            </a:r>
            <a:endParaRPr lang="en-US" sz="950" dirty="0"/>
          </a:p>
        </p:txBody>
      </p:sp>
      <p:sp>
        <p:nvSpPr>
          <p:cNvPr id="18" name="Shape 16"/>
          <p:cNvSpPr/>
          <p:nvPr/>
        </p:nvSpPr>
        <p:spPr>
          <a:xfrm>
            <a:off x="566928" y="4114800"/>
            <a:ext cx="3584448" cy="1737360"/>
          </a:xfrm>
          <a:prstGeom prst="roundRect">
            <a:avLst>
              <a:gd name="adj" fmla="val 3158"/>
            </a:avLst>
          </a:prstGeom>
          <a:solidFill>
            <a:srgbClr val="E7E8D1"/>
          </a:solidFill>
          <a:ln/>
          <a:effectLst>
            <a:outerShdw blurRad="76200" dist="381" dir="5400000" algn="bl" rotWithShape="0">
              <a:srgbClr val="000000">
                <a:alpha val="8000"/>
              </a:srgbClr>
            </a:outerShdw>
          </a:effectLst>
        </p:spPr>
      </p:sp>
      <p:sp>
        <p:nvSpPr>
          <p:cNvPr id="19" name="Text 17"/>
          <p:cNvSpPr/>
          <p:nvPr/>
        </p:nvSpPr>
        <p:spPr>
          <a:xfrm>
            <a:off x="786384" y="4242816"/>
            <a:ext cx="3200400" cy="402336"/>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Repeat it using food and nutrition reports only</a:t>
            </a:r>
            <a:endParaRPr lang="en-US" sz="1200" dirty="0"/>
          </a:p>
        </p:txBody>
      </p:sp>
      <p:sp>
        <p:nvSpPr>
          <p:cNvPr id="20" name="Text 18"/>
          <p:cNvSpPr/>
          <p:nvPr/>
        </p:nvSpPr>
        <p:spPr>
          <a:xfrm>
            <a:off x="786384" y="4681728"/>
            <a:ext cx="3200400" cy="1097280"/>
          </a:xfrm>
          <a:prstGeom prst="rect">
            <a:avLst/>
          </a:prstGeom>
          <a:noFill/>
          <a:ln/>
        </p:spPr>
        <p:txBody>
          <a:bodyPr wrap="square" lIns="0" tIns="0" rIns="0" bIns="0" rtlCol="0" anchor="ctr"/>
          <a:lstStyle/>
          <a:p>
            <a:pPr marL="0" indent="0">
              <a:lnSpc>
                <a:spcPts val="1200"/>
              </a:lnSpc>
              <a:buNone/>
            </a:pPr>
            <a:r>
              <a:rPr lang="en-US" sz="1000" dirty="0">
                <a:solidFill>
                  <a:srgbClr val="7A6E68"/>
                </a:solidFill>
                <a:latin typeface="Calibri" pitchFamily="34" charset="0"/>
                <a:ea typeface="Calibri" pitchFamily="34" charset="-122"/>
                <a:cs typeface="Calibri" pitchFamily="34" charset="-120"/>
              </a:rPr>
              <a:t>This week's result counted reports of any kind. Since the project is about food insecurity, the sharper question is whether food and nutrition reporting shows the same bias towards conflict. Those columns have existed since the prototype and have never been used.</a:t>
            </a:r>
            <a:endParaRPr lang="en-US" sz="1000" dirty="0"/>
          </a:p>
        </p:txBody>
      </p:sp>
      <p:sp>
        <p:nvSpPr>
          <p:cNvPr id="21" name="Shape 19"/>
          <p:cNvSpPr/>
          <p:nvPr/>
        </p:nvSpPr>
        <p:spPr>
          <a:xfrm>
            <a:off x="4279392" y="4114800"/>
            <a:ext cx="3584448" cy="1737360"/>
          </a:xfrm>
          <a:prstGeom prst="roundRect">
            <a:avLst>
              <a:gd name="adj" fmla="val 3158"/>
            </a:avLst>
          </a:prstGeom>
          <a:solidFill>
            <a:srgbClr val="E7E8D1"/>
          </a:solidFill>
          <a:ln/>
          <a:effectLst>
            <a:outerShdw blurRad="76200" dist="381" dir="5400000" algn="bl" rotWithShape="0">
              <a:srgbClr val="000000">
                <a:alpha val="8000"/>
              </a:srgbClr>
            </a:outerShdw>
          </a:effectLst>
        </p:spPr>
      </p:sp>
      <p:sp>
        <p:nvSpPr>
          <p:cNvPr id="22" name="Text 20"/>
          <p:cNvSpPr/>
          <p:nvPr/>
        </p:nvSpPr>
        <p:spPr>
          <a:xfrm>
            <a:off x="4498848" y="4242816"/>
            <a:ext cx="3200400" cy="402336"/>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Check whether drought is reported late, not never</a:t>
            </a:r>
            <a:endParaRPr lang="en-US" sz="1200" dirty="0"/>
          </a:p>
        </p:txBody>
      </p:sp>
      <p:sp>
        <p:nvSpPr>
          <p:cNvPr id="23" name="Text 21"/>
          <p:cNvSpPr/>
          <p:nvPr/>
        </p:nvSpPr>
        <p:spPr>
          <a:xfrm>
            <a:off x="4498848" y="4681728"/>
            <a:ext cx="3200400" cy="1097280"/>
          </a:xfrm>
          <a:prstGeom prst="rect">
            <a:avLst/>
          </a:prstGeom>
          <a:noFill/>
          <a:ln/>
        </p:spPr>
        <p:txBody>
          <a:bodyPr wrap="square" lIns="0" tIns="0" rIns="0" bIns="0" rtlCol="0" anchor="ctr"/>
          <a:lstStyle/>
          <a:p>
            <a:pPr marL="0" indent="0">
              <a:lnSpc>
                <a:spcPts val="1200"/>
              </a:lnSpc>
              <a:buNone/>
            </a:pPr>
            <a:r>
              <a:rPr lang="en-US" sz="1000" dirty="0">
                <a:solidFill>
                  <a:srgbClr val="7A6E68"/>
                </a:solidFill>
                <a:latin typeface="Calibri" pitchFamily="34" charset="0"/>
                <a:ea typeface="Calibri" pitchFamily="34" charset="-122"/>
                <a:cs typeface="Calibri" pitchFamily="34" charset="-120"/>
              </a:rPr>
              <a:t>Droughts build slowly, so reporting may simply arrive months later rather than not at all. Only a one-month delay has been tested, and only for conflict. If drought does get attention later, the honest conclusion becomes noticed late instead of ignored.</a:t>
            </a:r>
            <a:endParaRPr lang="en-US" sz="1000" dirty="0"/>
          </a:p>
        </p:txBody>
      </p:sp>
      <p:sp>
        <p:nvSpPr>
          <p:cNvPr id="24" name="Shape 22"/>
          <p:cNvSpPr/>
          <p:nvPr/>
        </p:nvSpPr>
        <p:spPr>
          <a:xfrm>
            <a:off x="7991856" y="4114800"/>
            <a:ext cx="3584448" cy="1737360"/>
          </a:xfrm>
          <a:prstGeom prst="roundRect">
            <a:avLst>
              <a:gd name="adj" fmla="val 3158"/>
            </a:avLst>
          </a:prstGeom>
          <a:solidFill>
            <a:srgbClr val="E7E8D1"/>
          </a:solidFill>
          <a:ln/>
          <a:effectLst>
            <a:outerShdw blurRad="76200" dist="381" dir="5400000" algn="bl" rotWithShape="0">
              <a:srgbClr val="000000">
                <a:alpha val="8000"/>
              </a:srgbClr>
            </a:outerShdw>
          </a:effectLst>
        </p:spPr>
      </p:sp>
      <p:sp>
        <p:nvSpPr>
          <p:cNvPr id="25" name="Text 23"/>
          <p:cNvSpPr/>
          <p:nvPr/>
        </p:nvSpPr>
        <p:spPr>
          <a:xfrm>
            <a:off x="8211312" y="4242816"/>
            <a:ext cx="3200400" cy="402336"/>
          </a:xfrm>
          <a:prstGeom prst="rect">
            <a:avLst/>
          </a:prstGeom>
          <a:noFill/>
          <a:ln/>
        </p:spPr>
        <p:txBody>
          <a:bodyPr wrap="square" lIns="0" tIns="0" rIns="0" bIns="0" rtlCol="0" anchor="ctr"/>
          <a:lstStyle/>
          <a:p>
            <a:pPr marL="0" indent="0">
              <a:buNone/>
            </a:pPr>
            <a:r>
              <a:rPr lang="en-US" sz="1200" b="1" dirty="0">
                <a:solidFill>
                  <a:srgbClr val="2B2523"/>
                </a:solidFill>
                <a:latin typeface="Cambria" pitchFamily="34" charset="0"/>
                <a:ea typeface="Cambria" pitchFamily="34" charset="-122"/>
                <a:cs typeface="Cambria" pitchFamily="34" charset="-120"/>
              </a:rPr>
              <a:t>Check whether attention grows with severity</a:t>
            </a:r>
            <a:endParaRPr lang="en-US" sz="1200" dirty="0"/>
          </a:p>
        </p:txBody>
      </p:sp>
      <p:sp>
        <p:nvSpPr>
          <p:cNvPr id="26" name="Text 24"/>
          <p:cNvSpPr/>
          <p:nvPr/>
        </p:nvSpPr>
        <p:spPr>
          <a:xfrm>
            <a:off x="8211312" y="4681728"/>
            <a:ext cx="3200400" cy="1097280"/>
          </a:xfrm>
          <a:prstGeom prst="rect">
            <a:avLst/>
          </a:prstGeom>
          <a:noFill/>
          <a:ln/>
        </p:spPr>
        <p:txBody>
          <a:bodyPr wrap="square" lIns="0" tIns="0" rIns="0" bIns="0" rtlCol="0" anchor="ctr"/>
          <a:lstStyle/>
          <a:p>
            <a:pPr marL="0" indent="0">
              <a:lnSpc>
                <a:spcPts val="1200"/>
              </a:lnSpc>
              <a:buNone/>
            </a:pPr>
            <a:r>
              <a:rPr lang="en-US" sz="1000" dirty="0">
                <a:solidFill>
                  <a:srgbClr val="7A6E68"/>
                </a:solidFill>
                <a:latin typeface="Calibri" pitchFamily="34" charset="0"/>
                <a:ea typeface="Calibri" pitchFamily="34" charset="-122"/>
                <a:cs typeface="Calibri" pitchFamily="34" charset="-120"/>
              </a:rPr>
              <a:t>The current test compares only the worst cases on each side. Seeing whether reporting rises steadily as conflict worsens, while staying flat however bad the drought gets, would make the same point far more strongly.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marL="0" indent="0">
              <a:buNone/>
            </a:pPr>
            <a:r>
              <a:rPr lang="en-US" sz="2900" b="1" dirty="0">
                <a:solidFill>
                  <a:srgbClr val="2B2523"/>
                </a:solidFill>
                <a:latin typeface="Cambria" pitchFamily="34" charset="0"/>
                <a:ea typeface="Cambria" pitchFamily="34" charset="-122"/>
                <a:cs typeface="Cambria" pitchFamily="34" charset="-120"/>
              </a:rPr>
              <a:t>Sub-question 3: the only route to “does it matter”</a:t>
            </a:r>
            <a:endParaRPr lang="en-US" sz="29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marL="0" indent="0">
              <a:buNone/>
            </a:pPr>
            <a:r>
              <a:rPr lang="en-US" sz="1350" i="1" dirty="0">
                <a:solidFill>
                  <a:srgbClr val="7A6E68"/>
                </a:solidFill>
                <a:latin typeface="Calibri" pitchFamily="34" charset="0"/>
                <a:ea typeface="Calibri" pitchFamily="34" charset="-122"/>
                <a:cs typeface="Calibri" pitchFamily="34" charset="-120"/>
              </a:rPr>
              <a:t>The priority. Does thin coverage give a wrong picture, or just a thinner one?</a:t>
            </a:r>
            <a:endParaRPr lang="en-US" sz="1350" dirty="0"/>
          </a:p>
        </p:txBody>
      </p:sp>
      <p:sp>
        <p:nvSpPr>
          <p:cNvPr id="4" name="Shape 2"/>
          <p:cNvSpPr/>
          <p:nvPr/>
        </p:nvSpPr>
        <p:spPr>
          <a:xfrm>
            <a:off x="566928" y="1463040"/>
            <a:ext cx="11027664" cy="786384"/>
          </a:xfrm>
          <a:prstGeom prst="roundRect">
            <a:avLst>
              <a:gd name="adj" fmla="val 6977"/>
            </a:avLst>
          </a:prstGeom>
          <a:solidFill>
            <a:srgbClr val="2B2523"/>
          </a:solidFill>
          <a:ln/>
          <a:effectLst>
            <a:outerShdw blurRad="76200" dist="381" dir="5400000" algn="bl" rotWithShape="0">
              <a:srgbClr val="000000">
                <a:alpha val="8000"/>
              </a:srgbClr>
            </a:outerShdw>
          </a:effectLst>
        </p:spPr>
      </p:sp>
      <p:sp>
        <p:nvSpPr>
          <p:cNvPr id="5" name="Text 3"/>
          <p:cNvSpPr/>
          <p:nvPr/>
        </p:nvSpPr>
        <p:spPr>
          <a:xfrm>
            <a:off x="841248" y="1572768"/>
            <a:ext cx="10479024" cy="585216"/>
          </a:xfrm>
          <a:prstGeom prst="rect">
            <a:avLst/>
          </a:prstGeom>
          <a:noFill/>
          <a:ln/>
        </p:spPr>
        <p:txBody>
          <a:bodyPr wrap="square" lIns="0" tIns="0" rIns="0" bIns="0"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The test: in districts we already know are poorly covered, does our dataset disagree with IPC's official food-insecurity assessment more than it does in well-covered districts? If it does, thin coverage means less trustworthy data, not just less data.</a:t>
            </a:r>
            <a:endParaRPr lang="en-US" sz="1250" dirty="0"/>
          </a:p>
        </p:txBody>
      </p:sp>
      <p:sp>
        <p:nvSpPr>
          <p:cNvPr id="6" name="Text 4"/>
          <p:cNvSpPr/>
          <p:nvPr/>
        </p:nvSpPr>
        <p:spPr>
          <a:xfrm>
            <a:off x="566928" y="2432304"/>
            <a:ext cx="7315200" cy="310896"/>
          </a:xfrm>
          <a:prstGeom prst="rect">
            <a:avLst/>
          </a:prstGeom>
          <a:noFill/>
          <a:ln/>
        </p:spPr>
        <p:txBody>
          <a:bodyPr wrap="square" lIns="0" tIns="0" rIns="0" bIns="0" rtlCol="0" anchor="ctr"/>
          <a:lstStyle/>
          <a:p>
            <a:pPr marL="0" indent="0">
              <a:buNone/>
            </a:pPr>
            <a:r>
              <a:rPr lang="en-US" sz="1600" b="1" dirty="0">
                <a:solidFill>
                  <a:srgbClr val="2B2523"/>
                </a:solidFill>
                <a:latin typeface="Cambria" pitchFamily="34" charset="0"/>
                <a:ea typeface="Cambria" pitchFamily="34" charset="-122"/>
                <a:cs typeface="Cambria" pitchFamily="34" charset="-120"/>
              </a:rPr>
              <a:t>Next </a:t>
            </a:r>
            <a:r>
              <a:rPr lang="en-US" sz="1600" b="1" dirty="0" err="1">
                <a:solidFill>
                  <a:srgbClr val="2B2523"/>
                </a:solidFill>
                <a:latin typeface="Cambria" pitchFamily="34" charset="0"/>
                <a:ea typeface="Cambria" pitchFamily="34" charset="-122"/>
                <a:cs typeface="Cambria" pitchFamily="34" charset="-120"/>
              </a:rPr>
              <a:t>stpes</a:t>
            </a:r>
            <a:endParaRPr lang="en-US" sz="1600" dirty="0"/>
          </a:p>
        </p:txBody>
      </p:sp>
      <p:sp>
        <p:nvSpPr>
          <p:cNvPr id="7" name="Shape 5"/>
          <p:cNvSpPr/>
          <p:nvPr/>
        </p:nvSpPr>
        <p:spPr>
          <a:xfrm>
            <a:off x="566928" y="2834640"/>
            <a:ext cx="5486400" cy="3424646"/>
          </a:xfrm>
          <a:prstGeom prst="roundRect">
            <a:avLst>
              <a:gd name="adj" fmla="val 2400"/>
            </a:avLst>
          </a:prstGeom>
          <a:solidFill>
            <a:srgbClr val="F7F5F1"/>
          </a:solidFill>
          <a:ln/>
          <a:effectLst>
            <a:outerShdw blurRad="76200" dist="381" dir="5400000" algn="bl" rotWithShape="0">
              <a:srgbClr val="000000">
                <a:alpha val="8000"/>
              </a:srgbClr>
            </a:outerShdw>
          </a:effectLst>
        </p:spPr>
      </p:sp>
      <p:sp>
        <p:nvSpPr>
          <p:cNvPr id="9" name="Text 7"/>
          <p:cNvSpPr/>
          <p:nvPr/>
        </p:nvSpPr>
        <p:spPr>
          <a:xfrm>
            <a:off x="804672" y="3025358"/>
            <a:ext cx="4937760" cy="274320"/>
          </a:xfrm>
          <a:prstGeom prst="rect">
            <a:avLst/>
          </a:prstGeom>
          <a:noFill/>
          <a:ln/>
        </p:spPr>
        <p:txBody>
          <a:bodyPr wrap="square" lIns="0" tIns="0" rIns="0" bIns="0" rtlCol="0" anchor="ctr"/>
          <a:lstStyle/>
          <a:p>
            <a:pPr marL="0" indent="0">
              <a:buNone/>
            </a:pPr>
            <a:r>
              <a:rPr lang="en-US" sz="1350" b="1" dirty="0">
                <a:solidFill>
                  <a:srgbClr val="2B2523"/>
                </a:solidFill>
                <a:latin typeface="Cambria" pitchFamily="34" charset="0"/>
                <a:ea typeface="Cambria" pitchFamily="34" charset="-122"/>
              </a:rPr>
              <a:t>Collect and Process IPC data</a:t>
            </a:r>
            <a:endParaRPr lang="en-US" sz="1350" dirty="0"/>
          </a:p>
        </p:txBody>
      </p:sp>
      <p:sp>
        <p:nvSpPr>
          <p:cNvPr id="10" name="Text 8"/>
          <p:cNvSpPr/>
          <p:nvPr/>
        </p:nvSpPr>
        <p:spPr>
          <a:xfrm>
            <a:off x="804672" y="3299678"/>
            <a:ext cx="5029200" cy="2856192"/>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1200" dirty="0">
                <a:solidFill>
                  <a:srgbClr val="7A6E68"/>
                </a:solidFill>
                <a:latin typeface="Calibri" pitchFamily="34" charset="0"/>
                <a:ea typeface="Calibri" pitchFamily="34" charset="-122"/>
                <a:cs typeface="Calibri" pitchFamily="34" charset="-120"/>
              </a:rPr>
              <a:t>IPC publishes two or three times a year, not monthly, so we need a clear rule for spreading each assessment across the months it covers.</a:t>
            </a:r>
            <a:endParaRPr lang="en-US" sz="1200" dirty="0"/>
          </a:p>
          <a:p>
            <a:pPr marL="342900" indent="-342900">
              <a:lnSpc>
                <a:spcPts val="1300"/>
              </a:lnSpc>
              <a:buSzPct val="100000"/>
              <a:buChar char="•"/>
            </a:pPr>
            <a:r>
              <a:rPr lang="en-US" sz="1200" dirty="0">
                <a:solidFill>
                  <a:srgbClr val="7A6E68"/>
                </a:solidFill>
                <a:latin typeface="Calibri" pitchFamily="34" charset="0"/>
                <a:ea typeface="Calibri" pitchFamily="34" charset="-122"/>
                <a:cs typeface="Calibri" pitchFamily="34" charset="-120"/>
              </a:rPr>
              <a:t>IPC may name districts differently, which would mean a fourth round of the name-matching already done for WFP, ACLED and </a:t>
            </a:r>
            <a:r>
              <a:rPr lang="en-US" sz="1200" dirty="0" err="1">
                <a:solidFill>
                  <a:srgbClr val="7A6E68"/>
                </a:solidFill>
                <a:latin typeface="Calibri" pitchFamily="34" charset="0"/>
                <a:ea typeface="Calibri" pitchFamily="34" charset="-122"/>
                <a:cs typeface="Calibri" pitchFamily="34" charset="-120"/>
              </a:rPr>
              <a:t>ReliefWeb</a:t>
            </a:r>
            <a:r>
              <a:rPr lang="en-US" sz="1200" dirty="0">
                <a:solidFill>
                  <a:srgbClr val="7A6E68"/>
                </a:solidFill>
                <a:latin typeface="Calibri" pitchFamily="34" charset="0"/>
                <a:ea typeface="Calibri" pitchFamily="34" charset="-122"/>
                <a:cs typeface="Calibri" pitchFamily="34" charset="-120"/>
              </a:rPr>
              <a:t>.</a:t>
            </a:r>
          </a:p>
          <a:p>
            <a:pPr>
              <a:lnSpc>
                <a:spcPts val="1300"/>
              </a:lnSpc>
              <a:buSzPct val="100000"/>
            </a:pPr>
            <a:endParaRPr lang="en-US" sz="1200" dirty="0">
              <a:solidFill>
                <a:srgbClr val="7A6E68"/>
              </a:solidFill>
              <a:latin typeface="Calibri" pitchFamily="34" charset="0"/>
              <a:ea typeface="Calibri" pitchFamily="34" charset="-122"/>
              <a:cs typeface="Calibri" pitchFamily="34" charset="-120"/>
            </a:endParaRPr>
          </a:p>
          <a:p>
            <a:pPr marL="342900" indent="-342900">
              <a:lnSpc>
                <a:spcPts val="1300"/>
              </a:lnSpc>
              <a:buSzPct val="100000"/>
              <a:buChar char="•"/>
            </a:pPr>
            <a:r>
              <a:rPr lang="en-US" sz="1200" dirty="0">
                <a:solidFill>
                  <a:srgbClr val="7A6E68"/>
                </a:solidFill>
                <a:latin typeface="Calibri" pitchFamily="34" charset="0"/>
                <a:ea typeface="Calibri" pitchFamily="34" charset="-122"/>
                <a:cs typeface="Calibri" pitchFamily="34" charset="-120"/>
              </a:rPr>
              <a:t>Task for the following week includes gathering IPC data and ensuring it can be used against our existing dataset</a:t>
            </a:r>
            <a:endParaRPr lang="en-US" sz="1200" dirty="0"/>
          </a:p>
        </p:txBody>
      </p:sp>
      <p:sp>
        <p:nvSpPr>
          <p:cNvPr id="11" name="Shape 9"/>
          <p:cNvSpPr/>
          <p:nvPr/>
        </p:nvSpPr>
        <p:spPr>
          <a:xfrm>
            <a:off x="6309360" y="2834639"/>
            <a:ext cx="5285232" cy="3321231"/>
          </a:xfrm>
          <a:prstGeom prst="roundRect">
            <a:avLst>
              <a:gd name="adj" fmla="val 2400"/>
            </a:avLst>
          </a:prstGeom>
          <a:solidFill>
            <a:srgbClr val="E7E8D1"/>
          </a:solidFill>
          <a:ln/>
          <a:effectLst>
            <a:outerShdw blurRad="76200" dist="381" dir="5400000" algn="bl" rotWithShape="0">
              <a:srgbClr val="000000">
                <a:alpha val="8000"/>
              </a:srgbClr>
            </a:outerShdw>
          </a:effectLst>
        </p:spPr>
        <p:txBody>
          <a:bodyPr/>
          <a:lstStyle/>
          <a:p>
            <a:endParaRPr lang="en-US"/>
          </a:p>
        </p:txBody>
      </p:sp>
      <p:sp>
        <p:nvSpPr>
          <p:cNvPr id="13" name="Text 11"/>
          <p:cNvSpPr/>
          <p:nvPr/>
        </p:nvSpPr>
        <p:spPr>
          <a:xfrm>
            <a:off x="6547104" y="3055838"/>
            <a:ext cx="4754880" cy="274320"/>
          </a:xfrm>
          <a:prstGeom prst="rect">
            <a:avLst/>
          </a:prstGeom>
          <a:noFill/>
          <a:ln/>
        </p:spPr>
        <p:txBody>
          <a:bodyPr wrap="square" lIns="0" tIns="0" rIns="0" bIns="0" rtlCol="0" anchor="ctr"/>
          <a:lstStyle/>
          <a:p>
            <a:pPr marL="0" indent="0">
              <a:buNone/>
            </a:pPr>
            <a:r>
              <a:rPr lang="en-US" sz="1350" b="1" dirty="0">
                <a:solidFill>
                  <a:srgbClr val="2B2523"/>
                </a:solidFill>
                <a:latin typeface="Cambria" pitchFamily="34" charset="0"/>
                <a:ea typeface="Cambria" pitchFamily="34" charset="-122"/>
                <a:cs typeface="Cambria" pitchFamily="34" charset="-120"/>
              </a:rPr>
              <a:t>Define a unit of measurement to compare against IPC</a:t>
            </a:r>
            <a:endParaRPr lang="en-US" sz="1350" dirty="0"/>
          </a:p>
        </p:txBody>
      </p:sp>
      <p:sp>
        <p:nvSpPr>
          <p:cNvPr id="14" name="Text 12"/>
          <p:cNvSpPr/>
          <p:nvPr/>
        </p:nvSpPr>
        <p:spPr>
          <a:xfrm>
            <a:off x="6547104" y="3414631"/>
            <a:ext cx="4754880" cy="2561626"/>
          </a:xfrm>
          <a:prstGeom prst="rect">
            <a:avLst/>
          </a:prstGeom>
          <a:noFill/>
          <a:ln/>
        </p:spPr>
        <p:txBody>
          <a:bodyPr wrap="square" lIns="0" tIns="0" rIns="0" bIns="0" rtlCol="0" anchor="ctr"/>
          <a:lstStyle/>
          <a:p>
            <a:pPr>
              <a:lnSpc>
                <a:spcPts val="1300"/>
              </a:lnSpc>
            </a:pPr>
            <a:r>
              <a:rPr lang="en-US" sz="1200" dirty="0">
                <a:solidFill>
                  <a:srgbClr val="7A6E68"/>
                </a:solidFill>
                <a:latin typeface="Calibri" pitchFamily="34" charset="0"/>
                <a:ea typeface="Calibri" pitchFamily="34" charset="-122"/>
                <a:cs typeface="Calibri" pitchFamily="34" charset="-120"/>
              </a:rPr>
              <a:t>The plan is to compare what our dataset says about each district against what IPC says. 	That measure has not been defined yet. The tasks for next week is to find a mechanism that would allow a comparison between the story told by the dataset and the results revealed by IPC data for a particular admin 2 x month level.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3297</Words>
  <Application>Microsoft Office PowerPoint</Application>
  <PresentationFormat>Widescreen</PresentationFormat>
  <Paragraphs>326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of August 10, 2026</dc:title>
  <dc:subject>PptxGenJS Presentation</dc:subject>
  <dc:creator>Samuel Aracena</dc:creator>
  <cp:lastModifiedBy>samuel aracena</cp:lastModifiedBy>
  <cp:revision>2</cp:revision>
  <dcterms:created xsi:type="dcterms:W3CDTF">2026-08-14T08:23:12Z</dcterms:created>
  <dcterms:modified xsi:type="dcterms:W3CDTF">2026-08-14T09:38:54Z</dcterms:modified>
</cp:coreProperties>
</file>