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523"/>
        </a:solidFill>
      </p:bgPr>
    </p:bg>
    <p:spTree>
      <p:nvGrpSpPr>
        <p:cNvPr id="1" name=""/>
        <p:cNvGrpSpPr/>
        <p:nvPr/>
      </p:nvGrpSpPr>
      <p:grpSpPr>
        <a:xfrm>
          <a:off x="0" y="0"/>
          <a:ext cx="0" cy="0"/>
          <a:chOff x="0" y="0"/>
          <a:chExt cx="0" cy="0"/>
        </a:xfrm>
      </p:grpSpPr>
      <p:sp>
        <p:nvSpPr>
          <p:cNvPr id="2" name="Text 0"/>
          <p:cNvSpPr/>
          <p:nvPr/>
        </p:nvSpPr>
        <p:spPr>
          <a:xfrm>
            <a:off x="566928" y="2286000"/>
            <a:ext cx="11027664"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Week of August 17, 2026</a:t>
            </a:r>
            <a:endParaRPr lang="en-US" sz="3800" dirty="0"/>
          </a:p>
        </p:txBody>
      </p:sp>
      <p:sp>
        <p:nvSpPr>
          <p:cNvPr id="3" name="Text 1"/>
          <p:cNvSpPr/>
          <p:nvPr/>
        </p:nvSpPr>
        <p:spPr>
          <a:xfrm>
            <a:off x="566928" y="3200400"/>
            <a:ext cx="11027664" cy="1097280"/>
          </a:xfrm>
          <a:prstGeom prst="rect">
            <a:avLst/>
          </a:prstGeom>
          <a:noFill/>
          <a:ln/>
        </p:spPr>
        <p:txBody>
          <a:bodyPr wrap="square" lIns="0" tIns="0" rIns="0" bIns="0" rtlCol="0" anchor="ctr"/>
          <a:lstStyle/>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Working through the outstanding to-do list: geoparser validation, correcting for</a:t>
            </a:r>
            <a:endParaRPr lang="en-US" sz="1400" dirty="0"/>
          </a:p>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repeated district-months, strengthening the conflict-vs-climate result, source</a:t>
            </a:r>
            <a:endParaRPr lang="en-US" sz="1400" dirty="0"/>
          </a:p>
          <a:p>
            <a:pPr indent="0" marL="0">
              <a:lnSpc>
                <a:spcPts val="1900"/>
              </a:lnSpc>
              <a:buNone/>
            </a:pPr>
            <a:r>
              <a:rPr lang="en-US" sz="1400" dirty="0">
                <a:solidFill>
                  <a:srgbClr val="E7E8D1"/>
                </a:solidFill>
                <a:latin typeface="Calibri" pitchFamily="34" charset="0"/>
                <a:ea typeface="Calibri" pitchFamily="34" charset="-122"/>
                <a:cs typeface="Calibri" pitchFamily="34" charset="-120"/>
              </a:rPr>
              <a:t>complementarity, final feature formulas, and the source-level table.</a:t>
            </a:r>
            <a:endParaRPr lang="en-US" sz="1400" dirty="0"/>
          </a:p>
        </p:txBody>
      </p:sp>
      <p:sp>
        <p:nvSpPr>
          <p:cNvPr id="4" name="Text 2"/>
          <p:cNvSpPr/>
          <p:nvPr/>
        </p:nvSpPr>
        <p:spPr>
          <a:xfrm>
            <a:off x="566928" y="5943600"/>
            <a:ext cx="11027664" cy="365760"/>
          </a:xfrm>
          <a:prstGeom prst="rect">
            <a:avLst/>
          </a:prstGeom>
          <a:noFill/>
          <a:ln/>
        </p:spPr>
        <p:txBody>
          <a:bodyPr wrap="square" lIns="0" tIns="0" rIns="0" bIns="0" rtlCol="0" anchor="ctr"/>
          <a:lstStyle/>
          <a:p>
            <a:pPr indent="0" marL="0">
              <a:buNone/>
            </a:pPr>
            <a:r>
              <a:rPr lang="en-US" sz="1150" i="1" dirty="0">
                <a:solidFill>
                  <a:srgbClr val="A7BEAE"/>
                </a:solidFill>
                <a:latin typeface="Calibri" pitchFamily="34" charset="0"/>
                <a:ea typeface="Calibri" pitchFamily="34" charset="-122"/>
                <a:cs typeface="Calibri" pitchFamily="34" charset="-120"/>
              </a:rPr>
              <a:t>Somalia humanitarian observability dissertation  --  a self-contained summary of this week's work</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Where this fits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research question and the dataset this week's work builds on</a:t>
            </a:r>
            <a:endParaRPr lang="en-US" sz="1250" dirty="0"/>
          </a:p>
        </p:txBody>
      </p:sp>
      <p:sp>
        <p:nvSpPr>
          <p:cNvPr id="4" name="Shape 2"/>
          <p:cNvSpPr/>
          <p:nvPr/>
        </p:nvSpPr>
        <p:spPr>
          <a:xfrm>
            <a:off x="566928" y="1463040"/>
            <a:ext cx="11027664" cy="1133856"/>
          </a:xfrm>
          <a:prstGeom prst="roundRect">
            <a:avLst>
              <a:gd name="adj" fmla="val 4839"/>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591056"/>
            <a:ext cx="10479024" cy="914400"/>
          </a:xfrm>
          <a:prstGeom prst="rect">
            <a:avLst/>
          </a:prstGeom>
          <a:noFill/>
          <a:ln/>
        </p:spPr>
        <p:txBody>
          <a:bodyPr wrap="square" lIns="0" tIns="0" rIns="0" bIns="0" rtlCol="0" anchor="ctr"/>
          <a:lstStyle/>
          <a:p>
            <a:pPr indent="0" marL="0">
              <a:lnSpc>
                <a:spcPts val="2000"/>
              </a:lnSpc>
              <a:buNone/>
            </a:pPr>
            <a:r>
              <a:rPr lang="en-US" sz="1500" i="1" dirty="0">
                <a:solidFill>
                  <a:srgbClr val="FFFFFF"/>
                </a:solidFill>
                <a:latin typeface="Cambria" pitchFamily="34" charset="0"/>
                <a:ea typeface="Cambria" pitchFamily="34" charset="-122"/>
                <a:cs typeface="Cambria" pitchFamily="34" charset="-120"/>
              </a:rPr>
              <a:t>How do heterogeneous humanitarian data sources differ in their spatial and temporal coverage, granularity, missingness and measurement reliability when integrated into a common subnational framework?</a:t>
            </a:r>
            <a:endParaRPr lang="en-US" sz="1500" dirty="0"/>
          </a:p>
        </p:txBody>
      </p:sp>
      <p:sp>
        <p:nvSpPr>
          <p:cNvPr id="6" name="Shape 4"/>
          <p:cNvSpPr/>
          <p:nvPr/>
        </p:nvSpPr>
        <p:spPr>
          <a:xfrm>
            <a:off x="566928" y="2834640"/>
            <a:ext cx="3541776"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7" name="Shape 5"/>
          <p:cNvSpPr/>
          <p:nvPr/>
        </p:nvSpPr>
        <p:spPr>
          <a:xfrm>
            <a:off x="749808" y="2999232"/>
            <a:ext cx="384048" cy="384048"/>
          </a:xfrm>
          <a:prstGeom prst="ellipse">
            <a:avLst/>
          </a:prstGeom>
          <a:solidFill>
            <a:srgbClr val="B85042"/>
          </a:solidFill>
          <a:ln/>
        </p:spPr>
      </p:sp>
      <p:sp>
        <p:nvSpPr>
          <p:cNvPr id="8" name="Text 6"/>
          <p:cNvSpPr/>
          <p:nvPr/>
        </p:nvSpPr>
        <p:spPr>
          <a:xfrm>
            <a:off x="749808" y="29992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p:nvPr/>
        </p:nvSpPr>
        <p:spPr>
          <a:xfrm>
            <a:off x="1261872" y="2980944"/>
            <a:ext cx="2663952" cy="45720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Where are the gaps?</a:t>
            </a:r>
            <a:endParaRPr lang="en-US" sz="1200" dirty="0"/>
          </a:p>
        </p:txBody>
      </p:sp>
      <p:sp>
        <p:nvSpPr>
          <p:cNvPr id="10" name="Text 8"/>
          <p:cNvSpPr/>
          <p:nvPr/>
        </p:nvSpPr>
        <p:spPr>
          <a:xfrm>
            <a:off x="768096" y="3566160"/>
            <a:ext cx="3139440" cy="60350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Which districts, periods and mechanisms are well or poorly observed</a:t>
            </a:r>
            <a:endParaRPr lang="en-US" sz="950" dirty="0"/>
          </a:p>
        </p:txBody>
      </p:sp>
      <p:sp>
        <p:nvSpPr>
          <p:cNvPr id="11" name="Shape 9"/>
          <p:cNvSpPr/>
          <p:nvPr/>
        </p:nvSpPr>
        <p:spPr>
          <a:xfrm>
            <a:off x="4309872" y="2834640"/>
            <a:ext cx="3541776"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12" name="Shape 10"/>
          <p:cNvSpPr/>
          <p:nvPr/>
        </p:nvSpPr>
        <p:spPr>
          <a:xfrm>
            <a:off x="4492752" y="2999232"/>
            <a:ext cx="384048" cy="384048"/>
          </a:xfrm>
          <a:prstGeom prst="ellipse">
            <a:avLst/>
          </a:prstGeom>
          <a:solidFill>
            <a:srgbClr val="B85042"/>
          </a:solidFill>
          <a:ln/>
        </p:spPr>
      </p:sp>
      <p:sp>
        <p:nvSpPr>
          <p:cNvPr id="13" name="Text 11"/>
          <p:cNvSpPr/>
          <p:nvPr/>
        </p:nvSpPr>
        <p:spPr>
          <a:xfrm>
            <a:off x="4492752" y="29992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5004816" y="2980944"/>
            <a:ext cx="2663952" cy="45720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Are the gaps systematic?</a:t>
            </a:r>
            <a:endParaRPr lang="en-US" sz="1200" dirty="0"/>
          </a:p>
        </p:txBody>
      </p:sp>
      <p:sp>
        <p:nvSpPr>
          <p:cNvPr id="15" name="Text 13"/>
          <p:cNvSpPr/>
          <p:nvPr/>
        </p:nvSpPr>
        <p:spPr>
          <a:xfrm>
            <a:off x="4511040" y="3566160"/>
            <a:ext cx="3139440" cy="60350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Do they depend on how the data is collected: satellite, survey, event monitoring, reporting</a:t>
            </a:r>
            <a:endParaRPr lang="en-US" sz="950" dirty="0"/>
          </a:p>
        </p:txBody>
      </p:sp>
      <p:sp>
        <p:nvSpPr>
          <p:cNvPr id="16" name="Shape 14"/>
          <p:cNvSpPr/>
          <p:nvPr/>
        </p:nvSpPr>
        <p:spPr>
          <a:xfrm>
            <a:off x="8052816" y="2834640"/>
            <a:ext cx="3541776" cy="1371600"/>
          </a:xfrm>
          <a:prstGeom prst="roundRect">
            <a:avLst>
              <a:gd name="adj" fmla="val 4000"/>
            </a:avLst>
          </a:prstGeom>
          <a:solidFill>
            <a:srgbClr val="F7F5F1"/>
          </a:solidFill>
          <a:ln/>
          <a:effectLst>
            <a:outerShdw sx="100000" sy="100000" kx="0" ky="0" algn="bl" rotWithShape="0" blurRad="76200" dist="381" dir="5400000">
              <a:srgbClr val="000000">
                <a:alpha val="8000"/>
              </a:srgbClr>
            </a:outerShdw>
          </a:effectLst>
        </p:spPr>
      </p:sp>
      <p:sp>
        <p:nvSpPr>
          <p:cNvPr id="17" name="Shape 15"/>
          <p:cNvSpPr/>
          <p:nvPr/>
        </p:nvSpPr>
        <p:spPr>
          <a:xfrm>
            <a:off x="8235696" y="2999232"/>
            <a:ext cx="384048" cy="384048"/>
          </a:xfrm>
          <a:prstGeom prst="ellipse">
            <a:avLst/>
          </a:prstGeom>
          <a:solidFill>
            <a:srgbClr val="B85042"/>
          </a:solidFill>
          <a:ln/>
        </p:spPr>
      </p:sp>
      <p:sp>
        <p:nvSpPr>
          <p:cNvPr id="18" name="Text 16"/>
          <p:cNvSpPr/>
          <p:nvPr/>
        </p:nvSpPr>
        <p:spPr>
          <a:xfrm>
            <a:off x="8235696" y="29992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8747760" y="2980944"/>
            <a:ext cx="2663952" cy="45720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What does combining sources add?</a:t>
            </a:r>
            <a:endParaRPr lang="en-US" sz="1200" dirty="0"/>
          </a:p>
        </p:txBody>
      </p:sp>
      <p:sp>
        <p:nvSpPr>
          <p:cNvPr id="20" name="Text 18"/>
          <p:cNvSpPr/>
          <p:nvPr/>
        </p:nvSpPr>
        <p:spPr>
          <a:xfrm>
            <a:off x="8253984" y="3566160"/>
            <a:ext cx="3139440" cy="60350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Which are complementary, which add little on their own</a:t>
            </a:r>
            <a:endParaRPr lang="en-US" sz="950" dirty="0"/>
          </a:p>
        </p:txBody>
      </p:sp>
      <p:sp>
        <p:nvSpPr>
          <p:cNvPr id="21" name="Shape 19"/>
          <p:cNvSpPr/>
          <p:nvPr/>
        </p:nvSpPr>
        <p:spPr>
          <a:xfrm>
            <a:off x="566928" y="4443984"/>
            <a:ext cx="11027664" cy="1463040"/>
          </a:xfrm>
          <a:prstGeom prst="roundRect">
            <a:avLst>
              <a:gd name="adj" fmla="val 3750"/>
            </a:avLst>
          </a:prstGeom>
          <a:solidFill>
            <a:srgbClr val="E7E8D1"/>
          </a:solidFill>
          <a:ln/>
          <a:effectLst>
            <a:outerShdw sx="100000" sy="100000" kx="0" ky="0" algn="bl" rotWithShape="0" blurRad="76200" dist="381" dir="5400000">
              <a:srgbClr val="000000">
                <a:alpha val="8000"/>
              </a:srgbClr>
            </a:outerShdw>
          </a:effectLst>
        </p:spPr>
      </p:sp>
      <p:sp>
        <p:nvSpPr>
          <p:cNvPr id="22" name="Text 20"/>
          <p:cNvSpPr/>
          <p:nvPr/>
        </p:nvSpPr>
        <p:spPr>
          <a:xfrm>
            <a:off x="841248" y="4572000"/>
            <a:ext cx="10479024" cy="274320"/>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The panel this all runs on</a:t>
            </a:r>
            <a:endParaRPr lang="en-US" sz="1300" dirty="0"/>
          </a:p>
        </p:txBody>
      </p:sp>
      <p:sp>
        <p:nvSpPr>
          <p:cNvPr id="23" name="Text 21"/>
          <p:cNvSpPr/>
          <p:nvPr/>
        </p:nvSpPr>
        <p:spPr>
          <a:xfrm>
            <a:off x="841248" y="4864608"/>
            <a:ext cx="3493008" cy="566928"/>
          </a:xfrm>
          <a:prstGeom prst="rect">
            <a:avLst/>
          </a:prstGeom>
          <a:noFill/>
          <a:ln/>
        </p:spPr>
        <p:txBody>
          <a:bodyPr wrap="square" lIns="0" tIns="0" rIns="0" bIns="0" rtlCol="0" anchor="ctr"/>
          <a:lstStyle/>
          <a:p>
            <a:pPr algn="ctr" indent="0" marL="0">
              <a:buNone/>
            </a:pPr>
            <a:r>
              <a:rPr lang="en-US" sz="2600" b="1" dirty="0">
                <a:solidFill>
                  <a:srgbClr val="B85042"/>
                </a:solidFill>
                <a:latin typeface="Cambria" pitchFamily="34" charset="0"/>
                <a:ea typeface="Cambria" pitchFamily="34" charset="-122"/>
                <a:cs typeface="Cambria" pitchFamily="34" charset="-120"/>
              </a:rPr>
              <a:t>888</a:t>
            </a:r>
            <a:endParaRPr lang="en-US" sz="2600" dirty="0"/>
          </a:p>
        </p:txBody>
      </p:sp>
      <p:sp>
        <p:nvSpPr>
          <p:cNvPr id="24" name="Text 22"/>
          <p:cNvSpPr/>
          <p:nvPr/>
        </p:nvSpPr>
        <p:spPr>
          <a:xfrm>
            <a:off x="841248" y="5413248"/>
            <a:ext cx="3493008"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district-months (74 districts x 12 months, 2024)</a:t>
            </a:r>
            <a:endParaRPr lang="en-US" sz="950" dirty="0"/>
          </a:p>
        </p:txBody>
      </p:sp>
      <p:sp>
        <p:nvSpPr>
          <p:cNvPr id="25" name="Text 23"/>
          <p:cNvSpPr/>
          <p:nvPr/>
        </p:nvSpPr>
        <p:spPr>
          <a:xfrm>
            <a:off x="4334256" y="4864608"/>
            <a:ext cx="3493008" cy="566928"/>
          </a:xfrm>
          <a:prstGeom prst="rect">
            <a:avLst/>
          </a:prstGeom>
          <a:noFill/>
          <a:ln/>
        </p:spPr>
        <p:txBody>
          <a:bodyPr wrap="square" lIns="0" tIns="0" rIns="0" bIns="0" rtlCol="0" anchor="ctr"/>
          <a:lstStyle/>
          <a:p>
            <a:pPr algn="ctr" indent="0" marL="0">
              <a:buNone/>
            </a:pPr>
            <a:r>
              <a:rPr lang="en-US" sz="2600" b="1" dirty="0">
                <a:solidFill>
                  <a:srgbClr val="B85042"/>
                </a:solidFill>
                <a:latin typeface="Cambria" pitchFamily="34" charset="0"/>
                <a:ea typeface="Cambria" pitchFamily="34" charset="-122"/>
                <a:cs typeface="Cambria" pitchFamily="34" charset="-120"/>
              </a:rPr>
              <a:t>4</a:t>
            </a:r>
            <a:endParaRPr lang="en-US" sz="2600" dirty="0"/>
          </a:p>
        </p:txBody>
      </p:sp>
      <p:sp>
        <p:nvSpPr>
          <p:cNvPr id="26" name="Text 24"/>
          <p:cNvSpPr/>
          <p:nvPr/>
        </p:nvSpPr>
        <p:spPr>
          <a:xfrm>
            <a:off x="4334256" y="5413248"/>
            <a:ext cx="3493008"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sources: conflict (ACLED), climate (CHIRPS/VHI),</a:t>
            </a:r>
            <a:endParaRPr lang="en-US" sz="950" dirty="0"/>
          </a:p>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market (WFP), reporting (ReliefWeb)</a:t>
            </a:r>
            <a:endParaRPr lang="en-US" sz="950" dirty="0"/>
          </a:p>
        </p:txBody>
      </p:sp>
      <p:sp>
        <p:nvSpPr>
          <p:cNvPr id="27" name="Text 25"/>
          <p:cNvSpPr/>
          <p:nvPr/>
        </p:nvSpPr>
        <p:spPr>
          <a:xfrm>
            <a:off x="7827264" y="4864608"/>
            <a:ext cx="3493008" cy="566928"/>
          </a:xfrm>
          <a:prstGeom prst="rect">
            <a:avLst/>
          </a:prstGeom>
          <a:noFill/>
          <a:ln/>
        </p:spPr>
        <p:txBody>
          <a:bodyPr wrap="square" lIns="0" tIns="0" rIns="0" bIns="0" rtlCol="0" anchor="ctr"/>
          <a:lstStyle/>
          <a:p>
            <a:pPr algn="ctr" indent="0" marL="0">
              <a:buNone/>
            </a:pPr>
            <a:r>
              <a:rPr lang="en-US" sz="2600" b="1" dirty="0">
                <a:solidFill>
                  <a:srgbClr val="B85042"/>
                </a:solidFill>
                <a:latin typeface="Cambria" pitchFamily="34" charset="0"/>
                <a:ea typeface="Cambria" pitchFamily="34" charset="-122"/>
                <a:cs typeface="Cambria" pitchFamily="34" charset="-120"/>
              </a:rPr>
              <a:t>23</a:t>
            </a:r>
            <a:endParaRPr lang="en-US" sz="2600" dirty="0"/>
          </a:p>
        </p:txBody>
      </p:sp>
      <p:sp>
        <p:nvSpPr>
          <p:cNvPr id="28" name="Text 26"/>
          <p:cNvSpPr/>
          <p:nvPr/>
        </p:nvSpPr>
        <p:spPr>
          <a:xfrm>
            <a:off x="7827264" y="5413248"/>
            <a:ext cx="3493008"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engineered features across those 4 sources</a:t>
            </a:r>
            <a:endParaRPr lang="en-US" sz="950" dirty="0"/>
          </a:p>
        </p:txBody>
      </p:sp>
      <p:sp>
        <p:nvSpPr>
          <p:cNvPr id="29" name="Text 27"/>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This week continues directly from last week's chapter and works through the remaining items on the outstanding to-do list, one at a time.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What the geoparser actually does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Six rules, applied consistently, before any validation begins</a:t>
            </a:r>
            <a:endParaRPr lang="en-US" sz="1250" dirty="0"/>
          </a:p>
        </p:txBody>
      </p:sp>
      <p:sp>
        <p:nvSpPr>
          <p:cNvPr id="4" name="Text 2"/>
          <p:cNvSpPr/>
          <p:nvPr/>
        </p:nvSpPr>
        <p:spPr>
          <a:xfrm>
            <a:off x="566928" y="1426464"/>
            <a:ext cx="11027664" cy="402336"/>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It matches each ReliefWeb report's text against a list of district names and aliases, to tag which of Somalia's 74 districts the report is about.</a:t>
            </a:r>
            <a:endParaRPr lang="en-US" sz="1250" dirty="0"/>
          </a:p>
        </p:txBody>
      </p:sp>
      <p:sp>
        <p:nvSpPr>
          <p:cNvPr id="5" name="Shape 3"/>
          <p:cNvSpPr/>
          <p:nvPr/>
        </p:nvSpPr>
        <p:spPr>
          <a:xfrm>
            <a:off x="566928" y="2011680"/>
            <a:ext cx="5404104" cy="1335024"/>
          </a:xfrm>
          <a:prstGeom prst="roundRect">
            <a:avLst>
              <a:gd name="adj" fmla="val 4110"/>
            </a:avLst>
          </a:prstGeom>
          <a:solidFill>
            <a:srgbClr val="F7F5F1"/>
          </a:solidFill>
          <a:ln/>
          <a:effectLst>
            <a:outerShdw sx="100000" sy="100000" kx="0" ky="0" algn="bl" rotWithShape="0" blurRad="76200" dist="381" dir="5400000">
              <a:srgbClr val="000000">
                <a:alpha val="8000"/>
              </a:srgbClr>
            </a:outerShdw>
          </a:effectLst>
        </p:spPr>
      </p:sp>
      <p:sp>
        <p:nvSpPr>
          <p:cNvPr id="6" name="Shape 4"/>
          <p:cNvSpPr/>
          <p:nvPr/>
        </p:nvSpPr>
        <p:spPr>
          <a:xfrm>
            <a:off x="731520" y="2157984"/>
            <a:ext cx="347472" cy="347472"/>
          </a:xfrm>
          <a:prstGeom prst="ellipse">
            <a:avLst/>
          </a:prstGeom>
          <a:solidFill>
            <a:srgbClr val="B85042"/>
          </a:solidFill>
          <a:ln/>
        </p:spPr>
      </p:sp>
      <p:sp>
        <p:nvSpPr>
          <p:cNvPr id="7" name="Text 5"/>
          <p:cNvSpPr/>
          <p:nvPr/>
        </p:nvSpPr>
        <p:spPr>
          <a:xfrm>
            <a:off x="731520" y="21579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p:nvPr/>
        </p:nvSpPr>
        <p:spPr>
          <a:xfrm>
            <a:off x="1188720" y="2121408"/>
            <a:ext cx="4581144" cy="420624"/>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Only title + body text</a:t>
            </a:r>
            <a:endParaRPr lang="en-US" sz="1200" dirty="0"/>
          </a:p>
        </p:txBody>
      </p:sp>
      <p:sp>
        <p:nvSpPr>
          <p:cNvPr id="9" name="Text 7"/>
          <p:cNvSpPr/>
          <p:nvPr/>
        </p:nvSpPr>
        <p:spPr>
          <a:xfrm>
            <a:off x="768096" y="2596896"/>
            <a:ext cx="5001768" cy="69494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No attachment, image or linked file is ever read, only the exported title and body.</a:t>
            </a:r>
            <a:endParaRPr lang="en-US" sz="950" dirty="0"/>
          </a:p>
        </p:txBody>
      </p:sp>
      <p:sp>
        <p:nvSpPr>
          <p:cNvPr id="10" name="Shape 8"/>
          <p:cNvSpPr/>
          <p:nvPr/>
        </p:nvSpPr>
        <p:spPr>
          <a:xfrm>
            <a:off x="6190488" y="2011680"/>
            <a:ext cx="5404104" cy="1335024"/>
          </a:xfrm>
          <a:prstGeom prst="roundRect">
            <a:avLst>
              <a:gd name="adj" fmla="val 4110"/>
            </a:avLst>
          </a:prstGeom>
          <a:solidFill>
            <a:srgbClr val="F7F5F1"/>
          </a:solidFill>
          <a:ln/>
          <a:effectLst>
            <a:outerShdw sx="100000" sy="100000" kx="0" ky="0" algn="bl" rotWithShape="0" blurRad="76200" dist="381" dir="5400000">
              <a:srgbClr val="000000">
                <a:alpha val="8000"/>
              </a:srgbClr>
            </a:outerShdw>
          </a:effectLst>
        </p:spPr>
      </p:sp>
      <p:sp>
        <p:nvSpPr>
          <p:cNvPr id="11" name="Shape 9"/>
          <p:cNvSpPr/>
          <p:nvPr/>
        </p:nvSpPr>
        <p:spPr>
          <a:xfrm>
            <a:off x="6355080" y="2157984"/>
            <a:ext cx="347472" cy="347472"/>
          </a:xfrm>
          <a:prstGeom prst="ellipse">
            <a:avLst/>
          </a:prstGeom>
          <a:solidFill>
            <a:srgbClr val="B85042"/>
          </a:solidFill>
          <a:ln/>
        </p:spPr>
      </p:sp>
      <p:sp>
        <p:nvSpPr>
          <p:cNvPr id="12" name="Text 10"/>
          <p:cNvSpPr/>
          <p:nvPr/>
        </p:nvSpPr>
        <p:spPr>
          <a:xfrm>
            <a:off x="6355080" y="21579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p:nvPr/>
        </p:nvSpPr>
        <p:spPr>
          <a:xfrm>
            <a:off x="6812280" y="2121408"/>
            <a:ext cx="4581144" cy="420624"/>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Datelines stripped</a:t>
            </a:r>
            <a:endParaRPr lang="en-US" sz="1200" dirty="0"/>
          </a:p>
        </p:txBody>
      </p:sp>
      <p:sp>
        <p:nvSpPr>
          <p:cNvPr id="14" name="Text 12"/>
          <p:cNvSpPr/>
          <p:nvPr/>
        </p:nvSpPr>
        <p:spPr>
          <a:xfrm>
            <a:off x="6391656" y="2596896"/>
            <a:ext cx="5001768" cy="69494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 leading "Mogadishu -" is removed first, since it says where a report was filed from, not what it is about.</a:t>
            </a:r>
            <a:endParaRPr lang="en-US" sz="950" dirty="0"/>
          </a:p>
        </p:txBody>
      </p:sp>
      <p:sp>
        <p:nvSpPr>
          <p:cNvPr id="15" name="Shape 13"/>
          <p:cNvSpPr/>
          <p:nvPr/>
        </p:nvSpPr>
        <p:spPr>
          <a:xfrm>
            <a:off x="566928" y="3493008"/>
            <a:ext cx="5404104" cy="1335024"/>
          </a:xfrm>
          <a:prstGeom prst="roundRect">
            <a:avLst>
              <a:gd name="adj" fmla="val 4110"/>
            </a:avLst>
          </a:prstGeom>
          <a:solidFill>
            <a:srgbClr val="F7F5F1"/>
          </a:solidFill>
          <a:ln/>
          <a:effectLst>
            <a:outerShdw sx="100000" sy="100000" kx="0" ky="0" algn="bl" rotWithShape="0" blurRad="76200" dist="381" dir="5400000">
              <a:srgbClr val="000000">
                <a:alpha val="8000"/>
              </a:srgbClr>
            </a:outerShdw>
          </a:effectLst>
        </p:spPr>
      </p:sp>
      <p:sp>
        <p:nvSpPr>
          <p:cNvPr id="16" name="Shape 14"/>
          <p:cNvSpPr/>
          <p:nvPr/>
        </p:nvSpPr>
        <p:spPr>
          <a:xfrm>
            <a:off x="731520" y="3639312"/>
            <a:ext cx="347472" cy="347472"/>
          </a:xfrm>
          <a:prstGeom prst="ellipse">
            <a:avLst/>
          </a:prstGeom>
          <a:solidFill>
            <a:srgbClr val="B85042"/>
          </a:solidFill>
          <a:ln/>
        </p:spPr>
      </p:sp>
      <p:sp>
        <p:nvSpPr>
          <p:cNvPr id="17" name="Text 15"/>
          <p:cNvSpPr/>
          <p:nvPr/>
        </p:nvSpPr>
        <p:spPr>
          <a:xfrm>
            <a:off x="731520" y="36393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p:nvPr/>
        </p:nvSpPr>
        <p:spPr>
          <a:xfrm>
            <a:off x="1188720" y="3602736"/>
            <a:ext cx="4581144" cy="420624"/>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Alias matching</a:t>
            </a:r>
            <a:endParaRPr lang="en-US" sz="1200" dirty="0"/>
          </a:p>
        </p:txBody>
      </p:sp>
      <p:sp>
        <p:nvSpPr>
          <p:cNvPr id="19" name="Text 17"/>
          <p:cNvSpPr/>
          <p:nvPr/>
        </p:nvSpPr>
        <p:spPr>
          <a:xfrm>
            <a:off x="768096" y="4078224"/>
            <a:ext cx="5001768" cy="69494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Each district is matched against its name plus a merged alias list covering 65 of 74 districts, built from the WFP crosswalk, the ACLED crosswalk, GADM's own spelling variants, and manual research.</a:t>
            </a:r>
            <a:endParaRPr lang="en-US" sz="950" dirty="0"/>
          </a:p>
        </p:txBody>
      </p:sp>
      <p:sp>
        <p:nvSpPr>
          <p:cNvPr id="20" name="Shape 18"/>
          <p:cNvSpPr/>
          <p:nvPr/>
        </p:nvSpPr>
        <p:spPr>
          <a:xfrm>
            <a:off x="6190488" y="3493008"/>
            <a:ext cx="5404104" cy="1335024"/>
          </a:xfrm>
          <a:prstGeom prst="roundRect">
            <a:avLst>
              <a:gd name="adj" fmla="val 4110"/>
            </a:avLst>
          </a:prstGeom>
          <a:solidFill>
            <a:srgbClr val="F7F5F1"/>
          </a:solidFill>
          <a:ln/>
          <a:effectLst>
            <a:outerShdw sx="100000" sy="100000" kx="0" ky="0" algn="bl" rotWithShape="0" blurRad="76200" dist="381" dir="5400000">
              <a:srgbClr val="000000">
                <a:alpha val="8000"/>
              </a:srgbClr>
            </a:outerShdw>
          </a:effectLst>
        </p:spPr>
      </p:sp>
      <p:sp>
        <p:nvSpPr>
          <p:cNvPr id="21" name="Shape 19"/>
          <p:cNvSpPr/>
          <p:nvPr/>
        </p:nvSpPr>
        <p:spPr>
          <a:xfrm>
            <a:off x="6355080" y="3639312"/>
            <a:ext cx="347472" cy="347472"/>
          </a:xfrm>
          <a:prstGeom prst="ellipse">
            <a:avLst/>
          </a:prstGeom>
          <a:solidFill>
            <a:srgbClr val="B85042"/>
          </a:solidFill>
          <a:ln/>
        </p:spPr>
      </p:sp>
      <p:sp>
        <p:nvSpPr>
          <p:cNvPr id="22" name="Text 20"/>
          <p:cNvSpPr/>
          <p:nvPr/>
        </p:nvSpPr>
        <p:spPr>
          <a:xfrm>
            <a:off x="6355080" y="36393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p:nvPr/>
        </p:nvSpPr>
        <p:spPr>
          <a:xfrm>
            <a:off x="6812280" y="3602736"/>
            <a:ext cx="4581144" cy="420624"/>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Bulletin exclusion</a:t>
            </a:r>
            <a:endParaRPr lang="en-US" sz="1200" dirty="0"/>
          </a:p>
        </p:txBody>
      </p:sp>
      <p:sp>
        <p:nvSpPr>
          <p:cNvPr id="24" name="Text 22"/>
          <p:cNvSpPr/>
          <p:nvPr/>
        </p:nvSpPr>
        <p:spPr>
          <a:xfrm>
            <a:off x="6391656" y="4078224"/>
            <a:ext cx="5001768" cy="69494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Reports titled as a price/supply/market bulletin are excluded entirely; they list many districts as comparison points, not because anything happened there.</a:t>
            </a:r>
            <a:endParaRPr lang="en-US" sz="950" dirty="0"/>
          </a:p>
        </p:txBody>
      </p:sp>
      <p:sp>
        <p:nvSpPr>
          <p:cNvPr id="25" name="Shape 23"/>
          <p:cNvSpPr/>
          <p:nvPr/>
        </p:nvSpPr>
        <p:spPr>
          <a:xfrm>
            <a:off x="566928" y="4974336"/>
            <a:ext cx="5404104" cy="1335024"/>
          </a:xfrm>
          <a:prstGeom prst="roundRect">
            <a:avLst>
              <a:gd name="adj" fmla="val 4110"/>
            </a:avLst>
          </a:prstGeom>
          <a:solidFill>
            <a:srgbClr val="F7F5F1"/>
          </a:solidFill>
          <a:ln/>
          <a:effectLst>
            <a:outerShdw sx="100000" sy="100000" kx="0" ky="0" algn="bl" rotWithShape="0" blurRad="76200" dist="381" dir="5400000">
              <a:srgbClr val="000000">
                <a:alpha val="8000"/>
              </a:srgbClr>
            </a:outerShdw>
          </a:effectLst>
        </p:spPr>
      </p:sp>
      <p:sp>
        <p:nvSpPr>
          <p:cNvPr id="26" name="Shape 24"/>
          <p:cNvSpPr/>
          <p:nvPr/>
        </p:nvSpPr>
        <p:spPr>
          <a:xfrm>
            <a:off x="731520" y="5120640"/>
            <a:ext cx="347472" cy="347472"/>
          </a:xfrm>
          <a:prstGeom prst="ellipse">
            <a:avLst/>
          </a:prstGeom>
          <a:solidFill>
            <a:srgbClr val="B85042"/>
          </a:solidFill>
          <a:ln/>
        </p:spPr>
      </p:sp>
      <p:sp>
        <p:nvSpPr>
          <p:cNvPr id="27" name="Text 25"/>
          <p:cNvSpPr/>
          <p:nvPr/>
        </p:nvSpPr>
        <p:spPr>
          <a:xfrm>
            <a:off x="731520" y="51206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8" name="Text 26"/>
          <p:cNvSpPr/>
          <p:nvPr/>
        </p:nvSpPr>
        <p:spPr>
          <a:xfrm>
            <a:off x="1188720" y="5084064"/>
            <a:ext cx="4581144" cy="420624"/>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No word boundaries</a:t>
            </a:r>
            <a:endParaRPr lang="en-US" sz="1200" dirty="0"/>
          </a:p>
        </p:txBody>
      </p:sp>
      <p:sp>
        <p:nvSpPr>
          <p:cNvPr id="29" name="Text 27"/>
          <p:cNvSpPr/>
          <p:nvPr/>
        </p:nvSpPr>
        <p:spPr>
          <a:xfrm>
            <a:off x="768096" y="5559552"/>
            <a:ext cx="5001768" cy="69494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 known limitation, not an oversight: matching is substring-based, so "Sheekh" the district also matches inside "Hassan Sheikh Mohamud", the president's name.</a:t>
            </a:r>
            <a:endParaRPr lang="en-US" sz="950" dirty="0"/>
          </a:p>
        </p:txBody>
      </p:sp>
      <p:sp>
        <p:nvSpPr>
          <p:cNvPr id="30" name="Shape 28"/>
          <p:cNvSpPr/>
          <p:nvPr/>
        </p:nvSpPr>
        <p:spPr>
          <a:xfrm>
            <a:off x="6190488" y="4974336"/>
            <a:ext cx="5404104" cy="1335024"/>
          </a:xfrm>
          <a:prstGeom prst="roundRect">
            <a:avLst>
              <a:gd name="adj" fmla="val 4110"/>
            </a:avLst>
          </a:prstGeom>
          <a:solidFill>
            <a:srgbClr val="F7F5F1"/>
          </a:solidFill>
          <a:ln/>
          <a:effectLst>
            <a:outerShdw sx="100000" sy="100000" kx="0" ky="0" algn="bl" rotWithShape="0" blurRad="76200" dist="381" dir="5400000">
              <a:srgbClr val="000000">
                <a:alpha val="8000"/>
              </a:srgbClr>
            </a:outerShdw>
          </a:effectLst>
        </p:spPr>
      </p:sp>
      <p:sp>
        <p:nvSpPr>
          <p:cNvPr id="31" name="Shape 29"/>
          <p:cNvSpPr/>
          <p:nvPr/>
        </p:nvSpPr>
        <p:spPr>
          <a:xfrm>
            <a:off x="6355080" y="5120640"/>
            <a:ext cx="347472" cy="347472"/>
          </a:xfrm>
          <a:prstGeom prst="ellipse">
            <a:avLst/>
          </a:prstGeom>
          <a:solidFill>
            <a:srgbClr val="B85042"/>
          </a:solidFill>
          <a:ln/>
        </p:spPr>
      </p:sp>
      <p:sp>
        <p:nvSpPr>
          <p:cNvPr id="32" name="Text 30"/>
          <p:cNvSpPr/>
          <p:nvPr/>
        </p:nvSpPr>
        <p:spPr>
          <a:xfrm>
            <a:off x="6355080" y="51206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3" name="Text 31"/>
          <p:cNvSpPr/>
          <p:nvPr/>
        </p:nvSpPr>
        <p:spPr>
          <a:xfrm>
            <a:off x="6812280" y="5084064"/>
            <a:ext cx="4581144" cy="420624"/>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No limit per report</a:t>
            </a:r>
            <a:endParaRPr lang="en-US" sz="1200" dirty="0"/>
          </a:p>
        </p:txBody>
      </p:sp>
      <p:sp>
        <p:nvSpPr>
          <p:cNvPr id="34" name="Text 32"/>
          <p:cNvSpPr/>
          <p:nvPr/>
        </p:nvSpPr>
        <p:spPr>
          <a:xfrm>
            <a:off x="6391656" y="5559552"/>
            <a:ext cx="5001768" cy="694944"/>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 single report can be tied to any number of districts; there is no cap.</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ReliefWeb geoparser: final validation</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A blind, manual check of the final method against human judgement</a:t>
            </a:r>
            <a:endParaRPr lang="en-US" sz="1250" dirty="0"/>
          </a:p>
        </p:txBody>
      </p:sp>
      <p:sp>
        <p:nvSpPr>
          <p:cNvPr id="4" name="Shape 2"/>
          <p:cNvSpPr/>
          <p:nvPr/>
        </p:nvSpPr>
        <p:spPr>
          <a:xfrm>
            <a:off x="566928" y="1554480"/>
            <a:ext cx="2606040" cy="320040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5" name="Shape 3"/>
          <p:cNvSpPr/>
          <p:nvPr/>
        </p:nvSpPr>
        <p:spPr>
          <a:xfrm>
            <a:off x="786384" y="1773936"/>
            <a:ext cx="457200" cy="457200"/>
          </a:xfrm>
          <a:prstGeom prst="ellipse">
            <a:avLst/>
          </a:prstGeom>
          <a:solidFill>
            <a:srgbClr val="B85042"/>
          </a:solidFill>
          <a:ln/>
        </p:spPr>
      </p:sp>
      <p:sp>
        <p:nvSpPr>
          <p:cNvPr id="6" name="Text 4"/>
          <p:cNvSpPr/>
          <p:nvPr/>
        </p:nvSpPr>
        <p:spPr>
          <a:xfrm>
            <a:off x="786384"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786384" y="2359152"/>
            <a:ext cx="2167128" cy="548640"/>
          </a:xfrm>
          <a:prstGeom prst="rect">
            <a:avLst/>
          </a:prstGeom>
          <a:noFill/>
          <a:ln/>
        </p:spPr>
        <p:txBody>
          <a:bodyPr wrap="square" lIns="0" tIns="0" rIns="0" bIns="0" rtlCol="0" anchor="ctr"/>
          <a:lstStyle/>
          <a:p>
            <a:pPr indent="0" marL="0">
              <a:lnSpc>
                <a:spcPts val="1500"/>
              </a:lnSpc>
              <a:buNone/>
            </a:pPr>
            <a:r>
              <a:rPr lang="en-US" sz="1300" b="1" dirty="0">
                <a:solidFill>
                  <a:srgbClr val="2B2523"/>
                </a:solidFill>
                <a:latin typeface="Cambria" pitchFamily="34" charset="0"/>
                <a:ea typeface="Cambria" pitchFamily="34" charset="-122"/>
                <a:cs typeface="Cambria" pitchFamily="34" charset="-120"/>
              </a:rPr>
              <a:t>Draw a fresh sample</a:t>
            </a:r>
            <a:endParaRPr lang="en-US" sz="1300" dirty="0"/>
          </a:p>
        </p:txBody>
      </p:sp>
      <p:sp>
        <p:nvSpPr>
          <p:cNvPr id="8" name="Text 6"/>
          <p:cNvSpPr/>
          <p:nvPr/>
        </p:nvSpPr>
        <p:spPr>
          <a:xfrm>
            <a:off x="786384" y="2962656"/>
            <a:ext cx="2167128" cy="1645920"/>
          </a:xfrm>
          <a:prstGeom prst="rect">
            <a:avLst/>
          </a:prstGeom>
          <a:noFill/>
          <a:ln/>
        </p:spPr>
        <p:txBody>
          <a:bodyPr wrap="square" lIns="0" tIns="0" rIns="0" bIns="0" rtlCol="0" anchor="ctr"/>
          <a:lstStyle/>
          <a:p>
            <a:pPr indent="0" marL="0">
              <a:lnSpc>
                <a:spcPts val="1300"/>
              </a:lnSpc>
              <a:buNone/>
            </a:pPr>
            <a:r>
              <a:rPr lang="en-US" sz="1000" dirty="0">
                <a:solidFill>
                  <a:srgbClr val="7A6E68"/>
                </a:solidFill>
                <a:latin typeface="Calibri" pitchFamily="34" charset="0"/>
                <a:ea typeface="Calibri" pitchFamily="34" charset="-122"/>
                <a:cs typeface="Calibri" pitchFamily="34" charset="-120"/>
              </a:rPr>
              <a:t>100 reports from March-December only. January and February were excluded, since those were the exact reports used while building and tuning the method.</a:t>
            </a:r>
            <a:endParaRPr lang="en-US" sz="1000" dirty="0"/>
          </a:p>
        </p:txBody>
      </p:sp>
      <p:sp>
        <p:nvSpPr>
          <p:cNvPr id="9" name="Shape 7"/>
          <p:cNvSpPr/>
          <p:nvPr/>
        </p:nvSpPr>
        <p:spPr>
          <a:xfrm>
            <a:off x="3374136" y="1554480"/>
            <a:ext cx="2606040" cy="320040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10" name="Shape 8"/>
          <p:cNvSpPr/>
          <p:nvPr/>
        </p:nvSpPr>
        <p:spPr>
          <a:xfrm>
            <a:off x="3593592" y="1773936"/>
            <a:ext cx="457200" cy="457200"/>
          </a:xfrm>
          <a:prstGeom prst="ellipse">
            <a:avLst/>
          </a:prstGeom>
          <a:solidFill>
            <a:srgbClr val="B85042"/>
          </a:solidFill>
          <a:ln/>
        </p:spPr>
      </p:sp>
      <p:sp>
        <p:nvSpPr>
          <p:cNvPr id="11" name="Text 9"/>
          <p:cNvSpPr/>
          <p:nvPr/>
        </p:nvSpPr>
        <p:spPr>
          <a:xfrm>
            <a:off x="3593592"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3593592" y="2359152"/>
            <a:ext cx="2167128" cy="548640"/>
          </a:xfrm>
          <a:prstGeom prst="rect">
            <a:avLst/>
          </a:prstGeom>
          <a:noFill/>
          <a:ln/>
        </p:spPr>
        <p:txBody>
          <a:bodyPr wrap="square" lIns="0" tIns="0" rIns="0" bIns="0" rtlCol="0" anchor="ctr"/>
          <a:lstStyle/>
          <a:p>
            <a:pPr indent="0" marL="0">
              <a:lnSpc>
                <a:spcPts val="1500"/>
              </a:lnSpc>
              <a:buNone/>
            </a:pPr>
            <a:r>
              <a:rPr lang="en-US" sz="1300" b="1" dirty="0">
                <a:solidFill>
                  <a:srgbClr val="2B2523"/>
                </a:solidFill>
                <a:latin typeface="Cambria" pitchFamily="34" charset="0"/>
                <a:ea typeface="Cambria" pitchFamily="34" charset="-122"/>
                <a:cs typeface="Cambria" pitchFamily="34" charset="-120"/>
              </a:rPr>
              <a:t>Split it evenly</a:t>
            </a:r>
            <a:endParaRPr lang="en-US" sz="1300" dirty="0"/>
          </a:p>
        </p:txBody>
      </p:sp>
      <p:sp>
        <p:nvSpPr>
          <p:cNvPr id="13" name="Text 11"/>
          <p:cNvSpPr/>
          <p:nvPr/>
        </p:nvSpPr>
        <p:spPr>
          <a:xfrm>
            <a:off x="3593592" y="2962656"/>
            <a:ext cx="2167128" cy="1645920"/>
          </a:xfrm>
          <a:prstGeom prst="rect">
            <a:avLst/>
          </a:prstGeom>
          <a:noFill/>
          <a:ln/>
        </p:spPr>
        <p:txBody>
          <a:bodyPr wrap="square" lIns="0" tIns="0" rIns="0" bIns="0" rtlCol="0" anchor="ctr"/>
          <a:lstStyle/>
          <a:p>
            <a:pPr indent="0" marL="0">
              <a:lnSpc>
                <a:spcPts val="1300"/>
              </a:lnSpc>
              <a:buNone/>
            </a:pPr>
            <a:r>
              <a:rPr lang="en-US" sz="1000" dirty="0">
                <a:solidFill>
                  <a:srgbClr val="7A6E68"/>
                </a:solidFill>
                <a:latin typeface="Calibri" pitchFamily="34" charset="0"/>
                <a:ea typeface="Calibri" pitchFamily="34" charset="-122"/>
                <a:cs typeface="Calibri" pitchFamily="34" charset="-120"/>
              </a:rPr>
              <a:t>50 reports the geoparser matched to a district, 50 it did not. This makes it possible to measure both precision and recall properly, not just one.</a:t>
            </a:r>
            <a:endParaRPr lang="en-US" sz="1000" dirty="0"/>
          </a:p>
        </p:txBody>
      </p:sp>
      <p:sp>
        <p:nvSpPr>
          <p:cNvPr id="14" name="Shape 12"/>
          <p:cNvSpPr/>
          <p:nvPr/>
        </p:nvSpPr>
        <p:spPr>
          <a:xfrm>
            <a:off x="6181344" y="1554480"/>
            <a:ext cx="2606040" cy="320040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15" name="Shape 13"/>
          <p:cNvSpPr/>
          <p:nvPr/>
        </p:nvSpPr>
        <p:spPr>
          <a:xfrm>
            <a:off x="6400800" y="1773936"/>
            <a:ext cx="457200" cy="457200"/>
          </a:xfrm>
          <a:prstGeom prst="ellipse">
            <a:avLst/>
          </a:prstGeom>
          <a:solidFill>
            <a:srgbClr val="B85042"/>
          </a:solidFill>
          <a:ln/>
        </p:spPr>
      </p:sp>
      <p:sp>
        <p:nvSpPr>
          <p:cNvPr id="16" name="Text 14"/>
          <p:cNvSpPr/>
          <p:nvPr/>
        </p:nvSpPr>
        <p:spPr>
          <a:xfrm>
            <a:off x="6400800"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6400800" y="2359152"/>
            <a:ext cx="2167128" cy="548640"/>
          </a:xfrm>
          <a:prstGeom prst="rect">
            <a:avLst/>
          </a:prstGeom>
          <a:noFill/>
          <a:ln/>
        </p:spPr>
        <p:txBody>
          <a:bodyPr wrap="square" lIns="0" tIns="0" rIns="0" bIns="0" rtlCol="0" anchor="ctr"/>
          <a:lstStyle/>
          <a:p>
            <a:pPr indent="0" marL="0">
              <a:lnSpc>
                <a:spcPts val="1500"/>
              </a:lnSpc>
              <a:buNone/>
            </a:pPr>
            <a:r>
              <a:rPr lang="en-US" sz="1300" b="1" dirty="0">
                <a:solidFill>
                  <a:srgbClr val="2B2523"/>
                </a:solidFill>
                <a:latin typeface="Cambria" pitchFamily="34" charset="0"/>
                <a:ea typeface="Cambria" pitchFamily="34" charset="-122"/>
                <a:cs typeface="Cambria" pitchFamily="34" charset="-120"/>
              </a:rPr>
              <a:t>Label it blind</a:t>
            </a:r>
            <a:endParaRPr lang="en-US" sz="1300" dirty="0"/>
          </a:p>
        </p:txBody>
      </p:sp>
      <p:sp>
        <p:nvSpPr>
          <p:cNvPr id="18" name="Text 16"/>
          <p:cNvSpPr/>
          <p:nvPr/>
        </p:nvSpPr>
        <p:spPr>
          <a:xfrm>
            <a:off x="6400800" y="2962656"/>
            <a:ext cx="2167128" cy="1645920"/>
          </a:xfrm>
          <a:prstGeom prst="rect">
            <a:avLst/>
          </a:prstGeom>
          <a:noFill/>
          <a:ln/>
        </p:spPr>
        <p:txBody>
          <a:bodyPr wrap="square" lIns="0" tIns="0" rIns="0" bIns="0" rtlCol="0" anchor="ctr"/>
          <a:lstStyle/>
          <a:p>
            <a:pPr indent="0" marL="0">
              <a:lnSpc>
                <a:spcPts val="1300"/>
              </a:lnSpc>
              <a:buNone/>
            </a:pPr>
            <a:r>
              <a:rPr lang="en-US" sz="1000" dirty="0">
                <a:solidFill>
                  <a:srgbClr val="7A6E68"/>
                </a:solidFill>
                <a:latin typeface="Calibri" pitchFamily="34" charset="0"/>
                <a:ea typeface="Calibri" pitchFamily="34" charset="-122"/>
                <a:cs typeface="Calibri" pitchFamily="34" charset="-120"/>
              </a:rPr>
              <a:t>The geoparser's own predictions were hidden from the labelling sheet. Districts were identified by reading each report from scratch, with no hint of what the method had guessed.</a:t>
            </a:r>
            <a:endParaRPr lang="en-US" sz="1000" dirty="0"/>
          </a:p>
        </p:txBody>
      </p:sp>
      <p:sp>
        <p:nvSpPr>
          <p:cNvPr id="19" name="Shape 17"/>
          <p:cNvSpPr/>
          <p:nvPr/>
        </p:nvSpPr>
        <p:spPr>
          <a:xfrm>
            <a:off x="8988552" y="1554480"/>
            <a:ext cx="2606040" cy="320040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20" name="Shape 18"/>
          <p:cNvSpPr/>
          <p:nvPr/>
        </p:nvSpPr>
        <p:spPr>
          <a:xfrm>
            <a:off x="9208008" y="1773936"/>
            <a:ext cx="457200" cy="457200"/>
          </a:xfrm>
          <a:prstGeom prst="ellipse">
            <a:avLst/>
          </a:prstGeom>
          <a:solidFill>
            <a:srgbClr val="B85042"/>
          </a:solidFill>
          <a:ln/>
        </p:spPr>
      </p:sp>
      <p:sp>
        <p:nvSpPr>
          <p:cNvPr id="21" name="Text 19"/>
          <p:cNvSpPr/>
          <p:nvPr/>
        </p:nvSpPr>
        <p:spPr>
          <a:xfrm>
            <a:off x="9208008"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9208008" y="2359152"/>
            <a:ext cx="2167128" cy="548640"/>
          </a:xfrm>
          <a:prstGeom prst="rect">
            <a:avLst/>
          </a:prstGeom>
          <a:noFill/>
          <a:ln/>
        </p:spPr>
        <p:txBody>
          <a:bodyPr wrap="square" lIns="0" tIns="0" rIns="0" bIns="0" rtlCol="0" anchor="ctr"/>
          <a:lstStyle/>
          <a:p>
            <a:pPr indent="0" marL="0">
              <a:lnSpc>
                <a:spcPts val="1500"/>
              </a:lnSpc>
              <a:buNone/>
            </a:pPr>
            <a:r>
              <a:rPr lang="en-US" sz="1300" b="1" dirty="0">
                <a:solidFill>
                  <a:srgbClr val="2B2523"/>
                </a:solidFill>
                <a:latin typeface="Cambria" pitchFamily="34" charset="0"/>
                <a:ea typeface="Cambria" pitchFamily="34" charset="-122"/>
                <a:cs typeface="Cambria" pitchFamily="34" charset="-120"/>
              </a:rPr>
              <a:t>Compare afterwards</a:t>
            </a:r>
            <a:endParaRPr lang="en-US" sz="1300" dirty="0"/>
          </a:p>
        </p:txBody>
      </p:sp>
      <p:sp>
        <p:nvSpPr>
          <p:cNvPr id="23" name="Text 21"/>
          <p:cNvSpPr/>
          <p:nvPr/>
        </p:nvSpPr>
        <p:spPr>
          <a:xfrm>
            <a:off x="9208008" y="2962656"/>
            <a:ext cx="2167128" cy="1645920"/>
          </a:xfrm>
          <a:prstGeom prst="rect">
            <a:avLst/>
          </a:prstGeom>
          <a:noFill/>
          <a:ln/>
        </p:spPr>
        <p:txBody>
          <a:bodyPr wrap="square" lIns="0" tIns="0" rIns="0" bIns="0" rtlCol="0" anchor="ctr"/>
          <a:lstStyle/>
          <a:p>
            <a:pPr indent="0" marL="0">
              <a:lnSpc>
                <a:spcPts val="1300"/>
              </a:lnSpc>
              <a:buNone/>
            </a:pPr>
            <a:r>
              <a:rPr lang="en-US" sz="1000" dirty="0">
                <a:solidFill>
                  <a:srgbClr val="7A6E68"/>
                </a:solidFill>
                <a:latin typeface="Calibri" pitchFamily="34" charset="0"/>
                <a:ea typeface="Calibri" pitchFamily="34" charset="-122"/>
                <a:cs typeface="Calibri" pitchFamily="34" charset="-120"/>
              </a:rPr>
              <a:t>Only once labelling was done were the human labels joined against a separate answer key holding the geoparser's predictions, and precision, recall and F1 computed.</a:t>
            </a:r>
            <a:endParaRPr lang="en-US" sz="1000" dirty="0"/>
          </a:p>
        </p:txBody>
      </p:sp>
      <p:sp>
        <p:nvSpPr>
          <p:cNvPr id="24" name="Shape 22"/>
          <p:cNvSpPr/>
          <p:nvPr/>
        </p:nvSpPr>
        <p:spPr>
          <a:xfrm>
            <a:off x="566928" y="5029200"/>
            <a:ext cx="11027664" cy="1207008"/>
          </a:xfrm>
          <a:prstGeom prst="roundRect">
            <a:avLst>
              <a:gd name="adj" fmla="val 4545"/>
            </a:avLst>
          </a:prstGeom>
          <a:solidFill>
            <a:srgbClr val="2B2523"/>
          </a:solidFill>
          <a:ln/>
          <a:effectLst>
            <a:outerShdw sx="100000" sy="100000" kx="0" ky="0" algn="bl" rotWithShape="0" blurRad="76200" dist="381" dir="5400000">
              <a:srgbClr val="000000">
                <a:alpha val="8000"/>
              </a:srgbClr>
            </a:outerShdw>
          </a:effectLst>
        </p:spPr>
      </p:sp>
      <p:sp>
        <p:nvSpPr>
          <p:cNvPr id="25" name="Text 23"/>
          <p:cNvSpPr/>
          <p:nvPr/>
        </p:nvSpPr>
        <p:spPr>
          <a:xfrm>
            <a:off x="841248" y="5157216"/>
            <a:ext cx="10479024" cy="914400"/>
          </a:xfrm>
          <a:prstGeom prst="rect">
            <a:avLst/>
          </a:prstGeom>
          <a:noFill/>
          <a:ln/>
        </p:spPr>
        <p:txBody>
          <a:bodyPr wrap="square" lIns="0" tIns="0" rIns="0" bIns="0" rtlCol="0" anchor="ctr"/>
          <a:lstStyle/>
          <a:p>
            <a:pPr indent="0" marL="0">
              <a:lnSpc>
                <a:spcPts val="1600"/>
              </a:lnSpc>
              <a:buNone/>
            </a:pPr>
            <a:r>
              <a:rPr lang="en-US" sz="1200" dirty="0">
                <a:solidFill>
                  <a:srgbClr val="E7E8D1"/>
                </a:solidFill>
                <a:latin typeface="Calibri" pitchFamily="34" charset="0"/>
                <a:ea typeface="Calibri" pitchFamily="34" charset="-122"/>
                <a:cs typeface="Calibri" pitchFamily="34" charset="-120"/>
              </a:rPr>
              <a:t>Why this matters: the validation had to test the final method, on reports it had never seen, with the labeller unable to see what the method predicted. All three conditions are met here.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Results: strong precision, and a recall figure that needs care</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All 100 reports labelled and scored</a:t>
            </a:r>
            <a:endParaRPr lang="en-US" sz="1250" dirty="0"/>
          </a:p>
        </p:txBody>
      </p:sp>
      <p:sp>
        <p:nvSpPr>
          <p:cNvPr id="4" name="Shape 2"/>
          <p:cNvSpPr/>
          <p:nvPr/>
        </p:nvSpPr>
        <p:spPr>
          <a:xfrm>
            <a:off x="566928" y="1517904"/>
            <a:ext cx="11027664" cy="1700784"/>
          </a:xfrm>
          <a:prstGeom prst="roundRect">
            <a:avLst>
              <a:gd name="adj" fmla="val 3226"/>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41248" y="1664208"/>
            <a:ext cx="3562868" cy="274320"/>
          </a:xfrm>
          <a:prstGeom prst="rect">
            <a:avLst/>
          </a:prstGeom>
          <a:noFill/>
          <a:ln/>
        </p:spPr>
        <p:txBody>
          <a:bodyPr wrap="square" lIns="0" tIns="0" rIns="0" bIns="0" rtlCol="0" anchor="ctr"/>
          <a:lstStyle/>
          <a:p>
            <a:pPr algn="l" indent="0" marL="0">
              <a:buNone/>
            </a:pPr>
            <a:endParaRPr lang="en-US" sz="1050" dirty="0"/>
          </a:p>
        </p:txBody>
      </p:sp>
      <p:sp>
        <p:nvSpPr>
          <p:cNvPr id="6" name="Text 4"/>
          <p:cNvSpPr/>
          <p:nvPr/>
        </p:nvSpPr>
        <p:spPr>
          <a:xfrm>
            <a:off x="841248" y="2011680"/>
            <a:ext cx="3562868" cy="457200"/>
          </a:xfrm>
          <a:prstGeom prst="rect">
            <a:avLst/>
          </a:prstGeom>
          <a:noFill/>
          <a:ln/>
        </p:spPr>
        <p:txBody>
          <a:bodyPr wrap="square" lIns="0" tIns="0" rIns="0" bIns="0" rtlCol="0" anchor="ctr"/>
          <a:lstStyle/>
          <a:p>
            <a:pPr algn="l" indent="0" marL="0">
              <a:buNone/>
            </a:pPr>
            <a:r>
              <a:rPr lang="en-US" sz="1250" dirty="0">
                <a:solidFill>
                  <a:srgbClr val="2B2523"/>
                </a:solidFill>
                <a:latin typeface="Calibri" pitchFamily="34" charset="0"/>
                <a:ea typeface="Calibri" pitchFamily="34" charset="-122"/>
                <a:cs typeface="Calibri" pitchFamily="34" charset="-120"/>
              </a:rPr>
              <a:t>Report x district pairs</a:t>
            </a:r>
            <a:endParaRPr lang="en-US" sz="1250" dirty="0"/>
          </a:p>
        </p:txBody>
      </p:sp>
      <p:sp>
        <p:nvSpPr>
          <p:cNvPr id="7" name="Text 5"/>
          <p:cNvSpPr/>
          <p:nvPr/>
        </p:nvSpPr>
        <p:spPr>
          <a:xfrm>
            <a:off x="841248" y="2542032"/>
            <a:ext cx="3562868" cy="457200"/>
          </a:xfrm>
          <a:prstGeom prst="rect">
            <a:avLst/>
          </a:prstGeom>
          <a:noFill/>
          <a:ln/>
        </p:spPr>
        <p:txBody>
          <a:bodyPr wrap="square" lIns="0" tIns="0" rIns="0" bIns="0" rtlCol="0" anchor="ctr"/>
          <a:lstStyle/>
          <a:p>
            <a:pPr algn="l" indent="0" marL="0">
              <a:buNone/>
            </a:pPr>
            <a:r>
              <a:rPr lang="en-US" sz="1250" dirty="0">
                <a:solidFill>
                  <a:srgbClr val="2B2523"/>
                </a:solidFill>
                <a:latin typeface="Calibri" pitchFamily="34" charset="0"/>
                <a:ea typeface="Calibri" pitchFamily="34" charset="-122"/>
                <a:cs typeface="Calibri" pitchFamily="34" charset="-120"/>
              </a:rPr>
              <a:t>Report level</a:t>
            </a:r>
            <a:endParaRPr lang="en-US" sz="1250" dirty="0"/>
          </a:p>
        </p:txBody>
      </p:sp>
      <p:sp>
        <p:nvSpPr>
          <p:cNvPr id="8" name="Text 6"/>
          <p:cNvSpPr/>
          <p:nvPr/>
        </p:nvSpPr>
        <p:spPr>
          <a:xfrm>
            <a:off x="4404116" y="1664208"/>
            <a:ext cx="2305385" cy="274320"/>
          </a:xfrm>
          <a:prstGeom prst="rect">
            <a:avLst/>
          </a:prstGeom>
          <a:noFill/>
          <a:ln/>
        </p:spPr>
        <p:txBody>
          <a:bodyPr wrap="square" lIns="0" tIns="0" rIns="0" bIns="0" rtlCol="0" anchor="ctr"/>
          <a:lstStyle/>
          <a:p>
            <a:pPr algn="ctr" indent="0" marL="0">
              <a:buNone/>
            </a:pPr>
            <a:r>
              <a:rPr lang="en-US" sz="1050" b="1" dirty="0">
                <a:solidFill>
                  <a:srgbClr val="7A6E68"/>
                </a:solidFill>
                <a:latin typeface="Calibri" pitchFamily="34" charset="0"/>
                <a:ea typeface="Calibri" pitchFamily="34" charset="-122"/>
                <a:cs typeface="Calibri" pitchFamily="34" charset="-120"/>
              </a:rPr>
              <a:t>Precision</a:t>
            </a:r>
            <a:endParaRPr lang="en-US" sz="1050" dirty="0"/>
          </a:p>
        </p:txBody>
      </p:sp>
      <p:sp>
        <p:nvSpPr>
          <p:cNvPr id="9" name="Text 7"/>
          <p:cNvSpPr/>
          <p:nvPr/>
        </p:nvSpPr>
        <p:spPr>
          <a:xfrm>
            <a:off x="4404116" y="2011680"/>
            <a:ext cx="2305385" cy="457200"/>
          </a:xfrm>
          <a:prstGeom prst="rect">
            <a:avLst/>
          </a:prstGeom>
          <a:noFill/>
          <a:ln/>
        </p:spPr>
        <p:txBody>
          <a:bodyPr wrap="square" lIns="0" tIns="0" rIns="0" bIns="0" rtlCol="0" anchor="ctr"/>
          <a:lstStyle/>
          <a:p>
            <a:pPr algn="ctr" indent="0" marL="0">
              <a:buNone/>
            </a:pPr>
            <a:r>
              <a:rPr lang="en-US" sz="1800" b="1" dirty="0">
                <a:solidFill>
                  <a:srgbClr val="2B2523"/>
                </a:solidFill>
                <a:latin typeface="Cambria" pitchFamily="34" charset="0"/>
                <a:ea typeface="Cambria" pitchFamily="34" charset="-122"/>
                <a:cs typeface="Cambria" pitchFamily="34" charset="-120"/>
              </a:rPr>
              <a:t>81.1%</a:t>
            </a:r>
            <a:endParaRPr lang="en-US" sz="1800" dirty="0"/>
          </a:p>
        </p:txBody>
      </p:sp>
      <p:sp>
        <p:nvSpPr>
          <p:cNvPr id="10" name="Text 8"/>
          <p:cNvSpPr/>
          <p:nvPr/>
        </p:nvSpPr>
        <p:spPr>
          <a:xfrm>
            <a:off x="4404116" y="2542032"/>
            <a:ext cx="2305385" cy="457200"/>
          </a:xfrm>
          <a:prstGeom prst="rect">
            <a:avLst/>
          </a:prstGeom>
          <a:noFill/>
          <a:ln/>
        </p:spPr>
        <p:txBody>
          <a:bodyPr wrap="square" lIns="0" tIns="0" rIns="0" bIns="0" rtlCol="0" anchor="ctr"/>
          <a:lstStyle/>
          <a:p>
            <a:pPr algn="ctr" indent="0" marL="0">
              <a:buNone/>
            </a:pPr>
            <a:r>
              <a:rPr lang="en-US" sz="1800" b="1" dirty="0">
                <a:solidFill>
                  <a:srgbClr val="2B2523"/>
                </a:solidFill>
                <a:latin typeface="Cambria" pitchFamily="34" charset="0"/>
                <a:ea typeface="Cambria" pitchFamily="34" charset="-122"/>
                <a:cs typeface="Cambria" pitchFamily="34" charset="-120"/>
              </a:rPr>
              <a:t>78.8%</a:t>
            </a:r>
            <a:endParaRPr lang="en-US" sz="1800" dirty="0"/>
          </a:p>
        </p:txBody>
      </p:sp>
      <p:sp>
        <p:nvSpPr>
          <p:cNvPr id="11" name="Text 9"/>
          <p:cNvSpPr/>
          <p:nvPr/>
        </p:nvSpPr>
        <p:spPr>
          <a:xfrm>
            <a:off x="6709501" y="1664208"/>
            <a:ext cx="2305385" cy="274320"/>
          </a:xfrm>
          <a:prstGeom prst="rect">
            <a:avLst/>
          </a:prstGeom>
          <a:noFill/>
          <a:ln/>
        </p:spPr>
        <p:txBody>
          <a:bodyPr wrap="square" lIns="0" tIns="0" rIns="0" bIns="0" rtlCol="0" anchor="ctr"/>
          <a:lstStyle/>
          <a:p>
            <a:pPr algn="ctr" indent="0" marL="0">
              <a:buNone/>
            </a:pPr>
            <a:r>
              <a:rPr lang="en-US" sz="1050" b="1" dirty="0">
                <a:solidFill>
                  <a:srgbClr val="7A6E68"/>
                </a:solidFill>
                <a:latin typeface="Calibri" pitchFamily="34" charset="0"/>
                <a:ea typeface="Calibri" pitchFamily="34" charset="-122"/>
                <a:cs typeface="Calibri" pitchFamily="34" charset="-120"/>
              </a:rPr>
              <a:t>Recall</a:t>
            </a:r>
            <a:endParaRPr lang="en-US" sz="1050" dirty="0"/>
          </a:p>
        </p:txBody>
      </p:sp>
      <p:sp>
        <p:nvSpPr>
          <p:cNvPr id="12" name="Text 10"/>
          <p:cNvSpPr/>
          <p:nvPr/>
        </p:nvSpPr>
        <p:spPr>
          <a:xfrm>
            <a:off x="6709501" y="2011680"/>
            <a:ext cx="2305385" cy="457200"/>
          </a:xfrm>
          <a:prstGeom prst="rect">
            <a:avLst/>
          </a:prstGeom>
          <a:noFill/>
          <a:ln/>
        </p:spPr>
        <p:txBody>
          <a:bodyPr wrap="square" lIns="0" tIns="0" rIns="0" bIns="0" rtlCol="0" anchor="ctr"/>
          <a:lstStyle/>
          <a:p>
            <a:pPr algn="ctr" indent="0" marL="0">
              <a:buNone/>
            </a:pPr>
            <a:r>
              <a:rPr lang="en-US" sz="1800" b="1" dirty="0">
                <a:solidFill>
                  <a:srgbClr val="2B2523"/>
                </a:solidFill>
                <a:latin typeface="Cambria" pitchFamily="34" charset="0"/>
                <a:ea typeface="Cambria" pitchFamily="34" charset="-122"/>
                <a:cs typeface="Cambria" pitchFamily="34" charset="-120"/>
              </a:rPr>
              <a:t>16.7%</a:t>
            </a:r>
            <a:endParaRPr lang="en-US" sz="1800" dirty="0"/>
          </a:p>
        </p:txBody>
      </p:sp>
      <p:sp>
        <p:nvSpPr>
          <p:cNvPr id="13" name="Text 11"/>
          <p:cNvSpPr/>
          <p:nvPr/>
        </p:nvSpPr>
        <p:spPr>
          <a:xfrm>
            <a:off x="6709501" y="2542032"/>
            <a:ext cx="2305385" cy="457200"/>
          </a:xfrm>
          <a:prstGeom prst="rect">
            <a:avLst/>
          </a:prstGeom>
          <a:noFill/>
          <a:ln/>
        </p:spPr>
        <p:txBody>
          <a:bodyPr wrap="square" lIns="0" tIns="0" rIns="0" bIns="0" rtlCol="0" anchor="ctr"/>
          <a:lstStyle/>
          <a:p>
            <a:pPr algn="ctr" indent="0" marL="0">
              <a:buNone/>
            </a:pPr>
            <a:r>
              <a:rPr lang="en-US" sz="1800" b="1" dirty="0">
                <a:solidFill>
                  <a:srgbClr val="2B2523"/>
                </a:solidFill>
                <a:latin typeface="Cambria" pitchFamily="34" charset="0"/>
                <a:ea typeface="Cambria" pitchFamily="34" charset="-122"/>
                <a:cs typeface="Cambria" pitchFamily="34" charset="-120"/>
              </a:rPr>
              <a:t>56.8%</a:t>
            </a:r>
            <a:endParaRPr lang="en-US" sz="1800" dirty="0"/>
          </a:p>
        </p:txBody>
      </p:sp>
      <p:sp>
        <p:nvSpPr>
          <p:cNvPr id="14" name="Text 12"/>
          <p:cNvSpPr/>
          <p:nvPr/>
        </p:nvSpPr>
        <p:spPr>
          <a:xfrm>
            <a:off x="9014887" y="1664208"/>
            <a:ext cx="2305385" cy="274320"/>
          </a:xfrm>
          <a:prstGeom prst="rect">
            <a:avLst/>
          </a:prstGeom>
          <a:noFill/>
          <a:ln/>
        </p:spPr>
        <p:txBody>
          <a:bodyPr wrap="square" lIns="0" tIns="0" rIns="0" bIns="0" rtlCol="0" anchor="ctr"/>
          <a:lstStyle/>
          <a:p>
            <a:pPr algn="ctr" indent="0" marL="0">
              <a:buNone/>
            </a:pPr>
            <a:r>
              <a:rPr lang="en-US" sz="1050" b="1" dirty="0">
                <a:solidFill>
                  <a:srgbClr val="7A6E68"/>
                </a:solidFill>
                <a:latin typeface="Calibri" pitchFamily="34" charset="0"/>
                <a:ea typeface="Calibri" pitchFamily="34" charset="-122"/>
                <a:cs typeface="Calibri" pitchFamily="34" charset="-120"/>
              </a:rPr>
              <a:t>F1</a:t>
            </a:r>
            <a:endParaRPr lang="en-US" sz="1050" dirty="0"/>
          </a:p>
        </p:txBody>
      </p:sp>
      <p:sp>
        <p:nvSpPr>
          <p:cNvPr id="15" name="Text 13"/>
          <p:cNvSpPr/>
          <p:nvPr/>
        </p:nvSpPr>
        <p:spPr>
          <a:xfrm>
            <a:off x="9014887" y="2011680"/>
            <a:ext cx="2305385" cy="457200"/>
          </a:xfrm>
          <a:prstGeom prst="rect">
            <a:avLst/>
          </a:prstGeom>
          <a:noFill/>
          <a:ln/>
        </p:spPr>
        <p:txBody>
          <a:bodyPr wrap="square" lIns="0" tIns="0" rIns="0" bIns="0" rtlCol="0" anchor="ctr"/>
          <a:lstStyle/>
          <a:p>
            <a:pPr algn="ctr" indent="0" marL="0">
              <a:buNone/>
            </a:pPr>
            <a:r>
              <a:rPr lang="en-US" sz="1800" b="1" dirty="0">
                <a:solidFill>
                  <a:srgbClr val="2B2523"/>
                </a:solidFill>
                <a:latin typeface="Cambria" pitchFamily="34" charset="0"/>
                <a:ea typeface="Cambria" pitchFamily="34" charset="-122"/>
                <a:cs typeface="Cambria" pitchFamily="34" charset="-120"/>
              </a:rPr>
              <a:t>27.7%</a:t>
            </a:r>
            <a:endParaRPr lang="en-US" sz="1800" dirty="0"/>
          </a:p>
        </p:txBody>
      </p:sp>
      <p:sp>
        <p:nvSpPr>
          <p:cNvPr id="16" name="Text 14"/>
          <p:cNvSpPr/>
          <p:nvPr/>
        </p:nvSpPr>
        <p:spPr>
          <a:xfrm>
            <a:off x="9014887" y="2542032"/>
            <a:ext cx="2305385" cy="457200"/>
          </a:xfrm>
          <a:prstGeom prst="rect">
            <a:avLst/>
          </a:prstGeom>
          <a:noFill/>
          <a:ln/>
        </p:spPr>
        <p:txBody>
          <a:bodyPr wrap="square" lIns="0" tIns="0" rIns="0" bIns="0" rtlCol="0" anchor="ctr"/>
          <a:lstStyle/>
          <a:p>
            <a:pPr algn="ctr" indent="0" marL="0">
              <a:buNone/>
            </a:pPr>
            <a:r>
              <a:rPr lang="en-US" sz="1800" b="1" dirty="0">
                <a:solidFill>
                  <a:srgbClr val="2B2523"/>
                </a:solidFill>
                <a:latin typeface="Cambria" pitchFamily="34" charset="0"/>
                <a:ea typeface="Cambria" pitchFamily="34" charset="-122"/>
                <a:cs typeface="Cambria" pitchFamily="34" charset="-120"/>
              </a:rPr>
              <a:t>66.0%</a:t>
            </a:r>
            <a:endParaRPr lang="en-US" sz="1800" dirty="0"/>
          </a:p>
        </p:txBody>
      </p:sp>
      <p:sp>
        <p:nvSpPr>
          <p:cNvPr id="17" name="Text 15"/>
          <p:cNvSpPr/>
          <p:nvPr/>
        </p:nvSpPr>
        <p:spPr>
          <a:xfrm>
            <a:off x="566928" y="3401568"/>
            <a:ext cx="11027664" cy="822960"/>
          </a:xfrm>
          <a:prstGeom prst="rect">
            <a:avLst/>
          </a:prstGeom>
          <a:noFill/>
          <a:ln/>
        </p:spPr>
        <p:txBody>
          <a:bodyPr wrap="square" lIns="0" tIns="0" rIns="0" bIns="0" rtlCol="0" anchor="ctr"/>
          <a:lstStyle/>
          <a:p>
            <a:pPr indent="0" marL="0">
              <a:lnSpc>
                <a:spcPts val="1600"/>
              </a:lnSpc>
              <a:buNone/>
            </a:pPr>
            <a:r>
              <a:rPr lang="en-US" sz="1200" dirty="0">
                <a:solidFill>
                  <a:srgbClr val="2B2523"/>
                </a:solidFill>
                <a:latin typeface="Calibri" pitchFamily="34" charset="0"/>
                <a:ea typeface="Calibri" pitchFamily="34" charset="-122"/>
                <a:cs typeface="Calibri" pitchFamily="34" charset="-120"/>
              </a:rPr>
              <a:t>Read plainly: when the geoparser says a report is about a district, it is right roughly four times out of five, at either level of detail. Recall is where the two levels diverge sharply: the geoparser is usually right that a report is about at least one district, but often misses other districts that same report also genuinely covers.</a:t>
            </a:r>
            <a:endParaRPr lang="en-US" sz="1200" dirty="0"/>
          </a:p>
        </p:txBody>
      </p:sp>
      <p:sp>
        <p:nvSpPr>
          <p:cNvPr id="18" name="Shape 16"/>
          <p:cNvSpPr/>
          <p:nvPr/>
        </p:nvSpPr>
        <p:spPr>
          <a:xfrm>
            <a:off x="566928" y="4370832"/>
            <a:ext cx="5486400" cy="1865376"/>
          </a:xfrm>
          <a:prstGeom prst="roundRect">
            <a:avLst>
              <a:gd name="adj" fmla="val 2941"/>
            </a:avLst>
          </a:prstGeom>
          <a:solidFill>
            <a:srgbClr val="2B2523"/>
          </a:solidFill>
          <a:ln/>
          <a:effectLst>
            <a:outerShdw sx="100000" sy="100000" kx="0" ky="0" algn="bl" rotWithShape="0" blurRad="76200" dist="381" dir="5400000">
              <a:srgbClr val="000000">
                <a:alpha val="8000"/>
              </a:srgbClr>
            </a:outerShdw>
          </a:effectLst>
        </p:spPr>
      </p:sp>
      <p:sp>
        <p:nvSpPr>
          <p:cNvPr id="19" name="Text 17"/>
          <p:cNvSpPr/>
          <p:nvPr/>
        </p:nvSpPr>
        <p:spPr>
          <a:xfrm>
            <a:off x="804672" y="4517136"/>
            <a:ext cx="2194560"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WHY THE PAIR-LEVEL RECALL IS LOW</a:t>
            </a:r>
            <a:endParaRPr lang="en-US" sz="950" dirty="0"/>
          </a:p>
        </p:txBody>
      </p:sp>
      <p:sp>
        <p:nvSpPr>
          <p:cNvPr id="20" name="Text 18"/>
          <p:cNvSpPr/>
          <p:nvPr/>
        </p:nvSpPr>
        <p:spPr>
          <a:xfrm>
            <a:off x="804672" y="4828032"/>
            <a:ext cx="5029200" cy="1280160"/>
          </a:xfrm>
          <a:prstGeom prst="rect">
            <a:avLst/>
          </a:prstGeom>
          <a:noFill/>
          <a:ln/>
        </p:spPr>
        <p:txBody>
          <a:bodyPr wrap="square" lIns="0" tIns="0" rIns="0" bIns="0" rtlCol="0" anchor="ctr"/>
          <a:lstStyle/>
          <a:p>
            <a:pPr indent="0" marL="0">
              <a:lnSpc>
                <a:spcPts val="1500"/>
              </a:lnSpc>
              <a:buNone/>
            </a:pPr>
            <a:r>
              <a:rPr lang="en-US" sz="1100" dirty="0">
                <a:solidFill>
                  <a:srgbClr val="E7E8D1"/>
                </a:solidFill>
                <a:latin typeface="Calibri" pitchFamily="34" charset="0"/>
                <a:ea typeface="Calibri" pitchFamily="34" charset="-122"/>
                <a:cs typeface="Calibri" pitchFamily="34" charset="-120"/>
              </a:rPr>
              <a:t>The geoparser can only work with a report's title and exported body text. It has no access to images, tables or attached files, so recall can only ever be as good as what that exported text contains. Explained fully on the next slide.</a:t>
            </a:r>
            <a:endParaRPr lang="en-US" sz="1100" dirty="0"/>
          </a:p>
        </p:txBody>
      </p:sp>
      <p:sp>
        <p:nvSpPr>
          <p:cNvPr id="21" name="Shape 19"/>
          <p:cNvSpPr/>
          <p:nvPr/>
        </p:nvSpPr>
        <p:spPr>
          <a:xfrm>
            <a:off x="6309360" y="4370832"/>
            <a:ext cx="5285232" cy="1865376"/>
          </a:xfrm>
          <a:prstGeom prst="roundRect">
            <a:avLst>
              <a:gd name="adj" fmla="val 2941"/>
            </a:avLst>
          </a:prstGeom>
          <a:solidFill>
            <a:srgbClr val="A7BEAE"/>
          </a:solidFill>
          <a:ln/>
          <a:effectLst>
            <a:outerShdw sx="100000" sy="100000" kx="0" ky="0" algn="bl" rotWithShape="0" blurRad="76200" dist="381" dir="5400000">
              <a:srgbClr val="000000">
                <a:alpha val="8000"/>
              </a:srgbClr>
            </a:outerShdw>
          </a:effectLst>
        </p:spPr>
      </p:sp>
      <p:sp>
        <p:nvSpPr>
          <p:cNvPr id="22" name="Text 20"/>
          <p:cNvSpPr/>
          <p:nvPr/>
        </p:nvSpPr>
        <p:spPr>
          <a:xfrm>
            <a:off x="6547104" y="4517136"/>
            <a:ext cx="4754880" cy="640080"/>
          </a:xfrm>
          <a:prstGeom prst="rect">
            <a:avLst/>
          </a:prstGeom>
          <a:noFill/>
          <a:ln/>
        </p:spPr>
        <p:txBody>
          <a:bodyPr wrap="square" lIns="0" tIns="0" rIns="0" bIns="0" rtlCol="0" anchor="ctr"/>
          <a:lstStyle/>
          <a:p>
            <a:pPr indent="0" marL="0">
              <a:buNone/>
            </a:pPr>
            <a:r>
              <a:rPr lang="en-US" sz="3000" b="1" dirty="0">
                <a:solidFill>
                  <a:srgbClr val="2B2523"/>
                </a:solidFill>
                <a:latin typeface="Cambria" pitchFamily="34" charset="0"/>
                <a:ea typeface="Cambria" pitchFamily="34" charset="-122"/>
                <a:cs typeface="Cambria" pitchFamily="34" charset="-120"/>
              </a:rPr>
              <a:t>97.4%</a:t>
            </a:r>
            <a:endParaRPr lang="en-US" sz="3000" dirty="0"/>
          </a:p>
        </p:txBody>
      </p:sp>
      <p:sp>
        <p:nvSpPr>
          <p:cNvPr id="23" name="Text 21"/>
          <p:cNvSpPr/>
          <p:nvPr/>
        </p:nvSpPr>
        <p:spPr>
          <a:xfrm>
            <a:off x="6547104" y="5175504"/>
            <a:ext cx="4754880" cy="914400"/>
          </a:xfrm>
          <a:prstGeom prst="rect">
            <a:avLst/>
          </a:prstGeom>
          <a:noFill/>
          <a:ln/>
        </p:spPr>
        <p:txBody>
          <a:bodyPr wrap="square" lIns="0" tIns="0" rIns="0" bIns="0" rtlCol="0" anchor="ctr"/>
          <a:lstStyle/>
          <a:p>
            <a:pPr indent="0" marL="0">
              <a:lnSpc>
                <a:spcPts val="1400"/>
              </a:lnSpc>
              <a:buNone/>
            </a:pPr>
            <a:r>
              <a:rPr lang="en-US" sz="1100" dirty="0">
                <a:solidFill>
                  <a:srgbClr val="2B2523"/>
                </a:solidFill>
                <a:latin typeface="Calibri" pitchFamily="34" charset="0"/>
                <a:ea typeface="Calibri" pitchFamily="34" charset="-122"/>
                <a:cs typeface="Calibri" pitchFamily="34" charset="-120"/>
              </a:rPr>
              <a:t>recall, once restricted to only the district mentions that were actually present in the report's exported text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The real limitation: attachments and PDFs, not matching quality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Confirmed by opening the reports directly</a:t>
            </a:r>
            <a:endParaRPr lang="en-US" sz="1250" dirty="0"/>
          </a:p>
        </p:txBody>
      </p:sp>
      <p:sp>
        <p:nvSpPr>
          <p:cNvPr id="4" name="Shape 2"/>
          <p:cNvSpPr/>
          <p:nvPr/>
        </p:nvSpPr>
        <p:spPr>
          <a:xfrm>
            <a:off x="566928" y="1517904"/>
            <a:ext cx="11027664" cy="1554480"/>
          </a:xfrm>
          <a:prstGeom prst="roundRect">
            <a:avLst>
              <a:gd name="adj" fmla="val 3529"/>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45920"/>
            <a:ext cx="5486400" cy="292608"/>
          </a:xfrm>
          <a:prstGeom prst="rect">
            <a:avLst/>
          </a:prstGeom>
          <a:noFill/>
          <a:ln/>
        </p:spPr>
        <p:txBody>
          <a:bodyPr wrap="square" lIns="0" tIns="0" rIns="0" bIns="0" rtlCol="0" anchor="ctr"/>
          <a:lstStyle/>
          <a:p>
            <a:pPr indent="0" marL="0">
              <a:buNone/>
            </a:pPr>
            <a:r>
              <a:rPr lang="en-US" sz="1450" b="1" dirty="0">
                <a:solidFill>
                  <a:srgbClr val="A7BEAE"/>
                </a:solidFill>
                <a:latin typeface="Cambria" pitchFamily="34" charset="0"/>
                <a:ea typeface="Cambria" pitchFamily="34" charset="-122"/>
                <a:cs typeface="Cambria" pitchFamily="34" charset="-120"/>
              </a:rPr>
              <a:t>What we found</a:t>
            </a:r>
            <a:endParaRPr lang="en-US" sz="1450" dirty="0"/>
          </a:p>
        </p:txBody>
      </p:sp>
      <p:sp>
        <p:nvSpPr>
          <p:cNvPr id="6" name="Text 4"/>
          <p:cNvSpPr/>
          <p:nvPr/>
        </p:nvSpPr>
        <p:spPr>
          <a:xfrm>
            <a:off x="841248" y="1975104"/>
            <a:ext cx="10479024" cy="1005840"/>
          </a:xfrm>
          <a:prstGeom prst="rect">
            <a:avLst/>
          </a:prstGeom>
          <a:noFill/>
          <a:ln/>
        </p:spPr>
        <p:txBody>
          <a:bodyPr wrap="square" lIns="0" tIns="0" rIns="0" bIns="0" rtlCol="0" anchor="ctr"/>
          <a:lstStyle/>
          <a:p>
            <a:pPr indent="0" marL="0">
              <a:lnSpc>
                <a:spcPts val="1700"/>
              </a:lnSpc>
              <a:buNone/>
            </a:pPr>
            <a:r>
              <a:rPr lang="en-US" sz="1250" dirty="0">
                <a:solidFill>
                  <a:srgbClr val="E7E8D1"/>
                </a:solidFill>
                <a:latin typeface="Calibri" pitchFamily="34" charset="0"/>
                <a:ea typeface="Calibri" pitchFamily="34" charset="-122"/>
                <a:cs typeface="Calibri" pitchFamily="34" charset="-120"/>
              </a:rPr>
              <a:t>Of every district a human labeller said a report was genuinely about, 80.5% of those district names never appear anywhere in the report's exported title or body text at all. They only exist inside attached files ReliefWeb does not index as text.</a:t>
            </a:r>
            <a:endParaRPr lang="en-US" sz="1250" dirty="0"/>
          </a:p>
        </p:txBody>
      </p:sp>
      <p:sp>
        <p:nvSpPr>
          <p:cNvPr id="7" name="Shape 5"/>
          <p:cNvSpPr/>
          <p:nvPr/>
        </p:nvSpPr>
        <p:spPr>
          <a:xfrm>
            <a:off x="566928" y="3255264"/>
            <a:ext cx="5486400"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04672" y="3401568"/>
            <a:ext cx="5029200" cy="274320"/>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The clearest example</a:t>
            </a:r>
            <a:endParaRPr lang="en-US" sz="1250" dirty="0"/>
          </a:p>
        </p:txBody>
      </p:sp>
      <p:sp>
        <p:nvSpPr>
          <p:cNvPr id="9" name="Text 7"/>
          <p:cNvSpPr/>
          <p:nvPr/>
        </p:nvSpPr>
        <p:spPr>
          <a:xfrm>
            <a:off x="804672" y="3712464"/>
            <a:ext cx="5029200" cy="1234440"/>
          </a:xfrm>
          <a:prstGeom prst="rect">
            <a:avLst/>
          </a:prstGeom>
          <a:noFill/>
          <a:ln/>
        </p:spPr>
        <p:txBody>
          <a:bodyPr wrap="square" lIns="0" tIns="0" rIns="0" bIns="0" rtlCol="0" anchor="ctr"/>
          <a:lstStyle/>
          <a:p>
            <a:pPr indent="0" marL="0">
              <a:lnSpc>
                <a:spcPts val="1400"/>
              </a:lnSpc>
              <a:buNone/>
            </a:pPr>
            <a:r>
              <a:rPr lang="en-US" sz="1050" dirty="0">
                <a:solidFill>
                  <a:srgbClr val="7A6E68"/>
                </a:solidFill>
                <a:latin typeface="Calibri" pitchFamily="34" charset="0"/>
                <a:ea typeface="Calibri" pitchFamily="34" charset="-122"/>
                <a:cs typeface="Calibri" pitchFamily="34" charset="-120"/>
              </a:rPr>
              <a:t>Weekly cholera/AWD bulletins list their real district-by-district breakdown only inside a table in an attached PDF. ReliefWeb files them as an ordinary "Situation Report", with nothing in the metadata to say the substance lives in an attachment. The exported body is just a one-line summary, no district named at all.</a:t>
            </a:r>
            <a:endParaRPr lang="en-US" sz="1050" dirty="0"/>
          </a:p>
        </p:txBody>
      </p:sp>
      <p:sp>
        <p:nvSpPr>
          <p:cNvPr id="10" name="Shape 8"/>
          <p:cNvSpPr/>
          <p:nvPr/>
        </p:nvSpPr>
        <p:spPr>
          <a:xfrm>
            <a:off x="6309360" y="3255264"/>
            <a:ext cx="5285232"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11" name="Text 9"/>
          <p:cNvSpPr/>
          <p:nvPr/>
        </p:nvSpPr>
        <p:spPr>
          <a:xfrm>
            <a:off x="6547104" y="3401568"/>
            <a:ext cx="4754880" cy="274320"/>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What this is not</a:t>
            </a:r>
            <a:endParaRPr lang="en-US" sz="1250" dirty="0"/>
          </a:p>
        </p:txBody>
      </p:sp>
      <p:sp>
        <p:nvSpPr>
          <p:cNvPr id="12" name="Text 10"/>
          <p:cNvSpPr/>
          <p:nvPr/>
        </p:nvSpPr>
        <p:spPr>
          <a:xfrm>
            <a:off x="6547104" y="3712464"/>
            <a:ext cx="4754880" cy="128016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50" dirty="0">
                <a:solidFill>
                  <a:srgbClr val="7A6E68"/>
                </a:solidFill>
                <a:latin typeface="Calibri" pitchFamily="34" charset="0"/>
                <a:ea typeface="Calibri" pitchFamily="34" charset="-122"/>
                <a:cs typeface="Calibri" pitchFamily="34" charset="-120"/>
              </a:rPr>
              <a:t>The five genuine misses in the whole sample all come from one report, and are a deliberate design choice (price bulletins are excluded on purpose), not an error</a:t>
            </a:r>
            <a:endParaRPr lang="en-US" sz="1050" dirty="0"/>
          </a:p>
          <a:p>
            <a:pPr marL="342900" indent="-342900">
              <a:lnSpc>
                <a:spcPts val="1300"/>
              </a:lnSpc>
              <a:spcAft>
                <a:spcPts val="600"/>
              </a:spcAft>
              <a:buSzPct val="100000"/>
              <a:buChar char="•"/>
            </a:pPr>
            <a:r>
              <a:rPr lang="en-US" sz="1050" dirty="0">
                <a:solidFill>
                  <a:srgbClr val="7A6E68"/>
                </a:solidFill>
                <a:latin typeface="Calibri" pitchFamily="34" charset="0"/>
                <a:ea typeface="Calibri" pitchFamily="34" charset="-122"/>
                <a:cs typeface="Calibri" pitchFamily="34" charset="-120"/>
              </a:rPr>
              <a:t>Reading PDF attachments reliably is a materially different, less reliable engineering problem, and is out of scope for this project</a:t>
            </a:r>
            <a:endParaRPr lang="en-US" sz="1050" dirty="0"/>
          </a:p>
        </p:txBody>
      </p:sp>
      <p:sp>
        <p:nvSpPr>
          <p:cNvPr id="13" name="Shape 11"/>
          <p:cNvSpPr/>
          <p:nvPr/>
        </p:nvSpPr>
        <p:spPr>
          <a:xfrm>
            <a:off x="566928" y="5157216"/>
            <a:ext cx="11027664" cy="914400"/>
          </a:xfrm>
          <a:prstGeom prst="roundRect">
            <a:avLst>
              <a:gd name="adj" fmla="val 6000"/>
            </a:avLst>
          </a:prstGeom>
          <a:solidFill>
            <a:srgbClr val="E7E8D1"/>
          </a:solidFill>
          <a:ln/>
          <a:effectLst>
            <a:outerShdw sx="100000" sy="100000" kx="0" ky="0" algn="bl" rotWithShape="0" blurRad="76200" dist="381" dir="5400000">
              <a:srgbClr val="000000">
                <a:alpha val="8000"/>
              </a:srgbClr>
            </a:outerShdw>
          </a:effectLst>
        </p:spPr>
      </p:sp>
      <p:sp>
        <p:nvSpPr>
          <p:cNvPr id="14" name="Text 12"/>
          <p:cNvSpPr/>
          <p:nvPr/>
        </p:nvSpPr>
        <p:spPr>
          <a:xfrm>
            <a:off x="841248" y="5285232"/>
            <a:ext cx="10479024" cy="694944"/>
          </a:xfrm>
          <a:prstGeom prst="rect">
            <a:avLst/>
          </a:prstGeom>
          <a:noFill/>
          <a:ln/>
        </p:spPr>
        <p:txBody>
          <a:bodyPr wrap="square" lIns="0" tIns="0" rIns="0" bIns="0" rtlCol="0" anchor="ctr"/>
          <a:lstStyle/>
          <a:p>
            <a:pPr indent="0" marL="0">
              <a:lnSpc>
                <a:spcPts val="1500"/>
              </a:lnSpc>
              <a:buNone/>
            </a:pPr>
            <a:r>
              <a:rPr lang="en-US" sz="1150" dirty="0">
                <a:solidFill>
                  <a:srgbClr val="2B2523"/>
                </a:solidFill>
                <a:latin typeface="Calibri" pitchFamily="34" charset="0"/>
                <a:ea typeface="Calibri" pitchFamily="34" charset="-122"/>
                <a:cs typeface="Calibri" pitchFamily="34" charset="-120"/>
              </a:rPr>
              <a:t>Bottom line: the geoparser cannot read attachments or images, only exported text. That single structural fact, not a matching failure, explains almost the entire gap between the pair-level and restricted recall figures.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Geoparser validation: limitations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What is still open, stated plainly</a:t>
            </a:r>
            <a:endParaRPr lang="en-US" sz="1250" dirty="0"/>
          </a:p>
        </p:txBody>
      </p:sp>
      <p:sp>
        <p:nvSpPr>
          <p:cNvPr id="4" name="Shape 2"/>
          <p:cNvSpPr/>
          <p:nvPr/>
        </p:nvSpPr>
        <p:spPr>
          <a:xfrm>
            <a:off x="566928" y="1554480"/>
            <a:ext cx="11027664" cy="1463040"/>
          </a:xfrm>
          <a:prstGeom prst="roundRect">
            <a:avLst>
              <a:gd name="adj" fmla="val 375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41248" y="1700784"/>
            <a:ext cx="10479024" cy="36576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A small number of place names remain unresolved</a:t>
            </a:r>
            <a:endParaRPr lang="en-US" sz="1350" dirty="0"/>
          </a:p>
        </p:txBody>
      </p:sp>
      <p:sp>
        <p:nvSpPr>
          <p:cNvPr id="6" name="Text 4"/>
          <p:cNvSpPr/>
          <p:nvPr/>
        </p:nvSpPr>
        <p:spPr>
          <a:xfrm>
            <a:off x="841248" y="2084832"/>
            <a:ext cx="10479024" cy="82296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Garadag has no match under any spelling in ACLED or GADM. Mataban is a real district that GADM does not include as its own Admin2 unit at all. Neither has much effect on the headline numbers, since both fall in the lower-priority "mentioned in passing" category.</a:t>
            </a:r>
            <a:endParaRPr lang="en-US" sz="1150" dirty="0"/>
          </a:p>
        </p:txBody>
      </p:sp>
      <p:sp>
        <p:nvSpPr>
          <p:cNvPr id="7" name="Shape 5"/>
          <p:cNvSpPr/>
          <p:nvPr/>
        </p:nvSpPr>
        <p:spPr>
          <a:xfrm>
            <a:off x="566928" y="3182112"/>
            <a:ext cx="11027664" cy="1463040"/>
          </a:xfrm>
          <a:prstGeom prst="roundRect">
            <a:avLst>
              <a:gd name="adj" fmla="val 3750"/>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41248" y="3328416"/>
            <a:ext cx="10479024" cy="36576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The attachment-content gap is out of scope for this project</a:t>
            </a:r>
            <a:endParaRPr lang="en-US" sz="1350" dirty="0"/>
          </a:p>
        </p:txBody>
      </p:sp>
      <p:sp>
        <p:nvSpPr>
          <p:cNvPr id="9" name="Text 7"/>
          <p:cNvSpPr/>
          <p:nvPr/>
        </p:nvSpPr>
        <p:spPr>
          <a:xfrm>
            <a:off x="841248" y="3712464"/>
            <a:ext cx="10479024" cy="82296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Reading attached PDFs and extracting tabular data from them is a substantially different and less reliable engineering problem than text matching, and would need its own validation exercise. It is documented as a genuine, measured limit, not a bug to fix.</a:t>
            </a:r>
            <a:endParaRPr lang="en-US" sz="1150" dirty="0"/>
          </a:p>
        </p:txBody>
      </p:sp>
      <p:sp>
        <p:nvSpPr>
          <p:cNvPr id="10" name="Shape 8"/>
          <p:cNvSpPr/>
          <p:nvPr/>
        </p:nvSpPr>
        <p:spPr>
          <a:xfrm>
            <a:off x="566928" y="4809744"/>
            <a:ext cx="11027664" cy="1463040"/>
          </a:xfrm>
          <a:prstGeom prst="roundRect">
            <a:avLst>
              <a:gd name="adj" fmla="val 3750"/>
            </a:avLst>
          </a:prstGeom>
          <a:solidFill>
            <a:srgbClr val="F7F5F1"/>
          </a:solidFill>
          <a:ln/>
          <a:effectLst>
            <a:outerShdw sx="100000" sy="100000" kx="0" ky="0" algn="bl" rotWithShape="0" blurRad="76200" dist="381" dir="5400000">
              <a:srgbClr val="000000">
                <a:alpha val="8000"/>
              </a:srgbClr>
            </a:outerShdw>
          </a:effectLst>
        </p:spPr>
      </p:sp>
      <p:sp>
        <p:nvSpPr>
          <p:cNvPr id="11" name="Text 9"/>
          <p:cNvSpPr/>
          <p:nvPr/>
        </p:nvSpPr>
        <p:spPr>
          <a:xfrm>
            <a:off x="841248" y="4956048"/>
            <a:ext cx="10479024" cy="36576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Precision, not recall, is the trustworthy headline figure</a:t>
            </a:r>
            <a:endParaRPr lang="en-US" sz="1350" dirty="0"/>
          </a:p>
        </p:txBody>
      </p:sp>
      <p:sp>
        <p:nvSpPr>
          <p:cNvPr id="12" name="Text 10"/>
          <p:cNvSpPr/>
          <p:nvPr/>
        </p:nvSpPr>
        <p:spPr>
          <a:xfrm>
            <a:off x="841248" y="5340096"/>
            <a:ext cx="10479024" cy="82296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Recall here should be read as "recall on district mentions that are structurally visible to a text-based method", not "recall on everything a human could determine from the full report". Those are two different things.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Why repeated district-months are a statistical trap</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12 rows per district is not the same as 12 independent observations</a:t>
            </a:r>
            <a:endParaRPr lang="en-US" sz="1250" dirty="0"/>
          </a:p>
        </p:txBody>
      </p:sp>
      <p:sp>
        <p:nvSpPr>
          <p:cNvPr id="4" name="Shape 2"/>
          <p:cNvSpPr/>
          <p:nvPr/>
        </p:nvSpPr>
        <p:spPr>
          <a:xfrm>
            <a:off x="566928" y="1645920"/>
            <a:ext cx="11027664" cy="2011680"/>
          </a:xfrm>
          <a:prstGeom prst="roundRect">
            <a:avLst>
              <a:gd name="adj" fmla="val 2727"/>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828800"/>
            <a:ext cx="10479024" cy="310896"/>
          </a:xfrm>
          <a:prstGeom prst="rect">
            <a:avLst/>
          </a:prstGeom>
          <a:noFill/>
          <a:ln/>
        </p:spPr>
        <p:txBody>
          <a:bodyPr wrap="square" lIns="0" tIns="0" rIns="0" bIns="0" rtlCol="0" anchor="ctr"/>
          <a:lstStyle/>
          <a:p>
            <a:pPr indent="0" marL="0">
              <a:buNone/>
            </a:pPr>
            <a:r>
              <a:rPr lang="en-US" sz="1500" b="1" dirty="0">
                <a:solidFill>
                  <a:srgbClr val="A7BEAE"/>
                </a:solidFill>
                <a:latin typeface="Cambria" pitchFamily="34" charset="0"/>
                <a:ea typeface="Cambria" pitchFamily="34" charset="-122"/>
                <a:cs typeface="Cambria" pitchFamily="34" charset="-120"/>
              </a:rPr>
              <a:t>888 rows, but only 74 real "units"</a:t>
            </a:r>
            <a:endParaRPr lang="en-US" sz="1500" dirty="0"/>
          </a:p>
        </p:txBody>
      </p:sp>
      <p:sp>
        <p:nvSpPr>
          <p:cNvPr id="6" name="Text 4"/>
          <p:cNvSpPr/>
          <p:nvPr/>
        </p:nvSpPr>
        <p:spPr>
          <a:xfrm>
            <a:off x="841248" y="2194560"/>
            <a:ext cx="10479024" cy="1371600"/>
          </a:xfrm>
          <a:prstGeom prst="rect">
            <a:avLst/>
          </a:prstGeom>
          <a:noFill/>
          <a:ln/>
        </p:spPr>
        <p:txBody>
          <a:bodyPr wrap="square" lIns="0" tIns="0" rIns="0" bIns="0" rtlCol="0" anchor="ctr"/>
          <a:lstStyle/>
          <a:p>
            <a:pPr indent="0" marL="0">
              <a:lnSpc>
                <a:spcPts val="1800"/>
              </a:lnSpc>
              <a:buNone/>
            </a:pPr>
            <a:r>
              <a:rPr lang="en-US" sz="1300" dirty="0">
                <a:solidFill>
                  <a:srgbClr val="E7E8D1"/>
                </a:solidFill>
                <a:latin typeface="Calibri" pitchFamily="34" charset="0"/>
                <a:ea typeface="Calibri" pitchFamily="34" charset="-122"/>
                <a:cs typeface="Calibri" pitchFamily="34" charset="-120"/>
              </a:rPr>
              <a:t>Each of the 74 districts contributes 12 rows to the panel, one per month. A district's conflict level, market status and reporting attention this month is largely the same underlying district carrying forward, not a fresh, independent measurement. Treating all 888 rows as 888 independent pieces of evidence silently multiplies the effective sample size, and can turn a genuinely null result into one that looks statistically significant.</a:t>
            </a:r>
            <a:endParaRPr lang="en-US" sz="1300" dirty="0"/>
          </a:p>
        </p:txBody>
      </p:sp>
      <p:sp>
        <p:nvSpPr>
          <p:cNvPr id="7" name="Shape 5"/>
          <p:cNvSpPr/>
          <p:nvPr/>
        </p:nvSpPr>
        <p:spPr>
          <a:xfrm>
            <a:off x="566928" y="3931920"/>
            <a:ext cx="11027664" cy="1463040"/>
          </a:xfrm>
          <a:prstGeom prst="roundRect">
            <a:avLst>
              <a:gd name="adj" fmla="val 3750"/>
            </a:avLst>
          </a:prstGeom>
          <a:solidFill>
            <a:srgbClr val="E7E8D1"/>
          </a:solidFill>
          <a:ln/>
          <a:effectLst>
            <a:outerShdw sx="100000" sy="100000" kx="0" ky="0" algn="bl" rotWithShape="0" blurRad="76200" dist="381" dir="5400000">
              <a:srgbClr val="000000">
                <a:alpha val="8000"/>
              </a:srgbClr>
            </a:outerShdw>
          </a:effectLst>
        </p:spPr>
      </p:sp>
      <p:sp>
        <p:nvSpPr>
          <p:cNvPr id="8" name="Text 6"/>
          <p:cNvSpPr/>
          <p:nvPr/>
        </p:nvSpPr>
        <p:spPr>
          <a:xfrm>
            <a:off x="841248" y="4059936"/>
            <a:ext cx="10479024" cy="274320"/>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The fix, in general terms</a:t>
            </a:r>
            <a:endParaRPr lang="en-US" sz="1300" dirty="0"/>
          </a:p>
        </p:txBody>
      </p:sp>
      <p:sp>
        <p:nvSpPr>
          <p:cNvPr id="9" name="Text 7"/>
          <p:cNvSpPr/>
          <p:nvPr/>
        </p:nvSpPr>
        <p:spPr>
          <a:xfrm>
            <a:off x="841248" y="4352544"/>
            <a:ext cx="10479024" cy="914400"/>
          </a:xfrm>
          <a:prstGeom prst="rect">
            <a:avLst/>
          </a:prstGeom>
          <a:noFill/>
          <a:ln/>
        </p:spPr>
        <p:txBody>
          <a:bodyPr wrap="square" lIns="0" tIns="0" rIns="0" bIns="0" rtlCol="0" anchor="ctr"/>
          <a:lstStyle/>
          <a:p>
            <a:pPr indent="0" marL="0">
              <a:lnSpc>
                <a:spcPts val="1500"/>
              </a:lnSpc>
              <a:buNone/>
            </a:pPr>
            <a:r>
              <a:rPr lang="en-US" sz="1150" dirty="0">
                <a:solidFill>
                  <a:srgbClr val="2B2523"/>
                </a:solidFill>
                <a:latin typeface="Calibri" pitchFamily="34" charset="0"/>
                <a:ea typeface="Calibri" pitchFamily="34" charset="-122"/>
                <a:cs typeface="Calibri" pitchFamily="34" charset="-120"/>
              </a:rPr>
              <a:t>Every bivariate result in the full-year panel was checked for this, using one of three fixes depending on how the variable behaves: collapsing to one row per district when a variable is fixed at district level, a district-cluster bootstrap when a variable genuinely changes month to month, or confirming a model already accounts for it (clustered standard errors). All three are shown across the next few slides.</a:t>
            </a:r>
            <a:endParaRPr lang="en-US" sz="1150" dirty="0"/>
          </a:p>
        </p:txBody>
      </p:sp>
      <p:sp>
        <p:nvSpPr>
          <p:cNvPr id="10" name="Text 8"/>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This is a known statistical issue called pseudo-replication.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The one genuine violation found, and its fix</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Does market access track conflict?</a:t>
            </a:r>
            <a:endParaRPr lang="en-US" sz="1250" dirty="0"/>
          </a:p>
        </p:txBody>
      </p:sp>
      <p:sp>
        <p:nvSpPr>
          <p:cNvPr id="4" name="Shape 2"/>
          <p:cNvSpPr/>
          <p:nvPr/>
        </p:nvSpPr>
        <p:spPr>
          <a:xfrm>
            <a:off x="566928" y="1554480"/>
            <a:ext cx="5486400" cy="2468880"/>
          </a:xfrm>
          <a:prstGeom prst="roundRect">
            <a:avLst>
              <a:gd name="adj" fmla="val 2222"/>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700784"/>
            <a:ext cx="5029200" cy="27432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Naive reading (888 rows, wrong)</a:t>
            </a:r>
            <a:endParaRPr lang="en-US" sz="1250" dirty="0"/>
          </a:p>
        </p:txBody>
      </p:sp>
      <p:sp>
        <p:nvSpPr>
          <p:cNvPr id="6" name="Text 4"/>
          <p:cNvSpPr/>
          <p:nvPr/>
        </p:nvSpPr>
        <p:spPr>
          <a:xfrm>
            <a:off x="804672" y="2029968"/>
            <a:ext cx="5029200" cy="566928"/>
          </a:xfrm>
          <a:prstGeom prst="rect">
            <a:avLst/>
          </a:prstGeom>
          <a:noFill/>
          <a:ln/>
        </p:spPr>
        <p:txBody>
          <a:bodyPr wrap="square" lIns="0" tIns="0" rIns="0" bIns="0" rtlCol="0" anchor="ctr"/>
          <a:lstStyle/>
          <a:p>
            <a:pPr algn="ctr" indent="0" marL="0">
              <a:buNone/>
            </a:pPr>
            <a:r>
              <a:rPr lang="en-US" sz="2600" b="1" dirty="0">
                <a:solidFill>
                  <a:srgbClr val="B85042"/>
                </a:solidFill>
                <a:latin typeface="Cambria" pitchFamily="34" charset="0"/>
                <a:ea typeface="Cambria" pitchFamily="34" charset="-122"/>
                <a:cs typeface="Cambria" pitchFamily="34" charset="-120"/>
              </a:rPr>
              <a:t>p = 0.0001</a:t>
            </a:r>
            <a:endParaRPr lang="en-US" sz="2600" dirty="0"/>
          </a:p>
        </p:txBody>
      </p:sp>
      <p:sp>
        <p:nvSpPr>
          <p:cNvPr id="7" name="Text 5"/>
          <p:cNvSpPr/>
          <p:nvPr/>
        </p:nvSpPr>
        <p:spPr>
          <a:xfrm>
            <a:off x="804672" y="2578608"/>
            <a:ext cx="5029200"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conflict events, market vs no market</a:t>
            </a:r>
            <a:endParaRPr lang="en-US" sz="950" dirty="0"/>
          </a:p>
        </p:txBody>
      </p:sp>
      <p:sp>
        <p:nvSpPr>
          <p:cNvPr id="8" name="Text 6"/>
          <p:cNvSpPr/>
          <p:nvPr/>
        </p:nvSpPr>
        <p:spPr>
          <a:xfrm>
            <a:off x="804672" y="3127248"/>
            <a:ext cx="5029200" cy="548640"/>
          </a:xfrm>
          <a:prstGeom prst="rect">
            <a:avLst/>
          </a:prstGeom>
          <a:noFill/>
          <a:ln/>
        </p:spPr>
        <p:txBody>
          <a:bodyPr wrap="square" lIns="0" tIns="0" rIns="0" bIns="0" rtlCol="0" anchor="ctr"/>
          <a:lstStyle/>
          <a:p>
            <a:pPr indent="0" marL="0">
              <a:lnSpc>
                <a:spcPts val="1400"/>
              </a:lnSpc>
              <a:buNone/>
            </a:pPr>
            <a:r>
              <a:rPr lang="en-US" sz="1100" i="1" dirty="0">
                <a:solidFill>
                  <a:srgbClr val="7A6E68"/>
                </a:solidFill>
                <a:latin typeface="Calibri" pitchFamily="34" charset="0"/>
                <a:ea typeface="Calibri" pitchFamily="34" charset="-122"/>
                <a:cs typeface="Calibri" pitchFamily="34" charset="-120"/>
              </a:rPr>
              <a:t>Statistically significant: looks like a real relationship.</a:t>
            </a:r>
            <a:endParaRPr lang="en-US" sz="1100" dirty="0"/>
          </a:p>
        </p:txBody>
      </p:sp>
      <p:sp>
        <p:nvSpPr>
          <p:cNvPr id="9" name="Shape 7"/>
          <p:cNvSpPr/>
          <p:nvPr/>
        </p:nvSpPr>
        <p:spPr>
          <a:xfrm>
            <a:off x="6309360" y="1554480"/>
            <a:ext cx="5285232" cy="2468880"/>
          </a:xfrm>
          <a:prstGeom prst="roundRect">
            <a:avLst>
              <a:gd name="adj" fmla="val 2222"/>
            </a:avLst>
          </a:prstGeom>
          <a:solidFill>
            <a:srgbClr val="A7BEAE"/>
          </a:solidFill>
          <a:ln/>
          <a:effectLst>
            <a:outerShdw sx="100000" sy="100000" kx="0" ky="0" algn="bl" rotWithShape="0" blurRad="76200" dist="381" dir="5400000">
              <a:srgbClr val="000000">
                <a:alpha val="8000"/>
              </a:srgbClr>
            </a:outerShdw>
          </a:effectLst>
        </p:spPr>
      </p:sp>
      <p:sp>
        <p:nvSpPr>
          <p:cNvPr id="10" name="Text 8"/>
          <p:cNvSpPr/>
          <p:nvPr/>
        </p:nvSpPr>
        <p:spPr>
          <a:xfrm>
            <a:off x="6547104" y="1700784"/>
            <a:ext cx="4754880" cy="27432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Corrected (n = 74 districts, right)</a:t>
            </a:r>
            <a:endParaRPr lang="en-US" sz="1250" dirty="0"/>
          </a:p>
        </p:txBody>
      </p:sp>
      <p:sp>
        <p:nvSpPr>
          <p:cNvPr id="11" name="Text 9"/>
          <p:cNvSpPr/>
          <p:nvPr/>
        </p:nvSpPr>
        <p:spPr>
          <a:xfrm>
            <a:off x="6547104" y="2029968"/>
            <a:ext cx="4754880" cy="566928"/>
          </a:xfrm>
          <a:prstGeom prst="rect">
            <a:avLst/>
          </a:prstGeom>
          <a:noFill/>
          <a:ln/>
        </p:spPr>
        <p:txBody>
          <a:bodyPr wrap="square" lIns="0" tIns="0" rIns="0" bIns="0" rtlCol="0" anchor="ctr"/>
          <a:lstStyle/>
          <a:p>
            <a:pPr algn="ctr" indent="0" marL="0">
              <a:buNone/>
            </a:pPr>
            <a:r>
              <a:rPr lang="en-US" sz="2600" b="1" dirty="0">
                <a:solidFill>
                  <a:srgbClr val="2B2523"/>
                </a:solidFill>
                <a:latin typeface="Cambria" pitchFamily="34" charset="0"/>
                <a:ea typeface="Cambria" pitchFamily="34" charset="-122"/>
                <a:cs typeface="Cambria" pitchFamily="34" charset="-120"/>
              </a:rPr>
              <a:t>p = 0.188</a:t>
            </a:r>
            <a:endParaRPr lang="en-US" sz="2600" dirty="0"/>
          </a:p>
        </p:txBody>
      </p:sp>
      <p:sp>
        <p:nvSpPr>
          <p:cNvPr id="12" name="Text 10"/>
          <p:cNvSpPr/>
          <p:nvPr/>
        </p:nvSpPr>
        <p:spPr>
          <a:xfrm>
            <a:off x="6547104" y="2578608"/>
            <a:ext cx="4754880"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same test, one row per district</a:t>
            </a:r>
            <a:endParaRPr lang="en-US" sz="950" dirty="0"/>
          </a:p>
        </p:txBody>
      </p:sp>
      <p:sp>
        <p:nvSpPr>
          <p:cNvPr id="13" name="Text 11"/>
          <p:cNvSpPr/>
          <p:nvPr/>
        </p:nvSpPr>
        <p:spPr>
          <a:xfrm>
            <a:off x="6547104" y="3127248"/>
            <a:ext cx="4754880" cy="548640"/>
          </a:xfrm>
          <a:prstGeom prst="rect">
            <a:avLst/>
          </a:prstGeom>
          <a:noFill/>
          <a:ln/>
        </p:spPr>
        <p:txBody>
          <a:bodyPr wrap="square" lIns="0" tIns="0" rIns="0" bIns="0" rtlCol="0" anchor="ctr"/>
          <a:lstStyle/>
          <a:p>
            <a:pPr indent="0" marL="0">
              <a:lnSpc>
                <a:spcPts val="1400"/>
              </a:lnSpc>
              <a:buNone/>
            </a:pPr>
            <a:r>
              <a:rPr lang="en-US" sz="1100" i="1" dirty="0">
                <a:solidFill>
                  <a:srgbClr val="2B2523"/>
                </a:solidFill>
                <a:latin typeface="Calibri" pitchFamily="34" charset="0"/>
                <a:ea typeface="Calibri" pitchFamily="34" charset="-122"/>
                <a:cs typeface="Calibri" pitchFamily="34" charset="-120"/>
              </a:rPr>
              <a:t>Not significant. The naive result was entirely an artefact of counting each district twelve times over.</a:t>
            </a:r>
            <a:endParaRPr lang="en-US" sz="1100" dirty="0"/>
          </a:p>
        </p:txBody>
      </p:sp>
      <p:sp>
        <p:nvSpPr>
          <p:cNvPr id="14" name="Shape 12"/>
          <p:cNvSpPr/>
          <p:nvPr/>
        </p:nvSpPr>
        <p:spPr>
          <a:xfrm>
            <a:off x="566928" y="4206240"/>
            <a:ext cx="11027664" cy="1554480"/>
          </a:xfrm>
          <a:prstGeom prst="roundRect">
            <a:avLst>
              <a:gd name="adj" fmla="val 3529"/>
            </a:avLst>
          </a:prstGeom>
          <a:solidFill>
            <a:srgbClr val="2B2523"/>
          </a:solidFill>
          <a:ln/>
          <a:effectLst>
            <a:outerShdw sx="100000" sy="100000" kx="0" ky="0" algn="bl" rotWithShape="0" blurRad="76200" dist="381" dir="5400000">
              <a:srgbClr val="000000">
                <a:alpha val="8000"/>
              </a:srgbClr>
            </a:outerShdw>
          </a:effectLst>
        </p:spPr>
      </p:sp>
      <p:sp>
        <p:nvSpPr>
          <p:cNvPr id="15" name="Text 13"/>
          <p:cNvSpPr/>
          <p:nvPr/>
        </p:nvSpPr>
        <p:spPr>
          <a:xfrm>
            <a:off x="841248" y="4334256"/>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What was actually done</a:t>
            </a:r>
            <a:endParaRPr lang="en-US" sz="1300" dirty="0"/>
          </a:p>
        </p:txBody>
      </p:sp>
      <p:sp>
        <p:nvSpPr>
          <p:cNvPr id="16" name="Text 14"/>
          <p:cNvSpPr/>
          <p:nvPr/>
        </p:nvSpPr>
        <p:spPr>
          <a:xfrm>
            <a:off x="841248" y="4626864"/>
            <a:ext cx="10479024" cy="1097280"/>
          </a:xfrm>
          <a:prstGeom prst="rect">
            <a:avLst/>
          </a:prstGeom>
          <a:noFill/>
          <a:ln/>
        </p:spPr>
        <p:txBody>
          <a:bodyPr wrap="square" lIns="0" tIns="0" rIns="0" bIns="0" rtlCol="0" anchor="ctr"/>
          <a:lstStyle/>
          <a:p>
            <a:pPr indent="0" marL="0">
              <a:lnSpc>
                <a:spcPts val="1500"/>
              </a:lnSpc>
              <a:buNone/>
            </a:pPr>
            <a:r>
              <a:rPr lang="en-US" sz="1100" dirty="0">
                <a:solidFill>
                  <a:srgbClr val="E7E8D1"/>
                </a:solidFill>
                <a:latin typeface="Calibri" pitchFamily="34" charset="0"/>
                <a:ea typeface="Calibri" pitchFamily="34" charset="-122"/>
                <a:cs typeface="Calibri" pitchFamily="34" charset="-120"/>
              </a:rPr>
              <a:t>has_market_coverage is fixed at the district level, it never changes month to month, so pooling all 888 rows was double-counting each district twelve times over. The fix: collapse the 888-row panel down to 74 rows, one per district (taking each district's own average conflict level across its 12 months), and re-run the exact same comparison on that smaller, correct table. The naive figures are kept in the notebook next to the correction, not deleted, so the artefact stays visible.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How the district-cluster bootstrap actually works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method behind the results on the next slide</a:t>
            </a:r>
            <a:endParaRPr lang="en-US" sz="1250" dirty="0"/>
          </a:p>
        </p:txBody>
      </p:sp>
      <p:sp>
        <p:nvSpPr>
          <p:cNvPr id="4" name="Shape 2"/>
          <p:cNvSpPr/>
          <p:nvPr/>
        </p:nvSpPr>
        <p:spPr>
          <a:xfrm>
            <a:off x="566928" y="1554480"/>
            <a:ext cx="2606040" cy="384048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5" name="Shape 3"/>
          <p:cNvSpPr/>
          <p:nvPr/>
        </p:nvSpPr>
        <p:spPr>
          <a:xfrm>
            <a:off x="786384" y="1773936"/>
            <a:ext cx="457200" cy="457200"/>
          </a:xfrm>
          <a:prstGeom prst="ellipse">
            <a:avLst/>
          </a:prstGeom>
          <a:solidFill>
            <a:srgbClr val="B85042"/>
          </a:solidFill>
          <a:ln/>
        </p:spPr>
      </p:sp>
      <p:sp>
        <p:nvSpPr>
          <p:cNvPr id="6" name="Text 4"/>
          <p:cNvSpPr/>
          <p:nvPr/>
        </p:nvSpPr>
        <p:spPr>
          <a:xfrm>
            <a:off x="786384"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786384" y="2359152"/>
            <a:ext cx="2167128" cy="77724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The normal approach would repeat the mistake</a:t>
            </a:r>
            <a:endParaRPr lang="en-US" sz="1200" dirty="0"/>
          </a:p>
        </p:txBody>
      </p:sp>
      <p:sp>
        <p:nvSpPr>
          <p:cNvPr id="8" name="Text 6"/>
          <p:cNvSpPr/>
          <p:nvPr/>
        </p:nvSpPr>
        <p:spPr>
          <a:xfrm>
            <a:off x="786384" y="3200400"/>
            <a:ext cx="2167128" cy="201168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 standard bootstrap resamples individual rows at random. Doing that here would repeat exactly the problem being fixed: an over-represented district's rows could get drawn many times, as if they were many different districts.</a:t>
            </a:r>
            <a:endParaRPr lang="en-US" sz="950" dirty="0"/>
          </a:p>
        </p:txBody>
      </p:sp>
      <p:sp>
        <p:nvSpPr>
          <p:cNvPr id="9" name="Shape 7"/>
          <p:cNvSpPr/>
          <p:nvPr/>
        </p:nvSpPr>
        <p:spPr>
          <a:xfrm>
            <a:off x="3374136" y="1554480"/>
            <a:ext cx="2606040" cy="384048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10" name="Shape 8"/>
          <p:cNvSpPr/>
          <p:nvPr/>
        </p:nvSpPr>
        <p:spPr>
          <a:xfrm>
            <a:off x="3593592" y="1773936"/>
            <a:ext cx="457200" cy="457200"/>
          </a:xfrm>
          <a:prstGeom prst="ellipse">
            <a:avLst/>
          </a:prstGeom>
          <a:solidFill>
            <a:srgbClr val="B85042"/>
          </a:solidFill>
          <a:ln/>
        </p:spPr>
      </p:sp>
      <p:sp>
        <p:nvSpPr>
          <p:cNvPr id="11" name="Text 9"/>
          <p:cNvSpPr/>
          <p:nvPr/>
        </p:nvSpPr>
        <p:spPr>
          <a:xfrm>
            <a:off x="3593592"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3593592" y="2359152"/>
            <a:ext cx="2167128" cy="77724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Resample whole districts instead</a:t>
            </a:r>
            <a:endParaRPr lang="en-US" sz="1200" dirty="0"/>
          </a:p>
        </p:txBody>
      </p:sp>
      <p:sp>
        <p:nvSpPr>
          <p:cNvPr id="13" name="Text 11"/>
          <p:cNvSpPr/>
          <p:nvPr/>
        </p:nvSpPr>
        <p:spPr>
          <a:xfrm>
            <a:off x="3593592" y="3200400"/>
            <a:ext cx="2167128" cy="201168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Pick 74 districts at random, allowing the same district to be picked more than once ("with replacement"). Every time a district is picked, take all 12 of its rows together, as one unit.</a:t>
            </a:r>
            <a:endParaRPr lang="en-US" sz="950" dirty="0"/>
          </a:p>
        </p:txBody>
      </p:sp>
      <p:sp>
        <p:nvSpPr>
          <p:cNvPr id="14" name="Shape 12"/>
          <p:cNvSpPr/>
          <p:nvPr/>
        </p:nvSpPr>
        <p:spPr>
          <a:xfrm>
            <a:off x="6181344" y="1554480"/>
            <a:ext cx="2606040" cy="384048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15" name="Shape 13"/>
          <p:cNvSpPr/>
          <p:nvPr/>
        </p:nvSpPr>
        <p:spPr>
          <a:xfrm>
            <a:off x="6400800" y="1773936"/>
            <a:ext cx="457200" cy="457200"/>
          </a:xfrm>
          <a:prstGeom prst="ellipse">
            <a:avLst/>
          </a:prstGeom>
          <a:solidFill>
            <a:srgbClr val="B85042"/>
          </a:solidFill>
          <a:ln/>
        </p:spPr>
      </p:sp>
      <p:sp>
        <p:nvSpPr>
          <p:cNvPr id="16" name="Text 14"/>
          <p:cNvSpPr/>
          <p:nvPr/>
        </p:nvSpPr>
        <p:spPr>
          <a:xfrm>
            <a:off x="6400800"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6400800" y="2359152"/>
            <a:ext cx="2167128" cy="77724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Recompute, and repeat 3,000 times</a:t>
            </a:r>
            <a:endParaRPr lang="en-US" sz="1200" dirty="0"/>
          </a:p>
        </p:txBody>
      </p:sp>
      <p:sp>
        <p:nvSpPr>
          <p:cNvPr id="18" name="Text 16"/>
          <p:cNvSpPr/>
          <p:nvPr/>
        </p:nvSpPr>
        <p:spPr>
          <a:xfrm>
            <a:off x="6400800" y="3200400"/>
            <a:ext cx="2167128" cy="201168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Calculate the correlation on that resampled table. Then throw it away and repeat the whole process, 3,000 separate times, each with a fresh random set of 74 districts.</a:t>
            </a:r>
            <a:endParaRPr lang="en-US" sz="950" dirty="0"/>
          </a:p>
        </p:txBody>
      </p:sp>
      <p:sp>
        <p:nvSpPr>
          <p:cNvPr id="19" name="Shape 17"/>
          <p:cNvSpPr/>
          <p:nvPr/>
        </p:nvSpPr>
        <p:spPr>
          <a:xfrm>
            <a:off x="8988552" y="1554480"/>
            <a:ext cx="2606040" cy="384048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20" name="Shape 18"/>
          <p:cNvSpPr/>
          <p:nvPr/>
        </p:nvSpPr>
        <p:spPr>
          <a:xfrm>
            <a:off x="9208008" y="1773936"/>
            <a:ext cx="457200" cy="457200"/>
          </a:xfrm>
          <a:prstGeom prst="ellipse">
            <a:avLst/>
          </a:prstGeom>
          <a:solidFill>
            <a:srgbClr val="B85042"/>
          </a:solidFill>
          <a:ln/>
        </p:spPr>
      </p:sp>
      <p:sp>
        <p:nvSpPr>
          <p:cNvPr id="21" name="Text 19"/>
          <p:cNvSpPr/>
          <p:nvPr/>
        </p:nvSpPr>
        <p:spPr>
          <a:xfrm>
            <a:off x="9208008"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9208008" y="2359152"/>
            <a:ext cx="2167128" cy="77724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Look at the spread of the 3,000 results</a:t>
            </a:r>
            <a:endParaRPr lang="en-US" sz="1200" dirty="0"/>
          </a:p>
        </p:txBody>
      </p:sp>
      <p:sp>
        <p:nvSpPr>
          <p:cNvPr id="23" name="Text 21"/>
          <p:cNvSpPr/>
          <p:nvPr/>
        </p:nvSpPr>
        <p:spPr>
          <a:xfrm>
            <a:off x="9208008" y="3200400"/>
            <a:ext cx="2167128" cy="201168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If the middle 95% of those 3,000 results comfortably avoids zero, the relationship holds up regardless of which specific districts happened to be drawn. If that range crosses zero, the effect cannot be trusted once repetition is accounted for.</a:t>
            </a:r>
            <a:endParaRPr lang="en-US" sz="950" dirty="0"/>
          </a:p>
        </p:txBody>
      </p:sp>
      <p:sp>
        <p:nvSpPr>
          <p:cNvPr id="24" name="Text 22"/>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This same method is what "district-cluster bootstrap" refers to everywhere else in this deck and in the notebook.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Checking every other result, and what survives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Three different strengths of the same problem, three different fixes</a:t>
            </a:r>
            <a:endParaRPr lang="en-US" sz="1250" dirty="0"/>
          </a:p>
        </p:txBody>
      </p:sp>
      <p:sp>
        <p:nvSpPr>
          <p:cNvPr id="4" name="Shape 2"/>
          <p:cNvSpPr/>
          <p:nvPr/>
        </p:nvSpPr>
        <p:spPr>
          <a:xfrm>
            <a:off x="566928" y="1463040"/>
            <a:ext cx="11027664" cy="1005840"/>
          </a:xfrm>
          <a:prstGeom prst="roundRect">
            <a:avLst>
              <a:gd name="adj" fmla="val 5455"/>
            </a:avLst>
          </a:prstGeom>
          <a:solidFill>
            <a:srgbClr val="F7F5F1"/>
          </a:solidFill>
          <a:ln/>
          <a:effectLst>
            <a:outerShdw sx="100000" sy="100000" kx="0" ky="0" algn="bl" rotWithShape="0" blurRad="76200" dist="381" dir="5400000">
              <a:srgbClr val="000000">
                <a:alpha val="8000"/>
              </a:srgbClr>
            </a:outerShdw>
          </a:effectLst>
        </p:spPr>
      </p:sp>
      <p:sp>
        <p:nvSpPr>
          <p:cNvPr id="5" name="Shape 3"/>
          <p:cNvSpPr/>
          <p:nvPr/>
        </p:nvSpPr>
        <p:spPr>
          <a:xfrm>
            <a:off x="566928" y="1463040"/>
            <a:ext cx="73152" cy="1005840"/>
          </a:xfrm>
          <a:prstGeom prst="rect">
            <a:avLst/>
          </a:prstGeom>
          <a:solidFill>
            <a:srgbClr val="A7BEAE"/>
          </a:solidFill>
          <a:ln/>
        </p:spPr>
      </p:sp>
      <p:sp>
        <p:nvSpPr>
          <p:cNvPr id="6" name="Text 4"/>
          <p:cNvSpPr/>
          <p:nvPr/>
        </p:nvSpPr>
        <p:spPr>
          <a:xfrm>
            <a:off x="841248" y="1554480"/>
            <a:ext cx="3291840" cy="36576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Time-varying correlations</a:t>
            </a:r>
            <a:endParaRPr lang="en-US" sz="1250" dirty="0"/>
          </a:p>
        </p:txBody>
      </p:sp>
      <p:sp>
        <p:nvSpPr>
          <p:cNvPr id="7" name="Text 5"/>
          <p:cNvSpPr/>
          <p:nvPr/>
        </p:nvSpPr>
        <p:spPr>
          <a:xfrm>
            <a:off x="841248" y="1901952"/>
            <a:ext cx="3291840" cy="548640"/>
          </a:xfrm>
          <a:prstGeom prst="rect">
            <a:avLst/>
          </a:prstGeom>
          <a:noFill/>
          <a:ln/>
        </p:spPr>
        <p:txBody>
          <a:bodyPr wrap="square" lIns="0" tIns="0" rIns="0" bIns="0" rtlCol="0" anchor="ctr"/>
          <a:lstStyle/>
          <a:p>
            <a:pPr indent="0" marL="0">
              <a:lnSpc>
                <a:spcPts val="1200"/>
              </a:lnSpc>
              <a:buNone/>
            </a:pPr>
            <a:r>
              <a:rPr lang="en-US" sz="950" i="1" dirty="0">
                <a:solidFill>
                  <a:srgbClr val="7A6E68"/>
                </a:solidFill>
                <a:latin typeface="Calibri" pitchFamily="34" charset="0"/>
                <a:ea typeface="Calibri" pitchFamily="34" charset="-122"/>
                <a:cs typeface="Calibri" pitchFamily="34" charset="-120"/>
              </a:rPr>
              <a:t>Conflict vs reports, rainfall vs reports, VHI vs conflict</a:t>
            </a:r>
            <a:endParaRPr lang="en-US" sz="950" dirty="0"/>
          </a:p>
        </p:txBody>
      </p:sp>
      <p:sp>
        <p:nvSpPr>
          <p:cNvPr id="8" name="Text 6"/>
          <p:cNvSpPr/>
          <p:nvPr/>
        </p:nvSpPr>
        <p:spPr>
          <a:xfrm>
            <a:off x="4114800" y="1591056"/>
            <a:ext cx="7205472" cy="822960"/>
          </a:xfrm>
          <a:prstGeom prst="rect">
            <a:avLst/>
          </a:prstGeom>
          <a:noFill/>
          <a:ln/>
        </p:spPr>
        <p:txBody>
          <a:bodyPr wrap="square" lIns="0" tIns="0" rIns="0" bIns="0" rtlCol="0" anchor="ctr"/>
          <a:lstStyle/>
          <a:p>
            <a:pPr indent="0" marL="0">
              <a:lnSpc>
                <a:spcPts val="1300"/>
              </a:lnSpc>
              <a:buNone/>
            </a:pPr>
            <a:r>
              <a:rPr lang="en-US" sz="1050" dirty="0">
                <a:solidFill>
                  <a:srgbClr val="2B2523"/>
                </a:solidFill>
                <a:latin typeface="Calibri" pitchFamily="34" charset="0"/>
                <a:ea typeface="Calibri" pitchFamily="34" charset="-122"/>
                <a:cs typeface="Calibri" pitchFamily="34" charset="-120"/>
              </a:rPr>
              <a:t>Checked with the district-cluster bootstrap explained on the previous slide. All three survive with confidence intervals well clear of zero.</a:t>
            </a:r>
            <a:endParaRPr lang="en-US" sz="1050" dirty="0"/>
          </a:p>
        </p:txBody>
      </p:sp>
      <p:sp>
        <p:nvSpPr>
          <p:cNvPr id="9" name="Shape 7"/>
          <p:cNvSpPr/>
          <p:nvPr/>
        </p:nvSpPr>
        <p:spPr>
          <a:xfrm>
            <a:off x="566928" y="2578608"/>
            <a:ext cx="11027664" cy="1005840"/>
          </a:xfrm>
          <a:prstGeom prst="roundRect">
            <a:avLst>
              <a:gd name="adj" fmla="val 5455"/>
            </a:avLst>
          </a:prstGeom>
          <a:solidFill>
            <a:srgbClr val="F7F5F1"/>
          </a:solidFill>
          <a:ln/>
          <a:effectLst>
            <a:outerShdw sx="100000" sy="100000" kx="0" ky="0" algn="bl" rotWithShape="0" blurRad="76200" dist="381" dir="5400000">
              <a:srgbClr val="000000">
                <a:alpha val="8000"/>
              </a:srgbClr>
            </a:outerShdw>
          </a:effectLst>
        </p:spPr>
      </p:sp>
      <p:sp>
        <p:nvSpPr>
          <p:cNvPr id="10" name="Shape 8"/>
          <p:cNvSpPr/>
          <p:nvPr/>
        </p:nvSpPr>
        <p:spPr>
          <a:xfrm>
            <a:off x="566928" y="2578608"/>
            <a:ext cx="73152" cy="1005840"/>
          </a:xfrm>
          <a:prstGeom prst="rect">
            <a:avLst/>
          </a:prstGeom>
          <a:solidFill>
            <a:srgbClr val="B85042"/>
          </a:solidFill>
          <a:ln/>
        </p:spPr>
      </p:sp>
      <p:sp>
        <p:nvSpPr>
          <p:cNvPr id="11" name="Text 9"/>
          <p:cNvSpPr/>
          <p:nvPr/>
        </p:nvSpPr>
        <p:spPr>
          <a:xfrm>
            <a:off x="841248" y="2670048"/>
            <a:ext cx="3291840" cy="36576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One exception</a:t>
            </a:r>
            <a:endParaRPr lang="en-US" sz="1250" dirty="0"/>
          </a:p>
        </p:txBody>
      </p:sp>
      <p:sp>
        <p:nvSpPr>
          <p:cNvPr id="12" name="Text 10"/>
          <p:cNvSpPr/>
          <p:nvPr/>
        </p:nvSpPr>
        <p:spPr>
          <a:xfrm>
            <a:off x="841248" y="3017520"/>
            <a:ext cx="3291840" cy="548640"/>
          </a:xfrm>
          <a:prstGeom prst="rect">
            <a:avLst/>
          </a:prstGeom>
          <a:noFill/>
          <a:ln/>
        </p:spPr>
        <p:txBody>
          <a:bodyPr wrap="square" lIns="0" tIns="0" rIns="0" bIns="0" rtlCol="0" anchor="ctr"/>
          <a:lstStyle/>
          <a:p>
            <a:pPr indent="0" marL="0">
              <a:lnSpc>
                <a:spcPts val="1200"/>
              </a:lnSpc>
              <a:buNone/>
            </a:pPr>
            <a:r>
              <a:rPr lang="en-US" sz="950" i="1" dirty="0">
                <a:solidFill>
                  <a:srgbClr val="7A6E68"/>
                </a:solidFill>
                <a:latin typeface="Calibri" pitchFamily="34" charset="0"/>
                <a:ea typeface="Calibri" pitchFamily="34" charset="-122"/>
                <a:cs typeface="Calibri" pitchFamily="34" charset="-120"/>
              </a:rPr>
              <a:t>Vegetation health (VHI) vs reports</a:t>
            </a:r>
            <a:endParaRPr lang="en-US" sz="950" dirty="0"/>
          </a:p>
        </p:txBody>
      </p:sp>
      <p:sp>
        <p:nvSpPr>
          <p:cNvPr id="13" name="Text 11"/>
          <p:cNvSpPr/>
          <p:nvPr/>
        </p:nvSpPr>
        <p:spPr>
          <a:xfrm>
            <a:off x="4114800" y="2706624"/>
            <a:ext cx="7205472" cy="822960"/>
          </a:xfrm>
          <a:prstGeom prst="rect">
            <a:avLst/>
          </a:prstGeom>
          <a:noFill/>
          <a:ln/>
        </p:spPr>
        <p:txBody>
          <a:bodyPr wrap="square" lIns="0" tIns="0" rIns="0" bIns="0" rtlCol="0" anchor="ctr"/>
          <a:lstStyle/>
          <a:p>
            <a:pPr indent="0" marL="0">
              <a:lnSpc>
                <a:spcPts val="1300"/>
              </a:lnSpc>
              <a:buNone/>
            </a:pPr>
            <a:r>
              <a:rPr lang="en-US" sz="1050" dirty="0">
                <a:solidFill>
                  <a:srgbClr val="2B2523"/>
                </a:solidFill>
                <a:latin typeface="Calibri" pitchFamily="34" charset="0"/>
                <a:ea typeface="Calibri" pitchFamily="34" charset="-122"/>
                <a:cs typeface="Calibri" pitchFamily="34" charset="-120"/>
              </a:rPr>
              <a:t>Its cluster-robust confidence interval crosses zero. The earlier r=-0.11 figure should be read as inconclusive, not a confirmed effect.</a:t>
            </a:r>
            <a:endParaRPr lang="en-US" sz="1050" dirty="0"/>
          </a:p>
        </p:txBody>
      </p:sp>
      <p:sp>
        <p:nvSpPr>
          <p:cNvPr id="14" name="Shape 12"/>
          <p:cNvSpPr/>
          <p:nvPr/>
        </p:nvSpPr>
        <p:spPr>
          <a:xfrm>
            <a:off x="566928" y="3694176"/>
            <a:ext cx="11027664" cy="1005840"/>
          </a:xfrm>
          <a:prstGeom prst="roundRect">
            <a:avLst>
              <a:gd name="adj" fmla="val 5455"/>
            </a:avLst>
          </a:prstGeom>
          <a:solidFill>
            <a:srgbClr val="F7F5F1"/>
          </a:solidFill>
          <a:ln/>
          <a:effectLst>
            <a:outerShdw sx="100000" sy="100000" kx="0" ky="0" algn="bl" rotWithShape="0" blurRad="76200" dist="381" dir="5400000">
              <a:srgbClr val="000000">
                <a:alpha val="8000"/>
              </a:srgbClr>
            </a:outerShdw>
          </a:effectLst>
        </p:spPr>
      </p:sp>
      <p:sp>
        <p:nvSpPr>
          <p:cNvPr id="15" name="Shape 13"/>
          <p:cNvSpPr/>
          <p:nvPr/>
        </p:nvSpPr>
        <p:spPr>
          <a:xfrm>
            <a:off x="566928" y="3694176"/>
            <a:ext cx="73152" cy="1005840"/>
          </a:xfrm>
          <a:prstGeom prst="rect">
            <a:avLst/>
          </a:prstGeom>
          <a:solidFill>
            <a:srgbClr val="E7E8D1"/>
          </a:solidFill>
          <a:ln/>
        </p:spPr>
      </p:sp>
      <p:sp>
        <p:nvSpPr>
          <p:cNvPr id="16" name="Text 14"/>
          <p:cNvSpPr/>
          <p:nvPr/>
        </p:nvSpPr>
        <p:spPr>
          <a:xfrm>
            <a:off x="841248" y="3785616"/>
            <a:ext cx="3291840" cy="36576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Conflict-vs-climate reporting gap</a:t>
            </a:r>
            <a:endParaRPr lang="en-US" sz="1250" dirty="0"/>
          </a:p>
        </p:txBody>
      </p:sp>
      <p:sp>
        <p:nvSpPr>
          <p:cNvPr id="17" name="Text 15"/>
          <p:cNvSpPr/>
          <p:nvPr/>
        </p:nvSpPr>
        <p:spPr>
          <a:xfrm>
            <a:off x="841248" y="4133088"/>
            <a:ext cx="3291840" cy="548640"/>
          </a:xfrm>
          <a:prstGeom prst="rect">
            <a:avLst/>
          </a:prstGeom>
          <a:noFill/>
          <a:ln/>
        </p:spPr>
        <p:txBody>
          <a:bodyPr wrap="square" lIns="0" tIns="0" rIns="0" bIns="0" rtlCol="0" anchor="ctr"/>
          <a:lstStyle/>
          <a:p>
            <a:pPr indent="0" marL="0">
              <a:lnSpc>
                <a:spcPts val="1200"/>
              </a:lnSpc>
              <a:buNone/>
            </a:pPr>
            <a:r>
              <a:rPr lang="en-US" sz="950" i="1" dirty="0">
                <a:solidFill>
                  <a:srgbClr val="7A6E68"/>
                </a:solidFill>
                <a:latin typeface="Calibri" pitchFamily="34" charset="0"/>
                <a:ea typeface="Calibri" pitchFamily="34" charset="-122"/>
                <a:cs typeface="Calibri" pitchFamily="34" charset="-120"/>
              </a:rPr>
              <a:t>Collapsed to one row per district (n=18 vs n=41)</a:t>
            </a:r>
            <a:endParaRPr lang="en-US" sz="950" dirty="0"/>
          </a:p>
        </p:txBody>
      </p:sp>
      <p:sp>
        <p:nvSpPr>
          <p:cNvPr id="18" name="Text 16"/>
          <p:cNvSpPr/>
          <p:nvPr/>
        </p:nvSpPr>
        <p:spPr>
          <a:xfrm>
            <a:off x="4114800" y="3822192"/>
            <a:ext cx="7205472" cy="822960"/>
          </a:xfrm>
          <a:prstGeom prst="rect">
            <a:avLst/>
          </a:prstGeom>
          <a:noFill/>
          <a:ln/>
        </p:spPr>
        <p:txBody>
          <a:bodyPr wrap="square" lIns="0" tIns="0" rIns="0" bIns="0" rtlCol="0" anchor="ctr"/>
          <a:lstStyle/>
          <a:p>
            <a:pPr indent="0" marL="0">
              <a:lnSpc>
                <a:spcPts val="1300"/>
              </a:lnSpc>
              <a:buNone/>
            </a:pPr>
            <a:r>
              <a:rPr lang="en-US" sz="1050" dirty="0">
                <a:solidFill>
                  <a:srgbClr val="2B2523"/>
                </a:solidFill>
                <a:latin typeface="Calibri" pitchFamily="34" charset="0"/>
                <a:ea typeface="Calibri" pitchFamily="34" charset="-122"/>
                <a:cs typeface="Calibri" pitchFamily="34" charset="-120"/>
              </a:rPr>
              <a:t>Survives, but weakens: p=0.000064 falls to p=0.0067 once repeated conflict-heavy districts stop being over-counted. Full detail in the next section.</a:t>
            </a:r>
            <a:endParaRPr lang="en-US" sz="1050" dirty="0"/>
          </a:p>
        </p:txBody>
      </p:sp>
      <p:sp>
        <p:nvSpPr>
          <p:cNvPr id="19" name="Shape 17"/>
          <p:cNvSpPr/>
          <p:nvPr/>
        </p:nvSpPr>
        <p:spPr>
          <a:xfrm>
            <a:off x="566928" y="4809744"/>
            <a:ext cx="11027664" cy="1005840"/>
          </a:xfrm>
          <a:prstGeom prst="roundRect">
            <a:avLst>
              <a:gd name="adj" fmla="val 5455"/>
            </a:avLst>
          </a:prstGeom>
          <a:solidFill>
            <a:srgbClr val="F7F5F1"/>
          </a:solidFill>
          <a:ln/>
          <a:effectLst>
            <a:outerShdw sx="100000" sy="100000" kx="0" ky="0" algn="bl" rotWithShape="0" blurRad="76200" dist="381" dir="5400000">
              <a:srgbClr val="000000">
                <a:alpha val="8000"/>
              </a:srgbClr>
            </a:outerShdw>
          </a:effectLst>
        </p:spPr>
      </p:sp>
      <p:sp>
        <p:nvSpPr>
          <p:cNvPr id="20" name="Shape 18"/>
          <p:cNvSpPr/>
          <p:nvPr/>
        </p:nvSpPr>
        <p:spPr>
          <a:xfrm>
            <a:off x="566928" y="4809744"/>
            <a:ext cx="73152" cy="1005840"/>
          </a:xfrm>
          <a:prstGeom prst="rect">
            <a:avLst/>
          </a:prstGeom>
          <a:solidFill>
            <a:srgbClr val="A7BEAE"/>
          </a:solidFill>
          <a:ln/>
        </p:spPr>
      </p:sp>
      <p:sp>
        <p:nvSpPr>
          <p:cNvPr id="21" name="Text 19"/>
          <p:cNvSpPr/>
          <p:nvPr/>
        </p:nvSpPr>
        <p:spPr>
          <a:xfrm>
            <a:off x="841248" y="4901184"/>
            <a:ext cx="3291840" cy="36576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Logistic regression</a:t>
            </a:r>
            <a:endParaRPr lang="en-US" sz="1250" dirty="0"/>
          </a:p>
        </p:txBody>
      </p:sp>
      <p:sp>
        <p:nvSpPr>
          <p:cNvPr id="22" name="Text 20"/>
          <p:cNvSpPr/>
          <p:nvPr/>
        </p:nvSpPr>
        <p:spPr>
          <a:xfrm>
            <a:off x="841248" y="5248656"/>
            <a:ext cx="3291840" cy="548640"/>
          </a:xfrm>
          <a:prstGeom prst="rect">
            <a:avLst/>
          </a:prstGeom>
          <a:noFill/>
          <a:ln/>
        </p:spPr>
        <p:txBody>
          <a:bodyPr wrap="square" lIns="0" tIns="0" rIns="0" bIns="0" rtlCol="0" anchor="ctr"/>
          <a:lstStyle/>
          <a:p>
            <a:pPr indent="0" marL="0">
              <a:lnSpc>
                <a:spcPts val="1200"/>
              </a:lnSpc>
              <a:buNone/>
            </a:pPr>
            <a:r>
              <a:rPr lang="en-US" sz="950" i="1" dirty="0">
                <a:solidFill>
                  <a:srgbClr val="7A6E68"/>
                </a:solidFill>
                <a:latin typeface="Calibri" pitchFamily="34" charset="0"/>
                <a:ea typeface="Calibri" pitchFamily="34" charset="-122"/>
                <a:cs typeface="Calibri" pitchFamily="34" charset="-120"/>
              </a:rPr>
              <a:t>Already clusters its standard errors by district</a:t>
            </a:r>
            <a:endParaRPr lang="en-US" sz="950" dirty="0"/>
          </a:p>
        </p:txBody>
      </p:sp>
      <p:sp>
        <p:nvSpPr>
          <p:cNvPr id="23" name="Text 21"/>
          <p:cNvSpPr/>
          <p:nvPr/>
        </p:nvSpPr>
        <p:spPr>
          <a:xfrm>
            <a:off x="4114800" y="4937760"/>
            <a:ext cx="7205472" cy="822960"/>
          </a:xfrm>
          <a:prstGeom prst="rect">
            <a:avLst/>
          </a:prstGeom>
          <a:noFill/>
          <a:ln/>
        </p:spPr>
        <p:txBody>
          <a:bodyPr wrap="square" lIns="0" tIns="0" rIns="0" bIns="0" rtlCol="0" anchor="ctr"/>
          <a:lstStyle/>
          <a:p>
            <a:pPr indent="0" marL="0">
              <a:lnSpc>
                <a:spcPts val="1300"/>
              </a:lnSpc>
              <a:buNone/>
            </a:pPr>
            <a:r>
              <a:rPr lang="en-US" sz="1050" dirty="0">
                <a:solidFill>
                  <a:srgbClr val="2B2523"/>
                </a:solidFill>
                <a:latin typeface="Calibri" pitchFamily="34" charset="0"/>
                <a:ea typeface="Calibri" pitchFamily="34" charset="-122"/>
                <a:cs typeface="Calibri" pitchFamily="34" charset="-120"/>
              </a:rPr>
              <a:t>No correction was needed. It would have had the same problem built in from the start had it not.</a:t>
            </a:r>
            <a:endParaRPr lang="en-US" sz="1050" dirty="0"/>
          </a:p>
        </p:txBody>
      </p:sp>
      <p:sp>
        <p:nvSpPr>
          <p:cNvPr id="24" name="Text 22"/>
          <p:cNvSpPr/>
          <p:nvPr/>
        </p:nvSpPr>
        <p:spPr>
          <a:xfrm>
            <a:off x="566928" y="6035040"/>
            <a:ext cx="11027664" cy="310896"/>
          </a:xfrm>
          <a:prstGeom prst="rect">
            <a:avLst/>
          </a:prstGeom>
          <a:noFill/>
          <a:ln/>
        </p:spPr>
        <p:txBody>
          <a:bodyPr wrap="square" lIns="0" tIns="0" rIns="0" bIns="0" rtlCol="0" anchor="ctr"/>
          <a:lstStyle/>
          <a:p>
            <a:pPr indent="0" marL="0">
              <a:buNone/>
            </a:pPr>
            <a:r>
              <a:rPr lang="en-US" sz="1050" i="1" dirty="0">
                <a:solidFill>
                  <a:srgbClr val="7A6E68"/>
                </a:solidFill>
                <a:latin typeface="Calibri" pitchFamily="34" charset="0"/>
                <a:ea typeface="Calibri" pitchFamily="34" charset="-122"/>
                <a:cs typeface="Calibri" pitchFamily="34" charset="-120"/>
              </a:rPr>
              <a:t>Bottom line: nothing in the notebook's headline findings depended on a repeated-district-months artefact once corrected, except the naive market/conflict result, which was never a real finding.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Strengthening the conflict-vs-climate reporting result</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original test, and why the wording changed</a:t>
            </a:r>
            <a:endParaRPr lang="en-US" sz="1250" dirty="0"/>
          </a:p>
        </p:txBody>
      </p:sp>
      <p:sp>
        <p:nvSpPr>
          <p:cNvPr id="4" name="Shape 2"/>
          <p:cNvSpPr/>
          <p:nvPr/>
        </p:nvSpPr>
        <p:spPr>
          <a:xfrm>
            <a:off x="566928" y="1554480"/>
            <a:ext cx="11027664" cy="1737360"/>
          </a:xfrm>
          <a:prstGeom prst="roundRect">
            <a:avLst>
              <a:gd name="adj" fmla="val 3158"/>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700784"/>
            <a:ext cx="4572000" cy="274320"/>
          </a:xfrm>
          <a:prstGeom prst="rect">
            <a:avLst/>
          </a:prstGeom>
          <a:noFill/>
          <a:ln/>
        </p:spPr>
        <p:txBody>
          <a:bodyPr wrap="square" lIns="0" tIns="0" rIns="0" bIns="0" rtlCol="0" anchor="ctr"/>
          <a:lstStyle/>
          <a:p>
            <a:pPr indent="0" marL="0">
              <a:buNone/>
            </a:pPr>
            <a:r>
              <a:rPr lang="en-US" sz="1350" b="1" dirty="0">
                <a:solidFill>
                  <a:srgbClr val="A7BEAE"/>
                </a:solidFill>
                <a:latin typeface="Cambria" pitchFamily="34" charset="0"/>
                <a:ea typeface="Cambria" pitchFamily="34" charset="-122"/>
                <a:cs typeface="Cambria" pitchFamily="34" charset="-120"/>
              </a:rPr>
              <a:t>The original result</a:t>
            </a:r>
            <a:endParaRPr lang="en-US" sz="1350" dirty="0"/>
          </a:p>
        </p:txBody>
      </p:sp>
      <p:sp>
        <p:nvSpPr>
          <p:cNvPr id="6" name="Text 4"/>
          <p:cNvSpPr/>
          <p:nvPr/>
        </p:nvSpPr>
        <p:spPr>
          <a:xfrm>
            <a:off x="841248" y="2029968"/>
            <a:ext cx="3493008" cy="566928"/>
          </a:xfrm>
          <a:prstGeom prst="rect">
            <a:avLst/>
          </a:prstGeom>
          <a:noFill/>
          <a:ln/>
        </p:spPr>
        <p:txBody>
          <a:bodyPr wrap="square" lIns="0" tIns="0" rIns="0" bIns="0" rtlCol="0" anchor="ctr"/>
          <a:lstStyle/>
          <a:p>
            <a:pPr algn="ctr" indent="0" marL="0">
              <a:buNone/>
            </a:pPr>
            <a:r>
              <a:rPr lang="en-US" sz="2600" b="1" dirty="0">
                <a:solidFill>
                  <a:srgbClr val="B85042"/>
                </a:solidFill>
                <a:latin typeface="Cambria" pitchFamily="34" charset="0"/>
                <a:ea typeface="Cambria" pitchFamily="34" charset="-122"/>
                <a:cs typeface="Cambria" pitchFamily="34" charset="-120"/>
              </a:rPr>
              <a:t>6.65</a:t>
            </a:r>
            <a:endParaRPr lang="en-US" sz="2600" dirty="0"/>
          </a:p>
        </p:txBody>
      </p:sp>
      <p:sp>
        <p:nvSpPr>
          <p:cNvPr id="7" name="Text 5"/>
          <p:cNvSpPr/>
          <p:nvPr/>
        </p:nvSpPr>
        <p:spPr>
          <a:xfrm>
            <a:off x="841248" y="2578608"/>
            <a:ext cx="3493008"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avg reports, relatively extreme conflict</a:t>
            </a:r>
            <a:endParaRPr lang="en-US" sz="950" dirty="0"/>
          </a:p>
        </p:txBody>
      </p:sp>
      <p:sp>
        <p:nvSpPr>
          <p:cNvPr id="8" name="Text 6"/>
          <p:cNvSpPr/>
          <p:nvPr/>
        </p:nvSpPr>
        <p:spPr>
          <a:xfrm>
            <a:off x="4334256" y="2029968"/>
            <a:ext cx="3493008" cy="566928"/>
          </a:xfrm>
          <a:prstGeom prst="rect">
            <a:avLst/>
          </a:prstGeom>
          <a:noFill/>
          <a:ln/>
        </p:spPr>
        <p:txBody>
          <a:bodyPr wrap="square" lIns="0" tIns="0" rIns="0" bIns="0" rtlCol="0" anchor="ctr"/>
          <a:lstStyle/>
          <a:p>
            <a:pPr algn="ctr" indent="0" marL="0">
              <a:buNone/>
            </a:pPr>
            <a:r>
              <a:rPr lang="en-US" sz="2600" b="1" dirty="0">
                <a:solidFill>
                  <a:srgbClr val="E7E8D1"/>
                </a:solidFill>
                <a:latin typeface="Cambria" pitchFamily="34" charset="0"/>
                <a:ea typeface="Cambria" pitchFamily="34" charset="-122"/>
                <a:cs typeface="Cambria" pitchFamily="34" charset="-120"/>
              </a:rPr>
              <a:t>2.67</a:t>
            </a:r>
            <a:endParaRPr lang="en-US" sz="2600" dirty="0"/>
          </a:p>
        </p:txBody>
      </p:sp>
      <p:sp>
        <p:nvSpPr>
          <p:cNvPr id="9" name="Text 7"/>
          <p:cNvSpPr/>
          <p:nvPr/>
        </p:nvSpPr>
        <p:spPr>
          <a:xfrm>
            <a:off x="4334256" y="2578608"/>
            <a:ext cx="3493008"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avg reports, relatively extreme climate stress</a:t>
            </a:r>
            <a:endParaRPr lang="en-US" sz="950" dirty="0"/>
          </a:p>
        </p:txBody>
      </p:sp>
      <p:sp>
        <p:nvSpPr>
          <p:cNvPr id="10" name="Text 8"/>
          <p:cNvSpPr/>
          <p:nvPr/>
        </p:nvSpPr>
        <p:spPr>
          <a:xfrm>
            <a:off x="7827264" y="2029968"/>
            <a:ext cx="3493008" cy="566928"/>
          </a:xfrm>
          <a:prstGeom prst="rect">
            <a:avLst/>
          </a:prstGeom>
          <a:noFill/>
          <a:ln/>
        </p:spPr>
        <p:txBody>
          <a:bodyPr wrap="square" lIns="0" tIns="0" rIns="0" bIns="0" rtlCol="0" anchor="ctr"/>
          <a:lstStyle/>
          <a:p>
            <a:pPr algn="ctr" indent="0" marL="0">
              <a:buNone/>
            </a:pPr>
            <a:r>
              <a:rPr lang="en-US" sz="2600" b="1" dirty="0">
                <a:solidFill>
                  <a:srgbClr val="A7BEAE"/>
                </a:solidFill>
                <a:latin typeface="Cambria" pitchFamily="34" charset="0"/>
                <a:ea typeface="Cambria" pitchFamily="34" charset="-122"/>
                <a:cs typeface="Cambria" pitchFamily="34" charset="-120"/>
              </a:rPr>
              <a:t>p = 0.000064</a:t>
            </a:r>
            <a:endParaRPr lang="en-US" sz="2600" dirty="0"/>
          </a:p>
        </p:txBody>
      </p:sp>
      <p:sp>
        <p:nvSpPr>
          <p:cNvPr id="11" name="Text 9"/>
          <p:cNvSpPr/>
          <p:nvPr/>
        </p:nvSpPr>
        <p:spPr>
          <a:xfrm>
            <a:off x="7827264" y="2578608"/>
            <a:ext cx="3493008"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the difference is unlikely to be chance</a:t>
            </a:r>
            <a:endParaRPr lang="en-US" sz="950" dirty="0"/>
          </a:p>
        </p:txBody>
      </p:sp>
      <p:sp>
        <p:nvSpPr>
          <p:cNvPr id="12" name="Text 10"/>
          <p:cNvSpPr/>
          <p:nvPr/>
        </p:nvSpPr>
        <p:spPr>
          <a:xfrm>
            <a:off x="841248" y="2926080"/>
            <a:ext cx="10479024" cy="274320"/>
          </a:xfrm>
          <a:prstGeom prst="rect">
            <a:avLst/>
          </a:prstGeom>
          <a:noFill/>
          <a:ln/>
        </p:spPr>
        <p:txBody>
          <a:bodyPr wrap="square" lIns="0" tIns="0" rIns="0" bIns="0" rtlCol="0" anchor="ctr"/>
          <a:lstStyle/>
          <a:p>
            <a:pPr indent="0" marL="0">
              <a:buNone/>
            </a:pPr>
            <a:r>
              <a:rPr lang="en-US" sz="1000" i="1" dirty="0">
                <a:solidFill>
                  <a:srgbClr val="E7E8D1"/>
                </a:solidFill>
                <a:latin typeface="Calibri" pitchFamily="34" charset="0"/>
                <a:ea typeface="Calibri" pitchFamily="34" charset="-122"/>
                <a:cs typeface="Calibri" pitchFamily="34" charset="-120"/>
              </a:rPr>
              <a:t>"Relatively extreme" means the worst 10% of all 888 district-months on that one measure: conflict event count, or vegetation-health stress, checked separately.</a:t>
            </a:r>
            <a:endParaRPr lang="en-US" sz="1000" dirty="0"/>
          </a:p>
        </p:txBody>
      </p:sp>
      <p:sp>
        <p:nvSpPr>
          <p:cNvPr id="13" name="Shape 11"/>
          <p:cNvSpPr/>
          <p:nvPr/>
        </p:nvSpPr>
        <p:spPr>
          <a:xfrm>
            <a:off x="566928" y="3529584"/>
            <a:ext cx="11027664" cy="1371600"/>
          </a:xfrm>
          <a:prstGeom prst="roundRect">
            <a:avLst>
              <a:gd name="adj" fmla="val 4000"/>
            </a:avLst>
          </a:prstGeom>
          <a:solidFill>
            <a:srgbClr val="E7E8D1"/>
          </a:solidFill>
          <a:ln/>
          <a:effectLst>
            <a:outerShdw sx="100000" sy="100000" kx="0" ky="0" algn="bl" rotWithShape="0" blurRad="76200" dist="381" dir="5400000">
              <a:srgbClr val="000000">
                <a:alpha val="8000"/>
              </a:srgbClr>
            </a:outerShdw>
          </a:effectLst>
        </p:spPr>
      </p:sp>
      <p:sp>
        <p:nvSpPr>
          <p:cNvPr id="14" name="Text 12"/>
          <p:cNvSpPr/>
          <p:nvPr/>
        </p:nvSpPr>
        <p:spPr>
          <a:xfrm>
            <a:off x="841248" y="3657600"/>
            <a:ext cx="10479024" cy="274320"/>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Wording note</a:t>
            </a:r>
            <a:endParaRPr lang="en-US" sz="1300" dirty="0"/>
          </a:p>
        </p:txBody>
      </p:sp>
      <p:sp>
        <p:nvSpPr>
          <p:cNvPr id="15" name="Text 13"/>
          <p:cNvSpPr/>
          <p:nvPr/>
        </p:nvSpPr>
        <p:spPr>
          <a:xfrm>
            <a:off x="841248" y="3950208"/>
            <a:ext cx="10479024" cy="868680"/>
          </a:xfrm>
          <a:prstGeom prst="rect">
            <a:avLst/>
          </a:prstGeom>
          <a:noFill/>
          <a:ln/>
        </p:spPr>
        <p:txBody>
          <a:bodyPr wrap="square" lIns="0" tIns="0" rIns="0" bIns="0" rtlCol="0" anchor="ctr"/>
          <a:lstStyle/>
          <a:p>
            <a:pPr indent="0" marL="0">
              <a:lnSpc>
                <a:spcPts val="1500"/>
              </a:lnSpc>
              <a:buNone/>
            </a:pPr>
            <a:r>
              <a:rPr lang="en-US" sz="1150" dirty="0">
                <a:solidFill>
                  <a:srgbClr val="2B2523"/>
                </a:solidFill>
                <a:latin typeface="Calibri" pitchFamily="34" charset="0"/>
                <a:ea typeface="Calibri" pitchFamily="34" charset="-122"/>
                <a:cs typeface="Calibri" pitchFamily="34" charset="-120"/>
              </a:rPr>
              <a:t>The two groups are matched on their position within Somalia's own 2024 distribution, not on equal humanitarian severity. Wording changed throughout to "relatively extreme conflict / climate-stress observations", never "comparable severity".</a:t>
            </a:r>
            <a:endParaRPr lang="en-US" sz="1150" dirty="0"/>
          </a:p>
        </p:txBody>
      </p:sp>
      <p:sp>
        <p:nvSpPr>
          <p:cNvPr id="16" name="Text 14"/>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Five robustness checks follow across the next five slides, each explaining exactly what was done before showing what it found.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Check 1: does it hold at different thresholds?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Method: repeat the exact same comparison, only changing where "extreme" is drawn</a:t>
            </a:r>
            <a:endParaRPr lang="en-US" sz="1250" dirty="0"/>
          </a:p>
        </p:txBody>
      </p:sp>
      <p:sp>
        <p:nvSpPr>
          <p:cNvPr id="4" name="Shape 2"/>
          <p:cNvSpPr/>
          <p:nvPr/>
        </p:nvSpPr>
        <p:spPr>
          <a:xfrm>
            <a:off x="566928" y="1481328"/>
            <a:ext cx="11027664" cy="859536"/>
          </a:xfrm>
          <a:prstGeom prst="roundRect">
            <a:avLst>
              <a:gd name="adj" fmla="val 6383"/>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04672" y="1591056"/>
            <a:ext cx="10552176" cy="658368"/>
          </a:xfrm>
          <a:prstGeom prst="rect">
            <a:avLst/>
          </a:prstGeom>
          <a:noFill/>
          <a:ln/>
        </p:spPr>
        <p:txBody>
          <a:bodyPr wrap="square" lIns="0" tIns="0" rIns="0" bIns="0" rtlCol="0" anchor="ctr"/>
          <a:lstStyle/>
          <a:p>
            <a:pPr indent="0" marL="0">
              <a:lnSpc>
                <a:spcPts val="1400"/>
              </a:lnSpc>
              <a:buNone/>
            </a:pPr>
            <a:r>
              <a:rPr lang="en-US" sz="1100" dirty="0">
                <a:solidFill>
                  <a:srgbClr val="E7E8D1"/>
                </a:solidFill>
                <a:latin typeface="Calibri" pitchFamily="34" charset="0"/>
                <a:ea typeface="Calibri" pitchFamily="34" charset="-122"/>
                <a:cs typeface="Calibri" pitchFamily="34" charset="-120"/>
              </a:rPr>
              <a:t>What was done: the original comparison marked a district-month "extreme" if it fell in the worst 10% of Somalia's 2024 distribution. That exact same comparison was repeated twice more, once marking only the worst 5% as extreme (a stricter bar) and once marking the worst 20% as extreme (a looser bar).</a:t>
            </a:r>
            <a:endParaRPr lang="en-US" sz="1100" dirty="0"/>
          </a:p>
        </p:txBody>
      </p:sp>
      <p:sp>
        <p:nvSpPr>
          <p:cNvPr id="6" name="Shape 4"/>
          <p:cNvSpPr/>
          <p:nvPr/>
        </p:nvSpPr>
        <p:spPr>
          <a:xfrm>
            <a:off x="566928" y="2523744"/>
            <a:ext cx="352958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7" name="Text 5"/>
          <p:cNvSpPr/>
          <p:nvPr/>
        </p:nvSpPr>
        <p:spPr>
          <a:xfrm>
            <a:off x="786384" y="2670048"/>
            <a:ext cx="3090672" cy="640080"/>
          </a:xfrm>
          <a:prstGeom prst="rect">
            <a:avLst/>
          </a:prstGeom>
          <a:noFill/>
          <a:ln/>
        </p:spPr>
        <p:txBody>
          <a:bodyPr wrap="square" lIns="0" tIns="0" rIns="0" bIns="0" rtlCol="0" anchor="ctr"/>
          <a:lstStyle/>
          <a:p>
            <a:pPr indent="0" marL="0">
              <a:buNone/>
            </a:pPr>
            <a:r>
              <a:rPr lang="en-US" sz="3200" b="1" dirty="0">
                <a:solidFill>
                  <a:srgbClr val="B85042"/>
                </a:solidFill>
                <a:latin typeface="Cambria" pitchFamily="34" charset="0"/>
                <a:ea typeface="Cambria" pitchFamily="34" charset="-122"/>
                <a:cs typeface="Cambria" pitchFamily="34" charset="-120"/>
              </a:rPr>
              <a:t>5%</a:t>
            </a:r>
            <a:endParaRPr lang="en-US" sz="3200" dirty="0"/>
          </a:p>
        </p:txBody>
      </p:sp>
      <p:sp>
        <p:nvSpPr>
          <p:cNvPr id="8" name="Text 6"/>
          <p:cNvSpPr/>
          <p:nvPr/>
        </p:nvSpPr>
        <p:spPr>
          <a:xfrm>
            <a:off x="786384" y="3346704"/>
            <a:ext cx="3090672" cy="274320"/>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Strictest</a:t>
            </a:r>
            <a:endParaRPr lang="en-US" sz="1200" dirty="0"/>
          </a:p>
        </p:txBody>
      </p:sp>
      <p:sp>
        <p:nvSpPr>
          <p:cNvPr id="9" name="Text 7"/>
          <p:cNvSpPr/>
          <p:nvPr/>
        </p:nvSpPr>
        <p:spPr>
          <a:xfrm>
            <a:off x="786384" y="3639312"/>
            <a:ext cx="3090672" cy="402336"/>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~44 district-months per group</a:t>
            </a:r>
            <a:endParaRPr lang="en-US" sz="950" dirty="0"/>
          </a:p>
        </p:txBody>
      </p:sp>
      <p:sp>
        <p:nvSpPr>
          <p:cNvPr id="10" name="Text 8"/>
          <p:cNvSpPr/>
          <p:nvPr/>
        </p:nvSpPr>
        <p:spPr>
          <a:xfrm>
            <a:off x="786384" y="4059936"/>
            <a:ext cx="3090672" cy="320040"/>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p &lt; 0.001</a:t>
            </a:r>
            <a:endParaRPr lang="en-US" sz="1150" dirty="0"/>
          </a:p>
        </p:txBody>
      </p:sp>
      <p:sp>
        <p:nvSpPr>
          <p:cNvPr id="11" name="Shape 9"/>
          <p:cNvSpPr/>
          <p:nvPr/>
        </p:nvSpPr>
        <p:spPr>
          <a:xfrm>
            <a:off x="4315968" y="2523744"/>
            <a:ext cx="3529584" cy="1920240"/>
          </a:xfrm>
          <a:prstGeom prst="roundRect">
            <a:avLst>
              <a:gd name="adj" fmla="val 2857"/>
            </a:avLst>
          </a:prstGeom>
          <a:solidFill>
            <a:srgbClr val="2B2523"/>
          </a:solidFill>
          <a:ln/>
          <a:effectLst>
            <a:outerShdw sx="100000" sy="100000" kx="0" ky="0" algn="bl" rotWithShape="0" blurRad="76200" dist="381" dir="5400000">
              <a:srgbClr val="000000">
                <a:alpha val="8000"/>
              </a:srgbClr>
            </a:outerShdw>
          </a:effectLst>
        </p:spPr>
      </p:sp>
      <p:sp>
        <p:nvSpPr>
          <p:cNvPr id="12" name="Text 10"/>
          <p:cNvSpPr/>
          <p:nvPr/>
        </p:nvSpPr>
        <p:spPr>
          <a:xfrm>
            <a:off x="4535424" y="2670048"/>
            <a:ext cx="3090672" cy="640080"/>
          </a:xfrm>
          <a:prstGeom prst="rect">
            <a:avLst/>
          </a:prstGeom>
          <a:noFill/>
          <a:ln/>
        </p:spPr>
        <p:txBody>
          <a:bodyPr wrap="square" lIns="0" tIns="0" rIns="0" bIns="0" rtlCol="0" anchor="ctr"/>
          <a:lstStyle/>
          <a:p>
            <a:pPr indent="0" marL="0">
              <a:buNone/>
            </a:pPr>
            <a:r>
              <a:rPr lang="en-US" sz="3200" b="1" dirty="0">
                <a:solidFill>
                  <a:srgbClr val="A7BEAE"/>
                </a:solidFill>
                <a:latin typeface="Cambria" pitchFamily="34" charset="0"/>
                <a:ea typeface="Cambria" pitchFamily="34" charset="-122"/>
                <a:cs typeface="Cambria" pitchFamily="34" charset="-120"/>
              </a:rPr>
              <a:t>10%</a:t>
            </a:r>
            <a:endParaRPr lang="en-US" sz="3200" dirty="0"/>
          </a:p>
        </p:txBody>
      </p:sp>
      <p:sp>
        <p:nvSpPr>
          <p:cNvPr id="13" name="Text 11"/>
          <p:cNvSpPr/>
          <p:nvPr/>
        </p:nvSpPr>
        <p:spPr>
          <a:xfrm>
            <a:off x="4535424" y="3346704"/>
            <a:ext cx="3090672" cy="274320"/>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Original result</a:t>
            </a:r>
            <a:endParaRPr lang="en-US" sz="1200" dirty="0"/>
          </a:p>
        </p:txBody>
      </p:sp>
      <p:sp>
        <p:nvSpPr>
          <p:cNvPr id="14" name="Text 12"/>
          <p:cNvSpPr/>
          <p:nvPr/>
        </p:nvSpPr>
        <p:spPr>
          <a:xfrm>
            <a:off x="4535424" y="3639312"/>
            <a:ext cx="3090672" cy="402336"/>
          </a:xfrm>
          <a:prstGeom prst="rect">
            <a:avLst/>
          </a:prstGeom>
          <a:noFill/>
          <a:ln/>
        </p:spPr>
        <p:txBody>
          <a:bodyPr wrap="square" lIns="0" tIns="0" rIns="0" bIns="0" rtlCol="0" anchor="ctr"/>
          <a:lstStyle/>
          <a:p>
            <a:pPr indent="0" marL="0">
              <a:lnSpc>
                <a:spcPts val="1200"/>
              </a:lnSpc>
              <a:buNone/>
            </a:pPr>
            <a:r>
              <a:rPr lang="en-US" sz="950" dirty="0">
                <a:solidFill>
                  <a:srgbClr val="E7E8D1"/>
                </a:solidFill>
                <a:latin typeface="Calibri" pitchFamily="34" charset="0"/>
                <a:ea typeface="Calibri" pitchFamily="34" charset="-122"/>
                <a:cs typeface="Calibri" pitchFamily="34" charset="-120"/>
              </a:rPr>
              <a:t>68 vs 67 district-months</a:t>
            </a:r>
            <a:endParaRPr lang="en-US" sz="950" dirty="0"/>
          </a:p>
        </p:txBody>
      </p:sp>
      <p:sp>
        <p:nvSpPr>
          <p:cNvPr id="15" name="Text 13"/>
          <p:cNvSpPr/>
          <p:nvPr/>
        </p:nvSpPr>
        <p:spPr>
          <a:xfrm>
            <a:off x="4535424" y="4059936"/>
            <a:ext cx="3090672" cy="320040"/>
          </a:xfrm>
          <a:prstGeom prst="rect">
            <a:avLst/>
          </a:prstGeom>
          <a:noFill/>
          <a:ln/>
        </p:spPr>
        <p:txBody>
          <a:bodyPr wrap="square" lIns="0" tIns="0" rIns="0" bIns="0" rtlCol="0" anchor="ctr"/>
          <a:lstStyle/>
          <a:p>
            <a:pPr indent="0" marL="0">
              <a:buNone/>
            </a:pPr>
            <a:r>
              <a:rPr lang="en-US" sz="1150" b="1" dirty="0">
                <a:solidFill>
                  <a:srgbClr val="A7BEAE"/>
                </a:solidFill>
                <a:latin typeface="Calibri" pitchFamily="34" charset="0"/>
                <a:ea typeface="Calibri" pitchFamily="34" charset="-122"/>
                <a:cs typeface="Calibri" pitchFamily="34" charset="-120"/>
              </a:rPr>
              <a:t>p = 0.000064</a:t>
            </a:r>
            <a:endParaRPr lang="en-US" sz="1150" dirty="0"/>
          </a:p>
        </p:txBody>
      </p:sp>
      <p:sp>
        <p:nvSpPr>
          <p:cNvPr id="16" name="Shape 14"/>
          <p:cNvSpPr/>
          <p:nvPr/>
        </p:nvSpPr>
        <p:spPr>
          <a:xfrm>
            <a:off x="8065008" y="2523744"/>
            <a:ext cx="352958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17" name="Text 15"/>
          <p:cNvSpPr/>
          <p:nvPr/>
        </p:nvSpPr>
        <p:spPr>
          <a:xfrm>
            <a:off x="8284464" y="2670048"/>
            <a:ext cx="3090672" cy="640080"/>
          </a:xfrm>
          <a:prstGeom prst="rect">
            <a:avLst/>
          </a:prstGeom>
          <a:noFill/>
          <a:ln/>
        </p:spPr>
        <p:txBody>
          <a:bodyPr wrap="square" lIns="0" tIns="0" rIns="0" bIns="0" rtlCol="0" anchor="ctr"/>
          <a:lstStyle/>
          <a:p>
            <a:pPr indent="0" marL="0">
              <a:buNone/>
            </a:pPr>
            <a:r>
              <a:rPr lang="en-US" sz="3200" b="1" dirty="0">
                <a:solidFill>
                  <a:srgbClr val="B85042"/>
                </a:solidFill>
                <a:latin typeface="Cambria" pitchFamily="34" charset="0"/>
                <a:ea typeface="Cambria" pitchFamily="34" charset="-122"/>
                <a:cs typeface="Cambria" pitchFamily="34" charset="-120"/>
              </a:rPr>
              <a:t>20%</a:t>
            </a:r>
            <a:endParaRPr lang="en-US" sz="3200" dirty="0"/>
          </a:p>
        </p:txBody>
      </p:sp>
      <p:sp>
        <p:nvSpPr>
          <p:cNvPr id="18" name="Text 16"/>
          <p:cNvSpPr/>
          <p:nvPr/>
        </p:nvSpPr>
        <p:spPr>
          <a:xfrm>
            <a:off x="8284464" y="3346704"/>
            <a:ext cx="3090672" cy="274320"/>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Loosest</a:t>
            </a:r>
            <a:endParaRPr lang="en-US" sz="1200" dirty="0"/>
          </a:p>
        </p:txBody>
      </p:sp>
      <p:sp>
        <p:nvSpPr>
          <p:cNvPr id="19" name="Text 17"/>
          <p:cNvSpPr/>
          <p:nvPr/>
        </p:nvSpPr>
        <p:spPr>
          <a:xfrm>
            <a:off x="8284464" y="3639312"/>
            <a:ext cx="3090672" cy="402336"/>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~155 vs 117 district-months</a:t>
            </a:r>
            <a:endParaRPr lang="en-US" sz="950" dirty="0"/>
          </a:p>
        </p:txBody>
      </p:sp>
      <p:sp>
        <p:nvSpPr>
          <p:cNvPr id="20" name="Text 18"/>
          <p:cNvSpPr/>
          <p:nvPr/>
        </p:nvSpPr>
        <p:spPr>
          <a:xfrm>
            <a:off x="8284464" y="4059936"/>
            <a:ext cx="3090672" cy="320040"/>
          </a:xfrm>
          <a:prstGeom prst="rect">
            <a:avLst/>
          </a:prstGeom>
          <a:noFill/>
          <a:ln/>
        </p:spPr>
        <p:txBody>
          <a:bodyPr wrap="square" lIns="0" tIns="0" rIns="0" bIns="0" rtlCol="0" anchor="ctr"/>
          <a:lstStyle/>
          <a:p>
            <a:pPr indent="0" marL="0">
              <a:buNone/>
            </a:pPr>
            <a:r>
              <a:rPr lang="en-US" sz="1150" b="1" dirty="0">
                <a:solidFill>
                  <a:srgbClr val="B85042"/>
                </a:solidFill>
                <a:latin typeface="Calibri" pitchFamily="34" charset="0"/>
                <a:ea typeface="Calibri" pitchFamily="34" charset="-122"/>
                <a:cs typeface="Calibri" pitchFamily="34" charset="-120"/>
              </a:rPr>
              <a:t>p &lt; 0.001</a:t>
            </a:r>
            <a:endParaRPr lang="en-US" sz="1150" dirty="0"/>
          </a:p>
        </p:txBody>
      </p:sp>
      <p:sp>
        <p:nvSpPr>
          <p:cNvPr id="21" name="Shape 19"/>
          <p:cNvSpPr/>
          <p:nvPr/>
        </p:nvSpPr>
        <p:spPr>
          <a:xfrm>
            <a:off x="566928" y="4681728"/>
            <a:ext cx="11027664" cy="1097280"/>
          </a:xfrm>
          <a:prstGeom prst="roundRect">
            <a:avLst>
              <a:gd name="adj" fmla="val 5000"/>
            </a:avLst>
          </a:prstGeom>
          <a:solidFill>
            <a:srgbClr val="E7E8D1"/>
          </a:solidFill>
          <a:ln/>
          <a:effectLst>
            <a:outerShdw sx="100000" sy="100000" kx="0" ky="0" algn="bl" rotWithShape="0" blurRad="76200" dist="381" dir="5400000">
              <a:srgbClr val="000000">
                <a:alpha val="8000"/>
              </a:srgbClr>
            </a:outerShdw>
          </a:effectLst>
        </p:spPr>
      </p:sp>
      <p:sp>
        <p:nvSpPr>
          <p:cNvPr id="22" name="Text 20"/>
          <p:cNvSpPr/>
          <p:nvPr/>
        </p:nvSpPr>
        <p:spPr>
          <a:xfrm>
            <a:off x="841248" y="4809744"/>
            <a:ext cx="10479024" cy="859536"/>
          </a:xfrm>
          <a:prstGeom prst="rect">
            <a:avLst/>
          </a:prstGeom>
          <a:noFill/>
          <a:ln/>
        </p:spPr>
        <p:txBody>
          <a:bodyPr wrap="square" lIns="0" tIns="0" rIns="0" bIns="0" rtlCol="0" anchor="ctr"/>
          <a:lstStyle/>
          <a:p>
            <a:pPr indent="0" marL="0">
              <a:lnSpc>
                <a:spcPts val="1500"/>
              </a:lnSpc>
              <a:buNone/>
            </a:pPr>
            <a:r>
              <a:rPr lang="en-US" sz="1100" dirty="0">
                <a:solidFill>
                  <a:srgbClr val="2B2523"/>
                </a:solidFill>
                <a:latin typeface="Calibri" pitchFamily="34" charset="0"/>
                <a:ea typeface="Calibri" pitchFamily="34" charset="-122"/>
                <a:cs typeface="Calibri" pitchFamily="34" charset="-120"/>
              </a:rPr>
              <a:t>Result: the gap holds at every threshold tested, and every p-value stays well under 0.001. The size moves a little (largest at the strictest cutoff, since the most extreme district-months attract the most reporting), but the direction and significance never change. This rules out the result being a one-threshold coincidence.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Check 2: a continuous version, not just two extreme groups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Method: splitting the full range into five equal-sized groups</a:t>
            </a:r>
            <a:endParaRPr lang="en-US" sz="1250" dirty="0"/>
          </a:p>
        </p:txBody>
      </p:sp>
      <p:sp>
        <p:nvSpPr>
          <p:cNvPr id="4" name="Shape 2"/>
          <p:cNvSpPr/>
          <p:nvPr/>
        </p:nvSpPr>
        <p:spPr>
          <a:xfrm>
            <a:off x="566928" y="1554480"/>
            <a:ext cx="2606040" cy="329184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5" name="Shape 3"/>
          <p:cNvSpPr/>
          <p:nvPr/>
        </p:nvSpPr>
        <p:spPr>
          <a:xfrm>
            <a:off x="786384" y="1773936"/>
            <a:ext cx="457200" cy="457200"/>
          </a:xfrm>
          <a:prstGeom prst="ellipse">
            <a:avLst/>
          </a:prstGeom>
          <a:solidFill>
            <a:srgbClr val="B85042"/>
          </a:solidFill>
          <a:ln/>
        </p:spPr>
      </p:sp>
      <p:sp>
        <p:nvSpPr>
          <p:cNvPr id="6" name="Text 4"/>
          <p:cNvSpPr/>
          <p:nvPr/>
        </p:nvSpPr>
        <p:spPr>
          <a:xfrm>
            <a:off x="786384"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786384" y="2359152"/>
            <a:ext cx="2167128" cy="64008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Rank every district-month</a:t>
            </a:r>
            <a:endParaRPr lang="en-US" sz="1200" dirty="0"/>
          </a:p>
        </p:txBody>
      </p:sp>
      <p:sp>
        <p:nvSpPr>
          <p:cNvPr id="8" name="Text 6"/>
          <p:cNvSpPr/>
          <p:nvPr/>
        </p:nvSpPr>
        <p:spPr>
          <a:xfrm>
            <a:off x="786384" y="3072384"/>
            <a:ext cx="2167128" cy="173736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All 888 district-months were ranked by their conflict-event count, from the lowest to the highest.</a:t>
            </a:r>
            <a:endParaRPr lang="en-US" sz="950" dirty="0"/>
          </a:p>
        </p:txBody>
      </p:sp>
      <p:sp>
        <p:nvSpPr>
          <p:cNvPr id="9" name="Shape 7"/>
          <p:cNvSpPr/>
          <p:nvPr/>
        </p:nvSpPr>
        <p:spPr>
          <a:xfrm>
            <a:off x="3374136" y="1554480"/>
            <a:ext cx="2606040" cy="329184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10" name="Shape 8"/>
          <p:cNvSpPr/>
          <p:nvPr/>
        </p:nvSpPr>
        <p:spPr>
          <a:xfrm>
            <a:off x="3593592" y="1773936"/>
            <a:ext cx="457200" cy="457200"/>
          </a:xfrm>
          <a:prstGeom prst="ellipse">
            <a:avLst/>
          </a:prstGeom>
          <a:solidFill>
            <a:srgbClr val="B85042"/>
          </a:solidFill>
          <a:ln/>
        </p:spPr>
      </p:sp>
      <p:sp>
        <p:nvSpPr>
          <p:cNvPr id="11" name="Text 9"/>
          <p:cNvSpPr/>
          <p:nvPr/>
        </p:nvSpPr>
        <p:spPr>
          <a:xfrm>
            <a:off x="3593592"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3593592" y="2359152"/>
            <a:ext cx="2167128" cy="64008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Split into 5 equal groups</a:t>
            </a:r>
            <a:endParaRPr lang="en-US" sz="1200" dirty="0"/>
          </a:p>
        </p:txBody>
      </p:sp>
      <p:sp>
        <p:nvSpPr>
          <p:cNvPr id="13" name="Text 11"/>
          <p:cNvSpPr/>
          <p:nvPr/>
        </p:nvSpPr>
        <p:spPr>
          <a:xfrm>
            <a:off x="3593592" y="3072384"/>
            <a:ext cx="2167128" cy="173736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That ranked list was cut into 5 quintiles, each holding 20% of the data: quintile 1 is the least conflict-affected fifth, quintile 5 is the most conflict-affected fifth.</a:t>
            </a:r>
            <a:endParaRPr lang="en-US" sz="950" dirty="0"/>
          </a:p>
        </p:txBody>
      </p:sp>
      <p:sp>
        <p:nvSpPr>
          <p:cNvPr id="14" name="Shape 12"/>
          <p:cNvSpPr/>
          <p:nvPr/>
        </p:nvSpPr>
        <p:spPr>
          <a:xfrm>
            <a:off x="6181344" y="1554480"/>
            <a:ext cx="2606040" cy="329184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15" name="Shape 13"/>
          <p:cNvSpPr/>
          <p:nvPr/>
        </p:nvSpPr>
        <p:spPr>
          <a:xfrm>
            <a:off x="6400800" y="1773936"/>
            <a:ext cx="457200" cy="457200"/>
          </a:xfrm>
          <a:prstGeom prst="ellipse">
            <a:avLst/>
          </a:prstGeom>
          <a:solidFill>
            <a:srgbClr val="B85042"/>
          </a:solidFill>
          <a:ln/>
        </p:spPr>
      </p:sp>
      <p:sp>
        <p:nvSpPr>
          <p:cNvPr id="16" name="Text 14"/>
          <p:cNvSpPr/>
          <p:nvPr/>
        </p:nvSpPr>
        <p:spPr>
          <a:xfrm>
            <a:off x="6400800"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6400800" y="2359152"/>
            <a:ext cx="2167128" cy="64008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Average reports within each group</a:t>
            </a:r>
            <a:endParaRPr lang="en-US" sz="1200" dirty="0"/>
          </a:p>
        </p:txBody>
      </p:sp>
      <p:sp>
        <p:nvSpPr>
          <p:cNvPr id="18" name="Text 16"/>
          <p:cNvSpPr/>
          <p:nvPr/>
        </p:nvSpPr>
        <p:spPr>
          <a:xfrm>
            <a:off x="6400800" y="3072384"/>
            <a:ext cx="2167128" cy="173736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The mean number of reports that month was calculated separately for each of the 5 quintiles, giving 5 numbers to compare instead of 2.</a:t>
            </a:r>
            <a:endParaRPr lang="en-US" sz="950" dirty="0"/>
          </a:p>
        </p:txBody>
      </p:sp>
      <p:sp>
        <p:nvSpPr>
          <p:cNvPr id="19" name="Shape 17"/>
          <p:cNvSpPr/>
          <p:nvPr/>
        </p:nvSpPr>
        <p:spPr>
          <a:xfrm>
            <a:off x="8988552" y="1554480"/>
            <a:ext cx="2606040" cy="3291840"/>
          </a:xfrm>
          <a:prstGeom prst="roundRect">
            <a:avLst>
              <a:gd name="adj" fmla="val 2105"/>
            </a:avLst>
          </a:prstGeom>
          <a:solidFill>
            <a:srgbClr val="F7F5F1"/>
          </a:solidFill>
          <a:ln/>
          <a:effectLst>
            <a:outerShdw sx="100000" sy="100000" kx="0" ky="0" algn="bl" rotWithShape="0" blurRad="76200" dist="381" dir="5400000">
              <a:srgbClr val="000000">
                <a:alpha val="8000"/>
              </a:srgbClr>
            </a:outerShdw>
          </a:effectLst>
        </p:spPr>
      </p:sp>
      <p:sp>
        <p:nvSpPr>
          <p:cNvPr id="20" name="Shape 18"/>
          <p:cNvSpPr/>
          <p:nvPr/>
        </p:nvSpPr>
        <p:spPr>
          <a:xfrm>
            <a:off x="9208008" y="1773936"/>
            <a:ext cx="457200" cy="457200"/>
          </a:xfrm>
          <a:prstGeom prst="ellipse">
            <a:avLst/>
          </a:prstGeom>
          <a:solidFill>
            <a:srgbClr val="B85042"/>
          </a:solidFill>
          <a:ln/>
        </p:spPr>
      </p:sp>
      <p:sp>
        <p:nvSpPr>
          <p:cNvPr id="21" name="Text 19"/>
          <p:cNvSpPr/>
          <p:nvPr/>
        </p:nvSpPr>
        <p:spPr>
          <a:xfrm>
            <a:off x="9208008" y="17739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9208008" y="2359152"/>
            <a:ext cx="2167128" cy="640080"/>
          </a:xfrm>
          <a:prstGeom prst="rect">
            <a:avLst/>
          </a:prstGeom>
          <a:noFill/>
          <a:ln/>
        </p:spPr>
        <p:txBody>
          <a:bodyPr wrap="square" lIns="0" tIns="0" rIns="0" bIns="0" rtlCol="0" anchor="ctr"/>
          <a:lstStyle/>
          <a:p>
            <a:pPr indent="0" marL="0">
              <a:lnSpc>
                <a:spcPts val="1400"/>
              </a:lnSpc>
              <a:buNone/>
            </a:pPr>
            <a:r>
              <a:rPr lang="en-US" sz="1200" b="1" dirty="0">
                <a:solidFill>
                  <a:srgbClr val="2B2523"/>
                </a:solidFill>
                <a:latin typeface="Cambria" pitchFamily="34" charset="0"/>
                <a:ea typeface="Cambria" pitchFamily="34" charset="-122"/>
                <a:cs typeface="Cambria" pitchFamily="34" charset="-120"/>
              </a:rPr>
              <a:t>Repeat the same 3 steps for climate</a:t>
            </a:r>
            <a:endParaRPr lang="en-US" sz="1200" dirty="0"/>
          </a:p>
        </p:txBody>
      </p:sp>
      <p:sp>
        <p:nvSpPr>
          <p:cNvPr id="23" name="Text 21"/>
          <p:cNvSpPr/>
          <p:nvPr/>
        </p:nvSpPr>
        <p:spPr>
          <a:xfrm>
            <a:off x="9208008" y="3072384"/>
            <a:ext cx="2167128" cy="173736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The identical process was run a second time, independently, ranking and splitting district-months by vegetation-health stress instead of conflict.</a:t>
            </a:r>
            <a:endParaRPr lang="en-US" sz="950" dirty="0"/>
          </a:p>
        </p:txBody>
      </p:sp>
      <p:sp>
        <p:nvSpPr>
          <p:cNvPr id="24" name="Text 22"/>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This tests whether reporting rises smoothly as intensity increases, rather than only checking whether the two extreme ends differ.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Check 2 result: does reporting rise steadily with intensity?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Same method, applied separately to conflict and to climate stress</a:t>
            </a:r>
            <a:endParaRPr lang="en-US" sz="1250" dirty="0"/>
          </a:p>
        </p:txBody>
      </p:sp>
      <p:sp>
        <p:nvSpPr>
          <p:cNvPr id="4" name="Shape 2"/>
          <p:cNvSpPr/>
          <p:nvPr/>
        </p:nvSpPr>
        <p:spPr>
          <a:xfrm>
            <a:off x="566928" y="1554480"/>
            <a:ext cx="5486400" cy="3108960"/>
          </a:xfrm>
          <a:prstGeom prst="roundRect">
            <a:avLst>
              <a:gd name="adj" fmla="val 1765"/>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700784"/>
            <a:ext cx="50292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Conflict quintiles</a:t>
            </a:r>
            <a:endParaRPr lang="en-US" sz="1350" dirty="0"/>
          </a:p>
        </p:txBody>
      </p:sp>
      <p:sp>
        <p:nvSpPr>
          <p:cNvPr id="6" name="Text 4"/>
          <p:cNvSpPr/>
          <p:nvPr/>
        </p:nvSpPr>
        <p:spPr>
          <a:xfrm>
            <a:off x="804672" y="2011680"/>
            <a:ext cx="5029200" cy="548640"/>
          </a:xfrm>
          <a:prstGeom prst="rect">
            <a:avLst/>
          </a:prstGeom>
          <a:noFill/>
          <a:ln/>
        </p:spPr>
        <p:txBody>
          <a:bodyPr wrap="square" lIns="0" tIns="0" rIns="0" bIns="0" rtlCol="0" anchor="ctr"/>
          <a:lstStyle/>
          <a:p>
            <a:pPr indent="0" marL="0">
              <a:buNone/>
            </a:pPr>
            <a:r>
              <a:rPr lang="en-US" sz="2200" b="1" dirty="0">
                <a:solidFill>
                  <a:srgbClr val="2B2523"/>
                </a:solidFill>
                <a:latin typeface="Cambria" pitchFamily="34" charset="0"/>
                <a:ea typeface="Cambria" pitchFamily="34" charset="-122"/>
                <a:cs typeface="Cambria" pitchFamily="34" charset="-120"/>
              </a:rPr>
              <a:t>1.40  -&gt;  5.66 reports</a:t>
            </a:r>
            <a:endParaRPr lang="en-US" sz="2200" dirty="0"/>
          </a:p>
        </p:txBody>
      </p:sp>
      <p:sp>
        <p:nvSpPr>
          <p:cNvPr id="7" name="Text 5"/>
          <p:cNvSpPr/>
          <p:nvPr/>
        </p:nvSpPr>
        <p:spPr>
          <a:xfrm>
            <a:off x="804672" y="2651760"/>
            <a:ext cx="5029200" cy="1645920"/>
          </a:xfrm>
          <a:prstGeom prst="rect">
            <a:avLst/>
          </a:prstGeom>
          <a:noFill/>
          <a:ln/>
        </p:spPr>
        <p:txBody>
          <a:bodyPr wrap="square" lIns="0" tIns="0" rIns="0" bIns="0" rtlCol="0" anchor="ctr"/>
          <a:lstStyle/>
          <a:p>
            <a:pPr indent="0" marL="0">
              <a:lnSpc>
                <a:spcPts val="1500"/>
              </a:lnSpc>
              <a:buNone/>
            </a:pPr>
            <a:r>
              <a:rPr lang="en-US" sz="1150" dirty="0">
                <a:solidFill>
                  <a:srgbClr val="7A6E68"/>
                </a:solidFill>
                <a:latin typeface="Calibri" pitchFamily="34" charset="0"/>
                <a:ea typeface="Calibri" pitchFamily="34" charset="-122"/>
                <a:cs typeface="Calibri" pitchFamily="34" charset="-120"/>
              </a:rPr>
              <a:t>Reporting rises in a close to straight line from the least-conflict group to the most-conflict group, across all five groups.</a:t>
            </a:r>
            <a:endParaRPr lang="en-US" sz="1150" dirty="0"/>
          </a:p>
        </p:txBody>
      </p:sp>
      <p:sp>
        <p:nvSpPr>
          <p:cNvPr id="8" name="Shape 6"/>
          <p:cNvSpPr/>
          <p:nvPr/>
        </p:nvSpPr>
        <p:spPr>
          <a:xfrm>
            <a:off x="6309360" y="1554480"/>
            <a:ext cx="5285232" cy="3108960"/>
          </a:xfrm>
          <a:prstGeom prst="roundRect">
            <a:avLst>
              <a:gd name="adj" fmla="val 1765"/>
            </a:avLst>
          </a:prstGeom>
          <a:solidFill>
            <a:srgbClr val="2B2523"/>
          </a:solidFill>
          <a:ln/>
          <a:effectLst>
            <a:outerShdw sx="100000" sy="100000" kx="0" ky="0" algn="bl" rotWithShape="0" blurRad="76200" dist="381" dir="5400000">
              <a:srgbClr val="000000">
                <a:alpha val="8000"/>
              </a:srgbClr>
            </a:outerShdw>
          </a:effectLst>
        </p:spPr>
      </p:sp>
      <p:sp>
        <p:nvSpPr>
          <p:cNvPr id="9" name="Text 7"/>
          <p:cNvSpPr/>
          <p:nvPr/>
        </p:nvSpPr>
        <p:spPr>
          <a:xfrm>
            <a:off x="6547104" y="1700784"/>
            <a:ext cx="4754880" cy="274320"/>
          </a:xfrm>
          <a:prstGeom prst="rect">
            <a:avLst/>
          </a:prstGeom>
          <a:noFill/>
          <a:ln/>
        </p:spPr>
        <p:txBody>
          <a:bodyPr wrap="square" lIns="0" tIns="0" rIns="0" bIns="0" rtlCol="0" anchor="ctr"/>
          <a:lstStyle/>
          <a:p>
            <a:pPr indent="0" marL="0">
              <a:buNone/>
            </a:pPr>
            <a:r>
              <a:rPr lang="en-US" sz="1350" b="1" dirty="0">
                <a:solidFill>
                  <a:srgbClr val="A7BEAE"/>
                </a:solidFill>
                <a:latin typeface="Cambria" pitchFamily="34" charset="0"/>
                <a:ea typeface="Cambria" pitchFamily="34" charset="-122"/>
                <a:cs typeface="Cambria" pitchFamily="34" charset="-120"/>
              </a:rPr>
              <a:t>Climate-stress quintiles</a:t>
            </a:r>
            <a:endParaRPr lang="en-US" sz="1350" dirty="0"/>
          </a:p>
        </p:txBody>
      </p:sp>
      <p:sp>
        <p:nvSpPr>
          <p:cNvPr id="10" name="Text 8"/>
          <p:cNvSpPr/>
          <p:nvPr/>
        </p:nvSpPr>
        <p:spPr>
          <a:xfrm>
            <a:off x="6547104" y="2011680"/>
            <a:ext cx="475488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No steady rise</a:t>
            </a:r>
            <a:endParaRPr lang="en-US" sz="2200" dirty="0"/>
          </a:p>
        </p:txBody>
      </p:sp>
      <p:sp>
        <p:nvSpPr>
          <p:cNvPr id="11" name="Text 9"/>
          <p:cNvSpPr/>
          <p:nvPr/>
        </p:nvSpPr>
        <p:spPr>
          <a:xfrm>
            <a:off x="6547104" y="2651760"/>
            <a:ext cx="4754880" cy="164592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The worst-stress group sits a little higher than the middle groups (4.01 vs ~2.0), but there is no climbing pattern the way conflict shows.</a:t>
            </a:r>
            <a:endParaRPr lang="en-US" sz="1150" dirty="0"/>
          </a:p>
        </p:txBody>
      </p:sp>
      <p:sp>
        <p:nvSpPr>
          <p:cNvPr id="12" name="Text 10"/>
          <p:cNvSpPr/>
          <p:nvPr/>
        </p:nvSpPr>
        <p:spPr>
          <a:xfrm>
            <a:off x="566928" y="4846320"/>
            <a:ext cx="11027664" cy="548640"/>
          </a:xfrm>
          <a:prstGeom prst="rect">
            <a:avLst/>
          </a:prstGeom>
          <a:noFill/>
          <a:ln/>
        </p:spPr>
        <p:txBody>
          <a:bodyPr wrap="square" lIns="0" tIns="0" rIns="0" bIns="0" rtlCol="0" anchor="ctr"/>
          <a:lstStyle/>
          <a:p>
            <a:pPr indent="0" marL="0">
              <a:lnSpc>
                <a:spcPts val="1600"/>
              </a:lnSpc>
              <a:buNone/>
            </a:pPr>
            <a:r>
              <a:rPr lang="en-US" sz="1200" i="1" dirty="0">
                <a:solidFill>
                  <a:srgbClr val="2B2523"/>
                </a:solidFill>
                <a:latin typeface="Calibri" pitchFamily="34" charset="0"/>
                <a:ea typeface="Calibri" pitchFamily="34" charset="-122"/>
                <a:cs typeface="Calibri" pitchFamily="34" charset="-120"/>
              </a:rPr>
              <a:t>Together, the threshold and continuous checks agree: reporting responds clearly and continuously to conflict, and shows no reliable, independent response to climate stress.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Checks 3 and 4: a narrower report type, and a time delay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Two smaller checks, method and result together</a:t>
            </a:r>
            <a:endParaRPr lang="en-US" sz="1250" dirty="0"/>
          </a:p>
        </p:txBody>
      </p:sp>
      <p:sp>
        <p:nvSpPr>
          <p:cNvPr id="4" name="Shape 2"/>
          <p:cNvSpPr/>
          <p:nvPr/>
        </p:nvSpPr>
        <p:spPr>
          <a:xfrm>
            <a:off x="566928" y="1517904"/>
            <a:ext cx="5486400" cy="3840480"/>
          </a:xfrm>
          <a:prstGeom prst="roundRect">
            <a:avLst>
              <a:gd name="adj" fmla="val 1429"/>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664208"/>
            <a:ext cx="4937760"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CHECK 3: FOOD AND NUTRITION REPORTS ONLY</a:t>
            </a:r>
            <a:endParaRPr lang="en-US" sz="950" dirty="0"/>
          </a:p>
        </p:txBody>
      </p:sp>
      <p:sp>
        <p:nvSpPr>
          <p:cNvPr id="6" name="Text 4"/>
          <p:cNvSpPr/>
          <p:nvPr/>
        </p:nvSpPr>
        <p:spPr>
          <a:xfrm>
            <a:off x="786384" y="1956816"/>
            <a:ext cx="5029200" cy="256032"/>
          </a:xfrm>
          <a:prstGeom prst="rect">
            <a:avLst/>
          </a:prstGeom>
          <a:noFill/>
          <a:ln/>
        </p:spPr>
        <p:txBody>
          <a:bodyPr wrap="square" lIns="0" tIns="0" rIns="0" bIns="0" rtlCol="0" anchor="ctr"/>
          <a:lstStyle/>
          <a:p>
            <a:pPr indent="0" marL="0">
              <a:buNone/>
            </a:pPr>
            <a:r>
              <a:rPr lang="en-US" sz="1150" b="1" dirty="0">
                <a:solidFill>
                  <a:srgbClr val="2B2523"/>
                </a:solidFill>
                <a:latin typeface="Cambria" pitchFamily="34" charset="0"/>
                <a:ea typeface="Cambria" pitchFamily="34" charset="-122"/>
                <a:cs typeface="Cambria" pitchFamily="34" charset="-120"/>
              </a:rPr>
              <a:t>Method</a:t>
            </a:r>
            <a:endParaRPr lang="en-US" sz="1150" dirty="0"/>
          </a:p>
        </p:txBody>
      </p:sp>
      <p:sp>
        <p:nvSpPr>
          <p:cNvPr id="7" name="Text 5"/>
          <p:cNvSpPr/>
          <p:nvPr/>
        </p:nvSpPr>
        <p:spPr>
          <a:xfrm>
            <a:off x="786384" y="2231136"/>
            <a:ext cx="5029200" cy="914400"/>
          </a:xfrm>
          <a:prstGeom prst="rect">
            <a:avLst/>
          </a:prstGeom>
          <a:noFill/>
          <a:ln/>
        </p:spPr>
        <p:txBody>
          <a:bodyPr wrap="square" lIns="0" tIns="0" rIns="0" bIns="0" rtlCol="0" anchor="ctr"/>
          <a:lstStyle/>
          <a:p>
            <a:pPr indent="0" marL="0">
              <a:lnSpc>
                <a:spcPts val="1400"/>
              </a:lnSpc>
              <a:buNone/>
            </a:pPr>
            <a:r>
              <a:rPr lang="en-US" sz="1050" dirty="0">
                <a:solidFill>
                  <a:srgbClr val="7A6E68"/>
                </a:solidFill>
                <a:latin typeface="Calibri" pitchFamily="34" charset="0"/>
                <a:ea typeface="Calibri" pitchFamily="34" charset="-122"/>
                <a:cs typeface="Calibri" pitchFamily="34" charset="-120"/>
              </a:rPr>
              <a:t>Repeated the exact same worst-10% comparison as the original result, but counted only reports ReliefWeb itself tags with the theme "Food and Nutrition", instead of every report.</a:t>
            </a:r>
            <a:endParaRPr lang="en-US" sz="1050" dirty="0"/>
          </a:p>
        </p:txBody>
      </p:sp>
      <p:sp>
        <p:nvSpPr>
          <p:cNvPr id="8" name="Text 6"/>
          <p:cNvSpPr/>
          <p:nvPr/>
        </p:nvSpPr>
        <p:spPr>
          <a:xfrm>
            <a:off x="786384" y="3200400"/>
            <a:ext cx="5029200" cy="256032"/>
          </a:xfrm>
          <a:prstGeom prst="rect">
            <a:avLst/>
          </a:prstGeom>
          <a:noFill/>
          <a:ln/>
        </p:spPr>
        <p:txBody>
          <a:bodyPr wrap="square" lIns="0" tIns="0" rIns="0" bIns="0" rtlCol="0" anchor="ctr"/>
          <a:lstStyle/>
          <a:p>
            <a:pPr indent="0" marL="0">
              <a:buNone/>
            </a:pPr>
            <a:r>
              <a:rPr lang="en-US" sz="1150" b="1" dirty="0">
                <a:solidFill>
                  <a:srgbClr val="2B2523"/>
                </a:solidFill>
                <a:latin typeface="Cambria" pitchFamily="34" charset="0"/>
                <a:ea typeface="Cambria" pitchFamily="34" charset="-122"/>
                <a:cs typeface="Cambria" pitchFamily="34" charset="-120"/>
              </a:rPr>
              <a:t>Result</a:t>
            </a:r>
            <a:endParaRPr lang="en-US" sz="1150" dirty="0"/>
          </a:p>
        </p:txBody>
      </p:sp>
      <p:sp>
        <p:nvSpPr>
          <p:cNvPr id="9" name="Text 7"/>
          <p:cNvSpPr/>
          <p:nvPr/>
        </p:nvSpPr>
        <p:spPr>
          <a:xfrm>
            <a:off x="786384" y="3474720"/>
            <a:ext cx="5029200" cy="365760"/>
          </a:xfrm>
          <a:prstGeom prst="rect">
            <a:avLst/>
          </a:prstGeom>
          <a:noFill/>
          <a:ln/>
        </p:spPr>
        <p:txBody>
          <a:bodyPr wrap="square" lIns="0" tIns="0" rIns="0" bIns="0" rtlCol="0" anchor="ctr"/>
          <a:lstStyle/>
          <a:p>
            <a:pPr indent="0" marL="0">
              <a:buNone/>
            </a:pPr>
            <a:r>
              <a:rPr lang="en-US" sz="1500" b="1" dirty="0">
                <a:solidFill>
                  <a:srgbClr val="B85042"/>
                </a:solidFill>
                <a:latin typeface="Cambria" pitchFamily="34" charset="0"/>
                <a:ea typeface="Cambria" pitchFamily="34" charset="-122"/>
                <a:cs typeface="Cambria" pitchFamily="34" charset="-120"/>
              </a:rPr>
              <a:t>3.21 vs 2.09 reports (p = 0.016)</a:t>
            </a:r>
            <a:endParaRPr lang="en-US" sz="1500" dirty="0"/>
          </a:p>
        </p:txBody>
      </p:sp>
      <p:sp>
        <p:nvSpPr>
          <p:cNvPr id="10" name="Text 8"/>
          <p:cNvSpPr/>
          <p:nvPr/>
        </p:nvSpPr>
        <p:spPr>
          <a:xfrm>
            <a:off x="786384" y="3931920"/>
            <a:ext cx="5029200" cy="1280160"/>
          </a:xfrm>
          <a:prstGeom prst="rect">
            <a:avLst/>
          </a:prstGeom>
          <a:noFill/>
          <a:ln/>
        </p:spPr>
        <p:txBody>
          <a:bodyPr wrap="square" lIns="0" tIns="0" rIns="0" bIns="0" rtlCol="0" anchor="ctr"/>
          <a:lstStyle/>
          <a:p>
            <a:pPr indent="0" marL="0">
              <a:lnSpc>
                <a:spcPts val="1400"/>
              </a:lnSpc>
              <a:buNone/>
            </a:pPr>
            <a:r>
              <a:rPr lang="en-US" sz="1050" dirty="0">
                <a:solidFill>
                  <a:srgbClr val="7A6E68"/>
                </a:solidFill>
                <a:latin typeface="Calibri" pitchFamily="34" charset="0"/>
                <a:ea typeface="Calibri" pitchFamily="34" charset="-122"/>
                <a:cs typeface="Calibri" pitchFamily="34" charset="-120"/>
              </a:rPr>
              <a:t>Same direction, but weaker. Food/nutrition-specific reporting still favours conflict, just less strongly than reporting overall.</a:t>
            </a:r>
            <a:endParaRPr lang="en-US" sz="1050" dirty="0"/>
          </a:p>
        </p:txBody>
      </p:sp>
      <p:sp>
        <p:nvSpPr>
          <p:cNvPr id="11" name="Shape 9"/>
          <p:cNvSpPr/>
          <p:nvPr/>
        </p:nvSpPr>
        <p:spPr>
          <a:xfrm>
            <a:off x="6309360" y="1517904"/>
            <a:ext cx="5285232" cy="3840480"/>
          </a:xfrm>
          <a:prstGeom prst="roundRect">
            <a:avLst>
              <a:gd name="adj" fmla="val 1429"/>
            </a:avLst>
          </a:prstGeom>
          <a:solidFill>
            <a:srgbClr val="2B2523"/>
          </a:solidFill>
          <a:ln/>
          <a:effectLst>
            <a:outerShdw sx="100000" sy="100000" kx="0" ky="0" algn="bl" rotWithShape="0" blurRad="76200" dist="381" dir="5400000">
              <a:srgbClr val="000000">
                <a:alpha val="8000"/>
              </a:srgbClr>
            </a:outerShdw>
          </a:effectLst>
        </p:spPr>
      </p:sp>
      <p:sp>
        <p:nvSpPr>
          <p:cNvPr id="12" name="Text 10"/>
          <p:cNvSpPr/>
          <p:nvPr/>
        </p:nvSpPr>
        <p:spPr>
          <a:xfrm>
            <a:off x="6547104" y="1664208"/>
            <a:ext cx="4572000"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CHECK 4: IS CLIMATE STRESS SIMPLY REPORTED LATE?</a:t>
            </a:r>
            <a:endParaRPr lang="en-US" sz="950" dirty="0"/>
          </a:p>
        </p:txBody>
      </p:sp>
      <p:sp>
        <p:nvSpPr>
          <p:cNvPr id="13" name="Text 11"/>
          <p:cNvSpPr/>
          <p:nvPr/>
        </p:nvSpPr>
        <p:spPr>
          <a:xfrm>
            <a:off x="6547104" y="1956816"/>
            <a:ext cx="4754880" cy="256032"/>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Method</a:t>
            </a:r>
            <a:endParaRPr lang="en-US" sz="1150" dirty="0"/>
          </a:p>
        </p:txBody>
      </p:sp>
      <p:sp>
        <p:nvSpPr>
          <p:cNvPr id="14" name="Text 12"/>
          <p:cNvSpPr/>
          <p:nvPr/>
        </p:nvSpPr>
        <p:spPr>
          <a:xfrm>
            <a:off x="6547104" y="2231136"/>
            <a:ext cx="4754880" cy="914400"/>
          </a:xfrm>
          <a:prstGeom prst="rect">
            <a:avLst/>
          </a:prstGeom>
          <a:noFill/>
          <a:ln/>
        </p:spPr>
        <p:txBody>
          <a:bodyPr wrap="square" lIns="0" tIns="0" rIns="0" bIns="0" rtlCol="0" anchor="ctr"/>
          <a:lstStyle/>
          <a:p>
            <a:pPr indent="0" marL="0">
              <a:lnSpc>
                <a:spcPts val="1400"/>
              </a:lnSpc>
              <a:buNone/>
            </a:pPr>
            <a:r>
              <a:rPr lang="en-US" sz="1050" dirty="0">
                <a:solidFill>
                  <a:srgbClr val="E7E8D1"/>
                </a:solidFill>
                <a:latin typeface="Calibri" pitchFamily="34" charset="0"/>
                <a:ea typeface="Calibri" pitchFamily="34" charset="-122"/>
                <a:cs typeface="Calibri" pitchFamily="34" charset="-120"/>
              </a:rPr>
              <a:t>For every extreme climate-stress month, reports were counted not just that same month, but cumulatively across the 1, 2 and 3 months that followed, to see whether attention catches up on a delay.</a:t>
            </a:r>
            <a:endParaRPr lang="en-US" sz="1050" dirty="0"/>
          </a:p>
        </p:txBody>
      </p:sp>
      <p:sp>
        <p:nvSpPr>
          <p:cNvPr id="15" name="Text 13"/>
          <p:cNvSpPr/>
          <p:nvPr/>
        </p:nvSpPr>
        <p:spPr>
          <a:xfrm>
            <a:off x="6547104" y="3200400"/>
            <a:ext cx="4754880" cy="256032"/>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Result</a:t>
            </a:r>
            <a:endParaRPr lang="en-US" sz="1150" dirty="0"/>
          </a:p>
        </p:txBody>
      </p:sp>
      <p:sp>
        <p:nvSpPr>
          <p:cNvPr id="16" name="Text 14"/>
          <p:cNvSpPr/>
          <p:nvPr/>
        </p:nvSpPr>
        <p:spPr>
          <a:xfrm>
            <a:off x="6547104" y="3474720"/>
            <a:ext cx="4754880" cy="548640"/>
          </a:xfrm>
          <a:prstGeom prst="rect">
            <a:avLst/>
          </a:prstGeom>
          <a:noFill/>
          <a:ln/>
        </p:spPr>
        <p:txBody>
          <a:bodyPr wrap="square" lIns="0" tIns="0" rIns="0" bIns="0" rtlCol="0" anchor="ctr"/>
          <a:lstStyle/>
          <a:p>
            <a:pPr indent="0" marL="0">
              <a:buNone/>
            </a:pPr>
            <a:r>
              <a:rPr lang="en-US" sz="1500" b="1" dirty="0">
                <a:solidFill>
                  <a:srgbClr val="A7BEAE"/>
                </a:solidFill>
                <a:latin typeface="Cambria" pitchFamily="34" charset="0"/>
                <a:ea typeface="Cambria" pitchFamily="34" charset="-122"/>
                <a:cs typeface="Cambria" pitchFamily="34" charset="-120"/>
              </a:rPr>
              <a:t>17.47 vs 6.82 reports over 3 months (p = 0.0001)</a:t>
            </a:r>
            <a:endParaRPr lang="en-US" sz="1500" dirty="0"/>
          </a:p>
        </p:txBody>
      </p:sp>
      <p:sp>
        <p:nvSpPr>
          <p:cNvPr id="17" name="Text 15"/>
          <p:cNvSpPr/>
          <p:nvPr/>
        </p:nvSpPr>
        <p:spPr>
          <a:xfrm>
            <a:off x="6547104" y="4114800"/>
            <a:ext cx="4754880" cy="1097280"/>
          </a:xfrm>
          <a:prstGeom prst="rect">
            <a:avLst/>
          </a:prstGeom>
          <a:noFill/>
          <a:ln/>
        </p:spPr>
        <p:txBody>
          <a:bodyPr wrap="square" lIns="0" tIns="0" rIns="0" bIns="0" rtlCol="0" anchor="ctr"/>
          <a:lstStyle/>
          <a:p>
            <a:pPr indent="0" marL="0">
              <a:lnSpc>
                <a:spcPts val="1400"/>
              </a:lnSpc>
              <a:buNone/>
            </a:pPr>
            <a:r>
              <a:rPr lang="en-US" sz="1050" dirty="0">
                <a:solidFill>
                  <a:srgbClr val="E7E8D1"/>
                </a:solidFill>
                <a:latin typeface="Calibri" pitchFamily="34" charset="0"/>
                <a:ea typeface="Calibri" pitchFamily="34" charset="-122"/>
                <a:cs typeface="Calibri" pitchFamily="34" charset="-120"/>
              </a:rPr>
              <a:t>No. The gap does not shrink over time; if anything it widens slightly. Climate stress is not "noticed late", it attracts less attention throughout.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Check 5: treating districts, not district-months, as the unit</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same repeated-district-months concern, applied to this specific result</a:t>
            </a:r>
            <a:endParaRPr lang="en-US" sz="1250" dirty="0"/>
          </a:p>
        </p:txBody>
      </p:sp>
      <p:sp>
        <p:nvSpPr>
          <p:cNvPr id="4" name="Shape 2"/>
          <p:cNvSpPr/>
          <p:nvPr/>
        </p:nvSpPr>
        <p:spPr>
          <a:xfrm>
            <a:off x="566928" y="1517904"/>
            <a:ext cx="11027664" cy="1280160"/>
          </a:xfrm>
          <a:prstGeom prst="roundRect">
            <a:avLst>
              <a:gd name="adj" fmla="val 4286"/>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Why this check was needed</a:t>
            </a:r>
            <a:endParaRPr lang="en-US" sz="1300" dirty="0"/>
          </a:p>
        </p:txBody>
      </p:sp>
      <p:sp>
        <p:nvSpPr>
          <p:cNvPr id="6" name="Text 4"/>
          <p:cNvSpPr/>
          <p:nvPr/>
        </p:nvSpPr>
        <p:spPr>
          <a:xfrm>
            <a:off x="841248" y="1938528"/>
            <a:ext cx="10479024" cy="777240"/>
          </a:xfrm>
          <a:prstGeom prst="rect">
            <a:avLst/>
          </a:prstGeom>
          <a:noFill/>
          <a:ln/>
        </p:spPr>
        <p:txBody>
          <a:bodyPr wrap="square" lIns="0" tIns="0" rIns="0" bIns="0" rtlCol="0" anchor="ctr"/>
          <a:lstStyle/>
          <a:p>
            <a:pPr indent="0" marL="0">
              <a:lnSpc>
                <a:spcPts val="1500"/>
              </a:lnSpc>
              <a:buNone/>
            </a:pPr>
            <a:r>
              <a:rPr lang="en-US" sz="1100" dirty="0">
                <a:solidFill>
                  <a:srgbClr val="E7E8D1"/>
                </a:solidFill>
                <a:latin typeface="Calibri" pitchFamily="34" charset="0"/>
                <a:ea typeface="Calibri" pitchFamily="34" charset="-122"/>
                <a:cs typeface="Calibri" pitchFamily="34" charset="-120"/>
              </a:rPr>
              <a:t>The extreme-conflict group draws on a much smaller pool of distinct districts (18) than the extreme-climate group (41). A handful of chronically conflict-affected districts could be supplying most of the conflict group's 68 district-months between them.</a:t>
            </a:r>
            <a:endParaRPr lang="en-US" sz="1100" dirty="0"/>
          </a:p>
        </p:txBody>
      </p:sp>
      <p:sp>
        <p:nvSpPr>
          <p:cNvPr id="7" name="Shape 5"/>
          <p:cNvSpPr/>
          <p:nvPr/>
        </p:nvSpPr>
        <p:spPr>
          <a:xfrm>
            <a:off x="566928" y="2962656"/>
            <a:ext cx="548640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04672" y="3108960"/>
            <a:ext cx="5029200" cy="274320"/>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Method</a:t>
            </a:r>
            <a:endParaRPr lang="en-US" sz="1250" dirty="0"/>
          </a:p>
        </p:txBody>
      </p:sp>
      <p:sp>
        <p:nvSpPr>
          <p:cNvPr id="9" name="Text 7"/>
          <p:cNvSpPr/>
          <p:nvPr/>
        </p:nvSpPr>
        <p:spPr>
          <a:xfrm>
            <a:off x="804672" y="3419856"/>
            <a:ext cx="5029200" cy="1645920"/>
          </a:xfrm>
          <a:prstGeom prst="rect">
            <a:avLst/>
          </a:prstGeom>
          <a:noFill/>
          <a:ln/>
        </p:spPr>
        <p:txBody>
          <a:bodyPr wrap="square" lIns="0" tIns="0" rIns="0" bIns="0" rtlCol="0" anchor="ctr"/>
          <a:lstStyle/>
          <a:p>
            <a:pPr marL="342900" indent="-342900">
              <a:lnSpc>
                <a:spcPts val="1400"/>
              </a:lnSpc>
              <a:spcAft>
                <a:spcPts val="800"/>
              </a:spcAft>
              <a:buSzPct val="100000"/>
              <a:buChar char="•"/>
            </a:pPr>
            <a:r>
              <a:rPr lang="en-US" sz="1050" dirty="0">
                <a:solidFill>
                  <a:srgbClr val="7A6E68"/>
                </a:solidFill>
                <a:latin typeface="Calibri" pitchFamily="34" charset="0"/>
                <a:ea typeface="Calibri" pitchFamily="34" charset="-122"/>
                <a:cs typeface="Calibri" pitchFamily="34" charset="-120"/>
              </a:rPr>
              <a:t>Collapsed each group down to one row per distinct district (18 rows vs 41 rows) and re-ran the comparison</a:t>
            </a:r>
            <a:endParaRPr lang="en-US" sz="1050" dirty="0"/>
          </a:p>
          <a:p>
            <a:pPr marL="342900" indent="-342900">
              <a:lnSpc>
                <a:spcPts val="1400"/>
              </a:lnSpc>
              <a:spcAft>
                <a:spcPts val="800"/>
              </a:spcAft>
              <a:buSzPct val="100000"/>
              <a:buChar char="•"/>
            </a:pPr>
            <a:r>
              <a:rPr lang="en-US" sz="1050" dirty="0">
                <a:solidFill>
                  <a:srgbClr val="7A6E68"/>
                </a:solidFill>
                <a:latin typeface="Calibri" pitchFamily="34" charset="0"/>
                <a:ea typeface="Calibri" pitchFamily="34" charset="-122"/>
                <a:cs typeface="Calibri" pitchFamily="34" charset="-120"/>
              </a:rPr>
              <a:t>Separately, applied the district-cluster bootstrap (explained earlier) to the original, row-level statistic</a:t>
            </a:r>
            <a:endParaRPr lang="en-US" sz="1050" dirty="0"/>
          </a:p>
        </p:txBody>
      </p:sp>
      <p:sp>
        <p:nvSpPr>
          <p:cNvPr id="10" name="Shape 8"/>
          <p:cNvSpPr/>
          <p:nvPr/>
        </p:nvSpPr>
        <p:spPr>
          <a:xfrm>
            <a:off x="6309360" y="2962656"/>
            <a:ext cx="5285232" cy="2286000"/>
          </a:xfrm>
          <a:prstGeom prst="roundRect">
            <a:avLst>
              <a:gd name="adj" fmla="val 2400"/>
            </a:avLst>
          </a:prstGeom>
          <a:solidFill>
            <a:srgbClr val="A7BEAE"/>
          </a:solidFill>
          <a:ln/>
          <a:effectLst>
            <a:outerShdw sx="100000" sy="100000" kx="0" ky="0" algn="bl" rotWithShape="0" blurRad="76200" dist="381" dir="5400000">
              <a:srgbClr val="000000">
                <a:alpha val="8000"/>
              </a:srgbClr>
            </a:outerShdw>
          </a:effectLst>
        </p:spPr>
      </p:sp>
      <p:sp>
        <p:nvSpPr>
          <p:cNvPr id="11" name="Text 9"/>
          <p:cNvSpPr/>
          <p:nvPr/>
        </p:nvSpPr>
        <p:spPr>
          <a:xfrm>
            <a:off x="6547104" y="3108960"/>
            <a:ext cx="4754880" cy="274320"/>
          </a:xfrm>
          <a:prstGeom prst="rect">
            <a:avLst/>
          </a:prstGeom>
          <a:noFill/>
          <a:ln/>
        </p:spPr>
        <p:txBody>
          <a:bodyPr wrap="square" lIns="0" tIns="0" rIns="0" bIns="0" rtlCol="0" anchor="ctr"/>
          <a:lstStyle/>
          <a:p>
            <a:pPr indent="0" marL="0">
              <a:buNone/>
            </a:pPr>
            <a:r>
              <a:rPr lang="en-US" sz="1250" b="1" dirty="0">
                <a:solidFill>
                  <a:srgbClr val="2B2523"/>
                </a:solidFill>
                <a:latin typeface="Cambria" pitchFamily="34" charset="0"/>
                <a:ea typeface="Cambria" pitchFamily="34" charset="-122"/>
                <a:cs typeface="Cambria" pitchFamily="34" charset="-120"/>
              </a:rPr>
              <a:t>Result</a:t>
            </a:r>
            <a:endParaRPr lang="en-US" sz="1250" dirty="0"/>
          </a:p>
        </p:txBody>
      </p:sp>
      <p:sp>
        <p:nvSpPr>
          <p:cNvPr id="12" name="Text 10"/>
          <p:cNvSpPr/>
          <p:nvPr/>
        </p:nvSpPr>
        <p:spPr>
          <a:xfrm>
            <a:off x="6547104" y="3401568"/>
            <a:ext cx="4754880" cy="457200"/>
          </a:xfrm>
          <a:prstGeom prst="rect">
            <a:avLst/>
          </a:prstGeom>
          <a:noFill/>
          <a:ln/>
        </p:spPr>
        <p:txBody>
          <a:bodyPr wrap="square" lIns="0" tIns="0" rIns="0" bIns="0" rtlCol="0" anchor="ctr"/>
          <a:lstStyle/>
          <a:p>
            <a:pPr indent="0" marL="0">
              <a:buNone/>
            </a:pPr>
            <a:r>
              <a:rPr lang="en-US" sz="1800" b="1" dirty="0">
                <a:solidFill>
                  <a:srgbClr val="2B2523"/>
                </a:solidFill>
                <a:latin typeface="Cambria" pitchFamily="34" charset="0"/>
                <a:ea typeface="Cambria" pitchFamily="34" charset="-122"/>
                <a:cs typeface="Cambria" pitchFamily="34" charset="-120"/>
              </a:rPr>
              <a:t>p = 0.000064  -&gt;  p = 0.0067</a:t>
            </a:r>
            <a:endParaRPr lang="en-US" sz="1800" dirty="0"/>
          </a:p>
        </p:txBody>
      </p:sp>
      <p:sp>
        <p:nvSpPr>
          <p:cNvPr id="13" name="Text 11"/>
          <p:cNvSpPr/>
          <p:nvPr/>
        </p:nvSpPr>
        <p:spPr>
          <a:xfrm>
            <a:off x="6547104" y="3877056"/>
            <a:ext cx="4754880" cy="365760"/>
          </a:xfrm>
          <a:prstGeom prst="rect">
            <a:avLst/>
          </a:prstGeom>
          <a:noFill/>
          <a:ln/>
        </p:spPr>
        <p:txBody>
          <a:bodyPr wrap="square" lIns="0" tIns="0" rIns="0" bIns="0" rtlCol="0" anchor="ctr"/>
          <a:lstStyle/>
          <a:p>
            <a:pPr indent="0" marL="0">
              <a:buNone/>
            </a:pPr>
            <a:r>
              <a:rPr lang="en-US" sz="1100" i="1" dirty="0">
                <a:solidFill>
                  <a:srgbClr val="2B2523"/>
                </a:solidFill>
                <a:latin typeface="Calibri" pitchFamily="34" charset="0"/>
                <a:ea typeface="Calibri" pitchFamily="34" charset="-122"/>
                <a:cs typeface="Calibri" pitchFamily="34" charset="-120"/>
              </a:rPr>
              <a:t>Bootstrap 95% CI: [0.57, 7.54], excluding zero</a:t>
            </a:r>
            <a:endParaRPr lang="en-US" sz="1100" dirty="0"/>
          </a:p>
        </p:txBody>
      </p:sp>
      <p:sp>
        <p:nvSpPr>
          <p:cNvPr id="14" name="Text 12"/>
          <p:cNvSpPr/>
          <p:nvPr/>
        </p:nvSpPr>
        <p:spPr>
          <a:xfrm>
            <a:off x="6547104" y="4315968"/>
            <a:ext cx="4754880" cy="822960"/>
          </a:xfrm>
          <a:prstGeom prst="rect">
            <a:avLst/>
          </a:prstGeom>
          <a:noFill/>
          <a:ln/>
        </p:spPr>
        <p:txBody>
          <a:bodyPr wrap="square" lIns="0" tIns="0" rIns="0" bIns="0" rtlCol="0" anchor="ctr"/>
          <a:lstStyle/>
          <a:p>
            <a:pPr indent="0" marL="0">
              <a:lnSpc>
                <a:spcPts val="1400"/>
              </a:lnSpc>
              <a:buNone/>
            </a:pPr>
            <a:r>
              <a:rPr lang="en-US" sz="1050" dirty="0">
                <a:solidFill>
                  <a:srgbClr val="2B2523"/>
                </a:solidFill>
                <a:latin typeface="Calibri" pitchFamily="34" charset="0"/>
                <a:ea typeface="Calibri" pitchFamily="34" charset="-122"/>
                <a:cs typeface="Calibri" pitchFamily="34" charset="-120"/>
              </a:rPr>
              <a:t>Survives, but weaker. Direction and significance hold; the effective sample size does not.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All five checks together, and what remains open</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Strengthens the result, with one honest limitation left standing</a:t>
            </a:r>
            <a:endParaRPr lang="en-US" sz="1250" dirty="0"/>
          </a:p>
        </p:txBody>
      </p:sp>
      <p:sp>
        <p:nvSpPr>
          <p:cNvPr id="4" name="Shape 2"/>
          <p:cNvSpPr/>
          <p:nvPr/>
        </p:nvSpPr>
        <p:spPr>
          <a:xfrm>
            <a:off x="566928" y="1554480"/>
            <a:ext cx="11027664" cy="2651760"/>
          </a:xfrm>
          <a:prstGeom prst="roundRect">
            <a:avLst>
              <a:gd name="adj" fmla="val 2069"/>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82496"/>
            <a:ext cx="10479024" cy="274320"/>
          </a:xfrm>
          <a:prstGeom prst="rect">
            <a:avLst/>
          </a:prstGeom>
          <a:noFill/>
          <a:ln/>
        </p:spPr>
        <p:txBody>
          <a:bodyPr wrap="square" lIns="0" tIns="0" rIns="0" bIns="0" rtlCol="0" anchor="ctr"/>
          <a:lstStyle/>
          <a:p>
            <a:pPr indent="0" marL="0">
              <a:buNone/>
            </a:pPr>
            <a:r>
              <a:rPr lang="en-US" sz="1400" b="1" dirty="0">
                <a:solidFill>
                  <a:srgbClr val="A7BEAE"/>
                </a:solidFill>
                <a:latin typeface="Cambria" pitchFamily="34" charset="0"/>
                <a:ea typeface="Cambria" pitchFamily="34" charset="-122"/>
                <a:cs typeface="Cambria" pitchFamily="34" charset="-120"/>
              </a:rPr>
              <a:t>Summary</a:t>
            </a:r>
            <a:endParaRPr lang="en-US" sz="1400" dirty="0"/>
          </a:p>
        </p:txBody>
      </p:sp>
      <p:sp>
        <p:nvSpPr>
          <p:cNvPr id="6" name="Text 4"/>
          <p:cNvSpPr/>
          <p:nvPr/>
        </p:nvSpPr>
        <p:spPr>
          <a:xfrm>
            <a:off x="841248" y="2011680"/>
            <a:ext cx="10479024" cy="210312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Holds at every threshold tested, from the strictest (5%) to the loosest (20%)</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Rises close to monotonically with conflict intensity; shows no comparable rise with climate stress</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Persists, in a weaker form, when restricted to food and nutrition reporting specifically</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Does not close over the three months following an extreme month, so climate stress is not simply reported late</a:t>
            </a:r>
            <a:endParaRPr lang="en-US" sz="1200" dirty="0"/>
          </a:p>
          <a:p>
            <a:pPr marL="342900" indent="-342900">
              <a:lnSpc>
                <a:spcPts val="1700"/>
              </a:lnSpc>
              <a:spcAft>
                <a:spcPts val="1000"/>
              </a:spcAft>
              <a:buSzPct val="100000"/>
              <a:buChar char="•"/>
            </a:pPr>
            <a:r>
              <a:rPr lang="en-US" sz="1200" dirty="0">
                <a:solidFill>
                  <a:srgbClr val="E7E8D1"/>
                </a:solidFill>
                <a:latin typeface="Calibri" pitchFamily="34" charset="0"/>
                <a:ea typeface="Calibri" pitchFamily="34" charset="-122"/>
                <a:cs typeface="Calibri" pitchFamily="34" charset="-120"/>
              </a:rPr>
              <a:t>Survives collapsing each group to one row per district, though at markedly weaker significance</a:t>
            </a:r>
            <a:endParaRPr lang="en-US" sz="1200" dirty="0"/>
          </a:p>
        </p:txBody>
      </p:sp>
      <p:sp>
        <p:nvSpPr>
          <p:cNvPr id="7" name="Shape 5"/>
          <p:cNvSpPr/>
          <p:nvPr/>
        </p:nvSpPr>
        <p:spPr>
          <a:xfrm>
            <a:off x="566928" y="4352544"/>
            <a:ext cx="11027664"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8" name="Text 6"/>
          <p:cNvSpPr/>
          <p:nvPr/>
        </p:nvSpPr>
        <p:spPr>
          <a:xfrm>
            <a:off x="841248" y="4480560"/>
            <a:ext cx="10479024" cy="274320"/>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What's left open</a:t>
            </a:r>
            <a:endParaRPr lang="en-US" sz="1300" dirty="0"/>
          </a:p>
        </p:txBody>
      </p:sp>
      <p:sp>
        <p:nvSpPr>
          <p:cNvPr id="9" name="Text 7"/>
          <p:cNvSpPr/>
          <p:nvPr/>
        </p:nvSpPr>
        <p:spPr>
          <a:xfrm>
            <a:off x="841248" y="4773168"/>
            <a:ext cx="10479024" cy="1188720"/>
          </a:xfrm>
          <a:prstGeom prst="rect">
            <a:avLst/>
          </a:prstGeom>
          <a:noFill/>
          <a:ln/>
        </p:spPr>
        <p:txBody>
          <a:bodyPr wrap="square" lIns="0" tIns="0" rIns="0" bIns="0" rtlCol="0" anchor="ctr"/>
          <a:lstStyle/>
          <a:p>
            <a:pPr indent="0" marL="0">
              <a:lnSpc>
                <a:spcPts val="1600"/>
              </a:lnSpc>
              <a:buNone/>
            </a:pPr>
            <a:r>
              <a:rPr lang="en-US" sz="1200" dirty="0">
                <a:solidFill>
                  <a:srgbClr val="2B2523"/>
                </a:solidFill>
                <a:latin typeface="Calibri" pitchFamily="34" charset="0"/>
                <a:ea typeface="Calibri" pitchFamily="34" charset="-122"/>
                <a:cs typeface="Calibri" pitchFamily="34" charset="-120"/>
              </a:rPr>
              <a:t>"Extreme" is defined relative to Somalia's own 2024 data, not an outside measure of human impact. None of the five checks above can resolve this. This result says how the reporting system responds to different kinds of signal; it does not say the underlying suffering in the two groups was ever equal.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Measuring source complementarity</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How many of the four mechanisms cover each district-month?</a:t>
            </a:r>
            <a:endParaRPr lang="en-US" sz="1250" dirty="0"/>
          </a:p>
        </p:txBody>
      </p:sp>
      <p:sp>
        <p:nvSpPr>
          <p:cNvPr id="4" name="Shape 2"/>
          <p:cNvSpPr/>
          <p:nvPr/>
        </p:nvSpPr>
        <p:spPr>
          <a:xfrm>
            <a:off x="566928" y="1554480"/>
            <a:ext cx="11027664" cy="1371600"/>
          </a:xfrm>
          <a:prstGeom prst="roundRect">
            <a:avLst>
              <a:gd name="adj" fmla="val 4000"/>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700784"/>
            <a:ext cx="10479024" cy="1097280"/>
          </a:xfrm>
          <a:prstGeom prst="rect">
            <a:avLst/>
          </a:prstGeom>
          <a:noFill/>
          <a:ln/>
        </p:spPr>
        <p:txBody>
          <a:bodyPr wrap="square" lIns="0" tIns="0" rIns="0" bIns="0" rtlCol="0" anchor="ctr"/>
          <a:lstStyle/>
          <a:p>
            <a:pPr indent="0" marL="0">
              <a:lnSpc>
                <a:spcPts val="1700"/>
              </a:lnSpc>
              <a:buNone/>
            </a:pPr>
            <a:r>
              <a:rPr lang="en-US" sz="1250" dirty="0">
                <a:solidFill>
                  <a:srgbClr val="E7E8D1"/>
                </a:solidFill>
                <a:latin typeface="Calibri" pitchFamily="34" charset="0"/>
                <a:ea typeface="Calibri" pitchFamily="34" charset="-122"/>
                <a:cs typeface="Calibri" pitchFamily="34" charset="-120"/>
              </a:rPr>
              <a:t>Conflict and climate are recorded everywhere by construction (zero-filled events, satellite has no gaps). So every district-month starts with a floor of 2 of 4. All the real variation comes from market and reporting.</a:t>
            </a:r>
            <a:endParaRPr lang="en-US" sz="1250" dirty="0"/>
          </a:p>
        </p:txBody>
      </p:sp>
      <p:sp>
        <p:nvSpPr>
          <p:cNvPr id="6" name="Shape 4"/>
          <p:cNvSpPr/>
          <p:nvPr/>
        </p:nvSpPr>
        <p:spPr>
          <a:xfrm>
            <a:off x="566928" y="3200400"/>
            <a:ext cx="3553968" cy="1737360"/>
          </a:xfrm>
          <a:prstGeom prst="roundRect">
            <a:avLst>
              <a:gd name="adj" fmla="val 3158"/>
            </a:avLst>
          </a:prstGeom>
          <a:solidFill>
            <a:srgbClr val="E7E8D1"/>
          </a:solidFill>
          <a:ln/>
          <a:effectLst>
            <a:outerShdw sx="100000" sy="100000" kx="0" ky="0" algn="bl" rotWithShape="0" blurRad="76200" dist="381" dir="5400000">
              <a:srgbClr val="000000">
                <a:alpha val="8000"/>
              </a:srgbClr>
            </a:outerShdw>
          </a:effectLst>
        </p:spPr>
      </p:sp>
      <p:sp>
        <p:nvSpPr>
          <p:cNvPr id="7" name="Text 5"/>
          <p:cNvSpPr/>
          <p:nvPr/>
        </p:nvSpPr>
        <p:spPr>
          <a:xfrm>
            <a:off x="566928" y="3364992"/>
            <a:ext cx="3553968" cy="731520"/>
          </a:xfrm>
          <a:prstGeom prst="rect">
            <a:avLst/>
          </a:prstGeom>
          <a:noFill/>
          <a:ln/>
        </p:spPr>
        <p:txBody>
          <a:bodyPr wrap="square" lIns="0" tIns="0" rIns="0" bIns="0" rtlCol="0" anchor="ctr"/>
          <a:lstStyle/>
          <a:p>
            <a:pPr algn="ctr" indent="0" marL="0">
              <a:buNone/>
            </a:pPr>
            <a:r>
              <a:rPr lang="en-US" sz="3000" b="1" dirty="0">
                <a:solidFill>
                  <a:srgbClr val="2B2523"/>
                </a:solidFill>
                <a:latin typeface="Cambria" pitchFamily="34" charset="0"/>
                <a:ea typeface="Cambria" pitchFamily="34" charset="-122"/>
                <a:cs typeface="Cambria" pitchFamily="34" charset="-120"/>
              </a:rPr>
              <a:t>31.0%</a:t>
            </a:r>
            <a:endParaRPr lang="en-US" sz="3000" dirty="0"/>
          </a:p>
        </p:txBody>
      </p:sp>
      <p:sp>
        <p:nvSpPr>
          <p:cNvPr id="8" name="Text 6"/>
          <p:cNvSpPr/>
          <p:nvPr/>
        </p:nvSpPr>
        <p:spPr>
          <a:xfrm>
            <a:off x="566928" y="4114800"/>
            <a:ext cx="3553968" cy="640080"/>
          </a:xfrm>
          <a:prstGeom prst="rect">
            <a:avLst/>
          </a:prstGeom>
          <a:noFill/>
          <a:ln/>
        </p:spPr>
        <p:txBody>
          <a:bodyPr wrap="square" lIns="0" tIns="0" rIns="0" bIns="0" rtlCol="0" anchor="ctr"/>
          <a:lstStyle/>
          <a:p>
            <a:pPr algn="ctr" indent="0" marL="0">
              <a:buNone/>
            </a:pPr>
            <a:r>
              <a:rPr lang="en-US" sz="1100" dirty="0">
                <a:solidFill>
                  <a:srgbClr val="2B2523"/>
                </a:solidFill>
                <a:latin typeface="Calibri" pitchFamily="34" charset="0"/>
                <a:ea typeface="Calibri" pitchFamily="34" charset="-122"/>
                <a:cs typeface="Calibri" pitchFamily="34" charset="-120"/>
              </a:rPr>
              <a:t>2 of 4 mechanisms observed</a:t>
            </a:r>
            <a:endParaRPr lang="en-US" sz="1100" dirty="0"/>
          </a:p>
        </p:txBody>
      </p:sp>
      <p:sp>
        <p:nvSpPr>
          <p:cNvPr id="9" name="Shape 7"/>
          <p:cNvSpPr/>
          <p:nvPr/>
        </p:nvSpPr>
        <p:spPr>
          <a:xfrm>
            <a:off x="4303776" y="3200400"/>
            <a:ext cx="3553968" cy="1737360"/>
          </a:xfrm>
          <a:prstGeom prst="roundRect">
            <a:avLst>
              <a:gd name="adj" fmla="val 3158"/>
            </a:avLst>
          </a:prstGeom>
          <a:solidFill>
            <a:srgbClr val="A7BEAE"/>
          </a:solidFill>
          <a:ln/>
          <a:effectLst>
            <a:outerShdw sx="100000" sy="100000" kx="0" ky="0" algn="bl" rotWithShape="0" blurRad="76200" dist="381" dir="5400000">
              <a:srgbClr val="000000">
                <a:alpha val="8000"/>
              </a:srgbClr>
            </a:outerShdw>
          </a:effectLst>
        </p:spPr>
      </p:sp>
      <p:sp>
        <p:nvSpPr>
          <p:cNvPr id="10" name="Text 8"/>
          <p:cNvSpPr/>
          <p:nvPr/>
        </p:nvSpPr>
        <p:spPr>
          <a:xfrm>
            <a:off x="4303776" y="3364992"/>
            <a:ext cx="3553968" cy="731520"/>
          </a:xfrm>
          <a:prstGeom prst="rect">
            <a:avLst/>
          </a:prstGeom>
          <a:noFill/>
          <a:ln/>
        </p:spPr>
        <p:txBody>
          <a:bodyPr wrap="square" lIns="0" tIns="0" rIns="0" bIns="0" rtlCol="0" anchor="ctr"/>
          <a:lstStyle/>
          <a:p>
            <a:pPr algn="ctr" indent="0" marL="0">
              <a:buNone/>
            </a:pPr>
            <a:r>
              <a:rPr lang="en-US" sz="3000" b="1" dirty="0">
                <a:solidFill>
                  <a:srgbClr val="2B2523"/>
                </a:solidFill>
                <a:latin typeface="Cambria" pitchFamily="34" charset="0"/>
                <a:ea typeface="Cambria" pitchFamily="34" charset="-122"/>
                <a:cs typeface="Cambria" pitchFamily="34" charset="-120"/>
              </a:rPr>
              <a:t>34.8%</a:t>
            </a:r>
            <a:endParaRPr lang="en-US" sz="3000" dirty="0"/>
          </a:p>
        </p:txBody>
      </p:sp>
      <p:sp>
        <p:nvSpPr>
          <p:cNvPr id="11" name="Text 9"/>
          <p:cNvSpPr/>
          <p:nvPr/>
        </p:nvSpPr>
        <p:spPr>
          <a:xfrm>
            <a:off x="4303776" y="4114800"/>
            <a:ext cx="3553968" cy="640080"/>
          </a:xfrm>
          <a:prstGeom prst="rect">
            <a:avLst/>
          </a:prstGeom>
          <a:noFill/>
          <a:ln/>
        </p:spPr>
        <p:txBody>
          <a:bodyPr wrap="square" lIns="0" tIns="0" rIns="0" bIns="0" rtlCol="0" anchor="ctr"/>
          <a:lstStyle/>
          <a:p>
            <a:pPr algn="ctr" indent="0" marL="0">
              <a:buNone/>
            </a:pPr>
            <a:r>
              <a:rPr lang="en-US" sz="1100" dirty="0">
                <a:solidFill>
                  <a:srgbClr val="2B2523"/>
                </a:solidFill>
                <a:latin typeface="Calibri" pitchFamily="34" charset="0"/>
                <a:ea typeface="Calibri" pitchFamily="34" charset="-122"/>
                <a:cs typeface="Calibri" pitchFamily="34" charset="-120"/>
              </a:rPr>
              <a:t>3 of 4 mechanisms observed</a:t>
            </a:r>
            <a:endParaRPr lang="en-US" sz="1100" dirty="0"/>
          </a:p>
        </p:txBody>
      </p:sp>
      <p:sp>
        <p:nvSpPr>
          <p:cNvPr id="12" name="Shape 10"/>
          <p:cNvSpPr/>
          <p:nvPr/>
        </p:nvSpPr>
        <p:spPr>
          <a:xfrm>
            <a:off x="8040624" y="3200400"/>
            <a:ext cx="3553968" cy="1737360"/>
          </a:xfrm>
          <a:prstGeom prst="roundRect">
            <a:avLst>
              <a:gd name="adj" fmla="val 3158"/>
            </a:avLst>
          </a:prstGeom>
          <a:solidFill>
            <a:srgbClr val="B85042"/>
          </a:solidFill>
          <a:ln/>
          <a:effectLst>
            <a:outerShdw sx="100000" sy="100000" kx="0" ky="0" algn="bl" rotWithShape="0" blurRad="76200" dist="381" dir="5400000">
              <a:srgbClr val="000000">
                <a:alpha val="8000"/>
              </a:srgbClr>
            </a:outerShdw>
          </a:effectLst>
        </p:spPr>
      </p:sp>
      <p:sp>
        <p:nvSpPr>
          <p:cNvPr id="13" name="Text 11"/>
          <p:cNvSpPr/>
          <p:nvPr/>
        </p:nvSpPr>
        <p:spPr>
          <a:xfrm>
            <a:off x="8040624" y="3364992"/>
            <a:ext cx="3553968" cy="731520"/>
          </a:xfrm>
          <a:prstGeom prst="rect">
            <a:avLst/>
          </a:prstGeom>
          <a:noFill/>
          <a:ln/>
        </p:spPr>
        <p:txBody>
          <a:bodyPr wrap="square" lIns="0" tIns="0" rIns="0" bIns="0" rtlCol="0" anchor="ctr"/>
          <a:lstStyle/>
          <a:p>
            <a:pPr algn="ctr" indent="0" marL="0">
              <a:buNone/>
            </a:pPr>
            <a:r>
              <a:rPr lang="en-US" sz="3000" b="1" dirty="0">
                <a:solidFill>
                  <a:srgbClr val="2B2523"/>
                </a:solidFill>
                <a:latin typeface="Cambria" pitchFamily="34" charset="0"/>
                <a:ea typeface="Cambria" pitchFamily="34" charset="-122"/>
                <a:cs typeface="Cambria" pitchFamily="34" charset="-120"/>
              </a:rPr>
              <a:t>34.2%</a:t>
            </a:r>
            <a:endParaRPr lang="en-US" sz="3000" dirty="0"/>
          </a:p>
        </p:txBody>
      </p:sp>
      <p:sp>
        <p:nvSpPr>
          <p:cNvPr id="14" name="Text 12"/>
          <p:cNvSpPr/>
          <p:nvPr/>
        </p:nvSpPr>
        <p:spPr>
          <a:xfrm>
            <a:off x="8040624" y="4114800"/>
            <a:ext cx="3553968" cy="640080"/>
          </a:xfrm>
          <a:prstGeom prst="rect">
            <a:avLst/>
          </a:prstGeom>
          <a:noFill/>
          <a:ln/>
        </p:spPr>
        <p:txBody>
          <a:bodyPr wrap="square" lIns="0" tIns="0" rIns="0" bIns="0" rtlCol="0" anchor="ctr"/>
          <a:lstStyle/>
          <a:p>
            <a:pPr algn="ctr" indent="0" marL="0">
              <a:buNone/>
            </a:pPr>
            <a:r>
              <a:rPr lang="en-US" sz="1100" dirty="0">
                <a:solidFill>
                  <a:srgbClr val="2B2523"/>
                </a:solidFill>
                <a:latin typeface="Calibri" pitchFamily="34" charset="0"/>
                <a:ea typeface="Calibri" pitchFamily="34" charset="-122"/>
                <a:cs typeface="Calibri" pitchFamily="34" charset="-120"/>
              </a:rPr>
              <a:t>4 of 4 mechanisms observed</a:t>
            </a:r>
            <a:endParaRPr lang="en-US" sz="1100" dirty="0"/>
          </a:p>
        </p:txBody>
      </p:sp>
      <p:sp>
        <p:nvSpPr>
          <p:cNvPr id="15" name="Text 13"/>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31.0% of district-months (275) sit at the floor of 2. 34.8% (309) reach 3. 34.2% (304) reach all 4. No district-month is ever observed by 0 or 1 mechanism.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Do market and reporting overlap, or add different things?</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Genuinely complementary, not redundant</a:t>
            </a:r>
            <a:endParaRPr lang="en-US" sz="1250" dirty="0"/>
          </a:p>
        </p:txBody>
      </p:sp>
      <p:sp>
        <p:nvSpPr>
          <p:cNvPr id="4" name="Shape 2"/>
          <p:cNvSpPr/>
          <p:nvPr/>
        </p:nvSpPr>
        <p:spPr>
          <a:xfrm>
            <a:off x="566928" y="1554480"/>
            <a:ext cx="11027664" cy="1737360"/>
          </a:xfrm>
          <a:prstGeom prst="roundRect">
            <a:avLst>
              <a:gd name="adj" fmla="val 3158"/>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41248" y="1700784"/>
            <a:ext cx="6217920" cy="365760"/>
          </a:xfrm>
          <a:prstGeom prst="rect">
            <a:avLst/>
          </a:prstGeom>
          <a:noFill/>
          <a:ln/>
        </p:spPr>
        <p:txBody>
          <a:bodyPr wrap="square" lIns="0" tIns="0" rIns="0" bIns="0" rtlCol="0" anchor="ctr"/>
          <a:lstStyle/>
          <a:p>
            <a:pPr indent="0" marL="0">
              <a:buNone/>
            </a:pPr>
            <a:r>
              <a:rPr lang="en-US" sz="1150" dirty="0">
                <a:solidFill>
                  <a:srgbClr val="2B2523"/>
                </a:solidFill>
                <a:latin typeface="Calibri" pitchFamily="34" charset="0"/>
                <a:ea typeface="Calibri" pitchFamily="34" charset="-122"/>
                <a:cs typeface="Calibri" pitchFamily="34" charset="-120"/>
              </a:rPr>
              <a:t>Both market and reporting observed</a:t>
            </a:r>
            <a:endParaRPr lang="en-US" sz="1150" dirty="0"/>
          </a:p>
        </p:txBody>
      </p:sp>
      <p:sp>
        <p:nvSpPr>
          <p:cNvPr id="6" name="Text 4"/>
          <p:cNvSpPr/>
          <p:nvPr/>
        </p:nvSpPr>
        <p:spPr>
          <a:xfrm>
            <a:off x="7589520" y="1700784"/>
            <a:ext cx="1280160" cy="365760"/>
          </a:xfrm>
          <a:prstGeom prst="rect">
            <a:avLst/>
          </a:prstGeom>
          <a:noFill/>
          <a:ln/>
        </p:spPr>
        <p:txBody>
          <a:bodyPr wrap="square" lIns="0" tIns="0" rIns="0" bIns="0" rtlCol="0" anchor="ctr"/>
          <a:lstStyle/>
          <a:p>
            <a:pPr algn="r" indent="0" marL="0">
              <a:buNone/>
            </a:pPr>
            <a:r>
              <a:rPr lang="en-US" sz="1300" b="1" dirty="0">
                <a:solidFill>
                  <a:srgbClr val="B85042"/>
                </a:solidFill>
                <a:latin typeface="Cambria" pitchFamily="34" charset="0"/>
                <a:ea typeface="Cambria" pitchFamily="34" charset="-122"/>
                <a:cs typeface="Cambria" pitchFamily="34" charset="-120"/>
              </a:rPr>
              <a:t>304</a:t>
            </a:r>
            <a:endParaRPr lang="en-US" sz="1300" dirty="0"/>
          </a:p>
        </p:txBody>
      </p:sp>
      <p:sp>
        <p:nvSpPr>
          <p:cNvPr id="7" name="Text 5"/>
          <p:cNvSpPr/>
          <p:nvPr/>
        </p:nvSpPr>
        <p:spPr>
          <a:xfrm>
            <a:off x="9052560" y="1700784"/>
            <a:ext cx="1463040" cy="365760"/>
          </a:xfrm>
          <a:prstGeom prst="rect">
            <a:avLst/>
          </a:prstGeom>
          <a:noFill/>
          <a:ln/>
        </p:spPr>
        <p:txBody>
          <a:bodyPr wrap="square" lIns="0" tIns="0" rIns="0" bIns="0" rtlCol="0" anchor="ctr"/>
          <a:lstStyle/>
          <a:p>
            <a:pPr algn="r" indent="0" marL="0">
              <a:buNone/>
            </a:pPr>
            <a:r>
              <a:rPr lang="en-US" sz="1150" dirty="0">
                <a:solidFill>
                  <a:srgbClr val="7A6E68"/>
                </a:solidFill>
                <a:latin typeface="Calibri" pitchFamily="34" charset="0"/>
                <a:ea typeface="Calibri" pitchFamily="34" charset="-122"/>
                <a:cs typeface="Calibri" pitchFamily="34" charset="-120"/>
              </a:rPr>
              <a:t>34.2%</a:t>
            </a:r>
            <a:endParaRPr lang="en-US" sz="1150" dirty="0"/>
          </a:p>
        </p:txBody>
      </p:sp>
      <p:sp>
        <p:nvSpPr>
          <p:cNvPr id="8" name="Text 6"/>
          <p:cNvSpPr/>
          <p:nvPr/>
        </p:nvSpPr>
        <p:spPr>
          <a:xfrm>
            <a:off x="841248" y="2084832"/>
            <a:ext cx="6217920" cy="365760"/>
          </a:xfrm>
          <a:prstGeom prst="rect">
            <a:avLst/>
          </a:prstGeom>
          <a:noFill/>
          <a:ln/>
        </p:spPr>
        <p:txBody>
          <a:bodyPr wrap="square" lIns="0" tIns="0" rIns="0" bIns="0" rtlCol="0" anchor="ctr"/>
          <a:lstStyle/>
          <a:p>
            <a:pPr indent="0" marL="0">
              <a:buNone/>
            </a:pPr>
            <a:r>
              <a:rPr lang="en-US" sz="1150" dirty="0">
                <a:solidFill>
                  <a:srgbClr val="2B2523"/>
                </a:solidFill>
                <a:latin typeface="Calibri" pitchFamily="34" charset="0"/>
                <a:ea typeface="Calibri" pitchFamily="34" charset="-122"/>
                <a:cs typeface="Calibri" pitchFamily="34" charset="-120"/>
              </a:rPr>
              <a:t>Market only (reporting silent that month)</a:t>
            </a:r>
            <a:endParaRPr lang="en-US" sz="1150" dirty="0"/>
          </a:p>
        </p:txBody>
      </p:sp>
      <p:sp>
        <p:nvSpPr>
          <p:cNvPr id="9" name="Text 7"/>
          <p:cNvSpPr/>
          <p:nvPr/>
        </p:nvSpPr>
        <p:spPr>
          <a:xfrm>
            <a:off x="7589520" y="2084832"/>
            <a:ext cx="1280160" cy="365760"/>
          </a:xfrm>
          <a:prstGeom prst="rect">
            <a:avLst/>
          </a:prstGeom>
          <a:noFill/>
          <a:ln/>
        </p:spPr>
        <p:txBody>
          <a:bodyPr wrap="square" lIns="0" tIns="0" rIns="0" bIns="0" rtlCol="0" anchor="ctr"/>
          <a:lstStyle/>
          <a:p>
            <a:pPr algn="r" indent="0" marL="0">
              <a:buNone/>
            </a:pPr>
            <a:r>
              <a:rPr lang="en-US" sz="1300" b="1" dirty="0">
                <a:solidFill>
                  <a:srgbClr val="B85042"/>
                </a:solidFill>
                <a:latin typeface="Cambria" pitchFamily="34" charset="0"/>
                <a:ea typeface="Cambria" pitchFamily="34" charset="-122"/>
                <a:cs typeface="Cambria" pitchFamily="34" charset="-120"/>
              </a:rPr>
              <a:t>79</a:t>
            </a:r>
            <a:endParaRPr lang="en-US" sz="1300" dirty="0"/>
          </a:p>
        </p:txBody>
      </p:sp>
      <p:sp>
        <p:nvSpPr>
          <p:cNvPr id="10" name="Text 8"/>
          <p:cNvSpPr/>
          <p:nvPr/>
        </p:nvSpPr>
        <p:spPr>
          <a:xfrm>
            <a:off x="9052560" y="2084832"/>
            <a:ext cx="1463040" cy="365760"/>
          </a:xfrm>
          <a:prstGeom prst="rect">
            <a:avLst/>
          </a:prstGeom>
          <a:noFill/>
          <a:ln/>
        </p:spPr>
        <p:txBody>
          <a:bodyPr wrap="square" lIns="0" tIns="0" rIns="0" bIns="0" rtlCol="0" anchor="ctr"/>
          <a:lstStyle/>
          <a:p>
            <a:pPr algn="r" indent="0" marL="0">
              <a:buNone/>
            </a:pPr>
            <a:r>
              <a:rPr lang="en-US" sz="1150" dirty="0">
                <a:solidFill>
                  <a:srgbClr val="7A6E68"/>
                </a:solidFill>
                <a:latin typeface="Calibri" pitchFamily="34" charset="0"/>
                <a:ea typeface="Calibri" pitchFamily="34" charset="-122"/>
                <a:cs typeface="Calibri" pitchFamily="34" charset="-120"/>
              </a:rPr>
              <a:t>8.9%</a:t>
            </a:r>
            <a:endParaRPr lang="en-US" sz="1150" dirty="0"/>
          </a:p>
        </p:txBody>
      </p:sp>
      <p:sp>
        <p:nvSpPr>
          <p:cNvPr id="11" name="Text 9"/>
          <p:cNvSpPr/>
          <p:nvPr/>
        </p:nvSpPr>
        <p:spPr>
          <a:xfrm>
            <a:off x="841248" y="2468880"/>
            <a:ext cx="6217920" cy="365760"/>
          </a:xfrm>
          <a:prstGeom prst="rect">
            <a:avLst/>
          </a:prstGeom>
          <a:noFill/>
          <a:ln/>
        </p:spPr>
        <p:txBody>
          <a:bodyPr wrap="square" lIns="0" tIns="0" rIns="0" bIns="0" rtlCol="0" anchor="ctr"/>
          <a:lstStyle/>
          <a:p>
            <a:pPr indent="0" marL="0">
              <a:buNone/>
            </a:pPr>
            <a:r>
              <a:rPr lang="en-US" sz="1150" dirty="0">
                <a:solidFill>
                  <a:srgbClr val="2B2523"/>
                </a:solidFill>
                <a:latin typeface="Calibri" pitchFamily="34" charset="0"/>
                <a:ea typeface="Calibri" pitchFamily="34" charset="-122"/>
                <a:cs typeface="Calibri" pitchFamily="34" charset="-120"/>
              </a:rPr>
              <a:t>Reporting only (market silent that month)</a:t>
            </a:r>
            <a:endParaRPr lang="en-US" sz="1150" dirty="0"/>
          </a:p>
        </p:txBody>
      </p:sp>
      <p:sp>
        <p:nvSpPr>
          <p:cNvPr id="12" name="Text 10"/>
          <p:cNvSpPr/>
          <p:nvPr/>
        </p:nvSpPr>
        <p:spPr>
          <a:xfrm>
            <a:off x="7589520" y="2468880"/>
            <a:ext cx="1280160" cy="365760"/>
          </a:xfrm>
          <a:prstGeom prst="rect">
            <a:avLst/>
          </a:prstGeom>
          <a:noFill/>
          <a:ln/>
        </p:spPr>
        <p:txBody>
          <a:bodyPr wrap="square" lIns="0" tIns="0" rIns="0" bIns="0" rtlCol="0" anchor="ctr"/>
          <a:lstStyle/>
          <a:p>
            <a:pPr algn="r" indent="0" marL="0">
              <a:buNone/>
            </a:pPr>
            <a:r>
              <a:rPr lang="en-US" sz="1300" b="1" dirty="0">
                <a:solidFill>
                  <a:srgbClr val="B85042"/>
                </a:solidFill>
                <a:latin typeface="Cambria" pitchFamily="34" charset="0"/>
                <a:ea typeface="Cambria" pitchFamily="34" charset="-122"/>
                <a:cs typeface="Cambria" pitchFamily="34" charset="-120"/>
              </a:rPr>
              <a:t>230</a:t>
            </a:r>
            <a:endParaRPr lang="en-US" sz="1300" dirty="0"/>
          </a:p>
        </p:txBody>
      </p:sp>
      <p:sp>
        <p:nvSpPr>
          <p:cNvPr id="13" name="Text 11"/>
          <p:cNvSpPr/>
          <p:nvPr/>
        </p:nvSpPr>
        <p:spPr>
          <a:xfrm>
            <a:off x="9052560" y="2468880"/>
            <a:ext cx="1463040" cy="365760"/>
          </a:xfrm>
          <a:prstGeom prst="rect">
            <a:avLst/>
          </a:prstGeom>
          <a:noFill/>
          <a:ln/>
        </p:spPr>
        <p:txBody>
          <a:bodyPr wrap="square" lIns="0" tIns="0" rIns="0" bIns="0" rtlCol="0" anchor="ctr"/>
          <a:lstStyle/>
          <a:p>
            <a:pPr algn="r" indent="0" marL="0">
              <a:buNone/>
            </a:pPr>
            <a:r>
              <a:rPr lang="en-US" sz="1150" dirty="0">
                <a:solidFill>
                  <a:srgbClr val="7A6E68"/>
                </a:solidFill>
                <a:latin typeface="Calibri" pitchFamily="34" charset="0"/>
                <a:ea typeface="Calibri" pitchFamily="34" charset="-122"/>
                <a:cs typeface="Calibri" pitchFamily="34" charset="-120"/>
              </a:rPr>
              <a:t>25.9%</a:t>
            </a:r>
            <a:endParaRPr lang="en-US" sz="1150" dirty="0"/>
          </a:p>
        </p:txBody>
      </p:sp>
      <p:sp>
        <p:nvSpPr>
          <p:cNvPr id="14" name="Text 12"/>
          <p:cNvSpPr/>
          <p:nvPr/>
        </p:nvSpPr>
        <p:spPr>
          <a:xfrm>
            <a:off x="841248" y="2852928"/>
            <a:ext cx="6217920" cy="365760"/>
          </a:xfrm>
          <a:prstGeom prst="rect">
            <a:avLst/>
          </a:prstGeom>
          <a:noFill/>
          <a:ln/>
        </p:spPr>
        <p:txBody>
          <a:bodyPr wrap="square" lIns="0" tIns="0" rIns="0" bIns="0" rtlCol="0" anchor="ctr"/>
          <a:lstStyle/>
          <a:p>
            <a:pPr indent="0" marL="0">
              <a:buNone/>
            </a:pPr>
            <a:r>
              <a:rPr lang="en-US" sz="1150" dirty="0">
                <a:solidFill>
                  <a:srgbClr val="2B2523"/>
                </a:solidFill>
                <a:latin typeface="Calibri" pitchFamily="34" charset="0"/>
                <a:ea typeface="Calibri" pitchFamily="34" charset="-122"/>
                <a:cs typeface="Calibri" pitchFamily="34" charset="-120"/>
              </a:rPr>
              <a:t>Neither observed</a:t>
            </a:r>
            <a:endParaRPr lang="en-US" sz="1150" dirty="0"/>
          </a:p>
        </p:txBody>
      </p:sp>
      <p:sp>
        <p:nvSpPr>
          <p:cNvPr id="15" name="Text 13"/>
          <p:cNvSpPr/>
          <p:nvPr/>
        </p:nvSpPr>
        <p:spPr>
          <a:xfrm>
            <a:off x="7589520" y="2852928"/>
            <a:ext cx="1280160" cy="365760"/>
          </a:xfrm>
          <a:prstGeom prst="rect">
            <a:avLst/>
          </a:prstGeom>
          <a:noFill/>
          <a:ln/>
        </p:spPr>
        <p:txBody>
          <a:bodyPr wrap="square" lIns="0" tIns="0" rIns="0" bIns="0" rtlCol="0" anchor="ctr"/>
          <a:lstStyle/>
          <a:p>
            <a:pPr algn="r" indent="0" marL="0">
              <a:buNone/>
            </a:pPr>
            <a:r>
              <a:rPr lang="en-US" sz="1300" b="1" dirty="0">
                <a:solidFill>
                  <a:srgbClr val="B85042"/>
                </a:solidFill>
                <a:latin typeface="Cambria" pitchFamily="34" charset="0"/>
                <a:ea typeface="Cambria" pitchFamily="34" charset="-122"/>
                <a:cs typeface="Cambria" pitchFamily="34" charset="-120"/>
              </a:rPr>
              <a:t>275</a:t>
            </a:r>
            <a:endParaRPr lang="en-US" sz="1300" dirty="0"/>
          </a:p>
        </p:txBody>
      </p:sp>
      <p:sp>
        <p:nvSpPr>
          <p:cNvPr id="16" name="Text 14"/>
          <p:cNvSpPr/>
          <p:nvPr/>
        </p:nvSpPr>
        <p:spPr>
          <a:xfrm>
            <a:off x="9052560" y="2852928"/>
            <a:ext cx="1463040" cy="365760"/>
          </a:xfrm>
          <a:prstGeom prst="rect">
            <a:avLst/>
          </a:prstGeom>
          <a:noFill/>
          <a:ln/>
        </p:spPr>
        <p:txBody>
          <a:bodyPr wrap="square" lIns="0" tIns="0" rIns="0" bIns="0" rtlCol="0" anchor="ctr"/>
          <a:lstStyle/>
          <a:p>
            <a:pPr algn="r" indent="0" marL="0">
              <a:buNone/>
            </a:pPr>
            <a:r>
              <a:rPr lang="en-US" sz="1150" dirty="0">
                <a:solidFill>
                  <a:srgbClr val="7A6E68"/>
                </a:solidFill>
                <a:latin typeface="Calibri" pitchFamily="34" charset="0"/>
                <a:ea typeface="Calibri" pitchFamily="34" charset="-122"/>
                <a:cs typeface="Calibri" pitchFamily="34" charset="-120"/>
              </a:rPr>
              <a:t>31.0%</a:t>
            </a:r>
            <a:endParaRPr lang="en-US" sz="1150" dirty="0"/>
          </a:p>
        </p:txBody>
      </p:sp>
      <p:sp>
        <p:nvSpPr>
          <p:cNvPr id="17" name="Shape 15"/>
          <p:cNvSpPr/>
          <p:nvPr/>
        </p:nvSpPr>
        <p:spPr>
          <a:xfrm>
            <a:off x="566928" y="3474720"/>
            <a:ext cx="11027664" cy="1371600"/>
          </a:xfrm>
          <a:prstGeom prst="roundRect">
            <a:avLst>
              <a:gd name="adj" fmla="val 4000"/>
            </a:avLst>
          </a:prstGeom>
          <a:solidFill>
            <a:srgbClr val="2B2523"/>
          </a:solidFill>
          <a:ln/>
          <a:effectLst>
            <a:outerShdw sx="100000" sy="100000" kx="0" ky="0" algn="bl" rotWithShape="0" blurRad="76200" dist="381" dir="5400000">
              <a:srgbClr val="000000">
                <a:alpha val="8000"/>
              </a:srgbClr>
            </a:outerShdw>
          </a:effectLst>
        </p:spPr>
      </p:sp>
      <p:sp>
        <p:nvSpPr>
          <p:cNvPr id="18" name="Text 16"/>
          <p:cNvSpPr/>
          <p:nvPr/>
        </p:nvSpPr>
        <p:spPr>
          <a:xfrm>
            <a:off x="841248" y="3602736"/>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Each source's own unique contribution</a:t>
            </a:r>
            <a:endParaRPr lang="en-US" sz="1300" dirty="0"/>
          </a:p>
        </p:txBody>
      </p:sp>
      <p:sp>
        <p:nvSpPr>
          <p:cNvPr id="19" name="Text 17"/>
          <p:cNvSpPr/>
          <p:nvPr/>
        </p:nvSpPr>
        <p:spPr>
          <a:xfrm>
            <a:off x="841248" y="3913632"/>
            <a:ext cx="5239512" cy="566928"/>
          </a:xfrm>
          <a:prstGeom prst="rect">
            <a:avLst/>
          </a:prstGeom>
          <a:noFill/>
          <a:ln/>
        </p:spPr>
        <p:txBody>
          <a:bodyPr wrap="square" lIns="0" tIns="0" rIns="0" bIns="0" rtlCol="0" anchor="ctr"/>
          <a:lstStyle/>
          <a:p>
            <a:pPr algn="ctr" indent="0" marL="0">
              <a:buNone/>
            </a:pPr>
            <a:r>
              <a:rPr lang="en-US" sz="2600" b="1" dirty="0">
                <a:solidFill>
                  <a:srgbClr val="B85042"/>
                </a:solidFill>
                <a:latin typeface="Cambria" pitchFamily="34" charset="0"/>
                <a:ea typeface="Cambria" pitchFamily="34" charset="-122"/>
                <a:cs typeface="Cambria" pitchFamily="34" charset="-120"/>
              </a:rPr>
              <a:t>20.6%</a:t>
            </a:r>
            <a:endParaRPr lang="en-US" sz="2600" dirty="0"/>
          </a:p>
        </p:txBody>
      </p:sp>
      <p:sp>
        <p:nvSpPr>
          <p:cNvPr id="20" name="Text 18"/>
          <p:cNvSpPr/>
          <p:nvPr/>
        </p:nvSpPr>
        <p:spPr>
          <a:xfrm>
            <a:off x="841248" y="4462272"/>
            <a:ext cx="5239512"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of market's 383 covered district-months,</a:t>
            </a:r>
            <a:endParaRPr lang="en-US" sz="950" dirty="0"/>
          </a:p>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reporting would have missed on its own</a:t>
            </a:r>
            <a:endParaRPr lang="en-US" sz="950" dirty="0"/>
          </a:p>
        </p:txBody>
      </p:sp>
      <p:sp>
        <p:nvSpPr>
          <p:cNvPr id="21" name="Text 19"/>
          <p:cNvSpPr/>
          <p:nvPr/>
        </p:nvSpPr>
        <p:spPr>
          <a:xfrm>
            <a:off x="6080760" y="3913632"/>
            <a:ext cx="5239512" cy="566928"/>
          </a:xfrm>
          <a:prstGeom prst="rect">
            <a:avLst/>
          </a:prstGeom>
          <a:noFill/>
          <a:ln/>
        </p:spPr>
        <p:txBody>
          <a:bodyPr wrap="square" lIns="0" tIns="0" rIns="0" bIns="0" rtlCol="0" anchor="ctr"/>
          <a:lstStyle/>
          <a:p>
            <a:pPr algn="ctr" indent="0" marL="0">
              <a:buNone/>
            </a:pPr>
            <a:r>
              <a:rPr lang="en-US" sz="2600" b="1" dirty="0">
                <a:solidFill>
                  <a:srgbClr val="E7E8D1"/>
                </a:solidFill>
                <a:latin typeface="Cambria" pitchFamily="34" charset="0"/>
                <a:ea typeface="Cambria" pitchFamily="34" charset="-122"/>
                <a:cs typeface="Cambria" pitchFamily="34" charset="-120"/>
              </a:rPr>
              <a:t>43.1%</a:t>
            </a:r>
            <a:endParaRPr lang="en-US" sz="2600" dirty="0"/>
          </a:p>
        </p:txBody>
      </p:sp>
      <p:sp>
        <p:nvSpPr>
          <p:cNvPr id="22" name="Text 20"/>
          <p:cNvSpPr/>
          <p:nvPr/>
        </p:nvSpPr>
        <p:spPr>
          <a:xfrm>
            <a:off x="6080760" y="4462272"/>
            <a:ext cx="5239512" cy="457200"/>
          </a:xfrm>
          <a:prstGeom prst="rect">
            <a:avLst/>
          </a:prstGeom>
          <a:noFill/>
          <a:ln/>
        </p:spPr>
        <p:txBody>
          <a:bodyPr wrap="square" lIns="0" tIns="0" rIns="0" bIns="0" rtlCol="0" anchor="ctr"/>
          <a:lstStyle/>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of reporting's 534 covered district-months,</a:t>
            </a:r>
            <a:endParaRPr lang="en-US" sz="950" dirty="0"/>
          </a:p>
          <a:p>
            <a:pPr algn="ctr" indent="0" marL="0">
              <a:lnSpc>
                <a:spcPts val="1100"/>
              </a:lnSpc>
              <a:buNone/>
            </a:pPr>
            <a:r>
              <a:rPr lang="en-US" sz="950" dirty="0">
                <a:solidFill>
                  <a:srgbClr val="7A6E68"/>
                </a:solidFill>
                <a:latin typeface="Calibri" pitchFamily="34" charset="0"/>
                <a:ea typeface="Calibri" pitchFamily="34" charset="-122"/>
                <a:cs typeface="Calibri" pitchFamily="34" charset="-120"/>
              </a:rPr>
              <a:t>market would have missed on its own</a:t>
            </a:r>
            <a:endParaRPr lang="en-US" sz="950" dirty="0"/>
          </a:p>
        </p:txBody>
      </p:sp>
      <p:sp>
        <p:nvSpPr>
          <p:cNvPr id="23" name="Text 21"/>
          <p:cNvSpPr/>
          <p:nvPr/>
        </p:nvSpPr>
        <p:spPr>
          <a:xfrm>
            <a:off x="566928" y="5029200"/>
            <a:ext cx="11027664" cy="640080"/>
          </a:xfrm>
          <a:prstGeom prst="rect">
            <a:avLst/>
          </a:prstGeom>
          <a:noFill/>
          <a:ln/>
        </p:spPr>
        <p:txBody>
          <a:bodyPr wrap="square" lIns="0" tIns="0" rIns="0" bIns="0" rtlCol="0" anchor="ctr"/>
          <a:lstStyle/>
          <a:p>
            <a:pPr indent="0" marL="0">
              <a:lnSpc>
                <a:spcPts val="1500"/>
              </a:lnSpc>
              <a:buNone/>
            </a:pPr>
            <a:r>
              <a:rPr lang="en-US" sz="1150" i="1" dirty="0">
                <a:solidFill>
                  <a:srgbClr val="2B2523"/>
                </a:solidFill>
                <a:latin typeface="Calibri" pitchFamily="34" charset="0"/>
                <a:ea typeface="Calibri" pitchFamily="34" charset="-122"/>
                <a:cs typeface="Calibri" pitchFamily="34" charset="-120"/>
              </a:rPr>
              <a:t>Reporting is the bigger and more independent contributor: it covers more district-months outright, and a much larger share of what it covers, market simply cannot reach (39 of 74 districts have no market at all).</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Does this hold at the district level too?</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Month to month vs. which districts appear in the dataset at all</a:t>
            </a:r>
            <a:endParaRPr lang="en-US" sz="1250" dirty="0"/>
          </a:p>
        </p:txBody>
      </p:sp>
      <p:sp>
        <p:nvSpPr>
          <p:cNvPr id="4" name="Shape 2"/>
          <p:cNvSpPr/>
          <p:nvPr/>
        </p:nvSpPr>
        <p:spPr>
          <a:xfrm>
            <a:off x="566928" y="1554480"/>
            <a:ext cx="5486400" cy="3108960"/>
          </a:xfrm>
          <a:prstGeom prst="roundRect">
            <a:avLst>
              <a:gd name="adj" fmla="val 1765"/>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700784"/>
            <a:ext cx="2194560"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MONTH TO MONTH: COMPLEMENTARY</a:t>
            </a:r>
            <a:endParaRPr lang="en-US" sz="950" dirty="0"/>
          </a:p>
        </p:txBody>
      </p:sp>
      <p:sp>
        <p:nvSpPr>
          <p:cNvPr id="6" name="Text 4"/>
          <p:cNvSpPr/>
          <p:nvPr/>
        </p:nvSpPr>
        <p:spPr>
          <a:xfrm>
            <a:off x="786384" y="2011680"/>
            <a:ext cx="5029200" cy="1097280"/>
          </a:xfrm>
          <a:prstGeom prst="rect">
            <a:avLst/>
          </a:prstGeom>
          <a:noFill/>
          <a:ln/>
        </p:spPr>
        <p:txBody>
          <a:bodyPr wrap="square" lIns="0" tIns="0" rIns="0" bIns="0" rtlCol="0" anchor="ctr"/>
          <a:lstStyle/>
          <a:p>
            <a:pPr indent="0" marL="0">
              <a:lnSpc>
                <a:spcPts val="1600"/>
              </a:lnSpc>
              <a:buNone/>
            </a:pPr>
            <a:r>
              <a:rPr lang="en-US" sz="1200" dirty="0">
                <a:solidFill>
                  <a:srgbClr val="7A6E68"/>
                </a:solidFill>
                <a:latin typeface="Calibri" pitchFamily="34" charset="0"/>
                <a:ea typeface="Calibri" pitchFamily="34" charset="-122"/>
                <a:cs typeface="Calibri" pitchFamily="34" charset="-120"/>
              </a:rPr>
              <a:t>Market fills in real gaps reporting leaves in an average month, and reporting fills in gaps market leaves. Each source genuinely widens what gets seen, beyond what the other alone would show.</a:t>
            </a:r>
            <a:endParaRPr lang="en-US" sz="1200" dirty="0"/>
          </a:p>
        </p:txBody>
      </p:sp>
      <p:sp>
        <p:nvSpPr>
          <p:cNvPr id="7" name="Shape 5"/>
          <p:cNvSpPr/>
          <p:nvPr/>
        </p:nvSpPr>
        <p:spPr>
          <a:xfrm>
            <a:off x="6309360" y="1554480"/>
            <a:ext cx="5285232" cy="3108960"/>
          </a:xfrm>
          <a:prstGeom prst="roundRect">
            <a:avLst>
              <a:gd name="adj" fmla="val 1765"/>
            </a:avLst>
          </a:prstGeom>
          <a:solidFill>
            <a:srgbClr val="2B2523"/>
          </a:solidFill>
          <a:ln/>
          <a:effectLst>
            <a:outerShdw sx="100000" sy="100000" kx="0" ky="0" algn="bl" rotWithShape="0" blurRad="76200" dist="381" dir="5400000">
              <a:srgbClr val="000000">
                <a:alpha val="8000"/>
              </a:srgbClr>
            </a:outerShdw>
          </a:effectLst>
        </p:spPr>
      </p:sp>
      <p:sp>
        <p:nvSpPr>
          <p:cNvPr id="8" name="Text 6"/>
          <p:cNvSpPr/>
          <p:nvPr/>
        </p:nvSpPr>
        <p:spPr>
          <a:xfrm>
            <a:off x="6547104" y="1700784"/>
            <a:ext cx="4389120"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WHICH DISTRICTS GET SEEN AT ALL: NOT COMPLEMENTARY</a:t>
            </a:r>
            <a:endParaRPr lang="en-US" sz="950" dirty="0"/>
          </a:p>
        </p:txBody>
      </p:sp>
      <p:sp>
        <p:nvSpPr>
          <p:cNvPr id="9" name="Text 7"/>
          <p:cNvSpPr/>
          <p:nvPr/>
        </p:nvSpPr>
        <p:spPr>
          <a:xfrm>
            <a:off x="6547104" y="2048256"/>
            <a:ext cx="475488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32 / 0 / 41</a:t>
            </a:r>
            <a:endParaRPr lang="en-US" sz="2400" dirty="0"/>
          </a:p>
        </p:txBody>
      </p:sp>
      <p:sp>
        <p:nvSpPr>
          <p:cNvPr id="10" name="Text 8"/>
          <p:cNvSpPr/>
          <p:nvPr/>
        </p:nvSpPr>
        <p:spPr>
          <a:xfrm>
            <a:off x="6547104" y="2688336"/>
            <a:ext cx="4754880" cy="146304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Districts reached by both, by market only, and by reporting only. Every district with a market is also reached by reporting. Reporting alone reaches 41 districts market never touches.</a:t>
            </a:r>
            <a:endParaRPr lang="en-US" sz="1150" dirty="0"/>
          </a:p>
        </p:txBody>
      </p:sp>
      <p:sp>
        <p:nvSpPr>
          <p:cNvPr id="11" name="Shape 9"/>
          <p:cNvSpPr/>
          <p:nvPr/>
        </p:nvSpPr>
        <p:spPr>
          <a:xfrm>
            <a:off x="566928" y="4846320"/>
            <a:ext cx="11027664" cy="1371600"/>
          </a:xfrm>
          <a:prstGeom prst="roundRect">
            <a:avLst>
              <a:gd name="adj" fmla="val 4000"/>
            </a:avLst>
          </a:prstGeom>
          <a:solidFill>
            <a:srgbClr val="E7E8D1"/>
          </a:solidFill>
          <a:ln/>
          <a:effectLst>
            <a:outerShdw sx="100000" sy="100000" kx="0" ky="0" algn="bl" rotWithShape="0" blurRad="76200" dist="381" dir="5400000">
              <a:srgbClr val="000000">
                <a:alpha val="8000"/>
              </a:srgbClr>
            </a:outerShdw>
          </a:effectLst>
        </p:spPr>
      </p:sp>
      <p:sp>
        <p:nvSpPr>
          <p:cNvPr id="12" name="Text 10"/>
          <p:cNvSpPr/>
          <p:nvPr/>
        </p:nvSpPr>
        <p:spPr>
          <a:xfrm>
            <a:off x="841248" y="4974336"/>
            <a:ext cx="10479024" cy="1097280"/>
          </a:xfrm>
          <a:prstGeom prst="rect">
            <a:avLst/>
          </a:prstGeom>
          <a:noFill/>
          <a:ln/>
        </p:spPr>
        <p:txBody>
          <a:bodyPr wrap="square" lIns="0" tIns="0" rIns="0" bIns="0" rtlCol="0" anchor="ctr"/>
          <a:lstStyle/>
          <a:p>
            <a:pPr indent="0" marL="0">
              <a:lnSpc>
                <a:spcPts val="1500"/>
              </a:lnSpc>
              <a:buNone/>
            </a:pPr>
            <a:r>
              <a:rPr lang="en-US" sz="1150" dirty="0">
                <a:solidFill>
                  <a:srgbClr val="2B2523"/>
                </a:solidFill>
                <a:latin typeface="Calibri" pitchFamily="34" charset="0"/>
                <a:ea typeface="Calibri" pitchFamily="34" charset="-122"/>
                <a:cs typeface="Calibri" pitchFamily="34" charset="-120"/>
              </a:rPr>
              <a:t>Bottom line: combining sources is worth doing for the finer, month-level picture. For the coarser question of which districts exist in this dataset at all, reporting is carrying nearly the whole load on its own. SO_BANDER_BEYLA remains the one district neither source reaches, all year.</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Every feature now has an exact formula</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23 features across the four sources, documented in one place</a:t>
            </a:r>
            <a:endParaRPr lang="en-US" sz="1250" dirty="0"/>
          </a:p>
        </p:txBody>
      </p:sp>
      <p:sp>
        <p:nvSpPr>
          <p:cNvPr id="4" name="Shape 2"/>
          <p:cNvSpPr/>
          <p:nvPr/>
        </p:nvSpPr>
        <p:spPr>
          <a:xfrm>
            <a:off x="566928" y="1554480"/>
            <a:ext cx="2619756"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49808" y="1700784"/>
            <a:ext cx="2253996"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3</a:t>
            </a:r>
            <a:endParaRPr lang="en-US" sz="3000" dirty="0"/>
          </a:p>
        </p:txBody>
      </p:sp>
      <p:sp>
        <p:nvSpPr>
          <p:cNvPr id="6" name="Text 4"/>
          <p:cNvSpPr/>
          <p:nvPr/>
        </p:nvSpPr>
        <p:spPr>
          <a:xfrm>
            <a:off x="749808" y="2340864"/>
            <a:ext cx="2253996" cy="310896"/>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Conflict</a:t>
            </a:r>
            <a:endParaRPr lang="en-US" sz="1300" dirty="0"/>
          </a:p>
        </p:txBody>
      </p:sp>
      <p:sp>
        <p:nvSpPr>
          <p:cNvPr id="7" name="Text 5"/>
          <p:cNvSpPr/>
          <p:nvPr/>
        </p:nvSpPr>
        <p:spPr>
          <a:xfrm>
            <a:off x="749808" y="2688336"/>
            <a:ext cx="2253996" cy="118872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Zero-filled event counts and fatalities, plus a log-difference trend</a:t>
            </a:r>
            <a:endParaRPr lang="en-US" sz="950" dirty="0"/>
          </a:p>
        </p:txBody>
      </p:sp>
      <p:sp>
        <p:nvSpPr>
          <p:cNvPr id="8" name="Shape 6"/>
          <p:cNvSpPr/>
          <p:nvPr/>
        </p:nvSpPr>
        <p:spPr>
          <a:xfrm>
            <a:off x="3369564" y="1554480"/>
            <a:ext cx="2619756"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3552444" y="1700784"/>
            <a:ext cx="2253996"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2</a:t>
            </a:r>
            <a:endParaRPr lang="en-US" sz="3000" dirty="0"/>
          </a:p>
        </p:txBody>
      </p:sp>
      <p:sp>
        <p:nvSpPr>
          <p:cNvPr id="10" name="Text 8"/>
          <p:cNvSpPr/>
          <p:nvPr/>
        </p:nvSpPr>
        <p:spPr>
          <a:xfrm>
            <a:off x="3552444" y="2340864"/>
            <a:ext cx="2253996" cy="310896"/>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Climate</a:t>
            </a:r>
            <a:endParaRPr lang="en-US" sz="1300" dirty="0"/>
          </a:p>
        </p:txBody>
      </p:sp>
      <p:sp>
        <p:nvSpPr>
          <p:cNvPr id="11" name="Text 9"/>
          <p:cNvSpPr/>
          <p:nvPr/>
        </p:nvSpPr>
        <p:spPr>
          <a:xfrm>
            <a:off x="3552444" y="2688336"/>
            <a:ext cx="2253996" cy="118872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Monthly rainfall and a day-weighted average of the weekly vegetation index</a:t>
            </a:r>
            <a:endParaRPr lang="en-US" sz="950" dirty="0"/>
          </a:p>
        </p:txBody>
      </p:sp>
      <p:sp>
        <p:nvSpPr>
          <p:cNvPr id="12" name="Shape 10"/>
          <p:cNvSpPr/>
          <p:nvPr/>
        </p:nvSpPr>
        <p:spPr>
          <a:xfrm>
            <a:off x="6172200" y="1554480"/>
            <a:ext cx="2619756"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6355080" y="1700784"/>
            <a:ext cx="2253996"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16</a:t>
            </a:r>
            <a:endParaRPr lang="en-US" sz="3000" dirty="0"/>
          </a:p>
        </p:txBody>
      </p:sp>
      <p:sp>
        <p:nvSpPr>
          <p:cNvPr id="14" name="Text 12"/>
          <p:cNvSpPr/>
          <p:nvPr/>
        </p:nvSpPr>
        <p:spPr>
          <a:xfrm>
            <a:off x="6355080" y="2340864"/>
            <a:ext cx="2253996" cy="310896"/>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Market</a:t>
            </a:r>
            <a:endParaRPr lang="en-US" sz="1300" dirty="0"/>
          </a:p>
        </p:txBody>
      </p:sp>
      <p:sp>
        <p:nvSpPr>
          <p:cNvPr id="15" name="Text 13"/>
          <p:cNvSpPr/>
          <p:nvPr/>
        </p:nvSpPr>
        <p:spPr>
          <a:xfrm>
            <a:off x="6355080" y="2688336"/>
            <a:ext cx="2253996" cy="118872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Prices in USD, log-difference trends, WFP's own PEWI score per commodity, and 4 summary counts</a:t>
            </a:r>
            <a:endParaRPr lang="en-US" sz="950" dirty="0"/>
          </a:p>
        </p:txBody>
      </p:sp>
      <p:sp>
        <p:nvSpPr>
          <p:cNvPr id="16" name="Shape 14"/>
          <p:cNvSpPr/>
          <p:nvPr/>
        </p:nvSpPr>
        <p:spPr>
          <a:xfrm>
            <a:off x="8974836" y="1554480"/>
            <a:ext cx="2619756"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17" name="Text 15"/>
          <p:cNvSpPr/>
          <p:nvPr/>
        </p:nvSpPr>
        <p:spPr>
          <a:xfrm>
            <a:off x="9157716" y="1700784"/>
            <a:ext cx="2253996" cy="64008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2</a:t>
            </a:r>
            <a:endParaRPr lang="en-US" sz="3000" dirty="0"/>
          </a:p>
        </p:txBody>
      </p:sp>
      <p:sp>
        <p:nvSpPr>
          <p:cNvPr id="18" name="Text 16"/>
          <p:cNvSpPr/>
          <p:nvPr/>
        </p:nvSpPr>
        <p:spPr>
          <a:xfrm>
            <a:off x="9157716" y="2340864"/>
            <a:ext cx="2253996" cy="310896"/>
          </a:xfrm>
          <a:prstGeom prst="rect">
            <a:avLst/>
          </a:prstGeom>
          <a:noFill/>
          <a:ln/>
        </p:spPr>
        <p:txBody>
          <a:bodyPr wrap="square" lIns="0" tIns="0" rIns="0" bIns="0" rtlCol="0" anchor="ctr"/>
          <a:lstStyle/>
          <a:p>
            <a:pPr indent="0" marL="0">
              <a:buNone/>
            </a:pPr>
            <a:r>
              <a:rPr lang="en-US" sz="1300" b="1" dirty="0">
                <a:solidFill>
                  <a:srgbClr val="2B2523"/>
                </a:solidFill>
                <a:latin typeface="Cambria" pitchFamily="34" charset="0"/>
                <a:ea typeface="Cambria" pitchFamily="34" charset="-122"/>
                <a:cs typeface="Cambria" pitchFamily="34" charset="-120"/>
              </a:rPr>
              <a:t>Reporting</a:t>
            </a:r>
            <a:endParaRPr lang="en-US" sz="1300" dirty="0"/>
          </a:p>
        </p:txBody>
      </p:sp>
      <p:sp>
        <p:nvSpPr>
          <p:cNvPr id="19" name="Text 17"/>
          <p:cNvSpPr/>
          <p:nvPr/>
        </p:nvSpPr>
        <p:spPr>
          <a:xfrm>
            <a:off x="9157716" y="2688336"/>
            <a:ext cx="2253996" cy="1188720"/>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Report counts by district, and a food-and-nutrition subset</a:t>
            </a:r>
            <a:endParaRPr lang="en-US" sz="950" dirty="0"/>
          </a:p>
        </p:txBody>
      </p:sp>
      <p:sp>
        <p:nvSpPr>
          <p:cNvPr id="20" name="Shape 18"/>
          <p:cNvSpPr/>
          <p:nvPr/>
        </p:nvSpPr>
        <p:spPr>
          <a:xfrm>
            <a:off x="566928" y="4114800"/>
            <a:ext cx="11027664" cy="2103120"/>
          </a:xfrm>
          <a:prstGeom prst="roundRect">
            <a:avLst>
              <a:gd name="adj" fmla="val 2609"/>
            </a:avLst>
          </a:prstGeom>
          <a:solidFill>
            <a:srgbClr val="2B2523"/>
          </a:solidFill>
          <a:ln/>
          <a:effectLst>
            <a:outerShdw sx="100000" sy="100000" kx="0" ky="0" algn="bl" rotWithShape="0" blurRad="76200" dist="381" dir="5400000">
              <a:srgbClr val="000000">
                <a:alpha val="8000"/>
              </a:srgbClr>
            </a:outerShdw>
          </a:effectLst>
        </p:spPr>
      </p:sp>
      <p:sp>
        <p:nvSpPr>
          <p:cNvPr id="21" name="Text 19"/>
          <p:cNvSpPr/>
          <p:nvPr/>
        </p:nvSpPr>
        <p:spPr>
          <a:xfrm>
            <a:off x="841248" y="4242816"/>
            <a:ext cx="10479024" cy="292608"/>
          </a:xfrm>
          <a:prstGeom prst="rect">
            <a:avLst/>
          </a:prstGeom>
          <a:noFill/>
          <a:ln/>
        </p:spPr>
        <p:txBody>
          <a:bodyPr wrap="square" lIns="0" tIns="0" rIns="0" bIns="0" rtlCol="0" anchor="ctr"/>
          <a:lstStyle/>
          <a:p>
            <a:pPr indent="0" marL="0">
              <a:buNone/>
            </a:pPr>
            <a:r>
              <a:rPr lang="en-US" sz="1400" b="1" dirty="0">
                <a:solidFill>
                  <a:srgbClr val="A7BEAE"/>
                </a:solidFill>
                <a:latin typeface="Cambria" pitchFamily="34" charset="0"/>
                <a:ea typeface="Cambria" pitchFamily="34" charset="-122"/>
                <a:cs typeface="Cambria" pitchFamily="34" charset="-120"/>
              </a:rPr>
              <a:t>The log-difference distinction</a:t>
            </a:r>
            <a:endParaRPr lang="en-US" sz="1400" dirty="0"/>
          </a:p>
        </p:txBody>
      </p:sp>
      <p:sp>
        <p:nvSpPr>
          <p:cNvPr id="22" name="Text 20"/>
          <p:cNvSpPr/>
          <p:nvPr/>
        </p:nvSpPr>
        <p:spPr>
          <a:xfrm>
            <a:off x="841248" y="4572000"/>
            <a:ext cx="10479024" cy="146304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50" dirty="0">
                <a:solidFill>
                  <a:srgbClr val="E7E8D1"/>
                </a:solidFill>
                <a:latin typeface="Calibri" pitchFamily="34" charset="0"/>
                <a:ea typeface="Calibri" pitchFamily="34" charset="-122"/>
                <a:cs typeface="Calibri" pitchFamily="34" charset="-120"/>
              </a:rPr>
              <a:t>conflict_trend_log uses log1p (log of 1+x), because a district can genuinely have 0 conflict events in a month, and log(0) is undefined</a:t>
            </a:r>
            <a:endParaRPr lang="en-US" sz="1150" dirty="0"/>
          </a:p>
          <a:p>
            <a:pPr marL="342900" indent="-342900">
              <a:lnSpc>
                <a:spcPts val="1500"/>
              </a:lnSpc>
              <a:spcAft>
                <a:spcPts val="600"/>
              </a:spcAft>
              <a:buSzPct val="100000"/>
              <a:buChar char="•"/>
            </a:pPr>
            <a:r>
              <a:rPr lang="en-US" sz="1150" dirty="0">
                <a:solidFill>
                  <a:srgbClr val="E7E8D1"/>
                </a:solidFill>
                <a:latin typeface="Calibri" pitchFamily="34" charset="0"/>
                <a:ea typeface="Calibri" pitchFamily="34" charset="-122"/>
                <a:cs typeface="Calibri" pitchFamily="34" charset="-120"/>
              </a:rPr>
              <a:t>The market trend features use a plain log instead, since a valid price is never 0</a:t>
            </a:r>
            <a:endParaRPr lang="en-US" sz="1150" dirty="0"/>
          </a:p>
          <a:p>
            <a:pPr marL="342900" indent="-342900">
              <a:lnSpc>
                <a:spcPts val="1500"/>
              </a:lnSpc>
              <a:spcAft>
                <a:spcPts val="600"/>
              </a:spcAft>
              <a:buSzPct val="100000"/>
              <a:buChar char="•"/>
            </a:pPr>
            <a:r>
              <a:rPr lang="en-US" sz="1150" dirty="0">
                <a:solidFill>
                  <a:srgbClr val="E7E8D1"/>
                </a:solidFill>
                <a:latin typeface="Calibri" pitchFamily="34" charset="0"/>
                <a:ea typeface="Calibri" pitchFamily="34" charset="-122"/>
                <a:cs typeface="Calibri" pitchFamily="34" charset="-120"/>
              </a:rPr>
              <a:t>Both replaced percentage change, which breaks when the previous month is zero</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Conflict and climate features, one by one</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5 of the 23, all fully documented</a:t>
            </a:r>
            <a:endParaRPr lang="en-US" sz="1250" dirty="0"/>
          </a:p>
        </p:txBody>
      </p:sp>
      <p:sp>
        <p:nvSpPr>
          <p:cNvPr id="4" name="Shape 2"/>
          <p:cNvSpPr/>
          <p:nvPr/>
        </p:nvSpPr>
        <p:spPr>
          <a:xfrm>
            <a:off x="566928" y="1517904"/>
            <a:ext cx="11027664" cy="896112"/>
          </a:xfrm>
          <a:prstGeom prst="roundRect">
            <a:avLst>
              <a:gd name="adj" fmla="val 6122"/>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609344"/>
            <a:ext cx="2926080" cy="713232"/>
          </a:xfrm>
          <a:prstGeom prst="rect">
            <a:avLst/>
          </a:prstGeom>
          <a:noFill/>
          <a:ln/>
        </p:spPr>
        <p:txBody>
          <a:bodyPr wrap="square" lIns="0" tIns="0" rIns="0" bIns="0" rtlCol="0" anchor="ctr"/>
          <a:lstStyle/>
          <a:p>
            <a:pPr indent="0" marL="0">
              <a:lnSpc>
                <a:spcPts val="1400"/>
              </a:lnSpc>
              <a:buNone/>
            </a:pPr>
            <a:r>
              <a:rPr lang="en-US" sz="1150" b="1" dirty="0">
                <a:solidFill>
                  <a:srgbClr val="B85042"/>
                </a:solidFill>
                <a:latin typeface="Cambria" pitchFamily="34" charset="0"/>
                <a:ea typeface="Cambria" pitchFamily="34" charset="-122"/>
                <a:cs typeface="Cambria" pitchFamily="34" charset="-120"/>
              </a:rPr>
              <a:t>conflict_event_count</a:t>
            </a:r>
            <a:endParaRPr lang="en-US" sz="1150" dirty="0"/>
          </a:p>
        </p:txBody>
      </p:sp>
      <p:sp>
        <p:nvSpPr>
          <p:cNvPr id="6" name="Text 4"/>
          <p:cNvSpPr/>
          <p:nvPr/>
        </p:nvSpPr>
        <p:spPr>
          <a:xfrm>
            <a:off x="3657600" y="1609344"/>
            <a:ext cx="3566160" cy="713232"/>
          </a:xfrm>
          <a:prstGeom prst="rect">
            <a:avLst/>
          </a:prstGeom>
          <a:noFill/>
          <a:ln/>
        </p:spPr>
        <p:txBody>
          <a:bodyPr wrap="square" lIns="0" tIns="0" rIns="0" bIns="0" rtlCol="0" anchor="ctr"/>
          <a:lstStyle/>
          <a:p>
            <a:pPr indent="0" marL="0">
              <a:lnSpc>
                <a:spcPts val="1300"/>
              </a:lnSpc>
              <a:buNone/>
            </a:pPr>
            <a:r>
              <a:rPr lang="en-US" sz="1000" i="1" dirty="0">
                <a:solidFill>
                  <a:srgbClr val="2B2523"/>
                </a:solidFill>
                <a:latin typeface="Calibri" pitchFamily="34" charset="0"/>
                <a:ea typeface="Calibri" pitchFamily="34" charset="-122"/>
                <a:cs typeface="Calibri" pitchFamily="34" charset="-120"/>
              </a:rPr>
              <a:t>Count of ACLED events in that district and month</a:t>
            </a:r>
            <a:endParaRPr lang="en-US" sz="1000" dirty="0"/>
          </a:p>
        </p:txBody>
      </p:sp>
      <p:sp>
        <p:nvSpPr>
          <p:cNvPr id="7" name="Text 5"/>
          <p:cNvSpPr/>
          <p:nvPr/>
        </p:nvSpPr>
        <p:spPr>
          <a:xfrm>
            <a:off x="7360920" y="1609344"/>
            <a:ext cx="4014216" cy="71323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Zero-filled: no matching events means 0, not a missing gap.</a:t>
            </a:r>
            <a:endParaRPr lang="en-US" sz="950" dirty="0"/>
          </a:p>
        </p:txBody>
      </p:sp>
      <p:sp>
        <p:nvSpPr>
          <p:cNvPr id="8" name="Shape 6"/>
          <p:cNvSpPr/>
          <p:nvPr/>
        </p:nvSpPr>
        <p:spPr>
          <a:xfrm>
            <a:off x="566928" y="2523744"/>
            <a:ext cx="11027664" cy="896112"/>
          </a:xfrm>
          <a:prstGeom prst="roundRect">
            <a:avLst>
              <a:gd name="adj" fmla="val 6122"/>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786384" y="2615184"/>
            <a:ext cx="2926080" cy="713232"/>
          </a:xfrm>
          <a:prstGeom prst="rect">
            <a:avLst/>
          </a:prstGeom>
          <a:noFill/>
          <a:ln/>
        </p:spPr>
        <p:txBody>
          <a:bodyPr wrap="square" lIns="0" tIns="0" rIns="0" bIns="0" rtlCol="0" anchor="ctr"/>
          <a:lstStyle/>
          <a:p>
            <a:pPr indent="0" marL="0">
              <a:lnSpc>
                <a:spcPts val="1400"/>
              </a:lnSpc>
              <a:buNone/>
            </a:pPr>
            <a:r>
              <a:rPr lang="en-US" sz="1150" b="1" dirty="0">
                <a:solidFill>
                  <a:srgbClr val="B85042"/>
                </a:solidFill>
                <a:latin typeface="Cambria" pitchFamily="34" charset="0"/>
                <a:ea typeface="Cambria" pitchFamily="34" charset="-122"/>
                <a:cs typeface="Cambria" pitchFamily="34" charset="-120"/>
              </a:rPr>
              <a:t>fatalities</a:t>
            </a:r>
            <a:endParaRPr lang="en-US" sz="1150" dirty="0"/>
          </a:p>
        </p:txBody>
      </p:sp>
      <p:sp>
        <p:nvSpPr>
          <p:cNvPr id="10" name="Text 8"/>
          <p:cNvSpPr/>
          <p:nvPr/>
        </p:nvSpPr>
        <p:spPr>
          <a:xfrm>
            <a:off x="3657600" y="2615184"/>
            <a:ext cx="3566160" cy="713232"/>
          </a:xfrm>
          <a:prstGeom prst="rect">
            <a:avLst/>
          </a:prstGeom>
          <a:noFill/>
          <a:ln/>
        </p:spPr>
        <p:txBody>
          <a:bodyPr wrap="square" lIns="0" tIns="0" rIns="0" bIns="0" rtlCol="0" anchor="ctr"/>
          <a:lstStyle/>
          <a:p>
            <a:pPr indent="0" marL="0">
              <a:lnSpc>
                <a:spcPts val="1300"/>
              </a:lnSpc>
              <a:buNone/>
            </a:pPr>
            <a:r>
              <a:rPr lang="en-US" sz="1000" i="1" dirty="0">
                <a:solidFill>
                  <a:srgbClr val="2B2523"/>
                </a:solidFill>
                <a:latin typeface="Calibri" pitchFamily="34" charset="0"/>
                <a:ea typeface="Calibri" pitchFamily="34" charset="-122"/>
                <a:cs typeface="Calibri" pitchFamily="34" charset="-120"/>
              </a:rPr>
              <a:t>Sum of ACLED's fatalities field, same events</a:t>
            </a:r>
            <a:endParaRPr lang="en-US" sz="1000" dirty="0"/>
          </a:p>
        </p:txBody>
      </p:sp>
      <p:sp>
        <p:nvSpPr>
          <p:cNvPr id="11" name="Text 9"/>
          <p:cNvSpPr/>
          <p:nvPr/>
        </p:nvSpPr>
        <p:spPr>
          <a:xfrm>
            <a:off x="7360920" y="2615184"/>
            <a:ext cx="4014216" cy="71323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Also zero-filled the same way.</a:t>
            </a:r>
            <a:endParaRPr lang="en-US" sz="950" dirty="0"/>
          </a:p>
        </p:txBody>
      </p:sp>
      <p:sp>
        <p:nvSpPr>
          <p:cNvPr id="12" name="Shape 10"/>
          <p:cNvSpPr/>
          <p:nvPr/>
        </p:nvSpPr>
        <p:spPr>
          <a:xfrm>
            <a:off x="566928" y="3529584"/>
            <a:ext cx="11027664" cy="896112"/>
          </a:xfrm>
          <a:prstGeom prst="roundRect">
            <a:avLst>
              <a:gd name="adj" fmla="val 6122"/>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786384" y="3621024"/>
            <a:ext cx="2926080" cy="713232"/>
          </a:xfrm>
          <a:prstGeom prst="rect">
            <a:avLst/>
          </a:prstGeom>
          <a:noFill/>
          <a:ln/>
        </p:spPr>
        <p:txBody>
          <a:bodyPr wrap="square" lIns="0" tIns="0" rIns="0" bIns="0" rtlCol="0" anchor="ctr"/>
          <a:lstStyle/>
          <a:p>
            <a:pPr indent="0" marL="0">
              <a:lnSpc>
                <a:spcPts val="1400"/>
              </a:lnSpc>
              <a:buNone/>
            </a:pPr>
            <a:r>
              <a:rPr lang="en-US" sz="1150" b="1" dirty="0">
                <a:solidFill>
                  <a:srgbClr val="B85042"/>
                </a:solidFill>
                <a:latin typeface="Cambria" pitchFamily="34" charset="0"/>
                <a:ea typeface="Cambria" pitchFamily="34" charset="-122"/>
                <a:cs typeface="Cambria" pitchFamily="34" charset="-120"/>
              </a:rPr>
              <a:t>conflict_trend_log</a:t>
            </a:r>
            <a:endParaRPr lang="en-US" sz="1150" dirty="0"/>
          </a:p>
        </p:txBody>
      </p:sp>
      <p:sp>
        <p:nvSpPr>
          <p:cNvPr id="14" name="Text 12"/>
          <p:cNvSpPr/>
          <p:nvPr/>
        </p:nvSpPr>
        <p:spPr>
          <a:xfrm>
            <a:off x="3657600" y="3621024"/>
            <a:ext cx="3566160" cy="713232"/>
          </a:xfrm>
          <a:prstGeom prst="rect">
            <a:avLst/>
          </a:prstGeom>
          <a:noFill/>
          <a:ln/>
        </p:spPr>
        <p:txBody>
          <a:bodyPr wrap="square" lIns="0" tIns="0" rIns="0" bIns="0" rtlCol="0" anchor="ctr"/>
          <a:lstStyle/>
          <a:p>
            <a:pPr indent="0" marL="0">
              <a:lnSpc>
                <a:spcPts val="1300"/>
              </a:lnSpc>
              <a:buNone/>
            </a:pPr>
            <a:r>
              <a:rPr lang="en-US" sz="1000" i="1" dirty="0">
                <a:solidFill>
                  <a:srgbClr val="2B2523"/>
                </a:solidFill>
                <a:latin typeface="Calibri" pitchFamily="34" charset="0"/>
                <a:ea typeface="Calibri" pitchFamily="34" charset="-122"/>
                <a:cs typeface="Calibri" pitchFamily="34" charset="-120"/>
              </a:rPr>
              <a:t>log1p(events_t) - log1p(events_t-1)</a:t>
            </a:r>
            <a:endParaRPr lang="en-US" sz="1000" dirty="0"/>
          </a:p>
        </p:txBody>
      </p:sp>
      <p:sp>
        <p:nvSpPr>
          <p:cNvPr id="15" name="Text 13"/>
          <p:cNvSpPr/>
          <p:nvPr/>
        </p:nvSpPr>
        <p:spPr>
          <a:xfrm>
            <a:off x="7360920" y="3621024"/>
            <a:ext cx="4014216" cy="71323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How conflict activity changed since last month, on a log scale. Missing for each district's first month.</a:t>
            </a:r>
            <a:endParaRPr lang="en-US" sz="950" dirty="0"/>
          </a:p>
        </p:txBody>
      </p:sp>
      <p:sp>
        <p:nvSpPr>
          <p:cNvPr id="16" name="Shape 14"/>
          <p:cNvSpPr/>
          <p:nvPr/>
        </p:nvSpPr>
        <p:spPr>
          <a:xfrm>
            <a:off x="566928" y="4535424"/>
            <a:ext cx="11027664" cy="896112"/>
          </a:xfrm>
          <a:prstGeom prst="roundRect">
            <a:avLst>
              <a:gd name="adj" fmla="val 6122"/>
            </a:avLst>
          </a:prstGeom>
          <a:solidFill>
            <a:srgbClr val="F7F5F1"/>
          </a:solidFill>
          <a:ln/>
          <a:effectLst>
            <a:outerShdw sx="100000" sy="100000" kx="0" ky="0" algn="bl" rotWithShape="0" blurRad="76200" dist="381" dir="5400000">
              <a:srgbClr val="000000">
                <a:alpha val="8000"/>
              </a:srgbClr>
            </a:outerShdw>
          </a:effectLst>
        </p:spPr>
      </p:sp>
      <p:sp>
        <p:nvSpPr>
          <p:cNvPr id="17" name="Text 15"/>
          <p:cNvSpPr/>
          <p:nvPr/>
        </p:nvSpPr>
        <p:spPr>
          <a:xfrm>
            <a:off x="786384" y="4626864"/>
            <a:ext cx="2926080" cy="713232"/>
          </a:xfrm>
          <a:prstGeom prst="rect">
            <a:avLst/>
          </a:prstGeom>
          <a:noFill/>
          <a:ln/>
        </p:spPr>
        <p:txBody>
          <a:bodyPr wrap="square" lIns="0" tIns="0" rIns="0" bIns="0" rtlCol="0" anchor="ctr"/>
          <a:lstStyle/>
          <a:p>
            <a:pPr indent="0" marL="0">
              <a:lnSpc>
                <a:spcPts val="1400"/>
              </a:lnSpc>
              <a:buNone/>
            </a:pPr>
            <a:r>
              <a:rPr lang="en-US" sz="1150" b="1" dirty="0">
                <a:solidFill>
                  <a:srgbClr val="B85042"/>
                </a:solidFill>
                <a:latin typeface="Cambria" pitchFamily="34" charset="0"/>
                <a:ea typeface="Cambria" pitchFamily="34" charset="-122"/>
                <a:cs typeface="Cambria" pitchFamily="34" charset="-120"/>
              </a:rPr>
              <a:t>rainfall_mean_mm</a:t>
            </a:r>
            <a:endParaRPr lang="en-US" sz="1150" dirty="0"/>
          </a:p>
        </p:txBody>
      </p:sp>
      <p:sp>
        <p:nvSpPr>
          <p:cNvPr id="18" name="Text 16"/>
          <p:cNvSpPr/>
          <p:nvPr/>
        </p:nvSpPr>
        <p:spPr>
          <a:xfrm>
            <a:off x="3657600" y="4626864"/>
            <a:ext cx="3566160" cy="713232"/>
          </a:xfrm>
          <a:prstGeom prst="rect">
            <a:avLst/>
          </a:prstGeom>
          <a:noFill/>
          <a:ln/>
        </p:spPr>
        <p:txBody>
          <a:bodyPr wrap="square" lIns="0" tIns="0" rIns="0" bIns="0" rtlCol="0" anchor="ctr"/>
          <a:lstStyle/>
          <a:p>
            <a:pPr indent="0" marL="0">
              <a:lnSpc>
                <a:spcPts val="1300"/>
              </a:lnSpc>
              <a:buNone/>
            </a:pPr>
            <a:r>
              <a:rPr lang="en-US" sz="1000" i="1" dirty="0">
                <a:solidFill>
                  <a:srgbClr val="2B2523"/>
                </a:solidFill>
                <a:latin typeface="Calibri" pitchFamily="34" charset="0"/>
                <a:ea typeface="Calibri" pitchFamily="34" charset="-122"/>
                <a:cs typeface="Calibri" pitchFamily="34" charset="-120"/>
              </a:rPr>
              <a:t>Zonal mean of that month's CHIRPS raster</a:t>
            </a:r>
            <a:endParaRPr lang="en-US" sz="1000" dirty="0"/>
          </a:p>
        </p:txBody>
      </p:sp>
      <p:sp>
        <p:nvSpPr>
          <p:cNvPr id="19" name="Text 17"/>
          <p:cNvSpPr/>
          <p:nvPr/>
        </p:nvSpPr>
        <p:spPr>
          <a:xfrm>
            <a:off x="7360920" y="4626864"/>
            <a:ext cx="4014216" cy="71323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Average rainfall across the district, in millimetres. Never missing.</a:t>
            </a:r>
            <a:endParaRPr lang="en-US" sz="950" dirty="0"/>
          </a:p>
        </p:txBody>
      </p:sp>
      <p:sp>
        <p:nvSpPr>
          <p:cNvPr id="20" name="Shape 18"/>
          <p:cNvSpPr/>
          <p:nvPr/>
        </p:nvSpPr>
        <p:spPr>
          <a:xfrm>
            <a:off x="566928" y="5541264"/>
            <a:ext cx="11027664" cy="896112"/>
          </a:xfrm>
          <a:prstGeom prst="roundRect">
            <a:avLst>
              <a:gd name="adj" fmla="val 6122"/>
            </a:avLst>
          </a:prstGeom>
          <a:solidFill>
            <a:srgbClr val="F7F5F1"/>
          </a:solidFill>
          <a:ln/>
          <a:effectLst>
            <a:outerShdw sx="100000" sy="100000" kx="0" ky="0" algn="bl" rotWithShape="0" blurRad="76200" dist="381" dir="5400000">
              <a:srgbClr val="000000">
                <a:alpha val="8000"/>
              </a:srgbClr>
            </a:outerShdw>
          </a:effectLst>
        </p:spPr>
      </p:sp>
      <p:sp>
        <p:nvSpPr>
          <p:cNvPr id="21" name="Text 19"/>
          <p:cNvSpPr/>
          <p:nvPr/>
        </p:nvSpPr>
        <p:spPr>
          <a:xfrm>
            <a:off x="786384" y="5632704"/>
            <a:ext cx="2926080" cy="713232"/>
          </a:xfrm>
          <a:prstGeom prst="rect">
            <a:avLst/>
          </a:prstGeom>
          <a:noFill/>
          <a:ln/>
        </p:spPr>
        <p:txBody>
          <a:bodyPr wrap="square" lIns="0" tIns="0" rIns="0" bIns="0" rtlCol="0" anchor="ctr"/>
          <a:lstStyle/>
          <a:p>
            <a:pPr indent="0" marL="0">
              <a:lnSpc>
                <a:spcPts val="1400"/>
              </a:lnSpc>
              <a:buNone/>
            </a:pPr>
            <a:r>
              <a:rPr lang="en-US" sz="1150" b="1" dirty="0">
                <a:solidFill>
                  <a:srgbClr val="B85042"/>
                </a:solidFill>
                <a:latin typeface="Cambria" pitchFamily="34" charset="0"/>
                <a:ea typeface="Cambria" pitchFamily="34" charset="-122"/>
                <a:cs typeface="Cambria" pitchFamily="34" charset="-120"/>
              </a:rPr>
              <a:t>vegetation_health_index_mean</a:t>
            </a:r>
            <a:endParaRPr lang="en-US" sz="1150" dirty="0"/>
          </a:p>
        </p:txBody>
      </p:sp>
      <p:sp>
        <p:nvSpPr>
          <p:cNvPr id="22" name="Text 20"/>
          <p:cNvSpPr/>
          <p:nvPr/>
        </p:nvSpPr>
        <p:spPr>
          <a:xfrm>
            <a:off x="3657600" y="5632704"/>
            <a:ext cx="3566160" cy="713232"/>
          </a:xfrm>
          <a:prstGeom prst="rect">
            <a:avLst/>
          </a:prstGeom>
          <a:noFill/>
          <a:ln/>
        </p:spPr>
        <p:txBody>
          <a:bodyPr wrap="square" lIns="0" tIns="0" rIns="0" bIns="0" rtlCol="0" anchor="ctr"/>
          <a:lstStyle/>
          <a:p>
            <a:pPr indent="0" marL="0">
              <a:lnSpc>
                <a:spcPts val="1300"/>
              </a:lnSpc>
              <a:buNone/>
            </a:pPr>
            <a:r>
              <a:rPr lang="en-US" sz="1000" i="1" dirty="0">
                <a:solidFill>
                  <a:srgbClr val="2B2523"/>
                </a:solidFill>
                <a:latin typeface="Calibri" pitchFamily="34" charset="0"/>
                <a:ea typeface="Calibri" pitchFamily="34" charset="-122"/>
                <a:cs typeface="Calibri" pitchFamily="34" charset="-120"/>
              </a:rPr>
              <a:t>Day-weighted average of the weekly VHI rasters overlapping the month</a:t>
            </a:r>
            <a:endParaRPr lang="en-US" sz="1000" dirty="0"/>
          </a:p>
        </p:txBody>
      </p:sp>
      <p:sp>
        <p:nvSpPr>
          <p:cNvPr id="23" name="Text 21"/>
          <p:cNvSpPr/>
          <p:nvPr/>
        </p:nvSpPr>
        <p:spPr>
          <a:xfrm>
            <a:off x="7360920" y="5632704"/>
            <a:ext cx="4014216" cy="71323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VHI is published weekly, not monthly, so each week is weighted by its overlap with the target month. Never missing.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Market features, by formula group</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16 features, 7 distinct formula patterns (4 are per-commodity)</a:t>
            </a:r>
            <a:endParaRPr lang="en-US" sz="1250" dirty="0"/>
          </a:p>
        </p:txBody>
      </p:sp>
      <p:sp>
        <p:nvSpPr>
          <p:cNvPr id="4" name="Shape 2"/>
          <p:cNvSpPr/>
          <p:nvPr/>
        </p:nvSpPr>
        <p:spPr>
          <a:xfrm>
            <a:off x="566928" y="1371600"/>
            <a:ext cx="11027664" cy="713232"/>
          </a:xfrm>
          <a:prstGeom prst="roundRect">
            <a:avLst>
              <a:gd name="adj" fmla="val 7692"/>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786384" y="1426464"/>
            <a:ext cx="2926080" cy="603504"/>
          </a:xfrm>
          <a:prstGeom prst="rect">
            <a:avLst/>
          </a:prstGeom>
          <a:noFill/>
          <a:ln/>
        </p:spPr>
        <p:txBody>
          <a:bodyPr wrap="square" lIns="0" tIns="0" rIns="0" bIns="0" rtlCol="0" anchor="ctr"/>
          <a:lstStyle/>
          <a:p>
            <a:pPr indent="0" marL="0">
              <a:lnSpc>
                <a:spcPts val="1200"/>
              </a:lnSpc>
              <a:buNone/>
            </a:pPr>
            <a:r>
              <a:rPr lang="en-US" sz="1050" b="1" dirty="0">
                <a:solidFill>
                  <a:srgbClr val="B85042"/>
                </a:solidFill>
                <a:latin typeface="Cambria" pitchFamily="34" charset="0"/>
                <a:ea typeface="Cambria" pitchFamily="34" charset="-122"/>
                <a:cs typeface="Cambria" pitchFamily="34" charset="-120"/>
              </a:rPr>
              <a:t>{c}_price_usd  (x4)</a:t>
            </a:r>
            <a:endParaRPr lang="en-US" sz="1050" dirty="0"/>
          </a:p>
        </p:txBody>
      </p:sp>
      <p:sp>
        <p:nvSpPr>
          <p:cNvPr id="6" name="Text 4"/>
          <p:cNvSpPr/>
          <p:nvPr/>
        </p:nvSpPr>
        <p:spPr>
          <a:xfrm>
            <a:off x="3657600" y="1426464"/>
            <a:ext cx="3566160" cy="603504"/>
          </a:xfrm>
          <a:prstGeom prst="rect">
            <a:avLst/>
          </a:prstGeom>
          <a:noFill/>
          <a:ln/>
        </p:spPr>
        <p:txBody>
          <a:bodyPr wrap="square" lIns="0" tIns="0" rIns="0" bIns="0" rtlCol="0" anchor="ctr"/>
          <a:lstStyle/>
          <a:p>
            <a:pPr indent="0" marL="0">
              <a:lnSpc>
                <a:spcPts val="1100"/>
              </a:lnSpc>
              <a:buNone/>
            </a:pPr>
            <a:r>
              <a:rPr lang="en-US" sz="900" i="1" dirty="0">
                <a:solidFill>
                  <a:srgbClr val="2B2523"/>
                </a:solidFill>
                <a:latin typeface="Calibri" pitchFamily="34" charset="0"/>
                <a:ea typeface="Calibri" pitchFamily="34" charset="-122"/>
                <a:cs typeface="Calibri" pitchFamily="34" charset="-120"/>
              </a:rPr>
              <a:t>price_local / exchange_rate_to_usd</a:t>
            </a:r>
            <a:endParaRPr lang="en-US" sz="900" dirty="0"/>
          </a:p>
        </p:txBody>
      </p:sp>
      <p:sp>
        <p:nvSpPr>
          <p:cNvPr id="7" name="Text 5"/>
          <p:cNvSpPr/>
          <p:nvPr/>
        </p:nvSpPr>
        <p:spPr>
          <a:xfrm>
            <a:off x="7360920" y="1426464"/>
            <a:ext cx="4014216" cy="603504"/>
          </a:xfrm>
          <a:prstGeom prst="rect">
            <a:avLst/>
          </a:prstGeom>
          <a:noFill/>
          <a:ln/>
        </p:spPr>
        <p:txBody>
          <a:bodyPr wrap="square" lIns="0" tIns="0" rIns="0" bIns="0" rtlCol="0" anchor="ctr"/>
          <a:lstStyle/>
          <a:p>
            <a:pPr indent="0" marL="0">
              <a:lnSpc>
                <a:spcPts val="1000"/>
              </a:lnSpc>
              <a:buNone/>
            </a:pPr>
            <a:r>
              <a:rPr lang="en-US" sz="850" dirty="0">
                <a:solidFill>
                  <a:srgbClr val="7A6E68"/>
                </a:solidFill>
                <a:latin typeface="Calibri" pitchFamily="34" charset="0"/>
                <a:ea typeface="Calibri" pitchFamily="34" charset="-122"/>
                <a:cs typeface="Calibri" pitchFamily="34" charset="-120"/>
              </a:rPr>
              <a:t>USD price for wheat flour, rice, sugar, oil. Averaged across markets if more than one reports in a district.</a:t>
            </a:r>
            <a:endParaRPr lang="en-US" sz="850" dirty="0"/>
          </a:p>
        </p:txBody>
      </p:sp>
      <p:sp>
        <p:nvSpPr>
          <p:cNvPr id="8" name="Shape 6"/>
          <p:cNvSpPr/>
          <p:nvPr/>
        </p:nvSpPr>
        <p:spPr>
          <a:xfrm>
            <a:off x="566928" y="2176272"/>
            <a:ext cx="11027664" cy="713232"/>
          </a:xfrm>
          <a:prstGeom prst="roundRect">
            <a:avLst>
              <a:gd name="adj" fmla="val 7692"/>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786384" y="2231136"/>
            <a:ext cx="2926080" cy="603504"/>
          </a:xfrm>
          <a:prstGeom prst="rect">
            <a:avLst/>
          </a:prstGeom>
          <a:noFill/>
          <a:ln/>
        </p:spPr>
        <p:txBody>
          <a:bodyPr wrap="square" lIns="0" tIns="0" rIns="0" bIns="0" rtlCol="0" anchor="ctr"/>
          <a:lstStyle/>
          <a:p>
            <a:pPr indent="0" marL="0">
              <a:lnSpc>
                <a:spcPts val="1200"/>
              </a:lnSpc>
              <a:buNone/>
            </a:pPr>
            <a:r>
              <a:rPr lang="en-US" sz="1050" b="1" dirty="0">
                <a:solidFill>
                  <a:srgbClr val="B85042"/>
                </a:solidFill>
                <a:latin typeface="Cambria" pitchFamily="34" charset="0"/>
                <a:ea typeface="Cambria" pitchFamily="34" charset="-122"/>
                <a:cs typeface="Cambria" pitchFamily="34" charset="-120"/>
              </a:rPr>
              <a:t>{c}_trend_log  (x4)</a:t>
            </a:r>
            <a:endParaRPr lang="en-US" sz="1050" dirty="0"/>
          </a:p>
        </p:txBody>
      </p:sp>
      <p:sp>
        <p:nvSpPr>
          <p:cNvPr id="10" name="Text 8"/>
          <p:cNvSpPr/>
          <p:nvPr/>
        </p:nvSpPr>
        <p:spPr>
          <a:xfrm>
            <a:off x="3657600" y="2231136"/>
            <a:ext cx="3566160" cy="603504"/>
          </a:xfrm>
          <a:prstGeom prst="rect">
            <a:avLst/>
          </a:prstGeom>
          <a:noFill/>
          <a:ln/>
        </p:spPr>
        <p:txBody>
          <a:bodyPr wrap="square" lIns="0" tIns="0" rIns="0" bIns="0" rtlCol="0" anchor="ctr"/>
          <a:lstStyle/>
          <a:p>
            <a:pPr indent="0" marL="0">
              <a:lnSpc>
                <a:spcPts val="1100"/>
              </a:lnSpc>
              <a:buNone/>
            </a:pPr>
            <a:r>
              <a:rPr lang="en-US" sz="900" i="1" dirty="0">
                <a:solidFill>
                  <a:srgbClr val="2B2523"/>
                </a:solidFill>
                <a:latin typeface="Calibri" pitchFamily="34" charset="0"/>
                <a:ea typeface="Calibri" pitchFamily="34" charset="-122"/>
                <a:cs typeface="Calibri" pitchFamily="34" charset="-120"/>
              </a:rPr>
              <a:t>log(price_t) - log(price_t-1)</a:t>
            </a:r>
            <a:endParaRPr lang="en-US" sz="900" dirty="0"/>
          </a:p>
        </p:txBody>
      </p:sp>
      <p:sp>
        <p:nvSpPr>
          <p:cNvPr id="11" name="Text 9"/>
          <p:cNvSpPr/>
          <p:nvPr/>
        </p:nvSpPr>
        <p:spPr>
          <a:xfrm>
            <a:off x="7360920" y="2231136"/>
            <a:ext cx="4014216" cy="603504"/>
          </a:xfrm>
          <a:prstGeom prst="rect">
            <a:avLst/>
          </a:prstGeom>
          <a:noFill/>
          <a:ln/>
        </p:spPr>
        <p:txBody>
          <a:bodyPr wrap="square" lIns="0" tIns="0" rIns="0" bIns="0" rtlCol="0" anchor="ctr"/>
          <a:lstStyle/>
          <a:p>
            <a:pPr indent="0" marL="0">
              <a:lnSpc>
                <a:spcPts val="1000"/>
              </a:lnSpc>
              <a:buNone/>
            </a:pPr>
            <a:r>
              <a:rPr lang="en-US" sz="850" dirty="0">
                <a:solidFill>
                  <a:srgbClr val="7A6E68"/>
                </a:solidFill>
                <a:latin typeface="Calibri" pitchFamily="34" charset="0"/>
                <a:ea typeface="Calibri" pitchFamily="34" charset="-122"/>
                <a:cs typeface="Calibri" pitchFamily="34" charset="-120"/>
              </a:rPr>
              <a:t>Month-over-month change, log scale. Missing whenever either month's price is missing.</a:t>
            </a:r>
            <a:endParaRPr lang="en-US" sz="850" dirty="0"/>
          </a:p>
        </p:txBody>
      </p:sp>
      <p:sp>
        <p:nvSpPr>
          <p:cNvPr id="12" name="Shape 10"/>
          <p:cNvSpPr/>
          <p:nvPr/>
        </p:nvSpPr>
        <p:spPr>
          <a:xfrm>
            <a:off x="566928" y="2980944"/>
            <a:ext cx="11027664" cy="713232"/>
          </a:xfrm>
          <a:prstGeom prst="roundRect">
            <a:avLst>
              <a:gd name="adj" fmla="val 7692"/>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786384" y="3035808"/>
            <a:ext cx="2926080" cy="603504"/>
          </a:xfrm>
          <a:prstGeom prst="rect">
            <a:avLst/>
          </a:prstGeom>
          <a:noFill/>
          <a:ln/>
        </p:spPr>
        <p:txBody>
          <a:bodyPr wrap="square" lIns="0" tIns="0" rIns="0" bIns="0" rtlCol="0" anchor="ctr"/>
          <a:lstStyle/>
          <a:p>
            <a:pPr indent="0" marL="0">
              <a:lnSpc>
                <a:spcPts val="1200"/>
              </a:lnSpc>
              <a:buNone/>
            </a:pPr>
            <a:r>
              <a:rPr lang="en-US" sz="1050" b="1" dirty="0">
                <a:solidFill>
                  <a:srgbClr val="B85042"/>
                </a:solidFill>
                <a:latin typeface="Cambria" pitchFamily="34" charset="0"/>
                <a:ea typeface="Cambria" pitchFamily="34" charset="-122"/>
                <a:cs typeface="Cambria" pitchFamily="34" charset="-120"/>
              </a:rPr>
              <a:t>{c}_pewi_score  (x4)</a:t>
            </a:r>
            <a:endParaRPr lang="en-US" sz="1050" dirty="0"/>
          </a:p>
        </p:txBody>
      </p:sp>
      <p:sp>
        <p:nvSpPr>
          <p:cNvPr id="14" name="Text 12"/>
          <p:cNvSpPr/>
          <p:nvPr/>
        </p:nvSpPr>
        <p:spPr>
          <a:xfrm>
            <a:off x="3657600" y="3035808"/>
            <a:ext cx="3566160" cy="603504"/>
          </a:xfrm>
          <a:prstGeom prst="rect">
            <a:avLst/>
          </a:prstGeom>
          <a:noFill/>
          <a:ln/>
        </p:spPr>
        <p:txBody>
          <a:bodyPr wrap="square" lIns="0" tIns="0" rIns="0" bIns="0" rtlCol="0" anchor="ctr"/>
          <a:lstStyle/>
          <a:p>
            <a:pPr indent="0" marL="0">
              <a:lnSpc>
                <a:spcPts val="1100"/>
              </a:lnSpc>
              <a:buNone/>
            </a:pPr>
            <a:r>
              <a:rPr lang="en-US" sz="900" i="1" dirty="0">
                <a:solidFill>
                  <a:srgbClr val="2B2523"/>
                </a:solidFill>
                <a:latin typeface="Calibri" pitchFamily="34" charset="0"/>
                <a:ea typeface="Calibri" pitchFamily="34" charset="-122"/>
                <a:cs typeface="Calibri" pitchFamily="34" charset="-120"/>
              </a:rPr>
              <a:t>Taken directly from WFP's own "Pewi" column</a:t>
            </a:r>
            <a:endParaRPr lang="en-US" sz="900" dirty="0"/>
          </a:p>
        </p:txBody>
      </p:sp>
      <p:sp>
        <p:nvSpPr>
          <p:cNvPr id="15" name="Text 13"/>
          <p:cNvSpPr/>
          <p:nvPr/>
        </p:nvSpPr>
        <p:spPr>
          <a:xfrm>
            <a:off x="7360920" y="3035808"/>
            <a:ext cx="4014216" cy="603504"/>
          </a:xfrm>
          <a:prstGeom prst="rect">
            <a:avLst/>
          </a:prstGeom>
          <a:noFill/>
          <a:ln/>
        </p:spPr>
        <p:txBody>
          <a:bodyPr wrap="square" lIns="0" tIns="0" rIns="0" bIns="0" rtlCol="0" anchor="ctr"/>
          <a:lstStyle/>
          <a:p>
            <a:pPr indent="0" marL="0">
              <a:lnSpc>
                <a:spcPts val="1000"/>
              </a:lnSpc>
              <a:buNone/>
            </a:pPr>
            <a:r>
              <a:rPr lang="en-US" sz="850" dirty="0">
                <a:solidFill>
                  <a:srgbClr val="7A6E68"/>
                </a:solidFill>
                <a:latin typeface="Calibri" pitchFamily="34" charset="0"/>
                <a:ea typeface="Calibri" pitchFamily="34" charset="-122"/>
                <a:cs typeface="Calibri" pitchFamily="34" charset="-120"/>
              </a:rPr>
              <a:t>Not computed by this pipeline. Full explanation next slide.</a:t>
            </a:r>
            <a:endParaRPr lang="en-US" sz="850" dirty="0"/>
          </a:p>
        </p:txBody>
      </p:sp>
      <p:sp>
        <p:nvSpPr>
          <p:cNvPr id="16" name="Shape 14"/>
          <p:cNvSpPr/>
          <p:nvPr/>
        </p:nvSpPr>
        <p:spPr>
          <a:xfrm>
            <a:off x="566928" y="3785616"/>
            <a:ext cx="11027664" cy="713232"/>
          </a:xfrm>
          <a:prstGeom prst="roundRect">
            <a:avLst>
              <a:gd name="adj" fmla="val 7692"/>
            </a:avLst>
          </a:prstGeom>
          <a:solidFill>
            <a:srgbClr val="F7F5F1"/>
          </a:solidFill>
          <a:ln/>
          <a:effectLst>
            <a:outerShdw sx="100000" sy="100000" kx="0" ky="0" algn="bl" rotWithShape="0" blurRad="76200" dist="381" dir="5400000">
              <a:srgbClr val="000000">
                <a:alpha val="8000"/>
              </a:srgbClr>
            </a:outerShdw>
          </a:effectLst>
        </p:spPr>
      </p:sp>
      <p:sp>
        <p:nvSpPr>
          <p:cNvPr id="17" name="Text 15"/>
          <p:cNvSpPr/>
          <p:nvPr/>
        </p:nvSpPr>
        <p:spPr>
          <a:xfrm>
            <a:off x="786384" y="3840480"/>
            <a:ext cx="2926080" cy="603504"/>
          </a:xfrm>
          <a:prstGeom prst="rect">
            <a:avLst/>
          </a:prstGeom>
          <a:noFill/>
          <a:ln/>
        </p:spPr>
        <p:txBody>
          <a:bodyPr wrap="square" lIns="0" tIns="0" rIns="0" bIns="0" rtlCol="0" anchor="ctr"/>
          <a:lstStyle/>
          <a:p>
            <a:pPr indent="0" marL="0">
              <a:lnSpc>
                <a:spcPts val="1200"/>
              </a:lnSpc>
              <a:buNone/>
            </a:pPr>
            <a:r>
              <a:rPr lang="en-US" sz="1050" b="1" dirty="0">
                <a:solidFill>
                  <a:srgbClr val="B85042"/>
                </a:solidFill>
                <a:latin typeface="Cambria" pitchFamily="34" charset="0"/>
                <a:ea typeface="Cambria" pitchFamily="34" charset="-122"/>
                <a:cs typeface="Cambria" pitchFamily="34" charset="-120"/>
              </a:rPr>
              <a:t>commodities_tracked_count</a:t>
            </a:r>
            <a:endParaRPr lang="en-US" sz="1050" dirty="0"/>
          </a:p>
        </p:txBody>
      </p:sp>
      <p:sp>
        <p:nvSpPr>
          <p:cNvPr id="18" name="Text 16"/>
          <p:cNvSpPr/>
          <p:nvPr/>
        </p:nvSpPr>
        <p:spPr>
          <a:xfrm>
            <a:off x="3657600" y="3840480"/>
            <a:ext cx="3566160" cy="603504"/>
          </a:xfrm>
          <a:prstGeom prst="rect">
            <a:avLst/>
          </a:prstGeom>
          <a:noFill/>
          <a:ln/>
        </p:spPr>
        <p:txBody>
          <a:bodyPr wrap="square" lIns="0" tIns="0" rIns="0" bIns="0" rtlCol="0" anchor="ctr"/>
          <a:lstStyle/>
          <a:p>
            <a:pPr indent="0" marL="0">
              <a:lnSpc>
                <a:spcPts val="1100"/>
              </a:lnSpc>
              <a:buNone/>
            </a:pPr>
            <a:r>
              <a:rPr lang="en-US" sz="900" i="1" dirty="0">
                <a:solidFill>
                  <a:srgbClr val="2B2523"/>
                </a:solidFill>
                <a:latin typeface="Calibri" pitchFamily="34" charset="0"/>
                <a:ea typeface="Calibri" pitchFamily="34" charset="-122"/>
                <a:cs typeface="Calibri" pitchFamily="34" charset="-120"/>
              </a:rPr>
              <a:t>Count of the 4 commodities with a non-null pewi_score</a:t>
            </a:r>
            <a:endParaRPr lang="en-US" sz="900" dirty="0"/>
          </a:p>
        </p:txBody>
      </p:sp>
      <p:sp>
        <p:nvSpPr>
          <p:cNvPr id="19" name="Text 17"/>
          <p:cNvSpPr/>
          <p:nvPr/>
        </p:nvSpPr>
        <p:spPr>
          <a:xfrm>
            <a:off x="7360920" y="3840480"/>
            <a:ext cx="4014216" cy="603504"/>
          </a:xfrm>
          <a:prstGeom prst="rect">
            <a:avLst/>
          </a:prstGeom>
          <a:noFill/>
          <a:ln/>
        </p:spPr>
        <p:txBody>
          <a:bodyPr wrap="square" lIns="0" tIns="0" rIns="0" bIns="0" rtlCol="0" anchor="ctr"/>
          <a:lstStyle/>
          <a:p>
            <a:pPr indent="0" marL="0">
              <a:lnSpc>
                <a:spcPts val="1000"/>
              </a:lnSpc>
              <a:buNone/>
            </a:pPr>
            <a:r>
              <a:rPr lang="en-US" sz="850" dirty="0">
                <a:solidFill>
                  <a:srgbClr val="7A6E68"/>
                </a:solidFill>
                <a:latin typeface="Calibri" pitchFamily="34" charset="0"/>
                <a:ea typeface="Calibri" pitchFamily="34" charset="-122"/>
                <a:cs typeface="Calibri" pitchFamily="34" charset="-120"/>
              </a:rPr>
              <a:t>Never missing; 0 is a valid value.</a:t>
            </a:r>
            <a:endParaRPr lang="en-US" sz="850" dirty="0"/>
          </a:p>
        </p:txBody>
      </p:sp>
      <p:sp>
        <p:nvSpPr>
          <p:cNvPr id="20" name="Shape 18"/>
          <p:cNvSpPr/>
          <p:nvPr/>
        </p:nvSpPr>
        <p:spPr>
          <a:xfrm>
            <a:off x="566928" y="4590288"/>
            <a:ext cx="11027664" cy="713232"/>
          </a:xfrm>
          <a:prstGeom prst="roundRect">
            <a:avLst>
              <a:gd name="adj" fmla="val 7692"/>
            </a:avLst>
          </a:prstGeom>
          <a:solidFill>
            <a:srgbClr val="F7F5F1"/>
          </a:solidFill>
          <a:ln/>
          <a:effectLst>
            <a:outerShdw sx="100000" sy="100000" kx="0" ky="0" algn="bl" rotWithShape="0" blurRad="76200" dist="381" dir="5400000">
              <a:srgbClr val="000000">
                <a:alpha val="8000"/>
              </a:srgbClr>
            </a:outerShdw>
          </a:effectLst>
        </p:spPr>
      </p:sp>
      <p:sp>
        <p:nvSpPr>
          <p:cNvPr id="21" name="Text 19"/>
          <p:cNvSpPr/>
          <p:nvPr/>
        </p:nvSpPr>
        <p:spPr>
          <a:xfrm>
            <a:off x="786384" y="4645152"/>
            <a:ext cx="2926080" cy="603504"/>
          </a:xfrm>
          <a:prstGeom prst="rect">
            <a:avLst/>
          </a:prstGeom>
          <a:noFill/>
          <a:ln/>
        </p:spPr>
        <p:txBody>
          <a:bodyPr wrap="square" lIns="0" tIns="0" rIns="0" bIns="0" rtlCol="0" anchor="ctr"/>
          <a:lstStyle/>
          <a:p>
            <a:pPr indent="0" marL="0">
              <a:lnSpc>
                <a:spcPts val="1200"/>
              </a:lnSpc>
              <a:buNone/>
            </a:pPr>
            <a:r>
              <a:rPr lang="en-US" sz="1050" b="1" dirty="0">
                <a:solidFill>
                  <a:srgbClr val="B85042"/>
                </a:solidFill>
                <a:latin typeface="Cambria" pitchFamily="34" charset="0"/>
                <a:ea typeface="Cambria" pitchFamily="34" charset="-122"/>
                <a:cs typeface="Cambria" pitchFamily="34" charset="-120"/>
              </a:rPr>
              <a:t>market_anomaly_mean / max</a:t>
            </a:r>
            <a:endParaRPr lang="en-US" sz="1050" dirty="0"/>
          </a:p>
        </p:txBody>
      </p:sp>
      <p:sp>
        <p:nvSpPr>
          <p:cNvPr id="22" name="Text 20"/>
          <p:cNvSpPr/>
          <p:nvPr/>
        </p:nvSpPr>
        <p:spPr>
          <a:xfrm>
            <a:off x="3657600" y="4645152"/>
            <a:ext cx="3566160" cy="603504"/>
          </a:xfrm>
          <a:prstGeom prst="rect">
            <a:avLst/>
          </a:prstGeom>
          <a:noFill/>
          <a:ln/>
        </p:spPr>
        <p:txBody>
          <a:bodyPr wrap="square" lIns="0" tIns="0" rIns="0" bIns="0" rtlCol="0" anchor="ctr"/>
          <a:lstStyle/>
          <a:p>
            <a:pPr indent="0" marL="0">
              <a:lnSpc>
                <a:spcPts val="1100"/>
              </a:lnSpc>
              <a:buNone/>
            </a:pPr>
            <a:r>
              <a:rPr lang="en-US" sz="900" i="1" dirty="0">
                <a:solidFill>
                  <a:srgbClr val="2B2523"/>
                </a:solidFill>
                <a:latin typeface="Calibri" pitchFamily="34" charset="0"/>
                <a:ea typeface="Calibri" pitchFamily="34" charset="-122"/>
                <a:cs typeface="Calibri" pitchFamily="34" charset="-120"/>
              </a:rPr>
              <a:t>Mean / max of the non-null pewi_score values</a:t>
            </a:r>
            <a:endParaRPr lang="en-US" sz="900" dirty="0"/>
          </a:p>
        </p:txBody>
      </p:sp>
      <p:sp>
        <p:nvSpPr>
          <p:cNvPr id="23" name="Text 21"/>
          <p:cNvSpPr/>
          <p:nvPr/>
        </p:nvSpPr>
        <p:spPr>
          <a:xfrm>
            <a:off x="7360920" y="4645152"/>
            <a:ext cx="4014216" cy="603504"/>
          </a:xfrm>
          <a:prstGeom prst="rect">
            <a:avLst/>
          </a:prstGeom>
          <a:noFill/>
          <a:ln/>
        </p:spPr>
        <p:txBody>
          <a:bodyPr wrap="square" lIns="0" tIns="0" rIns="0" bIns="0" rtlCol="0" anchor="ctr"/>
          <a:lstStyle/>
          <a:p>
            <a:pPr indent="0" marL="0">
              <a:lnSpc>
                <a:spcPts val="1000"/>
              </a:lnSpc>
              <a:buNone/>
            </a:pPr>
            <a:r>
              <a:rPr lang="en-US" sz="850" dirty="0">
                <a:solidFill>
                  <a:srgbClr val="7A6E68"/>
                </a:solidFill>
                <a:latin typeface="Calibri" pitchFamily="34" charset="0"/>
                <a:ea typeface="Calibri" pitchFamily="34" charset="-122"/>
                <a:cs typeface="Calibri" pitchFamily="34" charset="-120"/>
              </a:rPr>
              <a:t>Missing only when all four commodities are missing.</a:t>
            </a:r>
            <a:endParaRPr lang="en-US" sz="850" dirty="0"/>
          </a:p>
        </p:txBody>
      </p:sp>
      <p:sp>
        <p:nvSpPr>
          <p:cNvPr id="24" name="Shape 22"/>
          <p:cNvSpPr/>
          <p:nvPr/>
        </p:nvSpPr>
        <p:spPr>
          <a:xfrm>
            <a:off x="566928" y="5394960"/>
            <a:ext cx="11027664" cy="713232"/>
          </a:xfrm>
          <a:prstGeom prst="roundRect">
            <a:avLst>
              <a:gd name="adj" fmla="val 7692"/>
            </a:avLst>
          </a:prstGeom>
          <a:solidFill>
            <a:srgbClr val="F7F5F1"/>
          </a:solidFill>
          <a:ln/>
          <a:effectLst>
            <a:outerShdw sx="100000" sy="100000" kx="0" ky="0" algn="bl" rotWithShape="0" blurRad="76200" dist="381" dir="5400000">
              <a:srgbClr val="000000">
                <a:alpha val="8000"/>
              </a:srgbClr>
            </a:outerShdw>
          </a:effectLst>
        </p:spPr>
      </p:sp>
      <p:sp>
        <p:nvSpPr>
          <p:cNvPr id="25" name="Text 23"/>
          <p:cNvSpPr/>
          <p:nvPr/>
        </p:nvSpPr>
        <p:spPr>
          <a:xfrm>
            <a:off x="786384" y="5449824"/>
            <a:ext cx="2926080" cy="603504"/>
          </a:xfrm>
          <a:prstGeom prst="rect">
            <a:avLst/>
          </a:prstGeom>
          <a:noFill/>
          <a:ln/>
        </p:spPr>
        <p:txBody>
          <a:bodyPr wrap="square" lIns="0" tIns="0" rIns="0" bIns="0" rtlCol="0" anchor="ctr"/>
          <a:lstStyle/>
          <a:p>
            <a:pPr indent="0" marL="0">
              <a:lnSpc>
                <a:spcPts val="1200"/>
              </a:lnSpc>
              <a:buNone/>
            </a:pPr>
            <a:r>
              <a:rPr lang="en-US" sz="1050" b="1" dirty="0">
                <a:solidFill>
                  <a:srgbClr val="B85042"/>
                </a:solidFill>
                <a:latin typeface="Cambria" pitchFamily="34" charset="0"/>
                <a:ea typeface="Cambria" pitchFamily="34" charset="-122"/>
                <a:cs typeface="Cambria" pitchFamily="34" charset="-120"/>
              </a:rPr>
              <a:t>market_stress_count</a:t>
            </a:r>
            <a:endParaRPr lang="en-US" sz="1050" dirty="0"/>
          </a:p>
        </p:txBody>
      </p:sp>
      <p:sp>
        <p:nvSpPr>
          <p:cNvPr id="26" name="Text 24"/>
          <p:cNvSpPr/>
          <p:nvPr/>
        </p:nvSpPr>
        <p:spPr>
          <a:xfrm>
            <a:off x="3657600" y="5449824"/>
            <a:ext cx="3566160" cy="603504"/>
          </a:xfrm>
          <a:prstGeom prst="rect">
            <a:avLst/>
          </a:prstGeom>
          <a:noFill/>
          <a:ln/>
        </p:spPr>
        <p:txBody>
          <a:bodyPr wrap="square" lIns="0" tIns="0" rIns="0" bIns="0" rtlCol="0" anchor="ctr"/>
          <a:lstStyle/>
          <a:p>
            <a:pPr indent="0" marL="0">
              <a:lnSpc>
                <a:spcPts val="1100"/>
              </a:lnSpc>
              <a:buNone/>
            </a:pPr>
            <a:r>
              <a:rPr lang="en-US" sz="900" i="1" dirty="0">
                <a:solidFill>
                  <a:srgbClr val="2B2523"/>
                </a:solidFill>
                <a:latin typeface="Calibri" pitchFamily="34" charset="0"/>
                <a:ea typeface="Calibri" pitchFamily="34" charset="-122"/>
                <a:cs typeface="Calibri" pitchFamily="34" charset="-120"/>
              </a:rPr>
              <a:t>Count of commodities with pewi_score &gt; 1.0</a:t>
            </a:r>
            <a:endParaRPr lang="en-US" sz="900" dirty="0"/>
          </a:p>
        </p:txBody>
      </p:sp>
      <p:sp>
        <p:nvSpPr>
          <p:cNvPr id="27" name="Text 25"/>
          <p:cNvSpPr/>
          <p:nvPr/>
        </p:nvSpPr>
        <p:spPr>
          <a:xfrm>
            <a:off x="7360920" y="5449824"/>
            <a:ext cx="4014216" cy="603504"/>
          </a:xfrm>
          <a:prstGeom prst="rect">
            <a:avLst/>
          </a:prstGeom>
          <a:noFill/>
          <a:ln/>
        </p:spPr>
        <p:txBody>
          <a:bodyPr wrap="square" lIns="0" tIns="0" rIns="0" bIns="0" rtlCol="0" anchor="ctr"/>
          <a:lstStyle/>
          <a:p>
            <a:pPr indent="0" marL="0">
              <a:lnSpc>
                <a:spcPts val="1000"/>
              </a:lnSpc>
              <a:buNone/>
            </a:pPr>
            <a:r>
              <a:rPr lang="en-US" sz="850" dirty="0">
                <a:solidFill>
                  <a:srgbClr val="7A6E68"/>
                </a:solidFill>
                <a:latin typeface="Calibri" pitchFamily="34" charset="0"/>
                <a:ea typeface="Calibri" pitchFamily="34" charset="-122"/>
                <a:cs typeface="Calibri" pitchFamily="34" charset="-120"/>
              </a:rPr>
              <a:t>Never missing. What the 1.0 threshold means is resolved on the PEWI slide.</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Reporting features, and what comes next</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last 2 of 23, plus why PEWI needs its own slide</a:t>
            </a:r>
            <a:endParaRPr lang="en-US" sz="1250" dirty="0"/>
          </a:p>
        </p:txBody>
      </p:sp>
      <p:sp>
        <p:nvSpPr>
          <p:cNvPr id="4" name="Shape 2"/>
          <p:cNvSpPr/>
          <p:nvPr/>
        </p:nvSpPr>
        <p:spPr>
          <a:xfrm>
            <a:off x="566928" y="1554480"/>
            <a:ext cx="11027664" cy="1828800"/>
          </a:xfrm>
          <a:prstGeom prst="roundRect">
            <a:avLst>
              <a:gd name="adj" fmla="val 300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700784"/>
            <a:ext cx="10552176" cy="274320"/>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reports_mentioning_district_count</a:t>
            </a:r>
            <a:endParaRPr lang="en-US" sz="1250" dirty="0"/>
          </a:p>
        </p:txBody>
      </p:sp>
      <p:sp>
        <p:nvSpPr>
          <p:cNvPr id="6" name="Text 4"/>
          <p:cNvSpPr/>
          <p:nvPr/>
        </p:nvSpPr>
        <p:spPr>
          <a:xfrm>
            <a:off x="804672" y="1993392"/>
            <a:ext cx="10552176" cy="274320"/>
          </a:xfrm>
          <a:prstGeom prst="rect">
            <a:avLst/>
          </a:prstGeom>
          <a:noFill/>
          <a:ln/>
        </p:spPr>
        <p:txBody>
          <a:bodyPr wrap="square" lIns="0" tIns="0" rIns="0" bIns="0" rtlCol="0" anchor="ctr"/>
          <a:lstStyle/>
          <a:p>
            <a:pPr indent="0" marL="0">
              <a:buNone/>
            </a:pPr>
            <a:r>
              <a:rPr lang="en-US" sz="1050" i="1" dirty="0">
                <a:solidFill>
                  <a:srgbClr val="2B2523"/>
                </a:solidFill>
                <a:latin typeface="Calibri" pitchFamily="34" charset="0"/>
                <a:ea typeface="Calibri" pitchFamily="34" charset="-122"/>
                <a:cs typeface="Calibri" pitchFamily="34" charset="-120"/>
              </a:rPr>
              <a:t>Count of Somalia reports that month whose title + body match the district's name or an alias</a:t>
            </a:r>
            <a:endParaRPr lang="en-US" sz="1050" dirty="0"/>
          </a:p>
        </p:txBody>
      </p:sp>
      <p:sp>
        <p:nvSpPr>
          <p:cNvPr id="7" name="Text 5"/>
          <p:cNvSpPr/>
          <p:nvPr/>
        </p:nvSpPr>
        <p:spPr>
          <a:xfrm>
            <a:off x="804672" y="2286000"/>
            <a:ext cx="10552176" cy="274320"/>
          </a:xfrm>
          <a:prstGeom prst="rect">
            <a:avLst/>
          </a:prstGeom>
          <a:noFill/>
          <a:ln/>
        </p:spPr>
        <p:txBody>
          <a:bodyPr wrap="square" lIns="0" tIns="0" rIns="0" bIns="0" rtlCol="0" anchor="ctr"/>
          <a:lstStyle/>
          <a:p>
            <a:pPr indent="0" marL="0">
              <a:buNone/>
            </a:pPr>
            <a:r>
              <a:rPr lang="en-US" sz="1000" dirty="0">
                <a:solidFill>
                  <a:srgbClr val="7A6E68"/>
                </a:solidFill>
                <a:latin typeface="Calibri" pitchFamily="34" charset="0"/>
                <a:ea typeface="Calibri" pitchFamily="34" charset="-122"/>
                <a:cs typeface="Calibri" pitchFamily="34" charset="-120"/>
              </a:rPr>
              <a:t>After stripping datelines and excluding price bulletins, matched case-insensitively without word boundaries.</a:t>
            </a:r>
            <a:endParaRPr lang="en-US" sz="1000" dirty="0"/>
          </a:p>
        </p:txBody>
      </p:sp>
      <p:sp>
        <p:nvSpPr>
          <p:cNvPr id="8" name="Text 6"/>
          <p:cNvSpPr/>
          <p:nvPr/>
        </p:nvSpPr>
        <p:spPr>
          <a:xfrm>
            <a:off x="804672" y="2596896"/>
            <a:ext cx="10552176" cy="274320"/>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food_nutrition_report_count</a:t>
            </a:r>
            <a:endParaRPr lang="en-US" sz="1250" dirty="0"/>
          </a:p>
        </p:txBody>
      </p:sp>
      <p:sp>
        <p:nvSpPr>
          <p:cNvPr id="9" name="Text 7"/>
          <p:cNvSpPr/>
          <p:nvPr/>
        </p:nvSpPr>
        <p:spPr>
          <a:xfrm>
            <a:off x="804672" y="2889504"/>
            <a:ext cx="10552176" cy="274320"/>
          </a:xfrm>
          <a:prstGeom prst="rect">
            <a:avLst/>
          </a:prstGeom>
          <a:noFill/>
          <a:ln/>
        </p:spPr>
        <p:txBody>
          <a:bodyPr wrap="square" lIns="0" tIns="0" rIns="0" bIns="0" rtlCol="0" anchor="ctr"/>
          <a:lstStyle/>
          <a:p>
            <a:pPr indent="0" marL="0">
              <a:buNone/>
            </a:pPr>
            <a:r>
              <a:rPr lang="en-US" sz="1050" i="1" dirty="0">
                <a:solidFill>
                  <a:srgbClr val="2B2523"/>
                </a:solidFill>
                <a:latin typeface="Calibri" pitchFamily="34" charset="0"/>
                <a:ea typeface="Calibri" pitchFamily="34" charset="-122"/>
                <a:cs typeface="Calibri" pitchFamily="34" charset="-120"/>
              </a:rPr>
              <a:t>Subset of the above where ReliefWeb's own "themes" field contains "Food and Nutrition"</a:t>
            </a:r>
            <a:endParaRPr lang="en-US" sz="1050" dirty="0"/>
          </a:p>
        </p:txBody>
      </p:sp>
      <p:sp>
        <p:nvSpPr>
          <p:cNvPr id="10" name="Text 8"/>
          <p:cNvSpPr/>
          <p:nvPr/>
        </p:nvSpPr>
        <p:spPr>
          <a:xfrm>
            <a:off x="804672" y="3182112"/>
            <a:ext cx="10552176" cy="274320"/>
          </a:xfrm>
          <a:prstGeom prst="rect">
            <a:avLst/>
          </a:prstGeom>
          <a:noFill/>
          <a:ln/>
        </p:spPr>
        <p:txBody>
          <a:bodyPr wrap="square" lIns="0" tIns="0" rIns="0" bIns="0" rtlCol="0" anchor="ctr"/>
          <a:lstStyle/>
          <a:p>
            <a:pPr indent="0" marL="0">
              <a:buNone/>
            </a:pPr>
            <a:r>
              <a:rPr lang="en-US" sz="1000" dirty="0">
                <a:solidFill>
                  <a:srgbClr val="7A6E68"/>
                </a:solidFill>
                <a:latin typeface="Calibri" pitchFamily="34" charset="0"/>
                <a:ea typeface="Calibri" pitchFamily="34" charset="-122"/>
                <a:cs typeface="Calibri" pitchFamily="34" charset="-120"/>
              </a:rPr>
              <a:t>wash_report_count was dropped for never being used; this one was kept, since food insecurity remains the project's application domain.</a:t>
            </a:r>
            <a:endParaRPr lang="en-US" sz="1000" dirty="0"/>
          </a:p>
        </p:txBody>
      </p:sp>
      <p:sp>
        <p:nvSpPr>
          <p:cNvPr id="11" name="Shape 9"/>
          <p:cNvSpPr/>
          <p:nvPr/>
        </p:nvSpPr>
        <p:spPr>
          <a:xfrm>
            <a:off x="566928" y="3566160"/>
            <a:ext cx="11027664" cy="2651760"/>
          </a:xfrm>
          <a:prstGeom prst="roundRect">
            <a:avLst>
              <a:gd name="adj" fmla="val 2069"/>
            </a:avLst>
          </a:prstGeom>
          <a:solidFill>
            <a:srgbClr val="2B2523"/>
          </a:solidFill>
          <a:ln/>
          <a:effectLst>
            <a:outerShdw sx="100000" sy="100000" kx="0" ky="0" algn="bl" rotWithShape="0" blurRad="76200" dist="381" dir="5400000">
              <a:srgbClr val="000000">
                <a:alpha val="8000"/>
              </a:srgbClr>
            </a:outerShdw>
          </a:effectLst>
        </p:spPr>
      </p:sp>
      <p:sp>
        <p:nvSpPr>
          <p:cNvPr id="12" name="Text 10"/>
          <p:cNvSpPr/>
          <p:nvPr/>
        </p:nvSpPr>
        <p:spPr>
          <a:xfrm>
            <a:off x="841248" y="3694176"/>
            <a:ext cx="10479024" cy="310896"/>
          </a:xfrm>
          <a:prstGeom prst="rect">
            <a:avLst/>
          </a:prstGeom>
          <a:noFill/>
          <a:ln/>
        </p:spPr>
        <p:txBody>
          <a:bodyPr wrap="square" lIns="0" tIns="0" rIns="0" bIns="0" rtlCol="0" anchor="ctr"/>
          <a:lstStyle/>
          <a:p>
            <a:pPr indent="0" marL="0">
              <a:buNone/>
            </a:pPr>
            <a:r>
              <a:rPr lang="en-US" sz="1400" b="1" dirty="0">
                <a:solidFill>
                  <a:srgbClr val="A7BEAE"/>
                </a:solidFill>
                <a:latin typeface="Cambria" pitchFamily="34" charset="0"/>
                <a:ea typeface="Cambria" pitchFamily="34" charset="-122"/>
                <a:cs typeface="Cambria" pitchFamily="34" charset="-120"/>
              </a:rPr>
              <a:t>Two items that needed their own explanation</a:t>
            </a:r>
            <a:endParaRPr lang="en-US" sz="1400" dirty="0"/>
          </a:p>
        </p:txBody>
      </p:sp>
      <p:sp>
        <p:nvSpPr>
          <p:cNvPr id="13" name="Text 11"/>
          <p:cNvSpPr/>
          <p:nvPr/>
        </p:nvSpPr>
        <p:spPr>
          <a:xfrm>
            <a:off x="841248" y="4041648"/>
            <a:ext cx="10479024" cy="1463040"/>
          </a:xfrm>
          <a:prstGeom prst="rect">
            <a:avLst/>
          </a:prstGeom>
          <a:noFill/>
          <a:ln/>
        </p:spPr>
        <p:txBody>
          <a:bodyPr wrap="square" lIns="0" tIns="0" rIns="0" bIns="0" rtlCol="0" anchor="ctr"/>
          <a:lstStyle/>
          <a:p>
            <a:pPr marL="342900" indent="-342900">
              <a:lnSpc>
                <a:spcPts val="1700"/>
              </a:lnSpc>
              <a:spcAft>
                <a:spcPts val="1200"/>
              </a:spcAft>
              <a:buSzPct val="100000"/>
              <a:buChar char="•"/>
            </a:pPr>
            <a:r>
              <a:rPr lang="en-US" sz="1200" dirty="0">
                <a:solidFill>
                  <a:srgbClr val="E7E8D1"/>
                </a:solidFill>
                <a:latin typeface="Calibri" pitchFamily="34" charset="0"/>
                <a:ea typeface="Calibri" pitchFamily="34" charset="-122"/>
                <a:cs typeface="Calibri" pitchFamily="34" charset="-120"/>
              </a:rPr>
              <a:t>What PEWI actually is, since {c}_pewi_score, market_anomaly_mean/max and market_stress_count all depend on it, and it was never defined anywhere in the notebook until this week</a:t>
            </a:r>
            <a:endParaRPr lang="en-US" sz="1200" dirty="0"/>
          </a:p>
          <a:p>
            <a:pPr marL="342900" indent="-342900">
              <a:lnSpc>
                <a:spcPts val="1700"/>
              </a:lnSpc>
              <a:spcAft>
                <a:spcPts val="1200"/>
              </a:spcAft>
              <a:buSzPct val="100000"/>
              <a:buChar char="•"/>
            </a:pPr>
            <a:r>
              <a:rPr lang="en-US" sz="1200" dirty="0">
                <a:solidFill>
                  <a:srgbClr val="E7E8D1"/>
                </a:solidFill>
                <a:latin typeface="Calibri" pitchFamily="34" charset="0"/>
                <a:ea typeface="Calibri" pitchFamily="34" charset="-122"/>
                <a:cs typeface="Calibri" pitchFamily="34" charset="-120"/>
              </a:rPr>
              <a:t>Whether the 1.0 threshold behind market_stress_count is a real, sourced cutoff or an arbitrary one that would need a sensitivity analysis or should be dropped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PEWI, defined, and the market-stress threshold resolved</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Two items that needed their own explanation</a:t>
            </a:r>
            <a:endParaRPr lang="en-US" sz="1250" dirty="0"/>
          </a:p>
        </p:txBody>
      </p:sp>
      <p:sp>
        <p:nvSpPr>
          <p:cNvPr id="4" name="Shape 2"/>
          <p:cNvSpPr/>
          <p:nvPr/>
        </p:nvSpPr>
        <p:spPr>
          <a:xfrm>
            <a:off x="566928" y="1554480"/>
            <a:ext cx="5486400" cy="3200400"/>
          </a:xfrm>
          <a:prstGeom prst="roundRect">
            <a:avLst>
              <a:gd name="adj" fmla="val 1714"/>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700784"/>
            <a:ext cx="5029200" cy="274320"/>
          </a:xfrm>
          <a:prstGeom prst="rect">
            <a:avLst/>
          </a:prstGeom>
          <a:noFill/>
          <a:ln/>
        </p:spPr>
        <p:txBody>
          <a:bodyPr wrap="square" lIns="0" tIns="0" rIns="0" bIns="0" rtlCol="0" anchor="ctr"/>
          <a:lstStyle/>
          <a:p>
            <a:pPr indent="0" marL="0">
              <a:buNone/>
            </a:pPr>
            <a:r>
              <a:rPr lang="en-US" sz="1350" b="1" dirty="0">
                <a:solidFill>
                  <a:srgbClr val="B85042"/>
                </a:solidFill>
                <a:latin typeface="Cambria" pitchFamily="34" charset="0"/>
                <a:ea typeface="Cambria" pitchFamily="34" charset="-122"/>
                <a:cs typeface="Cambria" pitchFamily="34" charset="-120"/>
              </a:rPr>
              <a:t>What PEWI is</a:t>
            </a:r>
            <a:endParaRPr lang="en-US" sz="1350" dirty="0"/>
          </a:p>
        </p:txBody>
      </p:sp>
      <p:sp>
        <p:nvSpPr>
          <p:cNvPr id="6" name="Text 4"/>
          <p:cNvSpPr/>
          <p:nvPr/>
        </p:nvSpPr>
        <p:spPr>
          <a:xfrm>
            <a:off x="804672" y="2011680"/>
            <a:ext cx="5029200" cy="1280160"/>
          </a:xfrm>
          <a:prstGeom prst="rect">
            <a:avLst/>
          </a:prstGeom>
          <a:noFill/>
          <a:ln/>
        </p:spPr>
        <p:txBody>
          <a:bodyPr wrap="square" lIns="0" tIns="0" rIns="0" bIns="0" rtlCol="0" anchor="ctr"/>
          <a:lstStyle/>
          <a:p>
            <a:pPr indent="0" marL="0">
              <a:lnSpc>
                <a:spcPts val="1500"/>
              </a:lnSpc>
              <a:buNone/>
            </a:pPr>
            <a:r>
              <a:rPr lang="en-US" sz="1100" dirty="0">
                <a:solidFill>
                  <a:srgbClr val="7A6E68"/>
                </a:solidFill>
                <a:latin typeface="Calibri" pitchFamily="34" charset="0"/>
                <a:ea typeface="Calibri" pitchFamily="34" charset="-122"/>
                <a:cs typeface="Calibri" pitchFamily="34" charset="-120"/>
              </a:rPr>
              <a:t>Price Early Warning Indicator, WFP's own name for a method more widely known as ALPS (Alert for Price Spikes). It measures how far a commodity's price sits from its own normal seasonal pattern, in standardised units, so it can be compared across commodities with very different price levels.</a:t>
            </a:r>
            <a:endParaRPr lang="en-US" sz="1100" dirty="0"/>
          </a:p>
        </p:txBody>
      </p:sp>
      <p:sp>
        <p:nvSpPr>
          <p:cNvPr id="7" name="Text 5"/>
          <p:cNvSpPr/>
          <p:nvPr/>
        </p:nvSpPr>
        <p:spPr>
          <a:xfrm>
            <a:off x="804672" y="3383280"/>
            <a:ext cx="5029200" cy="365760"/>
          </a:xfrm>
          <a:prstGeom prst="rect">
            <a:avLst/>
          </a:prstGeom>
          <a:noFill/>
          <a:ln/>
        </p:spPr>
        <p:txBody>
          <a:bodyPr wrap="square" lIns="0" tIns="0" rIns="0" bIns="0" rtlCol="0" anchor="ctr"/>
          <a:lstStyle/>
          <a:p>
            <a:pPr indent="0" marL="0">
              <a:buNone/>
            </a:pPr>
            <a:r>
              <a:rPr lang="en-US" sz="1050" i="1" dirty="0">
                <a:solidFill>
                  <a:srgbClr val="B85042"/>
                </a:solidFill>
                <a:latin typeface="Calibri" pitchFamily="34" charset="0"/>
                <a:ea typeface="Calibri" pitchFamily="34" charset="-122"/>
                <a:cs typeface="Calibri" pitchFamily="34" charset="-120"/>
              </a:rPr>
              <a:t>This pipeline takes WFP's own "Pewi" column directly; nothing is recomputed.</a:t>
            </a:r>
            <a:endParaRPr lang="en-US" sz="1050" dirty="0"/>
          </a:p>
        </p:txBody>
      </p:sp>
      <p:sp>
        <p:nvSpPr>
          <p:cNvPr id="8" name="Text 6"/>
          <p:cNvSpPr/>
          <p:nvPr/>
        </p:nvSpPr>
        <p:spPr>
          <a:xfrm>
            <a:off x="804672" y="3931920"/>
            <a:ext cx="1737360" cy="274320"/>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Normal</a:t>
            </a:r>
            <a:endParaRPr lang="en-US" sz="1050" dirty="0"/>
          </a:p>
        </p:txBody>
      </p:sp>
      <p:sp>
        <p:nvSpPr>
          <p:cNvPr id="9" name="Text 7"/>
          <p:cNvSpPr/>
          <p:nvPr/>
        </p:nvSpPr>
        <p:spPr>
          <a:xfrm>
            <a:off x="2761488" y="3931920"/>
            <a:ext cx="2926080" cy="27432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up to 0.25</a:t>
            </a:r>
            <a:endParaRPr lang="en-US" sz="1050" dirty="0"/>
          </a:p>
        </p:txBody>
      </p:sp>
      <p:sp>
        <p:nvSpPr>
          <p:cNvPr id="10" name="Text 8"/>
          <p:cNvSpPr/>
          <p:nvPr/>
        </p:nvSpPr>
        <p:spPr>
          <a:xfrm>
            <a:off x="804672" y="4206240"/>
            <a:ext cx="1737360" cy="274320"/>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Stress</a:t>
            </a:r>
            <a:endParaRPr lang="en-US" sz="1050" dirty="0"/>
          </a:p>
        </p:txBody>
      </p:sp>
      <p:sp>
        <p:nvSpPr>
          <p:cNvPr id="11" name="Text 9"/>
          <p:cNvSpPr/>
          <p:nvPr/>
        </p:nvSpPr>
        <p:spPr>
          <a:xfrm>
            <a:off x="2761488" y="4206240"/>
            <a:ext cx="2926080" cy="27432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0.25 - 1.0</a:t>
            </a:r>
            <a:endParaRPr lang="en-US" sz="1050" dirty="0"/>
          </a:p>
        </p:txBody>
      </p:sp>
      <p:sp>
        <p:nvSpPr>
          <p:cNvPr id="12" name="Text 10"/>
          <p:cNvSpPr/>
          <p:nvPr/>
        </p:nvSpPr>
        <p:spPr>
          <a:xfrm>
            <a:off x="804672" y="4480560"/>
            <a:ext cx="1737360" cy="274320"/>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Alert</a:t>
            </a:r>
            <a:endParaRPr lang="en-US" sz="1050" dirty="0"/>
          </a:p>
        </p:txBody>
      </p:sp>
      <p:sp>
        <p:nvSpPr>
          <p:cNvPr id="13" name="Text 11"/>
          <p:cNvSpPr/>
          <p:nvPr/>
        </p:nvSpPr>
        <p:spPr>
          <a:xfrm>
            <a:off x="2761488" y="4480560"/>
            <a:ext cx="2926080" cy="27432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1.0 - 2.0</a:t>
            </a:r>
            <a:endParaRPr lang="en-US" sz="1050" dirty="0"/>
          </a:p>
        </p:txBody>
      </p:sp>
      <p:sp>
        <p:nvSpPr>
          <p:cNvPr id="14" name="Text 12"/>
          <p:cNvSpPr/>
          <p:nvPr/>
        </p:nvSpPr>
        <p:spPr>
          <a:xfrm>
            <a:off x="804672" y="4754880"/>
            <a:ext cx="1737360" cy="274320"/>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Crisis</a:t>
            </a:r>
            <a:endParaRPr lang="en-US" sz="1050" dirty="0"/>
          </a:p>
        </p:txBody>
      </p:sp>
      <p:sp>
        <p:nvSpPr>
          <p:cNvPr id="15" name="Text 13"/>
          <p:cNvSpPr/>
          <p:nvPr/>
        </p:nvSpPr>
        <p:spPr>
          <a:xfrm>
            <a:off x="2761488" y="4754880"/>
            <a:ext cx="2926080" cy="274320"/>
          </a:xfrm>
          <a:prstGeom prst="rect">
            <a:avLst/>
          </a:prstGeom>
          <a:noFill/>
          <a:ln/>
        </p:spPr>
        <p:txBody>
          <a:bodyPr wrap="square" lIns="0" tIns="0" rIns="0" bIns="0" rtlCol="0" anchor="ctr"/>
          <a:lstStyle/>
          <a:p>
            <a:pPr indent="0" marL="0">
              <a:buNone/>
            </a:pPr>
            <a:r>
              <a:rPr lang="en-US" sz="1050" dirty="0">
                <a:solidFill>
                  <a:srgbClr val="7A6E68"/>
                </a:solidFill>
                <a:latin typeface="Calibri" pitchFamily="34" charset="0"/>
                <a:ea typeface="Calibri" pitchFamily="34" charset="-122"/>
                <a:cs typeface="Calibri" pitchFamily="34" charset="-120"/>
              </a:rPr>
              <a:t>above 2.0</a:t>
            </a:r>
            <a:endParaRPr lang="en-US" sz="1050" dirty="0"/>
          </a:p>
        </p:txBody>
      </p:sp>
      <p:sp>
        <p:nvSpPr>
          <p:cNvPr id="16" name="Shape 14"/>
          <p:cNvSpPr/>
          <p:nvPr/>
        </p:nvSpPr>
        <p:spPr>
          <a:xfrm>
            <a:off x="6309360" y="1554480"/>
            <a:ext cx="5285232" cy="3200400"/>
          </a:xfrm>
          <a:prstGeom prst="roundRect">
            <a:avLst>
              <a:gd name="adj" fmla="val 1714"/>
            </a:avLst>
          </a:prstGeom>
          <a:solidFill>
            <a:srgbClr val="2B2523"/>
          </a:solidFill>
          <a:ln/>
          <a:effectLst>
            <a:outerShdw sx="100000" sy="100000" kx="0" ky="0" algn="bl" rotWithShape="0" blurRad="76200" dist="381" dir="5400000">
              <a:srgbClr val="000000">
                <a:alpha val="8000"/>
              </a:srgbClr>
            </a:outerShdw>
          </a:effectLst>
        </p:spPr>
      </p:sp>
      <p:sp>
        <p:nvSpPr>
          <p:cNvPr id="17" name="Text 15"/>
          <p:cNvSpPr/>
          <p:nvPr/>
        </p:nvSpPr>
        <p:spPr>
          <a:xfrm>
            <a:off x="6547104" y="1700784"/>
            <a:ext cx="4754880" cy="548640"/>
          </a:xfrm>
          <a:prstGeom prst="rect">
            <a:avLst/>
          </a:prstGeom>
          <a:noFill/>
          <a:ln/>
        </p:spPr>
        <p:txBody>
          <a:bodyPr wrap="square" lIns="0" tIns="0" rIns="0" bIns="0" rtlCol="0" anchor="ctr"/>
          <a:lstStyle/>
          <a:p>
            <a:pPr indent="0" marL="0">
              <a:buNone/>
            </a:pPr>
            <a:r>
              <a:rPr lang="en-US" sz="1350" b="1" dirty="0">
                <a:solidFill>
                  <a:srgbClr val="A7BEAE"/>
                </a:solidFill>
                <a:latin typeface="Cambria" pitchFamily="34" charset="0"/>
                <a:ea typeface="Cambria" pitchFamily="34" charset="-122"/>
                <a:cs typeface="Cambria" pitchFamily="34" charset="-120"/>
              </a:rPr>
              <a:t>The 1.0 threshold is resolved, not dropped</a:t>
            </a:r>
            <a:endParaRPr lang="en-US" sz="1350" dirty="0"/>
          </a:p>
        </p:txBody>
      </p:sp>
      <p:sp>
        <p:nvSpPr>
          <p:cNvPr id="18" name="Text 16"/>
          <p:cNvSpPr/>
          <p:nvPr/>
        </p:nvSpPr>
        <p:spPr>
          <a:xfrm>
            <a:off x="6547104" y="2286000"/>
            <a:ext cx="4754880" cy="73152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It turns out to be exactly WFP's own Stress/Alert boundary, not an arbitrary cutoff. No sensitivity analysis was needed.</a:t>
            </a:r>
            <a:endParaRPr lang="en-US" sz="1150" dirty="0"/>
          </a:p>
        </p:txBody>
      </p:sp>
      <p:sp>
        <p:nvSpPr>
          <p:cNvPr id="19" name="Text 17"/>
          <p:cNvSpPr/>
          <p:nvPr/>
        </p:nvSpPr>
        <p:spPr>
          <a:xfrm>
            <a:off x="6547104" y="3108960"/>
            <a:ext cx="4754880" cy="310896"/>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The one correction: the name</a:t>
            </a:r>
            <a:endParaRPr lang="en-US" sz="1250" dirty="0"/>
          </a:p>
        </p:txBody>
      </p:sp>
      <p:sp>
        <p:nvSpPr>
          <p:cNvPr id="20" name="Text 18"/>
          <p:cNvSpPr/>
          <p:nvPr/>
        </p:nvSpPr>
        <p:spPr>
          <a:xfrm>
            <a:off x="6547104" y="3438144"/>
            <a:ext cx="4754880" cy="1188720"/>
          </a:xfrm>
          <a:prstGeom prst="rect">
            <a:avLst/>
          </a:prstGeom>
          <a:noFill/>
          <a:ln/>
        </p:spPr>
        <p:txBody>
          <a:bodyPr wrap="square" lIns="0" tIns="0" rIns="0" bIns="0" rtlCol="0" anchor="ctr"/>
          <a:lstStyle/>
          <a:p>
            <a:pPr indent="0" marL="0">
              <a:lnSpc>
                <a:spcPts val="1500"/>
              </a:lnSpc>
              <a:buNone/>
            </a:pPr>
            <a:r>
              <a:rPr lang="en-US" sz="1100" dirty="0">
                <a:solidFill>
                  <a:srgbClr val="E7E8D1"/>
                </a:solidFill>
                <a:latin typeface="Calibri" pitchFamily="34" charset="0"/>
                <a:ea typeface="Calibri" pitchFamily="34" charset="-122"/>
                <a:cs typeface="Calibri" pitchFamily="34" charset="-120"/>
              </a:rPr>
              <a:t>market_stress_count actually counts commodities in WFP's Alert-or-Crisis phase, not WFP's own Stress phase (0.25-1.0). The column keeps its existing name, already used throughout the notebook, but the correct reading is Alert-or-worse.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How each source actually observes Somalia</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The dissertation's key table, condensed for this update</a:t>
            </a:r>
            <a:endParaRPr lang="en-US" sz="1250" dirty="0"/>
          </a:p>
        </p:txBody>
      </p:sp>
      <p:sp>
        <p:nvSpPr>
          <p:cNvPr id="4" name="Shape 2"/>
          <p:cNvSpPr/>
          <p:nvPr/>
        </p:nvSpPr>
        <p:spPr>
          <a:xfrm>
            <a:off x="566928" y="1481328"/>
            <a:ext cx="539496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609344"/>
            <a:ext cx="4919472" cy="274320"/>
          </a:xfrm>
          <a:prstGeom prst="rect">
            <a:avLst/>
          </a:prstGeom>
          <a:noFill/>
          <a:ln/>
        </p:spPr>
        <p:txBody>
          <a:bodyPr wrap="square" lIns="0" tIns="0" rIns="0" bIns="0" rtlCol="0" anchor="ctr"/>
          <a:lstStyle/>
          <a:p>
            <a:pPr indent="0" marL="0">
              <a:buNone/>
            </a:pPr>
            <a:r>
              <a:rPr lang="en-US" sz="1400" b="1" dirty="0">
                <a:solidFill>
                  <a:srgbClr val="2B2523"/>
                </a:solidFill>
                <a:latin typeface="Cambria" pitchFamily="34" charset="0"/>
                <a:ea typeface="Cambria" pitchFamily="34" charset="-122"/>
                <a:cs typeface="Cambria" pitchFamily="34" charset="-120"/>
              </a:rPr>
              <a:t>Conflict (ACLED)</a:t>
            </a:r>
            <a:endParaRPr lang="en-US" sz="1400" dirty="0"/>
          </a:p>
        </p:txBody>
      </p:sp>
      <p:sp>
        <p:nvSpPr>
          <p:cNvPr id="6" name="Text 4"/>
          <p:cNvSpPr/>
          <p:nvPr/>
        </p:nvSpPr>
        <p:spPr>
          <a:xfrm>
            <a:off x="804672" y="1901952"/>
            <a:ext cx="4919472"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100% RECORDED COVERAGE</a:t>
            </a:r>
            <a:endParaRPr lang="en-US" sz="950" dirty="0"/>
          </a:p>
        </p:txBody>
      </p:sp>
      <p:sp>
        <p:nvSpPr>
          <p:cNvPr id="7" name="Text 5"/>
          <p:cNvSpPr/>
          <p:nvPr/>
        </p:nvSpPr>
        <p:spPr>
          <a:xfrm>
            <a:off x="804672" y="2194560"/>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Event coding from local media and monitoring partners; 65.3% "Local partner" sourced, 31.2% cite no source at all</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100% of districts; actually covers 100% (zero-filled)</a:t>
            </a:r>
            <a:endParaRPr lang="en-US" sz="1050" dirty="0"/>
          </a:p>
        </p:txBody>
      </p:sp>
      <p:sp>
        <p:nvSpPr>
          <p:cNvPr id="8" name="Shape 6"/>
          <p:cNvSpPr/>
          <p:nvPr/>
        </p:nvSpPr>
        <p:spPr>
          <a:xfrm>
            <a:off x="6199632" y="1481328"/>
            <a:ext cx="539496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6437376" y="1609344"/>
            <a:ext cx="4919472" cy="274320"/>
          </a:xfrm>
          <a:prstGeom prst="rect">
            <a:avLst/>
          </a:prstGeom>
          <a:noFill/>
          <a:ln/>
        </p:spPr>
        <p:txBody>
          <a:bodyPr wrap="square" lIns="0" tIns="0" rIns="0" bIns="0" rtlCol="0" anchor="ctr"/>
          <a:lstStyle/>
          <a:p>
            <a:pPr indent="0" marL="0">
              <a:buNone/>
            </a:pPr>
            <a:r>
              <a:rPr lang="en-US" sz="1400" b="1" dirty="0">
                <a:solidFill>
                  <a:srgbClr val="2B2523"/>
                </a:solidFill>
                <a:latin typeface="Cambria" pitchFamily="34" charset="0"/>
                <a:ea typeface="Cambria" pitchFamily="34" charset="-122"/>
                <a:cs typeface="Cambria" pitchFamily="34" charset="-120"/>
              </a:rPr>
              <a:t>Climate (CHIRPS / VHI)</a:t>
            </a:r>
            <a:endParaRPr lang="en-US" sz="1400" dirty="0"/>
          </a:p>
        </p:txBody>
      </p:sp>
      <p:sp>
        <p:nvSpPr>
          <p:cNvPr id="10" name="Text 8"/>
          <p:cNvSpPr/>
          <p:nvPr/>
        </p:nvSpPr>
        <p:spPr>
          <a:xfrm>
            <a:off x="6437376" y="1901952"/>
            <a:ext cx="4919472" cy="237744"/>
          </a:xfrm>
          <a:prstGeom prst="rect">
            <a:avLst/>
          </a:prstGeom>
          <a:noFill/>
          <a:ln/>
        </p:spPr>
        <p:txBody>
          <a:bodyPr wrap="square" lIns="0" tIns="0" rIns="0" bIns="0" rtlCol="0" anchor="ctr"/>
          <a:lstStyle/>
          <a:p>
            <a:pPr indent="0" marL="0">
              <a:buNone/>
            </a:pPr>
            <a:r>
              <a:rPr lang="en-US" sz="950" b="1" spc="120" kern="0" dirty="0">
                <a:solidFill>
                  <a:srgbClr val="A7BEAE"/>
                </a:solidFill>
                <a:latin typeface="Calibri" pitchFamily="34" charset="0"/>
                <a:ea typeface="Calibri" pitchFamily="34" charset="-122"/>
                <a:cs typeface="Calibri" pitchFamily="34" charset="-120"/>
              </a:rPr>
              <a:t>100% RECORDED COVERAGE</a:t>
            </a:r>
            <a:endParaRPr lang="en-US" sz="950" dirty="0"/>
          </a:p>
        </p:txBody>
      </p:sp>
      <p:sp>
        <p:nvSpPr>
          <p:cNvPr id="11" name="Text 9"/>
          <p:cNvSpPr/>
          <p:nvPr/>
        </p:nvSpPr>
        <p:spPr>
          <a:xfrm>
            <a:off x="6437376" y="2194560"/>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Satellite imagery only, no ground survey needed, so no dependence on local access or reporting</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100% of districts; actually covers 100%</a:t>
            </a:r>
            <a:endParaRPr lang="en-US" sz="1050" dirty="0"/>
          </a:p>
        </p:txBody>
      </p:sp>
      <p:sp>
        <p:nvSpPr>
          <p:cNvPr id="12" name="Shape 10"/>
          <p:cNvSpPr/>
          <p:nvPr/>
        </p:nvSpPr>
        <p:spPr>
          <a:xfrm>
            <a:off x="566928" y="3931920"/>
            <a:ext cx="539496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804672" y="4059936"/>
            <a:ext cx="4919472" cy="274320"/>
          </a:xfrm>
          <a:prstGeom prst="rect">
            <a:avLst/>
          </a:prstGeom>
          <a:noFill/>
          <a:ln/>
        </p:spPr>
        <p:txBody>
          <a:bodyPr wrap="square" lIns="0" tIns="0" rIns="0" bIns="0" rtlCol="0" anchor="ctr"/>
          <a:lstStyle/>
          <a:p>
            <a:pPr indent="0" marL="0">
              <a:buNone/>
            </a:pPr>
            <a:r>
              <a:rPr lang="en-US" sz="1400" b="1" dirty="0">
                <a:solidFill>
                  <a:srgbClr val="2B2523"/>
                </a:solidFill>
                <a:latin typeface="Cambria" pitchFamily="34" charset="0"/>
                <a:ea typeface="Cambria" pitchFamily="34" charset="-122"/>
                <a:cs typeface="Cambria" pitchFamily="34" charset="-120"/>
              </a:rPr>
              <a:t>Market (WFP / PEWI)</a:t>
            </a:r>
            <a:endParaRPr lang="en-US" sz="1400" dirty="0"/>
          </a:p>
        </p:txBody>
      </p:sp>
      <p:sp>
        <p:nvSpPr>
          <p:cNvPr id="14" name="Text 12"/>
          <p:cNvSpPr/>
          <p:nvPr/>
        </p:nvSpPr>
        <p:spPr>
          <a:xfrm>
            <a:off x="804672" y="4352544"/>
            <a:ext cx="4919472"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43-47% OF DISTRICT-MONTHS</a:t>
            </a:r>
            <a:endParaRPr lang="en-US" sz="950" dirty="0"/>
          </a:p>
        </p:txBody>
      </p:sp>
      <p:sp>
        <p:nvSpPr>
          <p:cNvPr id="15" name="Text 13"/>
          <p:cNvSpPr/>
          <p:nvPr/>
        </p:nvSpPr>
        <p:spPr>
          <a:xfrm>
            <a:off x="804672" y="4645152"/>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Weekly visits by WFP's own enumerators, only to markets that are safe and accessible to reach</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47% of districts (needs a market); actually covers 43.1% by the PEWI score used in this panel</a:t>
            </a:r>
            <a:endParaRPr lang="en-US" sz="1050" dirty="0"/>
          </a:p>
        </p:txBody>
      </p:sp>
      <p:sp>
        <p:nvSpPr>
          <p:cNvPr id="16" name="Shape 14"/>
          <p:cNvSpPr/>
          <p:nvPr/>
        </p:nvSpPr>
        <p:spPr>
          <a:xfrm>
            <a:off x="6199632" y="3931920"/>
            <a:ext cx="5394960" cy="2286000"/>
          </a:xfrm>
          <a:prstGeom prst="roundRect">
            <a:avLst>
              <a:gd name="adj" fmla="val 2400"/>
            </a:avLst>
          </a:prstGeom>
          <a:solidFill>
            <a:srgbClr val="F7F5F1"/>
          </a:solidFill>
          <a:ln/>
          <a:effectLst>
            <a:outerShdw sx="100000" sy="100000" kx="0" ky="0" algn="bl" rotWithShape="0" blurRad="76200" dist="381" dir="5400000">
              <a:srgbClr val="000000">
                <a:alpha val="8000"/>
              </a:srgbClr>
            </a:outerShdw>
          </a:effectLst>
        </p:spPr>
      </p:sp>
      <p:sp>
        <p:nvSpPr>
          <p:cNvPr id="17" name="Text 15"/>
          <p:cNvSpPr/>
          <p:nvPr/>
        </p:nvSpPr>
        <p:spPr>
          <a:xfrm>
            <a:off x="6437376" y="4059936"/>
            <a:ext cx="4919472" cy="274320"/>
          </a:xfrm>
          <a:prstGeom prst="rect">
            <a:avLst/>
          </a:prstGeom>
          <a:noFill/>
          <a:ln/>
        </p:spPr>
        <p:txBody>
          <a:bodyPr wrap="square" lIns="0" tIns="0" rIns="0" bIns="0" rtlCol="0" anchor="ctr"/>
          <a:lstStyle/>
          <a:p>
            <a:pPr indent="0" marL="0">
              <a:buNone/>
            </a:pPr>
            <a:r>
              <a:rPr lang="en-US" sz="1400" b="1" dirty="0">
                <a:solidFill>
                  <a:srgbClr val="2B2523"/>
                </a:solidFill>
                <a:latin typeface="Cambria" pitchFamily="34" charset="0"/>
                <a:ea typeface="Cambria" pitchFamily="34" charset="-122"/>
                <a:cs typeface="Cambria" pitchFamily="34" charset="-120"/>
              </a:rPr>
              <a:t>Reporting (ReliefWeb)</a:t>
            </a:r>
            <a:endParaRPr lang="en-US" sz="1400" dirty="0"/>
          </a:p>
        </p:txBody>
      </p:sp>
      <p:sp>
        <p:nvSpPr>
          <p:cNvPr id="18" name="Text 16"/>
          <p:cNvSpPr/>
          <p:nvPr/>
        </p:nvSpPr>
        <p:spPr>
          <a:xfrm>
            <a:off x="6437376" y="4352544"/>
            <a:ext cx="4919472" cy="237744"/>
          </a:xfrm>
          <a:prstGeom prst="rect">
            <a:avLst/>
          </a:prstGeom>
          <a:noFill/>
          <a:ln/>
        </p:spPr>
        <p:txBody>
          <a:bodyPr wrap="square" lIns="0" tIns="0" rIns="0" bIns="0" rtlCol="0" anchor="ctr"/>
          <a:lstStyle/>
          <a:p>
            <a:pPr indent="0" marL="0">
              <a:buNone/>
            </a:pPr>
            <a:r>
              <a:rPr lang="en-US" sz="950" b="1" spc="120" kern="0" dirty="0">
                <a:solidFill>
                  <a:srgbClr val="B85042"/>
                </a:solidFill>
                <a:latin typeface="Calibri" pitchFamily="34" charset="0"/>
                <a:ea typeface="Calibri" pitchFamily="34" charset="-122"/>
                <a:cs typeface="Calibri" pitchFamily="34" charset="-120"/>
              </a:rPr>
              <a:t>60% OF MONTHS, 99% OF DISTRICTS</a:t>
            </a:r>
            <a:endParaRPr lang="en-US" sz="950" dirty="0"/>
          </a:p>
        </p:txBody>
      </p:sp>
      <p:sp>
        <p:nvSpPr>
          <p:cNvPr id="19" name="Text 17"/>
          <p:cNvSpPr/>
          <p:nvPr/>
        </p:nvSpPr>
        <p:spPr>
          <a:xfrm>
            <a:off x="6437376" y="4645152"/>
            <a:ext cx="4919472" cy="146304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Reports self-submitted by humanitarian organisations, no fixed schedule or obligation to report</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Could cover ~100% of districts; actually covers 60.1% of district-months, 73 of 74 districts at least once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What a zero means, what missing means, and the main risk</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Same table, the harder-to-summarise rows</a:t>
            </a:r>
            <a:endParaRPr lang="en-US" sz="1250" dirty="0"/>
          </a:p>
        </p:txBody>
      </p:sp>
      <p:sp>
        <p:nvSpPr>
          <p:cNvPr id="4" name="Text 2"/>
          <p:cNvSpPr/>
          <p:nvPr/>
        </p:nvSpPr>
        <p:spPr>
          <a:xfrm>
            <a:off x="566928" y="1554480"/>
            <a:ext cx="11027664" cy="310896"/>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What a zero means</a:t>
            </a:r>
            <a:endParaRPr lang="en-US" sz="1400" dirty="0"/>
          </a:p>
        </p:txBody>
      </p:sp>
      <p:sp>
        <p:nvSpPr>
          <p:cNvPr id="5" name="Shape 3"/>
          <p:cNvSpPr/>
          <p:nvPr/>
        </p:nvSpPr>
        <p:spPr>
          <a:xfrm>
            <a:off x="566928" y="1920240"/>
            <a:ext cx="11027664" cy="1005840"/>
          </a:xfrm>
          <a:prstGeom prst="roundRect">
            <a:avLst>
              <a:gd name="adj" fmla="val 5455"/>
            </a:avLst>
          </a:prstGeom>
          <a:solidFill>
            <a:srgbClr val="F7F5F1"/>
          </a:solidFill>
          <a:ln/>
          <a:effectLst>
            <a:outerShdw sx="100000" sy="100000" kx="0" ky="0" algn="bl" rotWithShape="0" blurRad="76200" dist="381" dir="5400000">
              <a:srgbClr val="000000">
                <a:alpha val="8000"/>
              </a:srgbClr>
            </a:outerShdw>
          </a:effectLst>
        </p:spPr>
      </p:sp>
      <p:sp>
        <p:nvSpPr>
          <p:cNvPr id="6" name="Text 4"/>
          <p:cNvSpPr/>
          <p:nvPr/>
        </p:nvSpPr>
        <p:spPr>
          <a:xfrm>
            <a:off x="749808" y="2029968"/>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Conflict</a:t>
            </a:r>
            <a:endParaRPr lang="en-US" sz="1050" dirty="0"/>
          </a:p>
        </p:txBody>
      </p:sp>
      <p:sp>
        <p:nvSpPr>
          <p:cNvPr id="7" name="Text 5"/>
          <p:cNvSpPr/>
          <p:nvPr/>
        </p:nvSpPr>
        <p:spPr>
          <a:xfrm>
            <a:off x="749808" y="2286000"/>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No recorded event: genuine calm, or violence nobody reported</a:t>
            </a:r>
            <a:endParaRPr lang="en-US" sz="950" dirty="0"/>
          </a:p>
        </p:txBody>
      </p:sp>
      <p:sp>
        <p:nvSpPr>
          <p:cNvPr id="8" name="Text 6"/>
          <p:cNvSpPr/>
          <p:nvPr/>
        </p:nvSpPr>
        <p:spPr>
          <a:xfrm>
            <a:off x="3506724" y="2029968"/>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Climate</a:t>
            </a:r>
            <a:endParaRPr lang="en-US" sz="1050" dirty="0"/>
          </a:p>
        </p:txBody>
      </p:sp>
      <p:sp>
        <p:nvSpPr>
          <p:cNvPr id="9" name="Text 7"/>
          <p:cNvSpPr/>
          <p:nvPr/>
        </p:nvSpPr>
        <p:spPr>
          <a:xfrm>
            <a:off x="3506724" y="2286000"/>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A real, meaningful reading, not a gap</a:t>
            </a:r>
            <a:endParaRPr lang="en-US" sz="950" dirty="0"/>
          </a:p>
        </p:txBody>
      </p:sp>
      <p:sp>
        <p:nvSpPr>
          <p:cNvPr id="10" name="Text 8"/>
          <p:cNvSpPr/>
          <p:nvPr/>
        </p:nvSpPr>
        <p:spPr>
          <a:xfrm>
            <a:off x="6263640" y="2029968"/>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Market</a:t>
            </a:r>
            <a:endParaRPr lang="en-US" sz="1050" dirty="0"/>
          </a:p>
        </p:txBody>
      </p:sp>
      <p:sp>
        <p:nvSpPr>
          <p:cNvPr id="11" name="Text 9"/>
          <p:cNvSpPr/>
          <p:nvPr/>
        </p:nvSpPr>
        <p:spPr>
          <a:xfrm>
            <a:off x="6263640" y="2286000"/>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Not valid for a price itself; only the summary counts can read 0</a:t>
            </a:r>
            <a:endParaRPr lang="en-US" sz="950" dirty="0"/>
          </a:p>
        </p:txBody>
      </p:sp>
      <p:sp>
        <p:nvSpPr>
          <p:cNvPr id="12" name="Text 10"/>
          <p:cNvSpPr/>
          <p:nvPr/>
        </p:nvSpPr>
        <p:spPr>
          <a:xfrm>
            <a:off x="9020556" y="2029968"/>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Reporting</a:t>
            </a:r>
            <a:endParaRPr lang="en-US" sz="1050" dirty="0"/>
          </a:p>
        </p:txBody>
      </p:sp>
      <p:sp>
        <p:nvSpPr>
          <p:cNvPr id="13" name="Text 11"/>
          <p:cNvSpPr/>
          <p:nvPr/>
        </p:nvSpPr>
        <p:spPr>
          <a:xfrm>
            <a:off x="9020556" y="2286000"/>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The most literal zero: no report matched</a:t>
            </a:r>
            <a:endParaRPr lang="en-US" sz="950" dirty="0"/>
          </a:p>
        </p:txBody>
      </p:sp>
      <p:sp>
        <p:nvSpPr>
          <p:cNvPr id="14" name="Text 12"/>
          <p:cNvSpPr/>
          <p:nvPr/>
        </p:nvSpPr>
        <p:spPr>
          <a:xfrm>
            <a:off x="566928" y="3090672"/>
            <a:ext cx="11027664" cy="310896"/>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Main measurement risk</a:t>
            </a:r>
            <a:endParaRPr lang="en-US" sz="1400" dirty="0"/>
          </a:p>
        </p:txBody>
      </p:sp>
      <p:sp>
        <p:nvSpPr>
          <p:cNvPr id="15" name="Shape 13"/>
          <p:cNvSpPr/>
          <p:nvPr/>
        </p:nvSpPr>
        <p:spPr>
          <a:xfrm>
            <a:off x="566928" y="3456432"/>
            <a:ext cx="11027664" cy="1005840"/>
          </a:xfrm>
          <a:prstGeom prst="roundRect">
            <a:avLst>
              <a:gd name="adj" fmla="val 5455"/>
            </a:avLst>
          </a:prstGeom>
          <a:solidFill>
            <a:srgbClr val="F7F5F1"/>
          </a:solidFill>
          <a:ln/>
          <a:effectLst>
            <a:outerShdw sx="100000" sy="100000" kx="0" ky="0" algn="bl" rotWithShape="0" blurRad="76200" dist="381" dir="5400000">
              <a:srgbClr val="000000">
                <a:alpha val="8000"/>
              </a:srgbClr>
            </a:outerShdw>
          </a:effectLst>
        </p:spPr>
      </p:sp>
      <p:sp>
        <p:nvSpPr>
          <p:cNvPr id="16" name="Text 14"/>
          <p:cNvSpPr/>
          <p:nvPr/>
        </p:nvSpPr>
        <p:spPr>
          <a:xfrm>
            <a:off x="749808" y="3566160"/>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Conflict</a:t>
            </a:r>
            <a:endParaRPr lang="en-US" sz="1050" dirty="0"/>
          </a:p>
        </p:txBody>
      </p:sp>
      <p:sp>
        <p:nvSpPr>
          <p:cNvPr id="17" name="Text 15"/>
          <p:cNvSpPr/>
          <p:nvPr/>
        </p:nvSpPr>
        <p:spPr>
          <a:xfrm>
            <a:off x="749808" y="3822192"/>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Tracks media presence more than violence itself</a:t>
            </a:r>
            <a:endParaRPr lang="en-US" sz="950" dirty="0"/>
          </a:p>
        </p:txBody>
      </p:sp>
      <p:sp>
        <p:nvSpPr>
          <p:cNvPr id="18" name="Text 16"/>
          <p:cNvSpPr/>
          <p:nvPr/>
        </p:nvSpPr>
        <p:spPr>
          <a:xfrm>
            <a:off x="3506724" y="3566160"/>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Climate</a:t>
            </a:r>
            <a:endParaRPr lang="en-US" sz="1050" dirty="0"/>
          </a:p>
        </p:txBody>
      </p:sp>
      <p:sp>
        <p:nvSpPr>
          <p:cNvPr id="19" name="Text 17"/>
          <p:cNvSpPr/>
          <p:nvPr/>
        </p:nvSpPr>
        <p:spPr>
          <a:xfrm>
            <a:off x="3506724" y="3822192"/>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The most reliable of the four, but weaker where rain gauges are sparse</a:t>
            </a:r>
            <a:endParaRPr lang="en-US" sz="950" dirty="0"/>
          </a:p>
        </p:txBody>
      </p:sp>
      <p:sp>
        <p:nvSpPr>
          <p:cNvPr id="20" name="Text 18"/>
          <p:cNvSpPr/>
          <p:nvPr/>
        </p:nvSpPr>
        <p:spPr>
          <a:xfrm>
            <a:off x="6263640" y="3566160"/>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Market</a:t>
            </a:r>
            <a:endParaRPr lang="en-US" sz="1050" dirty="0"/>
          </a:p>
        </p:txBody>
      </p:sp>
      <p:sp>
        <p:nvSpPr>
          <p:cNvPr id="21" name="Text 19"/>
          <p:cNvSpPr/>
          <p:nvPr/>
        </p:nvSpPr>
        <p:spPr>
          <a:xfrm>
            <a:off x="6263640" y="3822192"/>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Reflects accessible trade hubs, not a random sample of Somalia</a:t>
            </a:r>
            <a:endParaRPr lang="en-US" sz="950" dirty="0"/>
          </a:p>
        </p:txBody>
      </p:sp>
      <p:sp>
        <p:nvSpPr>
          <p:cNvPr id="22" name="Text 20"/>
          <p:cNvSpPr/>
          <p:nvPr/>
        </p:nvSpPr>
        <p:spPr>
          <a:xfrm>
            <a:off x="9020556" y="3566160"/>
            <a:ext cx="2482596" cy="256032"/>
          </a:xfrm>
          <a:prstGeom prst="rect">
            <a:avLst/>
          </a:prstGeom>
          <a:noFill/>
          <a:ln/>
        </p:spPr>
        <p:txBody>
          <a:bodyPr wrap="square" lIns="0" tIns="0" rIns="0" bIns="0" rtlCol="0" anchor="ctr"/>
          <a:lstStyle/>
          <a:p>
            <a:pPr indent="0" marL="0">
              <a:buNone/>
            </a:pPr>
            <a:r>
              <a:rPr lang="en-US" sz="1050" b="1" dirty="0">
                <a:solidFill>
                  <a:srgbClr val="2B2523"/>
                </a:solidFill>
                <a:latin typeface="Calibri" pitchFamily="34" charset="0"/>
                <a:ea typeface="Calibri" pitchFamily="34" charset="-122"/>
                <a:cs typeface="Calibri" pitchFamily="34" charset="-120"/>
              </a:rPr>
              <a:t>Reporting</a:t>
            </a:r>
            <a:endParaRPr lang="en-US" sz="1050" dirty="0"/>
          </a:p>
        </p:txBody>
      </p:sp>
      <p:sp>
        <p:nvSpPr>
          <p:cNvPr id="23" name="Text 21"/>
          <p:cNvSpPr/>
          <p:nvPr/>
        </p:nvSpPr>
        <p:spPr>
          <a:xfrm>
            <a:off x="9020556" y="3822192"/>
            <a:ext cx="2482596" cy="621792"/>
          </a:xfrm>
          <a:prstGeom prst="rect">
            <a:avLst/>
          </a:prstGeom>
          <a:noFill/>
          <a:ln/>
        </p:spPr>
        <p:txBody>
          <a:bodyPr wrap="square" lIns="0" tIns="0" rIns="0" bIns="0" rtlCol="0" anchor="ctr"/>
          <a:lstStyle/>
          <a:p>
            <a:pPr indent="0" marL="0">
              <a:lnSpc>
                <a:spcPts val="1200"/>
              </a:lnSpc>
              <a:buNone/>
            </a:pPr>
            <a:r>
              <a:rPr lang="en-US" sz="950" dirty="0">
                <a:solidFill>
                  <a:srgbClr val="7A6E68"/>
                </a:solidFill>
                <a:latin typeface="Calibri" pitchFamily="34" charset="0"/>
                <a:ea typeface="Calibri" pitchFamily="34" charset="-122"/>
                <a:cs typeface="Calibri" pitchFamily="34" charset="-120"/>
              </a:rPr>
              <a:t>No word-boundary matching; favours conflict over climate stress</a:t>
            </a:r>
            <a:endParaRPr lang="en-US" sz="950" dirty="0"/>
          </a:p>
        </p:txBody>
      </p:sp>
      <p:sp>
        <p:nvSpPr>
          <p:cNvPr id="24" name="Shape 22"/>
          <p:cNvSpPr/>
          <p:nvPr/>
        </p:nvSpPr>
        <p:spPr>
          <a:xfrm>
            <a:off x="566928" y="4626864"/>
            <a:ext cx="11027664" cy="786384"/>
          </a:xfrm>
          <a:prstGeom prst="roundRect">
            <a:avLst>
              <a:gd name="adj" fmla="val 6977"/>
            </a:avLst>
          </a:prstGeom>
          <a:solidFill>
            <a:srgbClr val="F7F5F1"/>
          </a:solidFill>
          <a:ln/>
          <a:effectLst>
            <a:outerShdw sx="100000" sy="100000" kx="0" ky="0" algn="bl" rotWithShape="0" blurRad="76200" dist="381" dir="5400000">
              <a:srgbClr val="000000">
                <a:alpha val="8000"/>
              </a:srgbClr>
            </a:outerShdw>
          </a:effectLst>
        </p:spPr>
      </p:sp>
      <p:sp>
        <p:nvSpPr>
          <p:cNvPr id="25" name="Text 23"/>
          <p:cNvSpPr/>
          <p:nvPr/>
        </p:nvSpPr>
        <p:spPr>
          <a:xfrm>
            <a:off x="841248" y="4754880"/>
            <a:ext cx="10479024" cy="548640"/>
          </a:xfrm>
          <a:prstGeom prst="rect">
            <a:avLst/>
          </a:prstGeom>
          <a:noFill/>
          <a:ln/>
        </p:spPr>
        <p:txBody>
          <a:bodyPr wrap="square" lIns="0" tIns="0" rIns="0" bIns="0" rtlCol="0" anchor="ctr"/>
          <a:lstStyle/>
          <a:p>
            <a:pPr indent="0" marL="0">
              <a:buNone/>
            </a:pPr>
            <a:r>
              <a:rPr lang="en-US" sz="1200" i="1" dirty="0">
                <a:solidFill>
                  <a:srgbClr val="2B2523"/>
                </a:solidFill>
                <a:latin typeface="Calibri" pitchFamily="34" charset="0"/>
                <a:ea typeface="Calibri" pitchFamily="34" charset="-122"/>
                <a:cs typeface="Calibri" pitchFamily="34" charset="-120"/>
              </a:rPr>
              <a:t>None of the four is a neutral, ground-truthed measure. Each one sees Somalia through the lens of who is watching, and why.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Next steps, part 1: findings already in hand</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Checked against the actual data this week. No further analysis needed, only writing up</a:t>
            </a:r>
            <a:endParaRPr lang="en-US" sz="1250" dirty="0"/>
          </a:p>
        </p:txBody>
      </p:sp>
      <p:sp>
        <p:nvSpPr>
          <p:cNvPr id="4" name="Shape 2"/>
          <p:cNvSpPr/>
          <p:nvPr/>
        </p:nvSpPr>
        <p:spPr>
          <a:xfrm>
            <a:off x="566928" y="1463040"/>
            <a:ext cx="11027664" cy="1554480"/>
          </a:xfrm>
          <a:prstGeom prst="roundRect">
            <a:avLst>
              <a:gd name="adj" fmla="val 3529"/>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04672" y="1591056"/>
            <a:ext cx="2377440" cy="1280160"/>
          </a:xfrm>
          <a:prstGeom prst="rect">
            <a:avLst/>
          </a:prstGeom>
          <a:noFill/>
          <a:ln/>
        </p:spPr>
        <p:txBody>
          <a:bodyPr wrap="square" lIns="0" tIns="0" rIns="0" bIns="0" rtlCol="0" anchor="ctr"/>
          <a:lstStyle/>
          <a:p>
            <a:pPr indent="0" marL="0">
              <a:lnSpc>
                <a:spcPts val="1600"/>
              </a:lnSpc>
              <a:buNone/>
            </a:pPr>
            <a:r>
              <a:rPr lang="en-US" sz="1300" b="1" dirty="0">
                <a:solidFill>
                  <a:srgbClr val="2B2523"/>
                </a:solidFill>
                <a:latin typeface="Cambria" pitchFamily="34" charset="0"/>
                <a:ea typeface="Cambria" pitchFamily="34" charset="-122"/>
                <a:cs typeface="Cambria" pitchFamily="34" charset="-120"/>
              </a:rPr>
              <a:t>Conflict location precision</a:t>
            </a:r>
            <a:endParaRPr lang="en-US" sz="1300" dirty="0"/>
          </a:p>
        </p:txBody>
      </p:sp>
      <p:sp>
        <p:nvSpPr>
          <p:cNvPr id="6" name="Text 4"/>
          <p:cNvSpPr/>
          <p:nvPr/>
        </p:nvSpPr>
        <p:spPr>
          <a:xfrm>
            <a:off x="3246120" y="1591056"/>
            <a:ext cx="1554480" cy="1280160"/>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22.4%</a:t>
            </a:r>
            <a:endParaRPr lang="en-US" sz="1700" dirty="0"/>
          </a:p>
        </p:txBody>
      </p:sp>
      <p:sp>
        <p:nvSpPr>
          <p:cNvPr id="7" name="Text 5"/>
          <p:cNvSpPr/>
          <p:nvPr/>
        </p:nvSpPr>
        <p:spPr>
          <a:xfrm>
            <a:off x="5029200" y="1591056"/>
            <a:ext cx="6327648" cy="1280160"/>
          </a:xfrm>
          <a:prstGeom prst="rect">
            <a:avLst/>
          </a:prstGeom>
          <a:noFill/>
          <a:ln/>
        </p:spPr>
        <p:txBody>
          <a:bodyPr wrap="square" lIns="0" tIns="0" rIns="0" bIns="0" rtlCol="0" anchor="ctr"/>
          <a:lstStyle/>
          <a:p>
            <a:pPr indent="0" marL="0">
              <a:lnSpc>
                <a:spcPts val="1400"/>
              </a:lnSpc>
              <a:buNone/>
            </a:pPr>
            <a:r>
              <a:rPr lang="en-US" sz="1050" dirty="0">
                <a:solidFill>
                  <a:srgbClr val="7A6E68"/>
                </a:solidFill>
                <a:latin typeface="Calibri" pitchFamily="34" charset="0"/>
                <a:ea typeface="Calibri" pitchFamily="34" charset="-122"/>
                <a:cs typeface="Calibri" pitchFamily="34" charset="-120"/>
              </a:rPr>
              <a:t>of Somalia's 2024 conflict events (772 of 3,448) are only approximately located, not pinned to an exact site. ACLED codes this itself: some events are placed at the nearest known town rather than their real one. It varies sharply by district, from 0% to 69%, with no simple link to how many events a district has.</a:t>
            </a:r>
            <a:endParaRPr lang="en-US" sz="1050" dirty="0"/>
          </a:p>
        </p:txBody>
      </p:sp>
      <p:sp>
        <p:nvSpPr>
          <p:cNvPr id="8" name="Shape 6"/>
          <p:cNvSpPr/>
          <p:nvPr/>
        </p:nvSpPr>
        <p:spPr>
          <a:xfrm>
            <a:off x="566928" y="3145536"/>
            <a:ext cx="11027664" cy="1554480"/>
          </a:xfrm>
          <a:prstGeom prst="roundRect">
            <a:avLst>
              <a:gd name="adj" fmla="val 3529"/>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804672" y="3273552"/>
            <a:ext cx="2377440" cy="1280160"/>
          </a:xfrm>
          <a:prstGeom prst="rect">
            <a:avLst/>
          </a:prstGeom>
          <a:noFill/>
          <a:ln/>
        </p:spPr>
        <p:txBody>
          <a:bodyPr wrap="square" lIns="0" tIns="0" rIns="0" bIns="0" rtlCol="0" anchor="ctr"/>
          <a:lstStyle/>
          <a:p>
            <a:pPr indent="0" marL="0">
              <a:lnSpc>
                <a:spcPts val="1600"/>
              </a:lnSpc>
              <a:buNone/>
            </a:pPr>
            <a:r>
              <a:rPr lang="en-US" sz="1300" b="1" dirty="0">
                <a:solidFill>
                  <a:srgbClr val="2B2523"/>
                </a:solidFill>
                <a:latin typeface="Cambria" pitchFamily="34" charset="0"/>
                <a:ea typeface="Cambria" pitchFamily="34" charset="-122"/>
                <a:cs typeface="Cambria" pitchFamily="34" charset="-120"/>
              </a:rPr>
              <a:t>The market/PEWI gap, quantified</a:t>
            </a:r>
            <a:endParaRPr lang="en-US" sz="1300" dirty="0"/>
          </a:p>
        </p:txBody>
      </p:sp>
      <p:sp>
        <p:nvSpPr>
          <p:cNvPr id="10" name="Text 8"/>
          <p:cNvSpPr/>
          <p:nvPr/>
        </p:nvSpPr>
        <p:spPr>
          <a:xfrm>
            <a:off x="3246120" y="3273552"/>
            <a:ext cx="1554480" cy="1280160"/>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147 of 1,676</a:t>
            </a:r>
            <a:endParaRPr lang="en-US" sz="1700" dirty="0"/>
          </a:p>
        </p:txBody>
      </p:sp>
      <p:sp>
        <p:nvSpPr>
          <p:cNvPr id="11" name="Text 9"/>
          <p:cNvSpPr/>
          <p:nvPr/>
        </p:nvSpPr>
        <p:spPr>
          <a:xfrm>
            <a:off x="5029200" y="3273552"/>
            <a:ext cx="6327648" cy="1280160"/>
          </a:xfrm>
          <a:prstGeom prst="rect">
            <a:avLst/>
          </a:prstGeom>
          <a:noFill/>
          <a:ln/>
        </p:spPr>
        <p:txBody>
          <a:bodyPr wrap="square" lIns="0" tIns="0" rIns="0" bIns="0" rtlCol="0" anchor="ctr"/>
          <a:lstStyle/>
          <a:p>
            <a:pPr indent="0" marL="0">
              <a:lnSpc>
                <a:spcPts val="1400"/>
              </a:lnSpc>
              <a:buNone/>
            </a:pPr>
            <a:r>
              <a:rPr lang="en-US" sz="1050" dirty="0">
                <a:solidFill>
                  <a:srgbClr val="7A6E68"/>
                </a:solidFill>
                <a:latin typeface="Calibri" pitchFamily="34" charset="0"/>
                <a:ea typeface="Calibri" pitchFamily="34" charset="-122"/>
                <a:cs typeface="Calibri" pitchFamily="34" charset="-120"/>
              </a:rPr>
              <a:t>basket-commodity price records (8.8%) have a real price on file but no PEWI score at all. Almost all of this sits in 3 districts (Rab Dhuure, Taleex, Xudun) missing it completely, every month, all year, which is why PEWI-based market coverage (43.1%) reads lower than price-based coverage (47.2%).</a:t>
            </a:r>
            <a:endParaRPr lang="en-US" sz="1050" dirty="0"/>
          </a:p>
        </p:txBody>
      </p:sp>
      <p:sp>
        <p:nvSpPr>
          <p:cNvPr id="12" name="Shape 10"/>
          <p:cNvSpPr/>
          <p:nvPr/>
        </p:nvSpPr>
        <p:spPr>
          <a:xfrm>
            <a:off x="566928" y="4828032"/>
            <a:ext cx="11027664" cy="1554480"/>
          </a:xfrm>
          <a:prstGeom prst="roundRect">
            <a:avLst>
              <a:gd name="adj" fmla="val 3529"/>
            </a:avLst>
          </a:prstGeom>
          <a:solidFill>
            <a:srgbClr val="F7F5F1"/>
          </a:solidFill>
          <a:ln/>
          <a:effectLst>
            <a:outerShdw sx="100000" sy="100000" kx="0" ky="0" algn="bl" rotWithShape="0" blurRad="76200" dist="381" dir="5400000">
              <a:srgbClr val="000000">
                <a:alpha val="8000"/>
              </a:srgbClr>
            </a:outerShdw>
          </a:effectLst>
        </p:spPr>
      </p:sp>
      <p:sp>
        <p:nvSpPr>
          <p:cNvPr id="13" name="Text 11"/>
          <p:cNvSpPr/>
          <p:nvPr/>
        </p:nvSpPr>
        <p:spPr>
          <a:xfrm>
            <a:off x="804672" y="4956048"/>
            <a:ext cx="2377440" cy="1280160"/>
          </a:xfrm>
          <a:prstGeom prst="rect">
            <a:avLst/>
          </a:prstGeom>
          <a:noFill/>
          <a:ln/>
        </p:spPr>
        <p:txBody>
          <a:bodyPr wrap="square" lIns="0" tIns="0" rIns="0" bIns="0" rtlCol="0" anchor="ctr"/>
          <a:lstStyle/>
          <a:p>
            <a:pPr indent="0" marL="0">
              <a:lnSpc>
                <a:spcPts val="1600"/>
              </a:lnSpc>
              <a:buNone/>
            </a:pPr>
            <a:r>
              <a:rPr lang="en-US" sz="1300" b="1" dirty="0">
                <a:solidFill>
                  <a:srgbClr val="2B2523"/>
                </a:solidFill>
                <a:latin typeface="Cambria" pitchFamily="34" charset="0"/>
                <a:ea typeface="Cambria" pitchFamily="34" charset="-122"/>
                <a:cs typeface="Cambria" pitchFamily="34" charset="-120"/>
              </a:rPr>
              <a:t>Price outlier check, came back clean</a:t>
            </a:r>
            <a:endParaRPr lang="en-US" sz="1300" dirty="0"/>
          </a:p>
        </p:txBody>
      </p:sp>
      <p:sp>
        <p:nvSpPr>
          <p:cNvPr id="14" name="Text 12"/>
          <p:cNvSpPr/>
          <p:nvPr/>
        </p:nvSpPr>
        <p:spPr>
          <a:xfrm>
            <a:off x="3246120" y="4956048"/>
            <a:ext cx="1554480" cy="1280160"/>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0 issues</a:t>
            </a:r>
            <a:endParaRPr lang="en-US" sz="1700" dirty="0"/>
          </a:p>
        </p:txBody>
      </p:sp>
      <p:sp>
        <p:nvSpPr>
          <p:cNvPr id="15" name="Text 13"/>
          <p:cNvSpPr/>
          <p:nvPr/>
        </p:nvSpPr>
        <p:spPr>
          <a:xfrm>
            <a:off x="5029200" y="4956048"/>
            <a:ext cx="6327648" cy="1280160"/>
          </a:xfrm>
          <a:prstGeom prst="rect">
            <a:avLst/>
          </a:prstGeom>
          <a:noFill/>
          <a:ln/>
        </p:spPr>
        <p:txBody>
          <a:bodyPr wrap="square" lIns="0" tIns="0" rIns="0" bIns="0" rtlCol="0" anchor="ctr"/>
          <a:lstStyle/>
          <a:p>
            <a:pPr indent="0" marL="0">
              <a:lnSpc>
                <a:spcPts val="1400"/>
              </a:lnSpc>
              <a:buNone/>
            </a:pPr>
            <a:r>
              <a:rPr lang="en-US" sz="1050" dirty="0">
                <a:solidFill>
                  <a:srgbClr val="7A6E68"/>
                </a:solidFill>
                <a:latin typeface="Calibri" pitchFamily="34" charset="0"/>
                <a:ea typeface="Calibri" pitchFamily="34" charset="-122"/>
                <a:cs typeface="Calibri" pitchFamily="34" charset="-120"/>
              </a:rPr>
              <a:t>checked every price in the four basket foods for values that looked broken, like a typo or a currency-conversion mistake, using a standard rule for spotting numbers that sit unusually far from the rest of the data. The handful flagged were all normal, believable prices, not errors. Rules out a real, easy-to-miss risk to the market data.</a:t>
            </a:r>
            <a:endParaRPr lang="en-US" sz="1050" dirty="0"/>
          </a:p>
        </p:txBody>
      </p:sp>
      <p:sp>
        <p:nvSpPr>
          <p:cNvPr id="16" name="Text 14"/>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Two more findings continue on the next slide.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Next steps, part 1: findings already in hand (continued)</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Two more, both about the market trend and PEWI features specifically</a:t>
            </a:r>
            <a:endParaRPr lang="en-US" sz="1250" dirty="0"/>
          </a:p>
        </p:txBody>
      </p:sp>
      <p:sp>
        <p:nvSpPr>
          <p:cNvPr id="4" name="Shape 2"/>
          <p:cNvSpPr/>
          <p:nvPr/>
        </p:nvSpPr>
        <p:spPr>
          <a:xfrm>
            <a:off x="566928" y="1554480"/>
            <a:ext cx="1102766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5" name="Text 3"/>
          <p:cNvSpPr/>
          <p:nvPr/>
        </p:nvSpPr>
        <p:spPr>
          <a:xfrm>
            <a:off x="841248" y="1700784"/>
            <a:ext cx="10479024" cy="365760"/>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Trend features miss more than the prices they're built from</a:t>
            </a:r>
            <a:endParaRPr lang="en-US" sz="1400" dirty="0"/>
          </a:p>
        </p:txBody>
      </p:sp>
      <p:sp>
        <p:nvSpPr>
          <p:cNvPr id="6" name="Text 4"/>
          <p:cNvSpPr/>
          <p:nvPr/>
        </p:nvSpPr>
        <p:spPr>
          <a:xfrm>
            <a:off x="841248" y="2103120"/>
            <a:ext cx="10479024" cy="365760"/>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52.8%  -&gt;  56.8%</a:t>
            </a:r>
            <a:endParaRPr lang="en-US" sz="1600" dirty="0"/>
          </a:p>
        </p:txBody>
      </p:sp>
      <p:sp>
        <p:nvSpPr>
          <p:cNvPr id="7" name="Text 5"/>
          <p:cNvSpPr/>
          <p:nvPr/>
        </p:nvSpPr>
        <p:spPr>
          <a:xfrm>
            <a:off x="841248" y="2523744"/>
            <a:ext cx="10479024" cy="868680"/>
          </a:xfrm>
          <a:prstGeom prst="rect">
            <a:avLst/>
          </a:prstGeom>
          <a:noFill/>
          <a:ln/>
        </p:spPr>
        <p:txBody>
          <a:bodyPr wrap="square" lIns="0" tIns="0" rIns="0" bIns="0" rtlCol="0" anchor="ctr"/>
          <a:lstStyle/>
          <a:p>
            <a:pPr indent="0" marL="0">
              <a:lnSpc>
                <a:spcPts val="1500"/>
              </a:lnSpc>
              <a:buNone/>
            </a:pPr>
            <a:r>
              <a:rPr lang="en-US" sz="1100" dirty="0">
                <a:solidFill>
                  <a:srgbClr val="7A6E68"/>
                </a:solidFill>
                <a:latin typeface="Calibri" pitchFamily="34" charset="0"/>
                <a:ea typeface="Calibri" pitchFamily="34" charset="-122"/>
                <a:cs typeface="Calibri" pitchFamily="34" charset="-120"/>
              </a:rPr>
              <a:t>A commodity's price is missing 52.8% of the time. Its month-over-month change (`{c}_trend_log`) is missing more, 56.8%, since a trend needs two consecutive months of price, not just one. This gap between the two figures has never been stated anywhere before.</a:t>
            </a:r>
            <a:endParaRPr lang="en-US" sz="1100" dirty="0"/>
          </a:p>
        </p:txBody>
      </p:sp>
      <p:sp>
        <p:nvSpPr>
          <p:cNvPr id="8" name="Shape 6"/>
          <p:cNvSpPr/>
          <p:nvPr/>
        </p:nvSpPr>
        <p:spPr>
          <a:xfrm>
            <a:off x="566928" y="3657600"/>
            <a:ext cx="11027664" cy="1920240"/>
          </a:xfrm>
          <a:prstGeom prst="roundRect">
            <a:avLst>
              <a:gd name="adj" fmla="val 2857"/>
            </a:avLst>
          </a:prstGeom>
          <a:solidFill>
            <a:srgbClr val="F7F5F1"/>
          </a:solidFill>
          <a:ln/>
          <a:effectLst>
            <a:outerShdw sx="100000" sy="100000" kx="0" ky="0" algn="bl" rotWithShape="0" blurRad="76200" dist="381" dir="5400000">
              <a:srgbClr val="000000">
                <a:alpha val="8000"/>
              </a:srgbClr>
            </a:outerShdw>
          </a:effectLst>
        </p:spPr>
      </p:sp>
      <p:sp>
        <p:nvSpPr>
          <p:cNvPr id="9" name="Text 7"/>
          <p:cNvSpPr/>
          <p:nvPr/>
        </p:nvSpPr>
        <p:spPr>
          <a:xfrm>
            <a:off x="841248" y="3803904"/>
            <a:ext cx="10479024" cy="365760"/>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"Whole basket or nothing" reporting</a:t>
            </a:r>
            <a:endParaRPr lang="en-US" sz="1400" dirty="0"/>
          </a:p>
        </p:txBody>
      </p:sp>
      <p:sp>
        <p:nvSpPr>
          <p:cNvPr id="10" name="Text 8"/>
          <p:cNvSpPr/>
          <p:nvPr/>
        </p:nvSpPr>
        <p:spPr>
          <a:xfrm>
            <a:off x="841248" y="4206240"/>
            <a:ext cx="10479024" cy="365760"/>
          </a:xfrm>
          <a:prstGeom prst="rect">
            <a:avLst/>
          </a:prstGeom>
          <a:noFill/>
          <a:ln/>
        </p:spPr>
        <p:txBody>
          <a:bodyPr wrap="square" lIns="0" tIns="0" rIns="0" bIns="0" rtlCol="0" anchor="ctr"/>
          <a:lstStyle/>
          <a:p>
            <a:pPr indent="0" marL="0">
              <a:buNone/>
            </a:pPr>
            <a:r>
              <a:rPr lang="en-US" sz="1600" b="1" dirty="0">
                <a:solidFill>
                  <a:srgbClr val="2B2523"/>
                </a:solidFill>
                <a:latin typeface="Cambria" pitchFamily="34" charset="0"/>
                <a:ea typeface="Cambria" pitchFamily="34" charset="-122"/>
                <a:cs typeface="Cambria" pitchFamily="34" charset="-120"/>
              </a:rPr>
              <a:t>99.4% all-or-nothing</a:t>
            </a:r>
            <a:endParaRPr lang="en-US" sz="1600" dirty="0"/>
          </a:p>
        </p:txBody>
      </p:sp>
      <p:sp>
        <p:nvSpPr>
          <p:cNvPr id="11" name="Text 9"/>
          <p:cNvSpPr/>
          <p:nvPr/>
        </p:nvSpPr>
        <p:spPr>
          <a:xfrm>
            <a:off x="841248" y="4626864"/>
            <a:ext cx="10479024" cy="868680"/>
          </a:xfrm>
          <a:prstGeom prst="rect">
            <a:avLst/>
          </a:prstGeom>
          <a:noFill/>
          <a:ln/>
        </p:spPr>
        <p:txBody>
          <a:bodyPr wrap="square" lIns="0" tIns="0" rIns="0" bIns="0" rtlCol="0" anchor="ctr"/>
          <a:lstStyle/>
          <a:p>
            <a:pPr indent="0" marL="0">
              <a:lnSpc>
                <a:spcPts val="1500"/>
              </a:lnSpc>
              <a:buNone/>
            </a:pPr>
            <a:r>
              <a:rPr lang="en-US" sz="1100" dirty="0">
                <a:solidFill>
                  <a:srgbClr val="7A6E68"/>
                </a:solidFill>
                <a:latin typeface="Calibri" pitchFamily="34" charset="0"/>
                <a:ea typeface="Calibri" pitchFamily="34" charset="-122"/>
                <a:cs typeface="Calibri" pitchFamily="34" charset="-120"/>
              </a:rPr>
              <a:t>Checked, row by row, whether a market ever reports some of the four basket foods in a month but not others. It almost never happens: for both price and its trend, a market-month has all four commodities or none. PEWI follows the same pattern 99.4% of the time, with exactly 3 exceptions, all in Banadir. A genuine, previously undocumented pattern in how WFP collects prices.</a:t>
            </a:r>
            <a:endParaRPr lang="en-US" sz="1100" dirty="0"/>
          </a:p>
        </p:txBody>
      </p:sp>
      <p:sp>
        <p:nvSpPr>
          <p:cNvPr id="12" name="Shape 10"/>
          <p:cNvSpPr/>
          <p:nvPr/>
        </p:nvSpPr>
        <p:spPr>
          <a:xfrm>
            <a:off x="566928" y="5632704"/>
            <a:ext cx="11027664" cy="457200"/>
          </a:xfrm>
          <a:prstGeom prst="roundRect">
            <a:avLst>
              <a:gd name="adj" fmla="val 12000"/>
            </a:avLst>
          </a:prstGeom>
          <a:solidFill>
            <a:srgbClr val="2B2523"/>
          </a:solidFill>
          <a:ln/>
          <a:effectLst>
            <a:outerShdw sx="100000" sy="100000" kx="0" ky="0" algn="bl" rotWithShape="0" blurRad="76200" dist="381" dir="5400000">
              <a:srgbClr val="000000">
                <a:alpha val="8000"/>
              </a:srgbClr>
            </a:outerShdw>
          </a:effectLst>
        </p:spPr>
      </p:sp>
      <p:sp>
        <p:nvSpPr>
          <p:cNvPr id="13" name="Text 11"/>
          <p:cNvSpPr/>
          <p:nvPr/>
        </p:nvSpPr>
        <p:spPr>
          <a:xfrm>
            <a:off x="841248" y="5724144"/>
            <a:ext cx="10479024" cy="310896"/>
          </a:xfrm>
          <a:prstGeom prst="rect">
            <a:avLst/>
          </a:prstGeom>
          <a:noFill/>
          <a:ln/>
        </p:spPr>
        <p:txBody>
          <a:bodyPr wrap="square" lIns="0" tIns="0" rIns="0" bIns="0" rtlCol="0" anchor="ctr"/>
          <a:lstStyle/>
          <a:p>
            <a:pPr indent="0" marL="0">
              <a:buNone/>
            </a:pPr>
            <a:r>
              <a:rPr lang="en-US" sz="1100" i="1" dirty="0">
                <a:solidFill>
                  <a:srgbClr val="E7E8D1"/>
                </a:solidFill>
                <a:latin typeface="Calibri" pitchFamily="34" charset="0"/>
                <a:ea typeface="Calibri" pitchFamily="34" charset="-122"/>
                <a:cs typeface="Calibri" pitchFamily="34" charset="-120"/>
              </a:rPr>
              <a:t>All five findings on these two slides reuse datasets already in the repository. None require new data.</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Next steps, part 2: new analysis still to run (1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One table, coverage by month</a:t>
            </a:r>
            <a:endParaRPr lang="en-US" sz="1250" dirty="0"/>
          </a:p>
        </p:txBody>
      </p:sp>
      <p:sp>
        <p:nvSpPr>
          <p:cNvPr id="4" name="Shape 2"/>
          <p:cNvSpPr/>
          <p:nvPr/>
        </p:nvSpPr>
        <p:spPr>
          <a:xfrm>
            <a:off x="566928" y="1517904"/>
            <a:ext cx="11027664" cy="1188720"/>
          </a:xfrm>
          <a:prstGeom prst="roundRect">
            <a:avLst>
              <a:gd name="adj" fmla="val 4615"/>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920240"/>
            <a:ext cx="10479024" cy="73152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The numbers on which months are well or poorly covered already exist, but scattered: the WFP audit has a month-by-month table, reporting's 34-54 swing is mentioned in prose, market's flat 34-35 is mentioned separately. Nothing currently puts all four sources side by side, by month.</a:t>
            </a:r>
            <a:endParaRPr lang="en-US" sz="1150" dirty="0"/>
          </a:p>
        </p:txBody>
      </p:sp>
      <p:sp>
        <p:nvSpPr>
          <p:cNvPr id="7" name="Shape 5"/>
          <p:cNvSpPr/>
          <p:nvPr/>
        </p:nvSpPr>
        <p:spPr>
          <a:xfrm>
            <a:off x="566928" y="2889504"/>
            <a:ext cx="11027664"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41248" y="3017520"/>
            <a:ext cx="10479024"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310128"/>
            <a:ext cx="10479024" cy="18288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Take the panel's existing per-source coverage flags (already used elsewhere: was conflict/climate/market/reporting observed for this district-month)</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Group the 888 rows by month (time_id) instead of by district</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For each of the 12 months, calculate what percentage of the 74 districts each source covered that month</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Assemble the result into one 12-row table, one column per source, so the weakest months for each source are visible side by side</a:t>
            </a:r>
            <a:endParaRPr lang="en-US" sz="1150" dirty="0"/>
          </a:p>
        </p:txBody>
      </p:sp>
      <p:sp>
        <p:nvSpPr>
          <p:cNvPr id="10" name="Text 8"/>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No new computation beyond a groupby on columns that already exist in the panel. The smallest of the four items here.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Next steps, part 2: new analysis still to run (2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Is market placement itself systematic?</a:t>
            </a:r>
            <a:endParaRPr lang="en-US" sz="1250" dirty="0"/>
          </a:p>
        </p:txBody>
      </p:sp>
      <p:sp>
        <p:nvSpPr>
          <p:cNvPr id="4" name="Shape 2"/>
          <p:cNvSpPr/>
          <p:nvPr/>
        </p:nvSpPr>
        <p:spPr>
          <a:xfrm>
            <a:off x="566928" y="1517904"/>
            <a:ext cx="11027664" cy="1188720"/>
          </a:xfrm>
          <a:prstGeom prst="roundRect">
            <a:avLst>
              <a:gd name="adj" fmla="val 4615"/>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920240"/>
            <a:ext cx="10479024" cy="73152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Sub-question 2 asks whether gaps are systematic. That has only been tested properly for reporting coverage (conflict, market status and region, in the logistic regression). Market coverage itself, which districts have a monitored market at all, has only ever been checked against conflict, and found not significant.</a:t>
            </a:r>
            <a:endParaRPr lang="en-US" sz="1150" dirty="0"/>
          </a:p>
        </p:txBody>
      </p:sp>
      <p:sp>
        <p:nvSpPr>
          <p:cNvPr id="7" name="Shape 5"/>
          <p:cNvSpPr/>
          <p:nvPr/>
        </p:nvSpPr>
        <p:spPr>
          <a:xfrm>
            <a:off x="566928" y="2889504"/>
            <a:ext cx="11027664"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41248" y="3017520"/>
            <a:ext cx="10479024"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310128"/>
            <a:ext cx="10479024" cy="18288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has_market_coverage does not change month to month, so this is tested at the district level (n=74), the same correction already applied to every other district-fixed variable</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Check whether market presence relates to region (admin1): a simple breakdown of the percentage of districts with a market, by region</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Check whether it relates to district size (area_km2): the same kind of correlation already run informally for reporting coverage, but never reported cleanly on its own</a:t>
            </a:r>
            <a:endParaRPr lang="en-US" sz="1150" dirty="0"/>
          </a:p>
          <a:p>
            <a:pPr marL="342900" indent="-342900">
              <a:lnSpc>
                <a:spcPts val="1500"/>
              </a:lnSpc>
              <a:spcAft>
                <a:spcPts val="900"/>
              </a:spcAft>
              <a:buSzPct val="100000"/>
              <a:buChar char="•"/>
            </a:pPr>
            <a:r>
              <a:rPr lang="en-US" sz="1150" dirty="0">
                <a:solidFill>
                  <a:srgbClr val="7A6E68"/>
                </a:solidFill>
                <a:latin typeface="Calibri" pitchFamily="34" charset="0"/>
                <a:ea typeface="Calibri" pitchFamily="34" charset="-122"/>
                <a:cs typeface="Calibri" pitchFamily="34" charset="-120"/>
              </a:rPr>
              <a:t>Report the result plainly either way: systematic (tied to region or size) or close to random placement</a:t>
            </a:r>
            <a:endParaRPr lang="en-US" sz="1150" dirty="0"/>
          </a:p>
        </p:txBody>
      </p:sp>
      <p:sp>
        <p:nvSpPr>
          <p:cNvPr id="10" name="Text 8"/>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District-level only, so this does not run into the repeated-district-months problem from earlier.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Next steps, part 2: new analysis still to run (3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Do the sources agree on where the crisis actually is?</a:t>
            </a:r>
            <a:endParaRPr lang="en-US" sz="1250" dirty="0"/>
          </a:p>
        </p:txBody>
      </p:sp>
      <p:sp>
        <p:nvSpPr>
          <p:cNvPr id="4" name="Shape 2"/>
          <p:cNvSpPr/>
          <p:nvPr/>
        </p:nvSpPr>
        <p:spPr>
          <a:xfrm>
            <a:off x="566928" y="1517904"/>
            <a:ext cx="11027664" cy="1097280"/>
          </a:xfrm>
          <a:prstGeom prst="roundRect">
            <a:avLst>
              <a:gd name="adj" fmla="val 5000"/>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27632"/>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883664"/>
            <a:ext cx="10479024" cy="685800"/>
          </a:xfrm>
          <a:prstGeom prst="rect">
            <a:avLst/>
          </a:prstGeom>
          <a:noFill/>
          <a:ln/>
        </p:spPr>
        <p:txBody>
          <a:bodyPr wrap="square" lIns="0" tIns="0" rIns="0" bIns="0" rtlCol="0" anchor="ctr"/>
          <a:lstStyle/>
          <a:p>
            <a:pPr indent="0" marL="0">
              <a:lnSpc>
                <a:spcPts val="1400"/>
              </a:lnSpc>
              <a:buNone/>
            </a:pPr>
            <a:r>
              <a:rPr lang="en-US" sz="1100" dirty="0">
                <a:solidFill>
                  <a:srgbClr val="E7E8D1"/>
                </a:solidFill>
                <a:latin typeface="Calibri" pitchFamily="34" charset="0"/>
                <a:ea typeface="Calibri" pitchFamily="34" charset="-122"/>
                <a:cs typeface="Calibri" pitchFamily="34" charset="-120"/>
              </a:rPr>
              <a:t>Source complementarity so far only asks whether sources cover the same places. It has never asked whether, when two sources are both watching, they actually agree on what they see: does a district with severe conflict also show up as under market stress, or do the two mechanisms point at different places?</a:t>
            </a:r>
            <a:endParaRPr lang="en-US" sz="1100" dirty="0"/>
          </a:p>
        </p:txBody>
      </p:sp>
      <p:sp>
        <p:nvSpPr>
          <p:cNvPr id="7" name="Shape 5"/>
          <p:cNvSpPr/>
          <p:nvPr/>
        </p:nvSpPr>
        <p:spPr>
          <a:xfrm>
            <a:off x="566928" y="2724912"/>
            <a:ext cx="11027664" cy="1828800"/>
          </a:xfrm>
          <a:prstGeom prst="roundRect">
            <a:avLst>
              <a:gd name="adj" fmla="val 3000"/>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41248" y="2834640"/>
            <a:ext cx="10479024"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127248"/>
            <a:ext cx="10479024" cy="137160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Restrict to the 383 district-months that actually have market data, so a "not stressed" reading isn't confused with "no data"</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Flag conflict-severe district-months using the same worst-10% definition used throughout the conflict-vs-climate work</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Flag market-stressed district-months as market_stress_count &gt; 0 (WFP's Alert-or-worse phase)</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Cross-tabulate the two flags and test the association, then apply the same district-level and cluster-bootstrap checks used for the conflict-vs-climate result, since a handful of repeat districts could otherwise distort it</a:t>
            </a:r>
            <a:endParaRPr lang="en-US" sz="1050" dirty="0"/>
          </a:p>
        </p:txBody>
      </p:sp>
      <p:sp>
        <p:nvSpPr>
          <p:cNvPr id="10" name="Shape 8"/>
          <p:cNvSpPr/>
          <p:nvPr/>
        </p:nvSpPr>
        <p:spPr>
          <a:xfrm>
            <a:off x="566928" y="4663440"/>
            <a:ext cx="11027664" cy="1417320"/>
          </a:xfrm>
          <a:prstGeom prst="roundRect">
            <a:avLst>
              <a:gd name="adj" fmla="val 3871"/>
            </a:avLst>
          </a:prstGeom>
          <a:solidFill>
            <a:srgbClr val="E7E8D1"/>
          </a:solidFill>
          <a:ln/>
          <a:effectLst>
            <a:outerShdw sx="100000" sy="100000" kx="0" ky="0" algn="bl" rotWithShape="0" blurRad="76200" dist="381" dir="5400000">
              <a:srgbClr val="000000">
                <a:alpha val="8000"/>
              </a:srgbClr>
            </a:outerShdw>
          </a:effectLst>
        </p:spPr>
      </p:sp>
      <p:sp>
        <p:nvSpPr>
          <p:cNvPr id="11" name="Text 9"/>
          <p:cNvSpPr/>
          <p:nvPr/>
        </p:nvSpPr>
        <p:spPr>
          <a:xfrm>
            <a:off x="841248" y="4791456"/>
            <a:ext cx="10479024" cy="274320"/>
          </a:xfrm>
          <a:prstGeom prst="rect">
            <a:avLst/>
          </a:prstGeom>
          <a:noFill/>
          <a:ln/>
        </p:spPr>
        <p:txBody>
          <a:bodyPr wrap="square" lIns="0" tIns="0" rIns="0" bIns="0" rtlCol="0" anchor="ctr"/>
          <a:lstStyle/>
          <a:p>
            <a:pPr indent="0" marL="0">
              <a:buNone/>
            </a:pPr>
            <a:r>
              <a:rPr lang="en-US" sz="1200" b="1" dirty="0">
                <a:solidFill>
                  <a:srgbClr val="2B2523"/>
                </a:solidFill>
                <a:latin typeface="Cambria" pitchFamily="34" charset="0"/>
                <a:ea typeface="Cambria" pitchFamily="34" charset="-122"/>
                <a:cs typeface="Cambria" pitchFamily="34" charset="-120"/>
              </a:rPr>
              <a:t>A first pass has already been run, informally</a:t>
            </a:r>
            <a:endParaRPr lang="en-US" sz="1200" dirty="0"/>
          </a:p>
        </p:txBody>
      </p:sp>
      <p:sp>
        <p:nvSpPr>
          <p:cNvPr id="12" name="Text 10"/>
          <p:cNvSpPr/>
          <p:nvPr/>
        </p:nvSpPr>
        <p:spPr>
          <a:xfrm>
            <a:off x="841248" y="5084064"/>
            <a:ext cx="10479024" cy="914400"/>
          </a:xfrm>
          <a:prstGeom prst="rect">
            <a:avLst/>
          </a:prstGeom>
          <a:noFill/>
          <a:ln/>
        </p:spPr>
        <p:txBody>
          <a:bodyPr wrap="square" lIns="0" tIns="0" rIns="0" bIns="0" rtlCol="0" anchor="ctr"/>
          <a:lstStyle/>
          <a:p>
            <a:pPr indent="0" marL="0">
              <a:lnSpc>
                <a:spcPts val="1400"/>
              </a:lnSpc>
              <a:buNone/>
            </a:pPr>
            <a:r>
              <a:rPr lang="en-US" sz="1050" i="1" dirty="0">
                <a:solidFill>
                  <a:srgbClr val="2B2523"/>
                </a:solidFill>
                <a:latin typeface="Calibri" pitchFamily="34" charset="0"/>
                <a:ea typeface="Calibri" pitchFamily="34" charset="-122"/>
                <a:cs typeface="Calibri" pitchFamily="34" charset="-120"/>
              </a:rPr>
              <a:t>48.9% of conflict-severe district-months with market data were also market-stressed, against a 35.8% baseline; a first significance test came out borderline (p = 0.074). Promising, but not yet trustworthy: the district-level robustness check above still needs to be run before this can be reported as a real finding.</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11027664" cy="548640"/>
          </a:xfrm>
          <a:prstGeom prst="rect">
            <a:avLst/>
          </a:prstGeom>
          <a:noFill/>
          <a:ln/>
        </p:spPr>
        <p:txBody>
          <a:bodyPr wrap="square" lIns="0" tIns="0" rIns="0" bIns="0" rtlCol="0" anchor="ctr"/>
          <a:lstStyle/>
          <a:p>
            <a:pPr indent="0" marL="0">
              <a:buNone/>
            </a:pPr>
            <a:r>
              <a:rPr lang="en-US" sz="2500" b="1" dirty="0">
                <a:solidFill>
                  <a:srgbClr val="2B2523"/>
                </a:solidFill>
                <a:latin typeface="Cambria" pitchFamily="34" charset="0"/>
                <a:ea typeface="Cambria" pitchFamily="34" charset="-122"/>
                <a:cs typeface="Cambria" pitchFamily="34" charset="-120"/>
              </a:rPr>
              <a:t>Next steps, part 2: new analysis still to run (4 of 4)</a:t>
            </a:r>
            <a:endParaRPr lang="en-US" sz="2500" dirty="0"/>
          </a:p>
        </p:txBody>
      </p:sp>
      <p:sp>
        <p:nvSpPr>
          <p:cNvPr id="3" name="Text 1"/>
          <p:cNvSpPr/>
          <p:nvPr/>
        </p:nvSpPr>
        <p:spPr>
          <a:xfrm>
            <a:off x="566928" y="987552"/>
            <a:ext cx="11027664" cy="329184"/>
          </a:xfrm>
          <a:prstGeom prst="rect">
            <a:avLst/>
          </a:prstGeom>
          <a:noFill/>
          <a:ln/>
        </p:spPr>
        <p:txBody>
          <a:bodyPr wrap="square" lIns="0" tIns="0" rIns="0" bIns="0" rtlCol="0" anchor="ctr"/>
          <a:lstStyle/>
          <a:p>
            <a:pPr indent="0" marL="0">
              <a:buNone/>
            </a:pPr>
            <a:r>
              <a:rPr lang="en-US" sz="1250" i="1" dirty="0">
                <a:solidFill>
                  <a:srgbClr val="7A6E68"/>
                </a:solidFill>
                <a:latin typeface="Calibri" pitchFamily="34" charset="0"/>
                <a:ea typeface="Calibri" pitchFamily="34" charset="-122"/>
                <a:cs typeface="Calibri" pitchFamily="34" charset="-120"/>
              </a:rPr>
              <a:t>A note on how fine-grained each source is</a:t>
            </a:r>
            <a:endParaRPr lang="en-US" sz="1250" dirty="0"/>
          </a:p>
        </p:txBody>
      </p:sp>
      <p:sp>
        <p:nvSpPr>
          <p:cNvPr id="4" name="Shape 2"/>
          <p:cNvSpPr/>
          <p:nvPr/>
        </p:nvSpPr>
        <p:spPr>
          <a:xfrm>
            <a:off x="566928" y="1517904"/>
            <a:ext cx="11027664" cy="1188720"/>
          </a:xfrm>
          <a:prstGeom prst="roundRect">
            <a:avLst>
              <a:gd name="adj" fmla="val 4615"/>
            </a:avLst>
          </a:prstGeom>
          <a:solidFill>
            <a:srgbClr val="2B2523"/>
          </a:solidFill>
          <a:ln/>
          <a:effectLst>
            <a:outerShdw sx="100000" sy="100000" kx="0" ky="0" algn="bl" rotWithShape="0" blurRad="76200" dist="381" dir="5400000">
              <a:srgbClr val="000000">
                <a:alpha val="8000"/>
              </a:srgbClr>
            </a:outerShdw>
          </a:effectLst>
        </p:spPr>
      </p:sp>
      <p:sp>
        <p:nvSpPr>
          <p:cNvPr id="5" name="Text 3"/>
          <p:cNvSpPr/>
          <p:nvPr/>
        </p:nvSpPr>
        <p:spPr>
          <a:xfrm>
            <a:off x="841248" y="1645920"/>
            <a:ext cx="10479024" cy="274320"/>
          </a:xfrm>
          <a:prstGeom prst="rect">
            <a:avLst/>
          </a:prstGeom>
          <a:noFill/>
          <a:ln/>
        </p:spPr>
        <p:txBody>
          <a:bodyPr wrap="square" lIns="0" tIns="0" rIns="0" bIns="0" rtlCol="0" anchor="ctr"/>
          <a:lstStyle/>
          <a:p>
            <a:pPr indent="0" marL="0">
              <a:buNone/>
            </a:pPr>
            <a:r>
              <a:rPr lang="en-US" sz="1300" b="1" dirty="0">
                <a:solidFill>
                  <a:srgbClr val="A7BEAE"/>
                </a:solidFill>
                <a:latin typeface="Cambria" pitchFamily="34" charset="0"/>
                <a:ea typeface="Cambria" pitchFamily="34" charset="-122"/>
                <a:cs typeface="Cambria" pitchFamily="34" charset="-120"/>
              </a:rPr>
              <a:t>Why</a:t>
            </a:r>
            <a:endParaRPr lang="en-US" sz="1300" dirty="0"/>
          </a:p>
        </p:txBody>
      </p:sp>
      <p:sp>
        <p:nvSpPr>
          <p:cNvPr id="6" name="Text 4"/>
          <p:cNvSpPr/>
          <p:nvPr/>
        </p:nvSpPr>
        <p:spPr>
          <a:xfrm>
            <a:off x="841248" y="1920240"/>
            <a:ext cx="10479024" cy="731520"/>
          </a:xfrm>
          <a:prstGeom prst="rect">
            <a:avLst/>
          </a:prstGeom>
          <a:noFill/>
          <a:ln/>
        </p:spPr>
        <p:txBody>
          <a:bodyPr wrap="square" lIns="0" tIns="0" rIns="0" bIns="0" rtlCol="0" anchor="ctr"/>
          <a:lstStyle/>
          <a:p>
            <a:pPr indent="0" marL="0">
              <a:lnSpc>
                <a:spcPts val="1500"/>
              </a:lnSpc>
              <a:buNone/>
            </a:pPr>
            <a:r>
              <a:rPr lang="en-US" sz="1150" dirty="0">
                <a:solidFill>
                  <a:srgbClr val="E7E8D1"/>
                </a:solidFill>
                <a:latin typeface="Calibri" pitchFamily="34" charset="0"/>
                <a:ea typeface="Calibri" pitchFamily="34" charset="-122"/>
                <a:cs typeface="Calibri" pitchFamily="34" charset="-120"/>
              </a:rPr>
              <a:t>The research question names "granularity" specifically, alongside coverage, missingness and measurement reliability. Nothing in the notebook addresses it head-on: all four sources end up as one number per district per month, but they start at very different levels of detail.</a:t>
            </a:r>
            <a:endParaRPr lang="en-US" sz="1150" dirty="0"/>
          </a:p>
        </p:txBody>
      </p:sp>
      <p:sp>
        <p:nvSpPr>
          <p:cNvPr id="7" name="Shape 5"/>
          <p:cNvSpPr/>
          <p:nvPr/>
        </p:nvSpPr>
        <p:spPr>
          <a:xfrm>
            <a:off x="566928" y="2889504"/>
            <a:ext cx="11027664" cy="2377440"/>
          </a:xfrm>
          <a:prstGeom prst="roundRect">
            <a:avLst>
              <a:gd name="adj" fmla="val 2308"/>
            </a:avLst>
          </a:prstGeom>
          <a:solidFill>
            <a:srgbClr val="F7F5F1"/>
          </a:solidFill>
          <a:ln/>
          <a:effectLst>
            <a:outerShdw sx="100000" sy="100000" kx="0" ky="0" algn="bl" rotWithShape="0" blurRad="76200" dist="381" dir="5400000">
              <a:srgbClr val="000000">
                <a:alpha val="8000"/>
              </a:srgbClr>
            </a:outerShdw>
          </a:effectLst>
        </p:spPr>
      </p:sp>
      <p:sp>
        <p:nvSpPr>
          <p:cNvPr id="8" name="Text 6"/>
          <p:cNvSpPr/>
          <p:nvPr/>
        </p:nvSpPr>
        <p:spPr>
          <a:xfrm>
            <a:off x="841248" y="3017520"/>
            <a:ext cx="10479024" cy="274320"/>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What we will actually do</a:t>
            </a:r>
            <a:endParaRPr lang="en-US" sz="1300" dirty="0"/>
          </a:p>
        </p:txBody>
      </p:sp>
      <p:sp>
        <p:nvSpPr>
          <p:cNvPr id="9" name="Text 7"/>
          <p:cNvSpPr/>
          <p:nvPr/>
        </p:nvSpPr>
        <p:spPr>
          <a:xfrm>
            <a:off x="841248" y="3310128"/>
            <a:ext cx="10479024" cy="457200"/>
          </a:xfrm>
          <a:prstGeom prst="rect">
            <a:avLst/>
          </a:prstGeom>
          <a:noFill/>
          <a:ln/>
        </p:spPr>
        <p:txBody>
          <a:bodyPr wrap="square" lIns="0" tIns="0" rIns="0" bIns="0" rtlCol="0" anchor="ctr"/>
          <a:lstStyle/>
          <a:p>
            <a:pPr indent="0" marL="0">
              <a:lnSpc>
                <a:spcPts val="1400"/>
              </a:lnSpc>
              <a:buNone/>
            </a:pPr>
            <a:r>
              <a:rPr lang="en-US" sz="1100" dirty="0">
                <a:solidFill>
                  <a:srgbClr val="7A6E68"/>
                </a:solidFill>
                <a:latin typeface="Calibri" pitchFamily="34" charset="0"/>
                <a:ea typeface="Calibri" pitchFamily="34" charset="-122"/>
                <a:cs typeface="Calibri" pitchFamily="34" charset="-120"/>
              </a:rPr>
              <a:t>This one is documentation, not statistical analysis. Each source's native resolution before it collapses to one district-level number will be written up as a short comparison, already partially checked directly against the raw files:</a:t>
            </a:r>
            <a:endParaRPr lang="en-US" sz="1100" dirty="0"/>
          </a:p>
        </p:txBody>
      </p:sp>
      <p:sp>
        <p:nvSpPr>
          <p:cNvPr id="10" name="Text 8"/>
          <p:cNvSpPr/>
          <p:nvPr/>
        </p:nvSpPr>
        <p:spPr>
          <a:xfrm>
            <a:off x="841248" y="3840480"/>
            <a:ext cx="10479024" cy="1371600"/>
          </a:xfrm>
          <a:prstGeom prst="rect">
            <a:avLst/>
          </a:prstGeom>
          <a:noFill/>
          <a:ln/>
        </p:spPr>
        <p:txBody>
          <a:bodyPr wrap="square" lIns="0" tIns="0" rIns="0" bIns="0" rtlCol="0" anchor="ctr"/>
          <a:lstStyle/>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Conflict: each event is an exact GPS point (confirmed: ACLED carries latitude/longitude for every record)</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Climate: satellite grid cells, confirmed directly from the raster files: CHIRPS at 0.05 degrees (~5.5km), VHI at 0.036 degrees (~4km)</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Market: a specific, named market stall or stand</a:t>
            </a:r>
            <a:endParaRPr lang="en-US" sz="1050" dirty="0"/>
          </a:p>
          <a:p>
            <a:pPr marL="342900" indent="-342900">
              <a:lnSpc>
                <a:spcPts val="1300"/>
              </a:lnSpc>
              <a:spcAft>
                <a:spcPts val="700"/>
              </a:spcAft>
              <a:buSzPct val="100000"/>
              <a:buChar char="•"/>
            </a:pPr>
            <a:r>
              <a:rPr lang="en-US" sz="1050" dirty="0">
                <a:solidFill>
                  <a:srgbClr val="7A6E68"/>
                </a:solidFill>
                <a:latin typeface="Calibri" pitchFamily="34" charset="0"/>
                <a:ea typeface="Calibri" pitchFamily="34" charset="-122"/>
                <a:cs typeface="Calibri" pitchFamily="34" charset="-120"/>
              </a:rPr>
              <a:t>Reporting: a whole document; the geoparser can say a report mentions a district, never anything more precise than that</a:t>
            </a:r>
            <a:endParaRPr lang="en-US" sz="1050" dirty="0"/>
          </a:p>
        </p:txBody>
      </p:sp>
      <p:sp>
        <p:nvSpPr>
          <p:cNvPr id="11" name="Text 9"/>
          <p:cNvSpPr/>
          <p:nvPr/>
        </p:nvSpPr>
        <p:spPr>
          <a:xfrm>
            <a:off x="566928" y="6144768"/>
            <a:ext cx="11027664" cy="237744"/>
          </a:xfrm>
          <a:prstGeom prst="rect">
            <a:avLst/>
          </a:prstGeom>
          <a:noFill/>
          <a:ln/>
        </p:spPr>
        <p:txBody>
          <a:bodyPr wrap="square" lIns="0" tIns="0" rIns="0" bIns="0" rtlCol="0" anchor="ctr"/>
          <a:lstStyle/>
          <a:p>
            <a:pPr indent="0" marL="0">
              <a:buNone/>
            </a:pPr>
            <a:r>
              <a:rPr lang="en-US" sz="900" i="1" dirty="0">
                <a:solidFill>
                  <a:srgbClr val="7A6E68"/>
                </a:solidFill>
                <a:latin typeface="Calibri" pitchFamily="34" charset="0"/>
                <a:ea typeface="Calibri" pitchFamily="34" charset="-122"/>
                <a:cs typeface="Calibri" pitchFamily="34" charset="-120"/>
              </a:rPr>
              <a:t>Slots into the existing source-level table as an added row.</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of August 17</dc:title>
  <dc:subject>PptxGenJS Presentation</dc:subject>
  <dc:creator>Samuel Aracena</dc:creator>
  <cp:lastModifiedBy>Samuel Aracena</cp:lastModifiedBy>
  <cp:revision>1</cp:revision>
  <dcterms:created xsi:type="dcterms:W3CDTF">2026-08-25T12:35:48Z</dcterms:created>
  <dcterms:modified xsi:type="dcterms:W3CDTF">2026-08-25T12:35:48Z</dcterms:modified>
</cp:coreProperties>
</file>