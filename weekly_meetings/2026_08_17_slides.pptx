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523"/>
        </a:solidFill>
      </p:bgPr>
    </p:bg>
    <p:spTree>
      <p:nvGrpSpPr>
        <p:cNvPr id="1" name=""/>
        <p:cNvGrpSpPr/>
        <p:nvPr/>
      </p:nvGrpSpPr>
      <p:grpSpPr>
        <a:xfrm>
          <a:off x="0" y="0"/>
          <a:ext cx="0" cy="0"/>
          <a:chOff x="0" y="0"/>
          <a:chExt cx="0" cy="0"/>
        </a:xfrm>
      </p:grpSpPr>
      <p:sp>
        <p:nvSpPr>
          <p:cNvPr id="2" name="Text 0"/>
          <p:cNvSpPr/>
          <p:nvPr/>
        </p:nvSpPr>
        <p:spPr>
          <a:xfrm>
            <a:off x="566928" y="2286000"/>
            <a:ext cx="11027664"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Week of August 17, 2026</a:t>
            </a:r>
            <a:endParaRPr lang="en-US" sz="3800" dirty="0"/>
          </a:p>
        </p:txBody>
      </p:sp>
      <p:sp>
        <p:nvSpPr>
          <p:cNvPr id="3" name="Text 1"/>
          <p:cNvSpPr/>
          <p:nvPr/>
        </p:nvSpPr>
        <p:spPr>
          <a:xfrm>
            <a:off x="566928" y="3200400"/>
            <a:ext cx="11027664" cy="1097280"/>
          </a:xfrm>
          <a:prstGeom prst="rect">
            <a:avLst/>
          </a:prstGeom>
          <a:noFill/>
          <a:ln/>
        </p:spPr>
        <p:txBody>
          <a:bodyPr wrap="square" lIns="0" tIns="0" rIns="0" bIns="0" rtlCol="0" anchor="ctr"/>
          <a:lstStyle/>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Working through the outstanding to-do list: geoparser validation, correcting for</a:t>
            </a:r>
            <a:endParaRPr lang="en-US" sz="1400" dirty="0"/>
          </a:p>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repeated district-months, strengthening the conflict-vs-climate result, source</a:t>
            </a:r>
            <a:endParaRPr lang="en-US" sz="1400" dirty="0"/>
          </a:p>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complementarity, final feature formulas, and the source-level table.</a:t>
            </a:r>
            <a:endParaRPr lang="en-US" sz="1400" dirty="0"/>
          </a:p>
        </p:txBody>
      </p:sp>
      <p:sp>
        <p:nvSpPr>
          <p:cNvPr id="4" name="Text 2"/>
          <p:cNvSpPr/>
          <p:nvPr/>
        </p:nvSpPr>
        <p:spPr>
          <a:xfrm>
            <a:off x="566928" y="5943600"/>
            <a:ext cx="11027664" cy="365760"/>
          </a:xfrm>
          <a:prstGeom prst="rect">
            <a:avLst/>
          </a:prstGeom>
          <a:noFill/>
          <a:ln/>
        </p:spPr>
        <p:txBody>
          <a:bodyPr wrap="square" lIns="0" tIns="0" rIns="0" bIns="0" rtlCol="0" anchor="ctr"/>
          <a:lstStyle/>
          <a:p>
            <a:pPr indent="0" marL="0">
              <a:buNone/>
            </a:pPr>
            <a:r>
              <a:rPr lang="en-US" sz="1150" i="1" dirty="0">
                <a:solidFill>
                  <a:srgbClr val="A7BEAE"/>
                </a:solidFill>
                <a:latin typeface="Calibri" pitchFamily="34" charset="0"/>
                <a:ea typeface="Calibri" pitchFamily="34" charset="-122"/>
                <a:cs typeface="Calibri" pitchFamily="34" charset="-120"/>
              </a:rPr>
              <a:t>Somalia humanitarian observability dissertation  --  a self-contained summary of this week's work</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Where this fits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research question and the dataset this week's work builds on</a:t>
            </a:r>
            <a:endParaRPr lang="en-US" sz="1250" dirty="0"/>
          </a:p>
        </p:txBody>
      </p:sp>
      <p:sp>
        <p:nvSpPr>
          <p:cNvPr id="4" name="Shape 2"/>
          <p:cNvSpPr/>
          <p:nvPr/>
        </p:nvSpPr>
        <p:spPr>
          <a:xfrm>
            <a:off x="566928" y="1463040"/>
            <a:ext cx="11027664" cy="1133856"/>
          </a:xfrm>
          <a:prstGeom prst="roundRect">
            <a:avLst>
              <a:gd name="adj" fmla="val 4839"/>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591056"/>
            <a:ext cx="10479024" cy="914400"/>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How do heterogeneous humanitarian data sources differ in their spatial and temporal coverage, granularity, missingness and measurement reliability when integrated into a common subnational framework?</a:t>
            </a:r>
            <a:endParaRPr lang="en-US" sz="1500" dirty="0"/>
          </a:p>
        </p:txBody>
      </p:sp>
      <p:sp>
        <p:nvSpPr>
          <p:cNvPr id="6" name="Shape 4"/>
          <p:cNvSpPr/>
          <p:nvPr/>
        </p:nvSpPr>
        <p:spPr>
          <a:xfrm>
            <a:off x="566928" y="2834640"/>
            <a:ext cx="3541776" cy="1371600"/>
          </a:xfrm>
          <a:prstGeom prst="roundRect">
            <a:avLst>
              <a:gd name="adj" fmla="val 4000"/>
            </a:avLst>
          </a:prstGeom>
          <a:solidFill>
            <a:srgbClr val="F7F5F1"/>
          </a:solidFill>
          <a:ln/>
          <a:effectLst>
            <a:outerShdw sx="100000" sy="100000" kx="0" ky="0" algn="bl" rotWithShape="0" blurRad="76200" dist="381" dir="5400000">
              <a:srgbClr val="000000">
                <a:alpha val="8000"/>
              </a:srgbClr>
            </a:outerShdw>
          </a:effectLst>
        </p:spPr>
      </p:sp>
      <p:sp>
        <p:nvSpPr>
          <p:cNvPr id="7" name="Shape 5"/>
          <p:cNvSpPr/>
          <p:nvPr/>
        </p:nvSpPr>
        <p:spPr>
          <a:xfrm>
            <a:off x="749808" y="2999232"/>
            <a:ext cx="384048" cy="384048"/>
          </a:xfrm>
          <a:prstGeom prst="ellipse">
            <a:avLst/>
          </a:prstGeom>
          <a:solidFill>
            <a:srgbClr val="B85042"/>
          </a:solidFill>
          <a:ln/>
        </p:spPr>
      </p:sp>
      <p:sp>
        <p:nvSpPr>
          <p:cNvPr id="8" name="Text 6"/>
          <p:cNvSpPr/>
          <p:nvPr/>
        </p:nvSpPr>
        <p:spPr>
          <a:xfrm>
            <a:off x="749808" y="29992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9" name="Text 7"/>
          <p:cNvSpPr/>
          <p:nvPr/>
        </p:nvSpPr>
        <p:spPr>
          <a:xfrm>
            <a:off x="1261872" y="2980944"/>
            <a:ext cx="2663952" cy="45720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Where are the gaps?</a:t>
            </a:r>
            <a:endParaRPr lang="en-US" sz="1200" dirty="0"/>
          </a:p>
        </p:txBody>
      </p:sp>
      <p:sp>
        <p:nvSpPr>
          <p:cNvPr id="10" name="Text 8"/>
          <p:cNvSpPr/>
          <p:nvPr/>
        </p:nvSpPr>
        <p:spPr>
          <a:xfrm>
            <a:off x="768096" y="3566160"/>
            <a:ext cx="3139440" cy="60350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Which districts, periods and mechanisms are well or poorly observed</a:t>
            </a:r>
            <a:endParaRPr lang="en-US" sz="950" dirty="0"/>
          </a:p>
        </p:txBody>
      </p:sp>
      <p:sp>
        <p:nvSpPr>
          <p:cNvPr id="11" name="Shape 9"/>
          <p:cNvSpPr/>
          <p:nvPr/>
        </p:nvSpPr>
        <p:spPr>
          <a:xfrm>
            <a:off x="4309872" y="2834640"/>
            <a:ext cx="3541776" cy="1371600"/>
          </a:xfrm>
          <a:prstGeom prst="roundRect">
            <a:avLst>
              <a:gd name="adj" fmla="val 4000"/>
            </a:avLst>
          </a:prstGeom>
          <a:solidFill>
            <a:srgbClr val="F7F5F1"/>
          </a:solidFill>
          <a:ln/>
          <a:effectLst>
            <a:outerShdw sx="100000" sy="100000" kx="0" ky="0" algn="bl" rotWithShape="0" blurRad="76200" dist="381" dir="5400000">
              <a:srgbClr val="000000">
                <a:alpha val="8000"/>
              </a:srgbClr>
            </a:outerShdw>
          </a:effectLst>
        </p:spPr>
      </p:sp>
      <p:sp>
        <p:nvSpPr>
          <p:cNvPr id="12" name="Shape 10"/>
          <p:cNvSpPr/>
          <p:nvPr/>
        </p:nvSpPr>
        <p:spPr>
          <a:xfrm>
            <a:off x="4492752" y="2999232"/>
            <a:ext cx="384048" cy="384048"/>
          </a:xfrm>
          <a:prstGeom prst="ellipse">
            <a:avLst/>
          </a:prstGeom>
          <a:solidFill>
            <a:srgbClr val="B85042"/>
          </a:solidFill>
          <a:ln/>
        </p:spPr>
      </p:sp>
      <p:sp>
        <p:nvSpPr>
          <p:cNvPr id="13" name="Text 11"/>
          <p:cNvSpPr/>
          <p:nvPr/>
        </p:nvSpPr>
        <p:spPr>
          <a:xfrm>
            <a:off x="4492752" y="29992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2"/>
          <p:cNvSpPr/>
          <p:nvPr/>
        </p:nvSpPr>
        <p:spPr>
          <a:xfrm>
            <a:off x="5004816" y="2980944"/>
            <a:ext cx="2663952" cy="45720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Are the gaps systematic?</a:t>
            </a:r>
            <a:endParaRPr lang="en-US" sz="1200" dirty="0"/>
          </a:p>
        </p:txBody>
      </p:sp>
      <p:sp>
        <p:nvSpPr>
          <p:cNvPr id="15" name="Text 13"/>
          <p:cNvSpPr/>
          <p:nvPr/>
        </p:nvSpPr>
        <p:spPr>
          <a:xfrm>
            <a:off x="4511040" y="3566160"/>
            <a:ext cx="3139440" cy="60350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Do they depend on how the data is collected: satellite, survey, event monitoring, reporting</a:t>
            </a:r>
            <a:endParaRPr lang="en-US" sz="950" dirty="0"/>
          </a:p>
        </p:txBody>
      </p:sp>
      <p:sp>
        <p:nvSpPr>
          <p:cNvPr id="16" name="Shape 14"/>
          <p:cNvSpPr/>
          <p:nvPr/>
        </p:nvSpPr>
        <p:spPr>
          <a:xfrm>
            <a:off x="8052816" y="2834640"/>
            <a:ext cx="3541776" cy="1371600"/>
          </a:xfrm>
          <a:prstGeom prst="roundRect">
            <a:avLst>
              <a:gd name="adj" fmla="val 4000"/>
            </a:avLst>
          </a:prstGeom>
          <a:solidFill>
            <a:srgbClr val="F7F5F1"/>
          </a:solidFill>
          <a:ln/>
          <a:effectLst>
            <a:outerShdw sx="100000" sy="100000" kx="0" ky="0" algn="bl" rotWithShape="0" blurRad="76200" dist="381" dir="5400000">
              <a:srgbClr val="000000">
                <a:alpha val="8000"/>
              </a:srgbClr>
            </a:outerShdw>
          </a:effectLst>
        </p:spPr>
      </p:sp>
      <p:sp>
        <p:nvSpPr>
          <p:cNvPr id="17" name="Shape 15"/>
          <p:cNvSpPr/>
          <p:nvPr/>
        </p:nvSpPr>
        <p:spPr>
          <a:xfrm>
            <a:off x="8235696" y="2999232"/>
            <a:ext cx="384048" cy="384048"/>
          </a:xfrm>
          <a:prstGeom prst="ellipse">
            <a:avLst/>
          </a:prstGeom>
          <a:solidFill>
            <a:srgbClr val="B85042"/>
          </a:solidFill>
          <a:ln/>
        </p:spPr>
      </p:sp>
      <p:sp>
        <p:nvSpPr>
          <p:cNvPr id="18" name="Text 16"/>
          <p:cNvSpPr/>
          <p:nvPr/>
        </p:nvSpPr>
        <p:spPr>
          <a:xfrm>
            <a:off x="8235696" y="29992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9" name="Text 17"/>
          <p:cNvSpPr/>
          <p:nvPr/>
        </p:nvSpPr>
        <p:spPr>
          <a:xfrm>
            <a:off x="8747760" y="2980944"/>
            <a:ext cx="2663952" cy="45720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What does combining sources add?</a:t>
            </a:r>
            <a:endParaRPr lang="en-US" sz="1200" dirty="0"/>
          </a:p>
        </p:txBody>
      </p:sp>
      <p:sp>
        <p:nvSpPr>
          <p:cNvPr id="20" name="Text 18"/>
          <p:cNvSpPr/>
          <p:nvPr/>
        </p:nvSpPr>
        <p:spPr>
          <a:xfrm>
            <a:off x="8253984" y="3566160"/>
            <a:ext cx="3139440" cy="60350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Which are complementary, which add little on their own</a:t>
            </a:r>
            <a:endParaRPr lang="en-US" sz="950" dirty="0"/>
          </a:p>
        </p:txBody>
      </p:sp>
      <p:sp>
        <p:nvSpPr>
          <p:cNvPr id="21" name="Shape 19"/>
          <p:cNvSpPr/>
          <p:nvPr/>
        </p:nvSpPr>
        <p:spPr>
          <a:xfrm>
            <a:off x="566928" y="4443984"/>
            <a:ext cx="11027664" cy="1463040"/>
          </a:xfrm>
          <a:prstGeom prst="roundRect">
            <a:avLst>
              <a:gd name="adj" fmla="val 3750"/>
            </a:avLst>
          </a:prstGeom>
          <a:solidFill>
            <a:srgbClr val="E7E8D1"/>
          </a:solidFill>
          <a:ln/>
          <a:effectLst>
            <a:outerShdw sx="100000" sy="100000" kx="0" ky="0" algn="bl" rotWithShape="0" blurRad="76200" dist="381" dir="5400000">
              <a:srgbClr val="000000">
                <a:alpha val="8000"/>
              </a:srgbClr>
            </a:outerShdw>
          </a:effectLst>
        </p:spPr>
      </p:sp>
      <p:sp>
        <p:nvSpPr>
          <p:cNvPr id="22" name="Text 20"/>
          <p:cNvSpPr/>
          <p:nvPr/>
        </p:nvSpPr>
        <p:spPr>
          <a:xfrm>
            <a:off x="841248" y="4572000"/>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The panel this all runs on</a:t>
            </a:r>
            <a:endParaRPr lang="en-US" sz="1300" dirty="0"/>
          </a:p>
        </p:txBody>
      </p:sp>
      <p:sp>
        <p:nvSpPr>
          <p:cNvPr id="23" name="Text 21"/>
          <p:cNvSpPr/>
          <p:nvPr/>
        </p:nvSpPr>
        <p:spPr>
          <a:xfrm>
            <a:off x="841248" y="486460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888</a:t>
            </a:r>
            <a:endParaRPr lang="en-US" sz="2600" dirty="0"/>
          </a:p>
        </p:txBody>
      </p:sp>
      <p:sp>
        <p:nvSpPr>
          <p:cNvPr id="24" name="Text 22"/>
          <p:cNvSpPr/>
          <p:nvPr/>
        </p:nvSpPr>
        <p:spPr>
          <a:xfrm>
            <a:off x="841248" y="541324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district-months (74 districts x 12 months, 2024)</a:t>
            </a:r>
            <a:endParaRPr lang="en-US" sz="950" dirty="0"/>
          </a:p>
        </p:txBody>
      </p:sp>
      <p:sp>
        <p:nvSpPr>
          <p:cNvPr id="25" name="Text 23"/>
          <p:cNvSpPr/>
          <p:nvPr/>
        </p:nvSpPr>
        <p:spPr>
          <a:xfrm>
            <a:off x="4334256" y="486460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4</a:t>
            </a:r>
            <a:endParaRPr lang="en-US" sz="2600" dirty="0"/>
          </a:p>
        </p:txBody>
      </p:sp>
      <p:sp>
        <p:nvSpPr>
          <p:cNvPr id="26" name="Text 24"/>
          <p:cNvSpPr/>
          <p:nvPr/>
        </p:nvSpPr>
        <p:spPr>
          <a:xfrm>
            <a:off x="4334256" y="541324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sources: conflict (ACLED), climate (CHIRPS/VHI),</a:t>
            </a:r>
            <a:endParaRPr lang="en-US" sz="950" dirty="0"/>
          </a:p>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market (WFP), reporting (ReliefWeb)</a:t>
            </a:r>
            <a:endParaRPr lang="en-US" sz="950" dirty="0"/>
          </a:p>
        </p:txBody>
      </p:sp>
      <p:sp>
        <p:nvSpPr>
          <p:cNvPr id="27" name="Text 25"/>
          <p:cNvSpPr/>
          <p:nvPr/>
        </p:nvSpPr>
        <p:spPr>
          <a:xfrm>
            <a:off x="7827264" y="486460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23</a:t>
            </a:r>
            <a:endParaRPr lang="en-US" sz="2600" dirty="0"/>
          </a:p>
        </p:txBody>
      </p:sp>
      <p:sp>
        <p:nvSpPr>
          <p:cNvPr id="28" name="Text 26"/>
          <p:cNvSpPr/>
          <p:nvPr/>
        </p:nvSpPr>
        <p:spPr>
          <a:xfrm>
            <a:off x="7827264" y="541324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engineered features across those 4 sources</a:t>
            </a:r>
            <a:endParaRPr lang="en-US" sz="950" dirty="0"/>
          </a:p>
        </p:txBody>
      </p:sp>
      <p:sp>
        <p:nvSpPr>
          <p:cNvPr id="29" name="Text 27"/>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This week continues directly from last week's chapter and works through the remaining items on the outstanding to-do list, one at a time.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What the geoparser actually does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Six rules, applied consistently, before any validation begins</a:t>
            </a:r>
            <a:endParaRPr lang="en-US" sz="1250" dirty="0"/>
          </a:p>
        </p:txBody>
      </p:sp>
      <p:sp>
        <p:nvSpPr>
          <p:cNvPr id="4" name="Text 2"/>
          <p:cNvSpPr/>
          <p:nvPr/>
        </p:nvSpPr>
        <p:spPr>
          <a:xfrm>
            <a:off x="566928" y="1426464"/>
            <a:ext cx="11027664" cy="402336"/>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It matches each ReliefWeb report's text against a list of district names and aliases, to tag which of Somalia's 74 districts the report is about.</a:t>
            </a:r>
            <a:endParaRPr lang="en-US" sz="1250" dirty="0"/>
          </a:p>
        </p:txBody>
      </p:sp>
      <p:sp>
        <p:nvSpPr>
          <p:cNvPr id="5" name="Shape 3"/>
          <p:cNvSpPr/>
          <p:nvPr/>
        </p:nvSpPr>
        <p:spPr>
          <a:xfrm>
            <a:off x="566928" y="2011680"/>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6" name="Shape 4"/>
          <p:cNvSpPr/>
          <p:nvPr/>
        </p:nvSpPr>
        <p:spPr>
          <a:xfrm>
            <a:off x="731520" y="2157984"/>
            <a:ext cx="347472" cy="347472"/>
          </a:xfrm>
          <a:prstGeom prst="ellipse">
            <a:avLst/>
          </a:prstGeom>
          <a:solidFill>
            <a:srgbClr val="B85042"/>
          </a:solidFill>
          <a:ln/>
        </p:spPr>
      </p:sp>
      <p:sp>
        <p:nvSpPr>
          <p:cNvPr id="7" name="Text 5"/>
          <p:cNvSpPr/>
          <p:nvPr/>
        </p:nvSpPr>
        <p:spPr>
          <a:xfrm>
            <a:off x="731520" y="21579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p:nvPr/>
        </p:nvSpPr>
        <p:spPr>
          <a:xfrm>
            <a:off x="1188720" y="2121408"/>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Only title + body text</a:t>
            </a:r>
            <a:endParaRPr lang="en-US" sz="1200" dirty="0"/>
          </a:p>
        </p:txBody>
      </p:sp>
      <p:sp>
        <p:nvSpPr>
          <p:cNvPr id="9" name="Text 7"/>
          <p:cNvSpPr/>
          <p:nvPr/>
        </p:nvSpPr>
        <p:spPr>
          <a:xfrm>
            <a:off x="768096" y="2596896"/>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attachment, image or linked file is ever read, only the exported title and body.</a:t>
            </a:r>
            <a:endParaRPr lang="en-US" sz="950" dirty="0"/>
          </a:p>
        </p:txBody>
      </p:sp>
      <p:sp>
        <p:nvSpPr>
          <p:cNvPr id="10" name="Shape 8"/>
          <p:cNvSpPr/>
          <p:nvPr/>
        </p:nvSpPr>
        <p:spPr>
          <a:xfrm>
            <a:off x="6190488" y="2011680"/>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11" name="Shape 9"/>
          <p:cNvSpPr/>
          <p:nvPr/>
        </p:nvSpPr>
        <p:spPr>
          <a:xfrm>
            <a:off x="6355080" y="2157984"/>
            <a:ext cx="347472" cy="347472"/>
          </a:xfrm>
          <a:prstGeom prst="ellipse">
            <a:avLst/>
          </a:prstGeom>
          <a:solidFill>
            <a:srgbClr val="B85042"/>
          </a:solidFill>
          <a:ln/>
        </p:spPr>
      </p:sp>
      <p:sp>
        <p:nvSpPr>
          <p:cNvPr id="12" name="Text 10"/>
          <p:cNvSpPr/>
          <p:nvPr/>
        </p:nvSpPr>
        <p:spPr>
          <a:xfrm>
            <a:off x="6355080" y="21579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p:nvPr/>
        </p:nvSpPr>
        <p:spPr>
          <a:xfrm>
            <a:off x="6812280" y="2121408"/>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Datelines stripped</a:t>
            </a:r>
            <a:endParaRPr lang="en-US" sz="1200" dirty="0"/>
          </a:p>
        </p:txBody>
      </p:sp>
      <p:sp>
        <p:nvSpPr>
          <p:cNvPr id="14" name="Text 12"/>
          <p:cNvSpPr/>
          <p:nvPr/>
        </p:nvSpPr>
        <p:spPr>
          <a:xfrm>
            <a:off x="6391656" y="2596896"/>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leading "Mogadishu -" is removed first, since it says where a report was filed from, not what it is about.</a:t>
            </a:r>
            <a:endParaRPr lang="en-US" sz="950" dirty="0"/>
          </a:p>
        </p:txBody>
      </p:sp>
      <p:sp>
        <p:nvSpPr>
          <p:cNvPr id="15" name="Shape 13"/>
          <p:cNvSpPr/>
          <p:nvPr/>
        </p:nvSpPr>
        <p:spPr>
          <a:xfrm>
            <a:off x="566928" y="3493008"/>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16" name="Shape 14"/>
          <p:cNvSpPr/>
          <p:nvPr/>
        </p:nvSpPr>
        <p:spPr>
          <a:xfrm>
            <a:off x="731520" y="3639312"/>
            <a:ext cx="347472" cy="347472"/>
          </a:xfrm>
          <a:prstGeom prst="ellipse">
            <a:avLst/>
          </a:prstGeom>
          <a:solidFill>
            <a:srgbClr val="B85042"/>
          </a:solidFill>
          <a:ln/>
        </p:spPr>
      </p:sp>
      <p:sp>
        <p:nvSpPr>
          <p:cNvPr id="17" name="Text 15"/>
          <p:cNvSpPr/>
          <p:nvPr/>
        </p:nvSpPr>
        <p:spPr>
          <a:xfrm>
            <a:off x="731520" y="36393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p:nvPr/>
        </p:nvSpPr>
        <p:spPr>
          <a:xfrm>
            <a:off x="1188720" y="3602736"/>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Alias matching</a:t>
            </a:r>
            <a:endParaRPr lang="en-US" sz="1200" dirty="0"/>
          </a:p>
        </p:txBody>
      </p:sp>
      <p:sp>
        <p:nvSpPr>
          <p:cNvPr id="19" name="Text 17"/>
          <p:cNvSpPr/>
          <p:nvPr/>
        </p:nvSpPr>
        <p:spPr>
          <a:xfrm>
            <a:off x="768096" y="4078224"/>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Each district is matched against its name plus a merged alias list covering 65 of 74 districts, built from the WFP crosswalk, the ACLED crosswalk, GADM's own spelling variants, and manual research.</a:t>
            </a:r>
            <a:endParaRPr lang="en-US" sz="950" dirty="0"/>
          </a:p>
        </p:txBody>
      </p:sp>
      <p:sp>
        <p:nvSpPr>
          <p:cNvPr id="20" name="Shape 18"/>
          <p:cNvSpPr/>
          <p:nvPr/>
        </p:nvSpPr>
        <p:spPr>
          <a:xfrm>
            <a:off x="6190488" y="3493008"/>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21" name="Shape 19"/>
          <p:cNvSpPr/>
          <p:nvPr/>
        </p:nvSpPr>
        <p:spPr>
          <a:xfrm>
            <a:off x="6355080" y="3639312"/>
            <a:ext cx="347472" cy="347472"/>
          </a:xfrm>
          <a:prstGeom prst="ellipse">
            <a:avLst/>
          </a:prstGeom>
          <a:solidFill>
            <a:srgbClr val="B85042"/>
          </a:solidFill>
          <a:ln/>
        </p:spPr>
      </p:sp>
      <p:sp>
        <p:nvSpPr>
          <p:cNvPr id="22" name="Text 20"/>
          <p:cNvSpPr/>
          <p:nvPr/>
        </p:nvSpPr>
        <p:spPr>
          <a:xfrm>
            <a:off x="6355080" y="36393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3" name="Text 21"/>
          <p:cNvSpPr/>
          <p:nvPr/>
        </p:nvSpPr>
        <p:spPr>
          <a:xfrm>
            <a:off x="6812280" y="3602736"/>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Bulletin exclusion</a:t>
            </a:r>
            <a:endParaRPr lang="en-US" sz="1200" dirty="0"/>
          </a:p>
        </p:txBody>
      </p:sp>
      <p:sp>
        <p:nvSpPr>
          <p:cNvPr id="24" name="Text 22"/>
          <p:cNvSpPr/>
          <p:nvPr/>
        </p:nvSpPr>
        <p:spPr>
          <a:xfrm>
            <a:off x="6391656" y="4078224"/>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Reports titled as a price/supply/market bulletin are excluded entirely; they list many districts as comparison points, not because anything happened there.</a:t>
            </a:r>
            <a:endParaRPr lang="en-US" sz="950" dirty="0"/>
          </a:p>
        </p:txBody>
      </p:sp>
      <p:sp>
        <p:nvSpPr>
          <p:cNvPr id="25" name="Shape 23"/>
          <p:cNvSpPr/>
          <p:nvPr/>
        </p:nvSpPr>
        <p:spPr>
          <a:xfrm>
            <a:off x="566928" y="4974336"/>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26" name="Shape 24"/>
          <p:cNvSpPr/>
          <p:nvPr/>
        </p:nvSpPr>
        <p:spPr>
          <a:xfrm>
            <a:off x="731520" y="5120640"/>
            <a:ext cx="347472" cy="347472"/>
          </a:xfrm>
          <a:prstGeom prst="ellipse">
            <a:avLst/>
          </a:prstGeom>
          <a:solidFill>
            <a:srgbClr val="B85042"/>
          </a:solidFill>
          <a:ln/>
        </p:spPr>
      </p:sp>
      <p:sp>
        <p:nvSpPr>
          <p:cNvPr id="27" name="Text 25"/>
          <p:cNvSpPr/>
          <p:nvPr/>
        </p:nvSpPr>
        <p:spPr>
          <a:xfrm>
            <a:off x="731520" y="51206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8" name="Text 26"/>
          <p:cNvSpPr/>
          <p:nvPr/>
        </p:nvSpPr>
        <p:spPr>
          <a:xfrm>
            <a:off x="1188720" y="5084064"/>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No word boundaries</a:t>
            </a:r>
            <a:endParaRPr lang="en-US" sz="1200" dirty="0"/>
          </a:p>
        </p:txBody>
      </p:sp>
      <p:sp>
        <p:nvSpPr>
          <p:cNvPr id="29" name="Text 27"/>
          <p:cNvSpPr/>
          <p:nvPr/>
        </p:nvSpPr>
        <p:spPr>
          <a:xfrm>
            <a:off x="768096" y="5559552"/>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known limitation, not an oversight: matching is substring-based, so "Sheekh" the district also matches inside "Hassan Sheikh Mohamud", the president's name.</a:t>
            </a:r>
            <a:endParaRPr lang="en-US" sz="950" dirty="0"/>
          </a:p>
        </p:txBody>
      </p:sp>
      <p:sp>
        <p:nvSpPr>
          <p:cNvPr id="30" name="Shape 28"/>
          <p:cNvSpPr/>
          <p:nvPr/>
        </p:nvSpPr>
        <p:spPr>
          <a:xfrm>
            <a:off x="6190488" y="4974336"/>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31" name="Shape 29"/>
          <p:cNvSpPr/>
          <p:nvPr/>
        </p:nvSpPr>
        <p:spPr>
          <a:xfrm>
            <a:off x="6355080" y="5120640"/>
            <a:ext cx="347472" cy="347472"/>
          </a:xfrm>
          <a:prstGeom prst="ellipse">
            <a:avLst/>
          </a:prstGeom>
          <a:solidFill>
            <a:srgbClr val="B85042"/>
          </a:solidFill>
          <a:ln/>
        </p:spPr>
      </p:sp>
      <p:sp>
        <p:nvSpPr>
          <p:cNvPr id="32" name="Text 30"/>
          <p:cNvSpPr/>
          <p:nvPr/>
        </p:nvSpPr>
        <p:spPr>
          <a:xfrm>
            <a:off x="6355080" y="51206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33" name="Text 31"/>
          <p:cNvSpPr/>
          <p:nvPr/>
        </p:nvSpPr>
        <p:spPr>
          <a:xfrm>
            <a:off x="6812280" y="5084064"/>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No limit per report</a:t>
            </a:r>
            <a:endParaRPr lang="en-US" sz="1200" dirty="0"/>
          </a:p>
        </p:txBody>
      </p:sp>
      <p:sp>
        <p:nvSpPr>
          <p:cNvPr id="34" name="Text 32"/>
          <p:cNvSpPr/>
          <p:nvPr/>
        </p:nvSpPr>
        <p:spPr>
          <a:xfrm>
            <a:off x="6391656" y="5559552"/>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single report can be tied to any number of districts; there is no cap.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ReliefWeb geoparser: final validation</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A blind, manual check of the final method against human judgement</a:t>
            </a:r>
            <a:endParaRPr lang="en-US" sz="1250" dirty="0"/>
          </a:p>
        </p:txBody>
      </p:sp>
      <p:sp>
        <p:nvSpPr>
          <p:cNvPr id="4" name="Shape 2"/>
          <p:cNvSpPr/>
          <p:nvPr/>
        </p:nvSpPr>
        <p:spPr>
          <a:xfrm>
            <a:off x="566928"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86384" y="1773936"/>
            <a:ext cx="457200" cy="457200"/>
          </a:xfrm>
          <a:prstGeom prst="ellipse">
            <a:avLst/>
          </a:prstGeom>
          <a:solidFill>
            <a:srgbClr val="B85042"/>
          </a:solidFill>
          <a:ln/>
        </p:spPr>
      </p:sp>
      <p:sp>
        <p:nvSpPr>
          <p:cNvPr id="6" name="Text 4"/>
          <p:cNvSpPr/>
          <p:nvPr/>
        </p:nvSpPr>
        <p:spPr>
          <a:xfrm>
            <a:off x="786384"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786384"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Draw a fresh sample</a:t>
            </a:r>
            <a:endParaRPr lang="en-US" sz="1300" dirty="0"/>
          </a:p>
        </p:txBody>
      </p:sp>
      <p:sp>
        <p:nvSpPr>
          <p:cNvPr id="8" name="Text 6"/>
          <p:cNvSpPr/>
          <p:nvPr/>
        </p:nvSpPr>
        <p:spPr>
          <a:xfrm>
            <a:off x="786384"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100 reports from March-December only. January and February were excluded, since those were the exact reports used while building and tuning the method.</a:t>
            </a:r>
            <a:endParaRPr lang="en-US" sz="1000" dirty="0"/>
          </a:p>
        </p:txBody>
      </p:sp>
      <p:sp>
        <p:nvSpPr>
          <p:cNvPr id="9" name="Shape 7"/>
          <p:cNvSpPr/>
          <p:nvPr/>
        </p:nvSpPr>
        <p:spPr>
          <a:xfrm>
            <a:off x="3374136"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3593592" y="1773936"/>
            <a:ext cx="457200" cy="457200"/>
          </a:xfrm>
          <a:prstGeom prst="ellipse">
            <a:avLst/>
          </a:prstGeom>
          <a:solidFill>
            <a:srgbClr val="B85042"/>
          </a:solidFill>
          <a:ln/>
        </p:spPr>
      </p:sp>
      <p:sp>
        <p:nvSpPr>
          <p:cNvPr id="11" name="Text 9"/>
          <p:cNvSpPr/>
          <p:nvPr/>
        </p:nvSpPr>
        <p:spPr>
          <a:xfrm>
            <a:off x="3593592"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3593592"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Split it evenly</a:t>
            </a:r>
            <a:endParaRPr lang="en-US" sz="1300" dirty="0"/>
          </a:p>
        </p:txBody>
      </p:sp>
      <p:sp>
        <p:nvSpPr>
          <p:cNvPr id="13" name="Text 11"/>
          <p:cNvSpPr/>
          <p:nvPr/>
        </p:nvSpPr>
        <p:spPr>
          <a:xfrm>
            <a:off x="3593592"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50 reports the geoparser matched to a district, 50 it did not. This makes it possible to measure both precision and recall properly, not just one.</a:t>
            </a:r>
            <a:endParaRPr lang="en-US" sz="1000" dirty="0"/>
          </a:p>
        </p:txBody>
      </p:sp>
      <p:sp>
        <p:nvSpPr>
          <p:cNvPr id="14" name="Shape 12"/>
          <p:cNvSpPr/>
          <p:nvPr/>
        </p:nvSpPr>
        <p:spPr>
          <a:xfrm>
            <a:off x="6181344"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6400800" y="1773936"/>
            <a:ext cx="457200" cy="457200"/>
          </a:xfrm>
          <a:prstGeom prst="ellipse">
            <a:avLst/>
          </a:prstGeom>
          <a:solidFill>
            <a:srgbClr val="B85042"/>
          </a:solidFill>
          <a:ln/>
        </p:spPr>
      </p:sp>
      <p:sp>
        <p:nvSpPr>
          <p:cNvPr id="16" name="Text 14"/>
          <p:cNvSpPr/>
          <p:nvPr/>
        </p:nvSpPr>
        <p:spPr>
          <a:xfrm>
            <a:off x="6400800"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6400800"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Label it blind</a:t>
            </a:r>
            <a:endParaRPr lang="en-US" sz="1300" dirty="0"/>
          </a:p>
        </p:txBody>
      </p:sp>
      <p:sp>
        <p:nvSpPr>
          <p:cNvPr id="18" name="Text 16"/>
          <p:cNvSpPr/>
          <p:nvPr/>
        </p:nvSpPr>
        <p:spPr>
          <a:xfrm>
            <a:off x="6400800"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The geoparser's own predictions were hidden from the labelling sheet. Districts were identified by reading each report from scratch, with no hint of what the method had guessed.</a:t>
            </a:r>
            <a:endParaRPr lang="en-US" sz="1000" dirty="0"/>
          </a:p>
        </p:txBody>
      </p:sp>
      <p:sp>
        <p:nvSpPr>
          <p:cNvPr id="19" name="Shape 17"/>
          <p:cNvSpPr/>
          <p:nvPr/>
        </p:nvSpPr>
        <p:spPr>
          <a:xfrm>
            <a:off x="8988552"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9208008" y="1773936"/>
            <a:ext cx="457200" cy="457200"/>
          </a:xfrm>
          <a:prstGeom prst="ellipse">
            <a:avLst/>
          </a:prstGeom>
          <a:solidFill>
            <a:srgbClr val="B85042"/>
          </a:solidFill>
          <a:ln/>
        </p:spPr>
      </p:sp>
      <p:sp>
        <p:nvSpPr>
          <p:cNvPr id="21" name="Text 19"/>
          <p:cNvSpPr/>
          <p:nvPr/>
        </p:nvSpPr>
        <p:spPr>
          <a:xfrm>
            <a:off x="9208008"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9208008"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Compare afterwards</a:t>
            </a:r>
            <a:endParaRPr lang="en-US" sz="1300" dirty="0"/>
          </a:p>
        </p:txBody>
      </p:sp>
      <p:sp>
        <p:nvSpPr>
          <p:cNvPr id="23" name="Text 21"/>
          <p:cNvSpPr/>
          <p:nvPr/>
        </p:nvSpPr>
        <p:spPr>
          <a:xfrm>
            <a:off x="9208008"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Only once labelling was done were the human labels joined against a separate answer key holding the geoparser's predictions, and precision, recall and F1 computed.</a:t>
            </a:r>
            <a:endParaRPr lang="en-US" sz="1000" dirty="0"/>
          </a:p>
        </p:txBody>
      </p:sp>
      <p:sp>
        <p:nvSpPr>
          <p:cNvPr id="24" name="Shape 22"/>
          <p:cNvSpPr/>
          <p:nvPr/>
        </p:nvSpPr>
        <p:spPr>
          <a:xfrm>
            <a:off x="566928" y="5029200"/>
            <a:ext cx="11027664" cy="1207008"/>
          </a:xfrm>
          <a:prstGeom prst="roundRect">
            <a:avLst>
              <a:gd name="adj" fmla="val 4545"/>
            </a:avLst>
          </a:prstGeom>
          <a:solidFill>
            <a:srgbClr val="2B2523"/>
          </a:solidFill>
          <a:ln/>
          <a:effectLst>
            <a:outerShdw sx="100000" sy="100000" kx="0" ky="0" algn="bl" rotWithShape="0" blurRad="76200" dist="381" dir="5400000">
              <a:srgbClr val="000000">
                <a:alpha val="8000"/>
              </a:srgbClr>
            </a:outerShdw>
          </a:effectLst>
        </p:spPr>
      </p:sp>
      <p:sp>
        <p:nvSpPr>
          <p:cNvPr id="25" name="Text 23"/>
          <p:cNvSpPr/>
          <p:nvPr/>
        </p:nvSpPr>
        <p:spPr>
          <a:xfrm>
            <a:off x="841248" y="5157216"/>
            <a:ext cx="10479024" cy="914400"/>
          </a:xfrm>
          <a:prstGeom prst="rect">
            <a:avLst/>
          </a:prstGeom>
          <a:noFill/>
          <a:ln/>
        </p:spPr>
        <p:txBody>
          <a:bodyPr wrap="square" lIns="0" tIns="0" rIns="0" bIns="0" rtlCol="0" anchor="ctr"/>
          <a:lstStyle/>
          <a:p>
            <a:pPr indent="0" marL="0">
              <a:lnSpc>
                <a:spcPts val="1600"/>
              </a:lnSpc>
              <a:buNone/>
            </a:pPr>
            <a:r>
              <a:rPr lang="en-US" sz="1200" dirty="0">
                <a:solidFill>
                  <a:srgbClr val="E7E8D1"/>
                </a:solidFill>
                <a:latin typeface="Calibri" pitchFamily="34" charset="0"/>
                <a:ea typeface="Calibri" pitchFamily="34" charset="-122"/>
                <a:cs typeface="Calibri" pitchFamily="34" charset="-120"/>
              </a:rPr>
              <a:t>Why this matters: the validation had to test the final method, on reports it had never seen, with the labeller unable to see what the method predicted. All three conditions are met here.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Results: strong precision, and a recall figure that needs care</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All 100 reports labelled and scored</a:t>
            </a:r>
            <a:endParaRPr lang="en-US" sz="1250" dirty="0"/>
          </a:p>
        </p:txBody>
      </p:sp>
      <p:sp>
        <p:nvSpPr>
          <p:cNvPr id="4" name="Shape 2"/>
          <p:cNvSpPr/>
          <p:nvPr/>
        </p:nvSpPr>
        <p:spPr>
          <a:xfrm>
            <a:off x="566928" y="1517904"/>
            <a:ext cx="11027664" cy="1700784"/>
          </a:xfrm>
          <a:prstGeom prst="roundRect">
            <a:avLst>
              <a:gd name="adj" fmla="val 3226"/>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664208"/>
            <a:ext cx="3562868" cy="274320"/>
          </a:xfrm>
          <a:prstGeom prst="rect">
            <a:avLst/>
          </a:prstGeom>
          <a:noFill/>
          <a:ln/>
        </p:spPr>
        <p:txBody>
          <a:bodyPr wrap="square" lIns="0" tIns="0" rIns="0" bIns="0" rtlCol="0" anchor="ctr"/>
          <a:lstStyle/>
          <a:p>
            <a:pPr algn="l" indent="0" marL="0">
              <a:buNone/>
            </a:pPr>
            <a:endParaRPr lang="en-US" sz="1050" dirty="0"/>
          </a:p>
        </p:txBody>
      </p:sp>
      <p:sp>
        <p:nvSpPr>
          <p:cNvPr id="6" name="Text 4"/>
          <p:cNvSpPr/>
          <p:nvPr/>
        </p:nvSpPr>
        <p:spPr>
          <a:xfrm>
            <a:off x="841248" y="2011680"/>
            <a:ext cx="3562868" cy="457200"/>
          </a:xfrm>
          <a:prstGeom prst="rect">
            <a:avLst/>
          </a:prstGeom>
          <a:noFill/>
          <a:ln/>
        </p:spPr>
        <p:txBody>
          <a:bodyPr wrap="square" lIns="0" tIns="0" rIns="0" bIns="0" rtlCol="0" anchor="ctr"/>
          <a:lstStyle/>
          <a:p>
            <a:pPr algn="l" indent="0" marL="0">
              <a:buNone/>
            </a:pPr>
            <a:r>
              <a:rPr lang="en-US" sz="1250" dirty="0">
                <a:solidFill>
                  <a:srgbClr val="2B2523"/>
                </a:solidFill>
                <a:latin typeface="Calibri" pitchFamily="34" charset="0"/>
                <a:ea typeface="Calibri" pitchFamily="34" charset="-122"/>
                <a:cs typeface="Calibri" pitchFamily="34" charset="-120"/>
              </a:rPr>
              <a:t>Report x district pairs</a:t>
            </a:r>
            <a:endParaRPr lang="en-US" sz="1250" dirty="0"/>
          </a:p>
        </p:txBody>
      </p:sp>
      <p:sp>
        <p:nvSpPr>
          <p:cNvPr id="7" name="Text 5"/>
          <p:cNvSpPr/>
          <p:nvPr/>
        </p:nvSpPr>
        <p:spPr>
          <a:xfrm>
            <a:off x="841248" y="2542032"/>
            <a:ext cx="3562868" cy="457200"/>
          </a:xfrm>
          <a:prstGeom prst="rect">
            <a:avLst/>
          </a:prstGeom>
          <a:noFill/>
          <a:ln/>
        </p:spPr>
        <p:txBody>
          <a:bodyPr wrap="square" lIns="0" tIns="0" rIns="0" bIns="0" rtlCol="0" anchor="ctr"/>
          <a:lstStyle/>
          <a:p>
            <a:pPr algn="l" indent="0" marL="0">
              <a:buNone/>
            </a:pPr>
            <a:r>
              <a:rPr lang="en-US" sz="1250" dirty="0">
                <a:solidFill>
                  <a:srgbClr val="2B2523"/>
                </a:solidFill>
                <a:latin typeface="Calibri" pitchFamily="34" charset="0"/>
                <a:ea typeface="Calibri" pitchFamily="34" charset="-122"/>
                <a:cs typeface="Calibri" pitchFamily="34" charset="-120"/>
              </a:rPr>
              <a:t>Report level</a:t>
            </a:r>
            <a:endParaRPr lang="en-US" sz="1250" dirty="0"/>
          </a:p>
        </p:txBody>
      </p:sp>
      <p:sp>
        <p:nvSpPr>
          <p:cNvPr id="8" name="Text 6"/>
          <p:cNvSpPr/>
          <p:nvPr/>
        </p:nvSpPr>
        <p:spPr>
          <a:xfrm>
            <a:off x="4404116"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Precision</a:t>
            </a:r>
            <a:endParaRPr lang="en-US" sz="1050" dirty="0"/>
          </a:p>
        </p:txBody>
      </p:sp>
      <p:sp>
        <p:nvSpPr>
          <p:cNvPr id="9" name="Text 7"/>
          <p:cNvSpPr/>
          <p:nvPr/>
        </p:nvSpPr>
        <p:spPr>
          <a:xfrm>
            <a:off x="4404116"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81.1%</a:t>
            </a:r>
            <a:endParaRPr lang="en-US" sz="1800" dirty="0"/>
          </a:p>
        </p:txBody>
      </p:sp>
      <p:sp>
        <p:nvSpPr>
          <p:cNvPr id="10" name="Text 8"/>
          <p:cNvSpPr/>
          <p:nvPr/>
        </p:nvSpPr>
        <p:spPr>
          <a:xfrm>
            <a:off x="4404116"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78.8%</a:t>
            </a:r>
            <a:endParaRPr lang="en-US" sz="1800" dirty="0"/>
          </a:p>
        </p:txBody>
      </p:sp>
      <p:sp>
        <p:nvSpPr>
          <p:cNvPr id="11" name="Text 9"/>
          <p:cNvSpPr/>
          <p:nvPr/>
        </p:nvSpPr>
        <p:spPr>
          <a:xfrm>
            <a:off x="6709501"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Recall</a:t>
            </a:r>
            <a:endParaRPr lang="en-US" sz="1050" dirty="0"/>
          </a:p>
        </p:txBody>
      </p:sp>
      <p:sp>
        <p:nvSpPr>
          <p:cNvPr id="12" name="Text 10"/>
          <p:cNvSpPr/>
          <p:nvPr/>
        </p:nvSpPr>
        <p:spPr>
          <a:xfrm>
            <a:off x="6709501"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16.7%</a:t>
            </a:r>
            <a:endParaRPr lang="en-US" sz="1800" dirty="0"/>
          </a:p>
        </p:txBody>
      </p:sp>
      <p:sp>
        <p:nvSpPr>
          <p:cNvPr id="13" name="Text 11"/>
          <p:cNvSpPr/>
          <p:nvPr/>
        </p:nvSpPr>
        <p:spPr>
          <a:xfrm>
            <a:off x="6709501"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56.8%</a:t>
            </a:r>
            <a:endParaRPr lang="en-US" sz="1800" dirty="0"/>
          </a:p>
        </p:txBody>
      </p:sp>
      <p:sp>
        <p:nvSpPr>
          <p:cNvPr id="14" name="Text 12"/>
          <p:cNvSpPr/>
          <p:nvPr/>
        </p:nvSpPr>
        <p:spPr>
          <a:xfrm>
            <a:off x="9014887"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F1</a:t>
            </a:r>
            <a:endParaRPr lang="en-US" sz="1050" dirty="0"/>
          </a:p>
        </p:txBody>
      </p:sp>
      <p:sp>
        <p:nvSpPr>
          <p:cNvPr id="15" name="Text 13"/>
          <p:cNvSpPr/>
          <p:nvPr/>
        </p:nvSpPr>
        <p:spPr>
          <a:xfrm>
            <a:off x="9014887"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27.7%</a:t>
            </a:r>
            <a:endParaRPr lang="en-US" sz="1800" dirty="0"/>
          </a:p>
        </p:txBody>
      </p:sp>
      <p:sp>
        <p:nvSpPr>
          <p:cNvPr id="16" name="Text 14"/>
          <p:cNvSpPr/>
          <p:nvPr/>
        </p:nvSpPr>
        <p:spPr>
          <a:xfrm>
            <a:off x="9014887"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66.0%</a:t>
            </a:r>
            <a:endParaRPr lang="en-US" sz="1800" dirty="0"/>
          </a:p>
        </p:txBody>
      </p:sp>
      <p:sp>
        <p:nvSpPr>
          <p:cNvPr id="17" name="Text 15"/>
          <p:cNvSpPr/>
          <p:nvPr/>
        </p:nvSpPr>
        <p:spPr>
          <a:xfrm>
            <a:off x="566928" y="3401568"/>
            <a:ext cx="11027664" cy="822960"/>
          </a:xfrm>
          <a:prstGeom prst="rect">
            <a:avLst/>
          </a:prstGeom>
          <a:noFill/>
          <a:ln/>
        </p:spPr>
        <p:txBody>
          <a:bodyPr wrap="square" lIns="0" tIns="0" rIns="0" bIns="0" rtlCol="0" anchor="ctr"/>
          <a:lstStyle/>
          <a:p>
            <a:pPr indent="0" marL="0">
              <a:lnSpc>
                <a:spcPts val="1600"/>
              </a:lnSpc>
              <a:buNone/>
            </a:pPr>
            <a:r>
              <a:rPr lang="en-US" sz="1200" dirty="0">
                <a:solidFill>
                  <a:srgbClr val="2B2523"/>
                </a:solidFill>
                <a:latin typeface="Calibri" pitchFamily="34" charset="0"/>
                <a:ea typeface="Calibri" pitchFamily="34" charset="-122"/>
                <a:cs typeface="Calibri" pitchFamily="34" charset="-120"/>
              </a:rPr>
              <a:t>Read plainly: when the geoparser says a report is about a district, it is right roughly four times out of five, at either level of detail. Recall is where the two levels diverge sharply: the geoparser is usually right that a report is about at least one district, but often misses other districts that same report also genuinely covers.</a:t>
            </a:r>
            <a:endParaRPr lang="en-US" sz="1200" dirty="0"/>
          </a:p>
        </p:txBody>
      </p:sp>
      <p:sp>
        <p:nvSpPr>
          <p:cNvPr id="18" name="Shape 16"/>
          <p:cNvSpPr/>
          <p:nvPr/>
        </p:nvSpPr>
        <p:spPr>
          <a:xfrm>
            <a:off x="566928" y="4370832"/>
            <a:ext cx="5486400" cy="1865376"/>
          </a:xfrm>
          <a:prstGeom prst="roundRect">
            <a:avLst>
              <a:gd name="adj" fmla="val 2941"/>
            </a:avLst>
          </a:prstGeom>
          <a:solidFill>
            <a:srgbClr val="2B2523"/>
          </a:solidFill>
          <a:ln/>
          <a:effectLst>
            <a:outerShdw sx="100000" sy="100000" kx="0" ky="0" algn="bl" rotWithShape="0" blurRad="76200" dist="381" dir="5400000">
              <a:srgbClr val="000000">
                <a:alpha val="8000"/>
              </a:srgbClr>
            </a:outerShdw>
          </a:effectLst>
        </p:spPr>
      </p:sp>
      <p:sp>
        <p:nvSpPr>
          <p:cNvPr id="19" name="Text 17"/>
          <p:cNvSpPr/>
          <p:nvPr/>
        </p:nvSpPr>
        <p:spPr>
          <a:xfrm>
            <a:off x="804672" y="4517136"/>
            <a:ext cx="219456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WHY THE PAIR-LEVEL RECALL IS LOW</a:t>
            </a:r>
            <a:endParaRPr lang="en-US" sz="950" dirty="0"/>
          </a:p>
        </p:txBody>
      </p:sp>
      <p:sp>
        <p:nvSpPr>
          <p:cNvPr id="20" name="Text 18"/>
          <p:cNvSpPr/>
          <p:nvPr/>
        </p:nvSpPr>
        <p:spPr>
          <a:xfrm>
            <a:off x="804672" y="4828032"/>
            <a:ext cx="5029200" cy="128016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The geoparser can only work with a report's title and exported body text. It has no access to images, tables or attached files, so recall can only ever be as good as what that exported text contains. Explained fully on the next slide.</a:t>
            </a:r>
            <a:endParaRPr lang="en-US" sz="1100" dirty="0"/>
          </a:p>
        </p:txBody>
      </p:sp>
      <p:sp>
        <p:nvSpPr>
          <p:cNvPr id="21" name="Shape 19"/>
          <p:cNvSpPr/>
          <p:nvPr/>
        </p:nvSpPr>
        <p:spPr>
          <a:xfrm>
            <a:off x="6309360" y="4370832"/>
            <a:ext cx="5285232" cy="1865376"/>
          </a:xfrm>
          <a:prstGeom prst="roundRect">
            <a:avLst>
              <a:gd name="adj" fmla="val 2941"/>
            </a:avLst>
          </a:prstGeom>
          <a:solidFill>
            <a:srgbClr val="A7BEAE"/>
          </a:solidFill>
          <a:ln/>
          <a:effectLst>
            <a:outerShdw sx="100000" sy="100000" kx="0" ky="0" algn="bl" rotWithShape="0" blurRad="76200" dist="381" dir="5400000">
              <a:srgbClr val="000000">
                <a:alpha val="8000"/>
              </a:srgbClr>
            </a:outerShdw>
          </a:effectLst>
        </p:spPr>
      </p:sp>
      <p:sp>
        <p:nvSpPr>
          <p:cNvPr id="22" name="Text 20"/>
          <p:cNvSpPr/>
          <p:nvPr/>
        </p:nvSpPr>
        <p:spPr>
          <a:xfrm>
            <a:off x="6547104" y="4517136"/>
            <a:ext cx="4754880" cy="640080"/>
          </a:xfrm>
          <a:prstGeom prst="rect">
            <a:avLst/>
          </a:prstGeom>
          <a:noFill/>
          <a:ln/>
        </p:spPr>
        <p:txBody>
          <a:bodyPr wrap="square" lIns="0" tIns="0" rIns="0" bIns="0" rtlCol="0" anchor="ctr"/>
          <a:lstStyle/>
          <a:p>
            <a:pPr indent="0" marL="0">
              <a:buNone/>
            </a:pPr>
            <a:r>
              <a:rPr lang="en-US" sz="3000" b="1" dirty="0">
                <a:solidFill>
                  <a:srgbClr val="2B2523"/>
                </a:solidFill>
                <a:latin typeface="Cambria" pitchFamily="34" charset="0"/>
                <a:ea typeface="Cambria" pitchFamily="34" charset="-122"/>
                <a:cs typeface="Cambria" pitchFamily="34" charset="-120"/>
              </a:rPr>
              <a:t>97.4%</a:t>
            </a:r>
            <a:endParaRPr lang="en-US" sz="3000" dirty="0"/>
          </a:p>
        </p:txBody>
      </p:sp>
      <p:sp>
        <p:nvSpPr>
          <p:cNvPr id="23" name="Text 21"/>
          <p:cNvSpPr/>
          <p:nvPr/>
        </p:nvSpPr>
        <p:spPr>
          <a:xfrm>
            <a:off x="6547104" y="5175504"/>
            <a:ext cx="4754880" cy="914400"/>
          </a:xfrm>
          <a:prstGeom prst="rect">
            <a:avLst/>
          </a:prstGeom>
          <a:noFill/>
          <a:ln/>
        </p:spPr>
        <p:txBody>
          <a:bodyPr wrap="square" lIns="0" tIns="0" rIns="0" bIns="0" rtlCol="0" anchor="ctr"/>
          <a:lstStyle/>
          <a:p>
            <a:pPr indent="0" marL="0">
              <a:lnSpc>
                <a:spcPts val="1400"/>
              </a:lnSpc>
              <a:buNone/>
            </a:pPr>
            <a:r>
              <a:rPr lang="en-US" sz="1100" dirty="0">
                <a:solidFill>
                  <a:srgbClr val="2B2523"/>
                </a:solidFill>
                <a:latin typeface="Calibri" pitchFamily="34" charset="0"/>
                <a:ea typeface="Calibri" pitchFamily="34" charset="-122"/>
                <a:cs typeface="Calibri" pitchFamily="34" charset="-120"/>
              </a:rPr>
              <a:t>recall, once restricted to only the district mentions that were actually present in the report's exported text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The real limitation: attachments and PDFs, not matching quality</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Confirmed by opening the reports directly</a:t>
            </a:r>
            <a:endParaRPr lang="en-US" sz="1250" dirty="0"/>
          </a:p>
        </p:txBody>
      </p:sp>
      <p:sp>
        <p:nvSpPr>
          <p:cNvPr id="4" name="Shape 2"/>
          <p:cNvSpPr/>
          <p:nvPr/>
        </p:nvSpPr>
        <p:spPr>
          <a:xfrm>
            <a:off x="566928" y="1517904"/>
            <a:ext cx="11027664" cy="1554480"/>
          </a:xfrm>
          <a:prstGeom prst="roundRect">
            <a:avLst>
              <a:gd name="adj" fmla="val 3529"/>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45920"/>
            <a:ext cx="5486400" cy="292608"/>
          </a:xfrm>
          <a:prstGeom prst="rect">
            <a:avLst/>
          </a:prstGeom>
          <a:noFill/>
          <a:ln/>
        </p:spPr>
        <p:txBody>
          <a:bodyPr wrap="square" lIns="0" tIns="0" rIns="0" bIns="0" rtlCol="0" anchor="ctr"/>
          <a:lstStyle/>
          <a:p>
            <a:pPr indent="0" marL="0">
              <a:buNone/>
            </a:pPr>
            <a:r>
              <a:rPr lang="en-US" sz="1450" b="1" dirty="0">
                <a:solidFill>
                  <a:srgbClr val="A7BEAE"/>
                </a:solidFill>
                <a:latin typeface="Cambria" pitchFamily="34" charset="0"/>
                <a:ea typeface="Cambria" pitchFamily="34" charset="-122"/>
                <a:cs typeface="Cambria" pitchFamily="34" charset="-120"/>
              </a:rPr>
              <a:t>What we found</a:t>
            </a:r>
            <a:endParaRPr lang="en-US" sz="1450" dirty="0"/>
          </a:p>
        </p:txBody>
      </p:sp>
      <p:sp>
        <p:nvSpPr>
          <p:cNvPr id="6" name="Text 4"/>
          <p:cNvSpPr/>
          <p:nvPr/>
        </p:nvSpPr>
        <p:spPr>
          <a:xfrm>
            <a:off x="841248" y="1975104"/>
            <a:ext cx="10479024" cy="1005840"/>
          </a:xfrm>
          <a:prstGeom prst="rect">
            <a:avLst/>
          </a:prstGeom>
          <a:noFill/>
          <a:ln/>
        </p:spPr>
        <p:txBody>
          <a:bodyPr wrap="square" lIns="0" tIns="0" rIns="0" bIns="0" rtlCol="0" anchor="ctr"/>
          <a:lstStyle/>
          <a:p>
            <a:pPr indent="0" marL="0">
              <a:lnSpc>
                <a:spcPts val="1700"/>
              </a:lnSpc>
              <a:buNone/>
            </a:pPr>
            <a:r>
              <a:rPr lang="en-US" sz="1250" dirty="0">
                <a:solidFill>
                  <a:srgbClr val="E7E8D1"/>
                </a:solidFill>
                <a:latin typeface="Calibri" pitchFamily="34" charset="0"/>
                <a:ea typeface="Calibri" pitchFamily="34" charset="-122"/>
                <a:cs typeface="Calibri" pitchFamily="34" charset="-120"/>
              </a:rPr>
              <a:t>Of every district a human labeller said a report was genuinely about, 80.5% of those district names never appear anywhere in the report's exported title or body text at all. They only exist inside attached files ReliefWeb does not index as text.</a:t>
            </a:r>
            <a:endParaRPr lang="en-US" sz="1250" dirty="0"/>
          </a:p>
        </p:txBody>
      </p:sp>
      <p:sp>
        <p:nvSpPr>
          <p:cNvPr id="7" name="Shape 5"/>
          <p:cNvSpPr/>
          <p:nvPr/>
        </p:nvSpPr>
        <p:spPr>
          <a:xfrm>
            <a:off x="566928" y="3255264"/>
            <a:ext cx="5486400"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8" name="Text 6"/>
          <p:cNvSpPr/>
          <p:nvPr/>
        </p:nvSpPr>
        <p:spPr>
          <a:xfrm>
            <a:off x="804672" y="3401568"/>
            <a:ext cx="502920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The clearest example</a:t>
            </a:r>
            <a:endParaRPr lang="en-US" sz="1250" dirty="0"/>
          </a:p>
        </p:txBody>
      </p:sp>
      <p:sp>
        <p:nvSpPr>
          <p:cNvPr id="9" name="Text 7"/>
          <p:cNvSpPr/>
          <p:nvPr/>
        </p:nvSpPr>
        <p:spPr>
          <a:xfrm>
            <a:off x="804672" y="3712464"/>
            <a:ext cx="5029200" cy="1234440"/>
          </a:xfrm>
          <a:prstGeom prst="rect">
            <a:avLst/>
          </a:prstGeom>
          <a:noFill/>
          <a:ln/>
        </p:spPr>
        <p:txBody>
          <a:bodyPr wrap="square" lIns="0" tIns="0" rIns="0" bIns="0" rtlCol="0" anchor="ctr"/>
          <a:lstStyle/>
          <a:p>
            <a:pPr indent="0" marL="0">
              <a:lnSpc>
                <a:spcPts val="1400"/>
              </a:lnSpc>
              <a:buNone/>
            </a:pPr>
            <a:r>
              <a:rPr lang="en-US" sz="1050" dirty="0">
                <a:solidFill>
                  <a:srgbClr val="7A6E68"/>
                </a:solidFill>
                <a:latin typeface="Calibri" pitchFamily="34" charset="0"/>
                <a:ea typeface="Calibri" pitchFamily="34" charset="-122"/>
                <a:cs typeface="Calibri" pitchFamily="34" charset="-120"/>
              </a:rPr>
              <a:t>Weekly cholera/AWD bulletins list their real district-by-district breakdown only inside a table in an attached PDF. ReliefWeb files them as an ordinary "Situation Report", with nothing in the metadata to say the substance lives in an attachment. The exported body is just a one-line summary, no district named at all.</a:t>
            </a:r>
            <a:endParaRPr lang="en-US" sz="1050" dirty="0"/>
          </a:p>
        </p:txBody>
      </p:sp>
      <p:sp>
        <p:nvSpPr>
          <p:cNvPr id="10" name="Shape 8"/>
          <p:cNvSpPr/>
          <p:nvPr/>
        </p:nvSpPr>
        <p:spPr>
          <a:xfrm>
            <a:off x="6309360" y="3255264"/>
            <a:ext cx="5285232"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11" name="Text 9"/>
          <p:cNvSpPr/>
          <p:nvPr/>
        </p:nvSpPr>
        <p:spPr>
          <a:xfrm>
            <a:off x="6547104" y="3401568"/>
            <a:ext cx="475488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What this is not</a:t>
            </a:r>
            <a:endParaRPr lang="en-US" sz="1250" dirty="0"/>
          </a:p>
        </p:txBody>
      </p:sp>
      <p:sp>
        <p:nvSpPr>
          <p:cNvPr id="12" name="Text 10"/>
          <p:cNvSpPr/>
          <p:nvPr/>
        </p:nvSpPr>
        <p:spPr>
          <a:xfrm>
            <a:off x="6547104" y="3712464"/>
            <a:ext cx="4754880" cy="128016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50" dirty="0">
                <a:solidFill>
                  <a:srgbClr val="7A6E68"/>
                </a:solidFill>
                <a:latin typeface="Calibri" pitchFamily="34" charset="0"/>
                <a:ea typeface="Calibri" pitchFamily="34" charset="-122"/>
                <a:cs typeface="Calibri" pitchFamily="34" charset="-120"/>
              </a:rPr>
              <a:t>The five genuine misses in the whole sample all come from one report, and are a deliberate design choice (price bulletins are excluded on purpose), not an error</a:t>
            </a:r>
            <a:endParaRPr lang="en-US" sz="1050" dirty="0"/>
          </a:p>
          <a:p>
            <a:pPr marL="342900" indent="-342900">
              <a:lnSpc>
                <a:spcPts val="1300"/>
              </a:lnSpc>
              <a:spcAft>
                <a:spcPts val="600"/>
              </a:spcAft>
              <a:buSzPct val="100000"/>
              <a:buChar char="•"/>
            </a:pPr>
            <a:r>
              <a:rPr lang="en-US" sz="1050" dirty="0">
                <a:solidFill>
                  <a:srgbClr val="7A6E68"/>
                </a:solidFill>
                <a:latin typeface="Calibri" pitchFamily="34" charset="0"/>
                <a:ea typeface="Calibri" pitchFamily="34" charset="-122"/>
                <a:cs typeface="Calibri" pitchFamily="34" charset="-120"/>
              </a:rPr>
              <a:t>Reading PDF attachments reliably is a materially different, less reliable engineering problem, and is out of scope for this project</a:t>
            </a:r>
            <a:endParaRPr lang="en-US" sz="1050" dirty="0"/>
          </a:p>
        </p:txBody>
      </p:sp>
      <p:sp>
        <p:nvSpPr>
          <p:cNvPr id="13" name="Shape 11"/>
          <p:cNvSpPr/>
          <p:nvPr/>
        </p:nvSpPr>
        <p:spPr>
          <a:xfrm>
            <a:off x="566928" y="5157216"/>
            <a:ext cx="11027664" cy="914400"/>
          </a:xfrm>
          <a:prstGeom prst="roundRect">
            <a:avLst>
              <a:gd name="adj" fmla="val 6000"/>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841248" y="5285232"/>
            <a:ext cx="10479024" cy="694944"/>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Bottom line: the geoparser cannot read attachments or images, only exported text. That single structural fact, not a matching failure, explains almost the entire gap between the pair-level and restricted recall figures.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Geoparser validation: limitations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What is still open, stated plainly</a:t>
            </a:r>
            <a:endParaRPr lang="en-US" sz="1250" dirty="0"/>
          </a:p>
        </p:txBody>
      </p:sp>
      <p:sp>
        <p:nvSpPr>
          <p:cNvPr id="4" name="Shape 2"/>
          <p:cNvSpPr/>
          <p:nvPr/>
        </p:nvSpPr>
        <p:spPr>
          <a:xfrm>
            <a:off x="566928" y="1554480"/>
            <a:ext cx="11027664" cy="1463040"/>
          </a:xfrm>
          <a:prstGeom prst="roundRect">
            <a:avLst>
              <a:gd name="adj" fmla="val 375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10479024" cy="36576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A small number of place names remain unresolved</a:t>
            </a:r>
            <a:endParaRPr lang="en-US" sz="1350" dirty="0"/>
          </a:p>
        </p:txBody>
      </p:sp>
      <p:sp>
        <p:nvSpPr>
          <p:cNvPr id="6" name="Text 4"/>
          <p:cNvSpPr/>
          <p:nvPr/>
        </p:nvSpPr>
        <p:spPr>
          <a:xfrm>
            <a:off x="841248" y="2084832"/>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Garadag has no match under any spelling in ACLED or GADM. Mataban is a real district that GADM does not include as its own Admin2 unit at all. Neither has much effect on the headline numbers, since both fall in the lower-priority "mentioned in passing" category.</a:t>
            </a:r>
            <a:endParaRPr lang="en-US" sz="1150" dirty="0"/>
          </a:p>
        </p:txBody>
      </p:sp>
      <p:sp>
        <p:nvSpPr>
          <p:cNvPr id="7" name="Shape 5"/>
          <p:cNvSpPr/>
          <p:nvPr/>
        </p:nvSpPr>
        <p:spPr>
          <a:xfrm>
            <a:off x="566928" y="3182112"/>
            <a:ext cx="11027664" cy="1463040"/>
          </a:xfrm>
          <a:prstGeom prst="roundRect">
            <a:avLst>
              <a:gd name="adj" fmla="val 3750"/>
            </a:avLst>
          </a:prstGeom>
          <a:solidFill>
            <a:srgbClr val="F7F5F1"/>
          </a:solidFill>
          <a:ln/>
          <a:effectLst>
            <a:outerShdw sx="100000" sy="100000" kx="0" ky="0" algn="bl" rotWithShape="0" blurRad="76200" dist="381" dir="5400000">
              <a:srgbClr val="000000">
                <a:alpha val="8000"/>
              </a:srgbClr>
            </a:outerShdw>
          </a:effectLst>
        </p:spPr>
      </p:sp>
      <p:sp>
        <p:nvSpPr>
          <p:cNvPr id="8" name="Text 6"/>
          <p:cNvSpPr/>
          <p:nvPr/>
        </p:nvSpPr>
        <p:spPr>
          <a:xfrm>
            <a:off x="841248" y="3328416"/>
            <a:ext cx="10479024" cy="36576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The attachment-content gap is out of scope for this project</a:t>
            </a:r>
            <a:endParaRPr lang="en-US" sz="1350" dirty="0"/>
          </a:p>
        </p:txBody>
      </p:sp>
      <p:sp>
        <p:nvSpPr>
          <p:cNvPr id="9" name="Text 7"/>
          <p:cNvSpPr/>
          <p:nvPr/>
        </p:nvSpPr>
        <p:spPr>
          <a:xfrm>
            <a:off x="841248" y="3712464"/>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Reading attached PDFs and extracting tabular data from them is a substantially different and less reliable engineering problem than text matching, and would need its own validation exercise. It is documented as a genuine, measured limit, not a bug to fix.</a:t>
            </a:r>
            <a:endParaRPr lang="en-US" sz="1150" dirty="0"/>
          </a:p>
        </p:txBody>
      </p:sp>
      <p:sp>
        <p:nvSpPr>
          <p:cNvPr id="10" name="Shape 8"/>
          <p:cNvSpPr/>
          <p:nvPr/>
        </p:nvSpPr>
        <p:spPr>
          <a:xfrm>
            <a:off x="566928" y="4809744"/>
            <a:ext cx="11027664" cy="1463040"/>
          </a:xfrm>
          <a:prstGeom prst="roundRect">
            <a:avLst>
              <a:gd name="adj" fmla="val 3750"/>
            </a:avLst>
          </a:prstGeom>
          <a:solidFill>
            <a:srgbClr val="F7F5F1"/>
          </a:solidFill>
          <a:ln/>
          <a:effectLst>
            <a:outerShdw sx="100000" sy="100000" kx="0" ky="0" algn="bl" rotWithShape="0" blurRad="76200" dist="381" dir="5400000">
              <a:srgbClr val="000000">
                <a:alpha val="8000"/>
              </a:srgbClr>
            </a:outerShdw>
          </a:effectLst>
        </p:spPr>
      </p:sp>
      <p:sp>
        <p:nvSpPr>
          <p:cNvPr id="11" name="Text 9"/>
          <p:cNvSpPr/>
          <p:nvPr/>
        </p:nvSpPr>
        <p:spPr>
          <a:xfrm>
            <a:off x="841248" y="4956048"/>
            <a:ext cx="10479024" cy="36576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Precision, not recall, is the trustworthy headline figure</a:t>
            </a:r>
            <a:endParaRPr lang="en-US" sz="1350" dirty="0"/>
          </a:p>
        </p:txBody>
      </p:sp>
      <p:sp>
        <p:nvSpPr>
          <p:cNvPr id="12" name="Text 10"/>
          <p:cNvSpPr/>
          <p:nvPr/>
        </p:nvSpPr>
        <p:spPr>
          <a:xfrm>
            <a:off x="841248" y="5340096"/>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Recall here should be read as "recall on district mentions that are structurally visible to a text-based method", not "recall on everything a human could determine from the full report". Those are two different things.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Why repeated district-months are a statistical trap</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12 rows per district is not the same as 12 independent observations</a:t>
            </a:r>
            <a:endParaRPr lang="en-US" sz="1250" dirty="0"/>
          </a:p>
        </p:txBody>
      </p:sp>
      <p:sp>
        <p:nvSpPr>
          <p:cNvPr id="4" name="Shape 2"/>
          <p:cNvSpPr/>
          <p:nvPr/>
        </p:nvSpPr>
        <p:spPr>
          <a:xfrm>
            <a:off x="566928" y="1554480"/>
            <a:ext cx="11027664" cy="1737360"/>
          </a:xfrm>
          <a:prstGeom prst="roundRect">
            <a:avLst>
              <a:gd name="adj" fmla="val 3158"/>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10479024" cy="310896"/>
          </a:xfrm>
          <a:prstGeom prst="rect">
            <a:avLst/>
          </a:prstGeom>
          <a:noFill/>
          <a:ln/>
        </p:spPr>
        <p:txBody>
          <a:bodyPr wrap="square" lIns="0" tIns="0" rIns="0" bIns="0" rtlCol="0" anchor="ctr"/>
          <a:lstStyle/>
          <a:p>
            <a:pPr indent="0" marL="0">
              <a:buNone/>
            </a:pPr>
            <a:r>
              <a:rPr lang="en-US" sz="1450" b="1" dirty="0">
                <a:solidFill>
                  <a:srgbClr val="A7BEAE"/>
                </a:solidFill>
                <a:latin typeface="Cambria" pitchFamily="34" charset="0"/>
                <a:ea typeface="Cambria" pitchFamily="34" charset="-122"/>
                <a:cs typeface="Cambria" pitchFamily="34" charset="-120"/>
              </a:rPr>
              <a:t>888 rows, but only 74 real "units"</a:t>
            </a:r>
            <a:endParaRPr lang="en-US" sz="1450" dirty="0"/>
          </a:p>
        </p:txBody>
      </p:sp>
      <p:sp>
        <p:nvSpPr>
          <p:cNvPr id="6" name="Text 4"/>
          <p:cNvSpPr/>
          <p:nvPr/>
        </p:nvSpPr>
        <p:spPr>
          <a:xfrm>
            <a:off x="841248" y="2048256"/>
            <a:ext cx="10479024" cy="1188720"/>
          </a:xfrm>
          <a:prstGeom prst="rect">
            <a:avLst/>
          </a:prstGeom>
          <a:noFill/>
          <a:ln/>
        </p:spPr>
        <p:txBody>
          <a:bodyPr wrap="square" lIns="0" tIns="0" rIns="0" bIns="0" rtlCol="0" anchor="ctr"/>
          <a:lstStyle/>
          <a:p>
            <a:pPr indent="0" marL="0">
              <a:lnSpc>
                <a:spcPts val="1600"/>
              </a:lnSpc>
              <a:buNone/>
            </a:pPr>
            <a:r>
              <a:rPr lang="en-US" sz="1200" dirty="0">
                <a:solidFill>
                  <a:srgbClr val="E7E8D1"/>
                </a:solidFill>
                <a:latin typeface="Calibri" pitchFamily="34" charset="0"/>
                <a:ea typeface="Calibri" pitchFamily="34" charset="-122"/>
                <a:cs typeface="Calibri" pitchFamily="34" charset="-120"/>
              </a:rPr>
              <a:t>Each of the 74 districts contributes 12 rows to the panel, one per month. A district's conflict level, market status and reporting attention this month is largely the same underlying district carrying forward, not a fresh, independent measurement. Treating all 888 rows as 888 independent pieces of evidence silently multiplies the effective sample size, and can turn a genuinely null result into one that looks statistically significant.</a:t>
            </a:r>
            <a:endParaRPr lang="en-US" sz="1200" dirty="0"/>
          </a:p>
        </p:txBody>
      </p:sp>
      <p:sp>
        <p:nvSpPr>
          <p:cNvPr id="7" name="Shape 5"/>
          <p:cNvSpPr/>
          <p:nvPr/>
        </p:nvSpPr>
        <p:spPr>
          <a:xfrm>
            <a:off x="566928" y="3529584"/>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8" name="Text 6"/>
          <p:cNvSpPr/>
          <p:nvPr/>
        </p:nvSpPr>
        <p:spPr>
          <a:xfrm>
            <a:off x="841248" y="3657600"/>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In plain terms</a:t>
            </a:r>
            <a:endParaRPr lang="en-US" sz="1300" dirty="0"/>
          </a:p>
        </p:txBody>
      </p:sp>
      <p:sp>
        <p:nvSpPr>
          <p:cNvPr id="9" name="Text 7"/>
          <p:cNvSpPr/>
          <p:nvPr/>
        </p:nvSpPr>
        <p:spPr>
          <a:xfrm>
            <a:off x="841248" y="3950208"/>
            <a:ext cx="10479024" cy="91440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Imagine asking 74 people the same yes/no question once a month for a year, and then reporting the result as if 888 different people had each answered once. A statistical test cannot tell the difference between genuine agreement across 888 independent people, and the same 74 people simply repeating their own answer twelve times.</a:t>
            </a:r>
            <a:endParaRPr lang="en-US" sz="1150" dirty="0"/>
          </a:p>
        </p:txBody>
      </p:sp>
      <p:sp>
        <p:nvSpPr>
          <p:cNvPr id="10" name="Text 8"/>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This is a known statistical issue called pseudo-replication. It was checked across every bivariate result in the full-year panel.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The one genuine violation found, and its fix</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Does market access track conflict?</a:t>
            </a:r>
            <a:endParaRPr lang="en-US" sz="1250" dirty="0"/>
          </a:p>
        </p:txBody>
      </p:sp>
      <p:sp>
        <p:nvSpPr>
          <p:cNvPr id="4" name="Shape 2"/>
          <p:cNvSpPr/>
          <p:nvPr/>
        </p:nvSpPr>
        <p:spPr>
          <a:xfrm>
            <a:off x="566928" y="1554480"/>
            <a:ext cx="5486400" cy="2468880"/>
          </a:xfrm>
          <a:prstGeom prst="roundRect">
            <a:avLst>
              <a:gd name="adj" fmla="val 2222"/>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Naive reading (888 rows, wrong)</a:t>
            </a:r>
            <a:endParaRPr lang="en-US" sz="1250" dirty="0"/>
          </a:p>
        </p:txBody>
      </p:sp>
      <p:sp>
        <p:nvSpPr>
          <p:cNvPr id="6" name="Text 4"/>
          <p:cNvSpPr/>
          <p:nvPr/>
        </p:nvSpPr>
        <p:spPr>
          <a:xfrm>
            <a:off x="804672" y="2029968"/>
            <a:ext cx="5029200"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p = 0.0001</a:t>
            </a:r>
            <a:endParaRPr lang="en-US" sz="2600" dirty="0"/>
          </a:p>
        </p:txBody>
      </p:sp>
      <p:sp>
        <p:nvSpPr>
          <p:cNvPr id="7" name="Text 5"/>
          <p:cNvSpPr/>
          <p:nvPr/>
        </p:nvSpPr>
        <p:spPr>
          <a:xfrm>
            <a:off x="804672" y="2578608"/>
            <a:ext cx="5029200"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conflict events, market vs no market</a:t>
            </a:r>
            <a:endParaRPr lang="en-US" sz="950" dirty="0"/>
          </a:p>
        </p:txBody>
      </p:sp>
      <p:sp>
        <p:nvSpPr>
          <p:cNvPr id="8" name="Text 6"/>
          <p:cNvSpPr/>
          <p:nvPr/>
        </p:nvSpPr>
        <p:spPr>
          <a:xfrm>
            <a:off x="804672" y="3127248"/>
            <a:ext cx="5029200" cy="548640"/>
          </a:xfrm>
          <a:prstGeom prst="rect">
            <a:avLst/>
          </a:prstGeom>
          <a:noFill/>
          <a:ln/>
        </p:spPr>
        <p:txBody>
          <a:bodyPr wrap="square" lIns="0" tIns="0" rIns="0" bIns="0" rtlCol="0" anchor="ctr"/>
          <a:lstStyle/>
          <a:p>
            <a:pPr indent="0" marL="0">
              <a:lnSpc>
                <a:spcPts val="1400"/>
              </a:lnSpc>
              <a:buNone/>
            </a:pPr>
            <a:r>
              <a:rPr lang="en-US" sz="1100" i="1" dirty="0">
                <a:solidFill>
                  <a:srgbClr val="7A6E68"/>
                </a:solidFill>
                <a:latin typeface="Calibri" pitchFamily="34" charset="0"/>
                <a:ea typeface="Calibri" pitchFamily="34" charset="-122"/>
                <a:cs typeface="Calibri" pitchFamily="34" charset="-120"/>
              </a:rPr>
              <a:t>Statistically significant: looks like a real relationship.</a:t>
            </a:r>
            <a:endParaRPr lang="en-US" sz="1100" dirty="0"/>
          </a:p>
        </p:txBody>
      </p:sp>
      <p:sp>
        <p:nvSpPr>
          <p:cNvPr id="9" name="Shape 7"/>
          <p:cNvSpPr/>
          <p:nvPr/>
        </p:nvSpPr>
        <p:spPr>
          <a:xfrm>
            <a:off x="6309360" y="1554480"/>
            <a:ext cx="5285232" cy="2468880"/>
          </a:xfrm>
          <a:prstGeom prst="roundRect">
            <a:avLst>
              <a:gd name="adj" fmla="val 2222"/>
            </a:avLst>
          </a:prstGeom>
          <a:solidFill>
            <a:srgbClr val="A7BEAE"/>
          </a:solidFill>
          <a:ln/>
          <a:effectLst>
            <a:outerShdw sx="100000" sy="100000" kx="0" ky="0" algn="bl" rotWithShape="0" blurRad="76200" dist="381" dir="5400000">
              <a:srgbClr val="000000">
                <a:alpha val="8000"/>
              </a:srgbClr>
            </a:outerShdw>
          </a:effectLst>
        </p:spPr>
      </p:sp>
      <p:sp>
        <p:nvSpPr>
          <p:cNvPr id="10" name="Text 8"/>
          <p:cNvSpPr/>
          <p:nvPr/>
        </p:nvSpPr>
        <p:spPr>
          <a:xfrm>
            <a:off x="6547104" y="1700784"/>
            <a:ext cx="475488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Corrected (n = 74 districts, right)</a:t>
            </a:r>
            <a:endParaRPr lang="en-US" sz="1250" dirty="0"/>
          </a:p>
        </p:txBody>
      </p:sp>
      <p:sp>
        <p:nvSpPr>
          <p:cNvPr id="11" name="Text 9"/>
          <p:cNvSpPr/>
          <p:nvPr/>
        </p:nvSpPr>
        <p:spPr>
          <a:xfrm>
            <a:off x="6547104" y="2029968"/>
            <a:ext cx="4754880" cy="566928"/>
          </a:xfrm>
          <a:prstGeom prst="rect">
            <a:avLst/>
          </a:prstGeom>
          <a:noFill/>
          <a:ln/>
        </p:spPr>
        <p:txBody>
          <a:bodyPr wrap="square" lIns="0" tIns="0" rIns="0" bIns="0" rtlCol="0" anchor="ctr"/>
          <a:lstStyle/>
          <a:p>
            <a:pPr algn="ctr" indent="0" marL="0">
              <a:buNone/>
            </a:pPr>
            <a:r>
              <a:rPr lang="en-US" sz="2600" b="1" dirty="0">
                <a:solidFill>
                  <a:srgbClr val="2B2523"/>
                </a:solidFill>
                <a:latin typeface="Cambria" pitchFamily="34" charset="0"/>
                <a:ea typeface="Cambria" pitchFamily="34" charset="-122"/>
                <a:cs typeface="Cambria" pitchFamily="34" charset="-120"/>
              </a:rPr>
              <a:t>p = 0.188</a:t>
            </a:r>
            <a:endParaRPr lang="en-US" sz="2600" dirty="0"/>
          </a:p>
        </p:txBody>
      </p:sp>
      <p:sp>
        <p:nvSpPr>
          <p:cNvPr id="12" name="Text 10"/>
          <p:cNvSpPr/>
          <p:nvPr/>
        </p:nvSpPr>
        <p:spPr>
          <a:xfrm>
            <a:off x="6547104" y="2578608"/>
            <a:ext cx="4754880"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same test, one row per district</a:t>
            </a:r>
            <a:endParaRPr lang="en-US" sz="950" dirty="0"/>
          </a:p>
        </p:txBody>
      </p:sp>
      <p:sp>
        <p:nvSpPr>
          <p:cNvPr id="13" name="Text 11"/>
          <p:cNvSpPr/>
          <p:nvPr/>
        </p:nvSpPr>
        <p:spPr>
          <a:xfrm>
            <a:off x="6547104" y="3127248"/>
            <a:ext cx="4754880" cy="548640"/>
          </a:xfrm>
          <a:prstGeom prst="rect">
            <a:avLst/>
          </a:prstGeom>
          <a:noFill/>
          <a:ln/>
        </p:spPr>
        <p:txBody>
          <a:bodyPr wrap="square" lIns="0" tIns="0" rIns="0" bIns="0" rtlCol="0" anchor="ctr"/>
          <a:lstStyle/>
          <a:p>
            <a:pPr indent="0" marL="0">
              <a:lnSpc>
                <a:spcPts val="1400"/>
              </a:lnSpc>
              <a:buNone/>
            </a:pPr>
            <a:r>
              <a:rPr lang="en-US" sz="1100" i="1" dirty="0">
                <a:solidFill>
                  <a:srgbClr val="2B2523"/>
                </a:solidFill>
                <a:latin typeface="Calibri" pitchFamily="34" charset="0"/>
                <a:ea typeface="Calibri" pitchFamily="34" charset="-122"/>
                <a:cs typeface="Calibri" pitchFamily="34" charset="-120"/>
              </a:rPr>
              <a:t>Not significant. The naive result was entirely an artefact of counting each district twelve times over.</a:t>
            </a:r>
            <a:endParaRPr lang="en-US" sz="1100" dirty="0"/>
          </a:p>
        </p:txBody>
      </p:sp>
      <p:sp>
        <p:nvSpPr>
          <p:cNvPr id="14" name="Shape 12"/>
          <p:cNvSpPr/>
          <p:nvPr/>
        </p:nvSpPr>
        <p:spPr>
          <a:xfrm>
            <a:off x="566928" y="4206240"/>
            <a:ext cx="11027664" cy="1554480"/>
          </a:xfrm>
          <a:prstGeom prst="roundRect">
            <a:avLst>
              <a:gd name="adj" fmla="val 3529"/>
            </a:avLst>
          </a:prstGeom>
          <a:solidFill>
            <a:srgbClr val="2B2523"/>
          </a:solidFill>
          <a:ln/>
          <a:effectLst>
            <a:outerShdw sx="100000" sy="100000" kx="0" ky="0" algn="bl" rotWithShape="0" blurRad="76200" dist="381" dir="5400000">
              <a:srgbClr val="000000">
                <a:alpha val="8000"/>
              </a:srgbClr>
            </a:outerShdw>
          </a:effectLst>
        </p:spPr>
      </p:sp>
      <p:sp>
        <p:nvSpPr>
          <p:cNvPr id="15" name="Text 13"/>
          <p:cNvSpPr/>
          <p:nvPr/>
        </p:nvSpPr>
        <p:spPr>
          <a:xfrm>
            <a:off x="841248" y="4334256"/>
            <a:ext cx="10479024" cy="274320"/>
          </a:xfrm>
          <a:prstGeom prst="rect">
            <a:avLst/>
          </a:prstGeom>
          <a:noFill/>
          <a:ln/>
        </p:spPr>
        <p:txBody>
          <a:bodyPr wrap="square" lIns="0" tIns="0" rIns="0" bIns="0" rtlCol="0" anchor="ctr"/>
          <a:lstStyle/>
          <a:p>
            <a:pPr indent="0" marL="0">
              <a:buNone/>
            </a:pPr>
            <a:r>
              <a:rPr lang="en-US" sz="1300" b="1" dirty="0">
                <a:solidFill>
                  <a:srgbClr val="A7BEAE"/>
                </a:solidFill>
                <a:latin typeface="Cambria" pitchFamily="34" charset="0"/>
                <a:ea typeface="Cambria" pitchFamily="34" charset="-122"/>
                <a:cs typeface="Cambria" pitchFamily="34" charset="-120"/>
              </a:rPr>
              <a:t>Why this is the clearest example in the whole notebook</a:t>
            </a:r>
            <a:endParaRPr lang="en-US" sz="1300" dirty="0"/>
          </a:p>
        </p:txBody>
      </p:sp>
      <p:sp>
        <p:nvSpPr>
          <p:cNvPr id="16" name="Text 14"/>
          <p:cNvSpPr/>
          <p:nvPr/>
        </p:nvSpPr>
        <p:spPr>
          <a:xfrm>
            <a:off x="841248" y="4626864"/>
            <a:ext cx="10479024" cy="109728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has_market_coverage is fixed at the district level, it never changes month to month, so pooling all 888 rows was double-counting each district twelve times over, as badly as this problem can occur. Once every district counts once, the full year gives the same answer as the earlier two-month prototype: no detectable relationship between market coverage and conflict. The naive figures are kept in the notebook next to the correction, not deleted, so the artefact stays visible.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Checking every other result, and what survives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Three different strengths of the same problem, three different fixes</a:t>
            </a:r>
            <a:endParaRPr lang="en-US" sz="1250" dirty="0"/>
          </a:p>
        </p:txBody>
      </p:sp>
      <p:sp>
        <p:nvSpPr>
          <p:cNvPr id="4" name="Shape 2"/>
          <p:cNvSpPr/>
          <p:nvPr/>
        </p:nvSpPr>
        <p:spPr>
          <a:xfrm>
            <a:off x="566928" y="146304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566928" y="1463040"/>
            <a:ext cx="73152" cy="1005840"/>
          </a:xfrm>
          <a:prstGeom prst="rect">
            <a:avLst/>
          </a:prstGeom>
          <a:solidFill>
            <a:srgbClr val="A7BEAE"/>
          </a:solidFill>
          <a:ln/>
        </p:spPr>
      </p:sp>
      <p:sp>
        <p:nvSpPr>
          <p:cNvPr id="6" name="Text 4"/>
          <p:cNvSpPr/>
          <p:nvPr/>
        </p:nvSpPr>
        <p:spPr>
          <a:xfrm>
            <a:off x="841248" y="1554480"/>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Time-varying correlations</a:t>
            </a:r>
            <a:endParaRPr lang="en-US" sz="1250" dirty="0"/>
          </a:p>
        </p:txBody>
      </p:sp>
      <p:sp>
        <p:nvSpPr>
          <p:cNvPr id="7" name="Text 5"/>
          <p:cNvSpPr/>
          <p:nvPr/>
        </p:nvSpPr>
        <p:spPr>
          <a:xfrm>
            <a:off x="841248" y="1901952"/>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Conflict vs reports, rainfall vs reports, VHI vs conflict</a:t>
            </a:r>
            <a:endParaRPr lang="en-US" sz="950" dirty="0"/>
          </a:p>
        </p:txBody>
      </p:sp>
      <p:sp>
        <p:nvSpPr>
          <p:cNvPr id="8" name="Text 6"/>
          <p:cNvSpPr/>
          <p:nvPr/>
        </p:nvSpPr>
        <p:spPr>
          <a:xfrm>
            <a:off x="4114800" y="1591056"/>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Checked with a district-cluster bootstrap (resampling whole districts, not rows). All three survive with confidence intervals well clear of zero.</a:t>
            </a:r>
            <a:endParaRPr lang="en-US" sz="1050" dirty="0"/>
          </a:p>
        </p:txBody>
      </p:sp>
      <p:sp>
        <p:nvSpPr>
          <p:cNvPr id="9" name="Shape 7"/>
          <p:cNvSpPr/>
          <p:nvPr/>
        </p:nvSpPr>
        <p:spPr>
          <a:xfrm>
            <a:off x="566928" y="2578608"/>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566928" y="2578608"/>
            <a:ext cx="73152" cy="1005840"/>
          </a:xfrm>
          <a:prstGeom prst="rect">
            <a:avLst/>
          </a:prstGeom>
          <a:solidFill>
            <a:srgbClr val="B85042"/>
          </a:solidFill>
          <a:ln/>
        </p:spPr>
      </p:sp>
      <p:sp>
        <p:nvSpPr>
          <p:cNvPr id="11" name="Text 9"/>
          <p:cNvSpPr/>
          <p:nvPr/>
        </p:nvSpPr>
        <p:spPr>
          <a:xfrm>
            <a:off x="841248" y="2670048"/>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One exception</a:t>
            </a:r>
            <a:endParaRPr lang="en-US" sz="1250" dirty="0"/>
          </a:p>
        </p:txBody>
      </p:sp>
      <p:sp>
        <p:nvSpPr>
          <p:cNvPr id="12" name="Text 10"/>
          <p:cNvSpPr/>
          <p:nvPr/>
        </p:nvSpPr>
        <p:spPr>
          <a:xfrm>
            <a:off x="841248" y="3017520"/>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Vegetation health (VHI) vs reports</a:t>
            </a:r>
            <a:endParaRPr lang="en-US" sz="950" dirty="0"/>
          </a:p>
        </p:txBody>
      </p:sp>
      <p:sp>
        <p:nvSpPr>
          <p:cNvPr id="13" name="Text 11"/>
          <p:cNvSpPr/>
          <p:nvPr/>
        </p:nvSpPr>
        <p:spPr>
          <a:xfrm>
            <a:off x="4114800" y="2706624"/>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Its cluster-robust confidence interval crosses zero. The earlier r=-0.11 figure should be read as inconclusive, not a confirmed effect.</a:t>
            </a:r>
            <a:endParaRPr lang="en-US" sz="1050" dirty="0"/>
          </a:p>
        </p:txBody>
      </p:sp>
      <p:sp>
        <p:nvSpPr>
          <p:cNvPr id="14" name="Shape 12"/>
          <p:cNvSpPr/>
          <p:nvPr/>
        </p:nvSpPr>
        <p:spPr>
          <a:xfrm>
            <a:off x="566928" y="3694176"/>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566928" y="3694176"/>
            <a:ext cx="73152" cy="1005840"/>
          </a:xfrm>
          <a:prstGeom prst="rect">
            <a:avLst/>
          </a:prstGeom>
          <a:solidFill>
            <a:srgbClr val="E7E8D1"/>
          </a:solidFill>
          <a:ln/>
        </p:spPr>
      </p:sp>
      <p:sp>
        <p:nvSpPr>
          <p:cNvPr id="16" name="Text 14"/>
          <p:cNvSpPr/>
          <p:nvPr/>
        </p:nvSpPr>
        <p:spPr>
          <a:xfrm>
            <a:off x="841248" y="3785616"/>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Conflict-vs-climate reporting gap</a:t>
            </a:r>
            <a:endParaRPr lang="en-US" sz="1250" dirty="0"/>
          </a:p>
        </p:txBody>
      </p:sp>
      <p:sp>
        <p:nvSpPr>
          <p:cNvPr id="17" name="Text 15"/>
          <p:cNvSpPr/>
          <p:nvPr/>
        </p:nvSpPr>
        <p:spPr>
          <a:xfrm>
            <a:off x="841248" y="4133088"/>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Collapsed to one row per district (n=18 vs n=41)</a:t>
            </a:r>
            <a:endParaRPr lang="en-US" sz="950" dirty="0"/>
          </a:p>
        </p:txBody>
      </p:sp>
      <p:sp>
        <p:nvSpPr>
          <p:cNvPr id="18" name="Text 16"/>
          <p:cNvSpPr/>
          <p:nvPr/>
        </p:nvSpPr>
        <p:spPr>
          <a:xfrm>
            <a:off x="4114800" y="3822192"/>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Survives, but weakens: p=0.000064 falls to p=0.0067 once repeated conflict-heavy districts stop being over-counted. Full detail two sections ahead.</a:t>
            </a:r>
            <a:endParaRPr lang="en-US" sz="1050" dirty="0"/>
          </a:p>
        </p:txBody>
      </p:sp>
      <p:sp>
        <p:nvSpPr>
          <p:cNvPr id="19" name="Shape 17"/>
          <p:cNvSpPr/>
          <p:nvPr/>
        </p:nvSpPr>
        <p:spPr>
          <a:xfrm>
            <a:off x="566928" y="4809744"/>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566928" y="4809744"/>
            <a:ext cx="73152" cy="1005840"/>
          </a:xfrm>
          <a:prstGeom prst="rect">
            <a:avLst/>
          </a:prstGeom>
          <a:solidFill>
            <a:srgbClr val="A7BEAE"/>
          </a:solidFill>
          <a:ln/>
        </p:spPr>
      </p:sp>
      <p:sp>
        <p:nvSpPr>
          <p:cNvPr id="21" name="Text 19"/>
          <p:cNvSpPr/>
          <p:nvPr/>
        </p:nvSpPr>
        <p:spPr>
          <a:xfrm>
            <a:off x="841248" y="4901184"/>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Logistic regression</a:t>
            </a:r>
            <a:endParaRPr lang="en-US" sz="1250" dirty="0"/>
          </a:p>
        </p:txBody>
      </p:sp>
      <p:sp>
        <p:nvSpPr>
          <p:cNvPr id="22" name="Text 20"/>
          <p:cNvSpPr/>
          <p:nvPr/>
        </p:nvSpPr>
        <p:spPr>
          <a:xfrm>
            <a:off x="841248" y="5248656"/>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Already clusters its standard errors by district</a:t>
            </a:r>
            <a:endParaRPr lang="en-US" sz="950" dirty="0"/>
          </a:p>
        </p:txBody>
      </p:sp>
      <p:sp>
        <p:nvSpPr>
          <p:cNvPr id="23" name="Text 21"/>
          <p:cNvSpPr/>
          <p:nvPr/>
        </p:nvSpPr>
        <p:spPr>
          <a:xfrm>
            <a:off x="4114800" y="4937760"/>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No correction was needed. It would have had the same problem built in from the start had it not.</a:t>
            </a:r>
            <a:endParaRPr lang="en-US" sz="1050" dirty="0"/>
          </a:p>
        </p:txBody>
      </p:sp>
      <p:sp>
        <p:nvSpPr>
          <p:cNvPr id="24" name="Text 22"/>
          <p:cNvSpPr/>
          <p:nvPr/>
        </p:nvSpPr>
        <p:spPr>
          <a:xfrm>
            <a:off x="566928" y="6035040"/>
            <a:ext cx="11027664" cy="310896"/>
          </a:xfrm>
          <a:prstGeom prst="rect">
            <a:avLst/>
          </a:prstGeom>
          <a:noFill/>
          <a:ln/>
        </p:spPr>
        <p:txBody>
          <a:bodyPr wrap="square" lIns="0" tIns="0" rIns="0" bIns="0" rtlCol="0" anchor="ctr"/>
          <a:lstStyle/>
          <a:p>
            <a:pPr indent="0" marL="0">
              <a:buNone/>
            </a:pPr>
            <a:r>
              <a:rPr lang="en-US" sz="1050" i="1" dirty="0">
                <a:solidFill>
                  <a:srgbClr val="7A6E68"/>
                </a:solidFill>
                <a:latin typeface="Calibri" pitchFamily="34" charset="0"/>
                <a:ea typeface="Calibri" pitchFamily="34" charset="-122"/>
                <a:cs typeface="Calibri" pitchFamily="34" charset="-120"/>
              </a:rPr>
              <a:t>Bottom line: nothing in the notebook's headline findings depended on a repeated-district-months artefact once corrected, except the naive market/conflict result, which was never a real finding.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Strengthening the conflict-vs-climate reporting result</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original test, and why the wording changed</a:t>
            </a:r>
            <a:endParaRPr lang="en-US" sz="1250" dirty="0"/>
          </a:p>
        </p:txBody>
      </p:sp>
      <p:sp>
        <p:nvSpPr>
          <p:cNvPr id="4" name="Shape 2"/>
          <p:cNvSpPr/>
          <p:nvPr/>
        </p:nvSpPr>
        <p:spPr>
          <a:xfrm>
            <a:off x="566928" y="1554480"/>
            <a:ext cx="11027664" cy="1737360"/>
          </a:xfrm>
          <a:prstGeom prst="roundRect">
            <a:avLst>
              <a:gd name="adj" fmla="val 3158"/>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457200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original result</a:t>
            </a:r>
            <a:endParaRPr lang="en-US" sz="1350" dirty="0"/>
          </a:p>
        </p:txBody>
      </p:sp>
      <p:sp>
        <p:nvSpPr>
          <p:cNvPr id="6" name="Text 4"/>
          <p:cNvSpPr/>
          <p:nvPr/>
        </p:nvSpPr>
        <p:spPr>
          <a:xfrm>
            <a:off x="841248" y="202996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6.65</a:t>
            </a:r>
            <a:endParaRPr lang="en-US" sz="2600" dirty="0"/>
          </a:p>
        </p:txBody>
      </p:sp>
      <p:sp>
        <p:nvSpPr>
          <p:cNvPr id="7" name="Text 5"/>
          <p:cNvSpPr/>
          <p:nvPr/>
        </p:nvSpPr>
        <p:spPr>
          <a:xfrm>
            <a:off x="841248" y="257860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avg reports, relatively extreme conflict</a:t>
            </a:r>
            <a:endParaRPr lang="en-US" sz="950" dirty="0"/>
          </a:p>
        </p:txBody>
      </p:sp>
      <p:sp>
        <p:nvSpPr>
          <p:cNvPr id="8" name="Text 6"/>
          <p:cNvSpPr/>
          <p:nvPr/>
        </p:nvSpPr>
        <p:spPr>
          <a:xfrm>
            <a:off x="4334256" y="2029968"/>
            <a:ext cx="3493008" cy="566928"/>
          </a:xfrm>
          <a:prstGeom prst="rect">
            <a:avLst/>
          </a:prstGeom>
          <a:noFill/>
          <a:ln/>
        </p:spPr>
        <p:txBody>
          <a:bodyPr wrap="square" lIns="0" tIns="0" rIns="0" bIns="0" rtlCol="0" anchor="ctr"/>
          <a:lstStyle/>
          <a:p>
            <a:pPr algn="ctr" indent="0" marL="0">
              <a:buNone/>
            </a:pPr>
            <a:r>
              <a:rPr lang="en-US" sz="2600" b="1" dirty="0">
                <a:solidFill>
                  <a:srgbClr val="E7E8D1"/>
                </a:solidFill>
                <a:latin typeface="Cambria" pitchFamily="34" charset="0"/>
                <a:ea typeface="Cambria" pitchFamily="34" charset="-122"/>
                <a:cs typeface="Cambria" pitchFamily="34" charset="-120"/>
              </a:rPr>
              <a:t>2.67</a:t>
            </a:r>
            <a:endParaRPr lang="en-US" sz="2600" dirty="0"/>
          </a:p>
        </p:txBody>
      </p:sp>
      <p:sp>
        <p:nvSpPr>
          <p:cNvPr id="9" name="Text 7"/>
          <p:cNvSpPr/>
          <p:nvPr/>
        </p:nvSpPr>
        <p:spPr>
          <a:xfrm>
            <a:off x="4334256" y="257860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avg reports, relatively extreme climate stress</a:t>
            </a:r>
            <a:endParaRPr lang="en-US" sz="950" dirty="0"/>
          </a:p>
        </p:txBody>
      </p:sp>
      <p:sp>
        <p:nvSpPr>
          <p:cNvPr id="10" name="Text 8"/>
          <p:cNvSpPr/>
          <p:nvPr/>
        </p:nvSpPr>
        <p:spPr>
          <a:xfrm>
            <a:off x="7827264" y="2029968"/>
            <a:ext cx="3493008" cy="566928"/>
          </a:xfrm>
          <a:prstGeom prst="rect">
            <a:avLst/>
          </a:prstGeom>
          <a:noFill/>
          <a:ln/>
        </p:spPr>
        <p:txBody>
          <a:bodyPr wrap="square" lIns="0" tIns="0" rIns="0" bIns="0" rtlCol="0" anchor="ctr"/>
          <a:lstStyle/>
          <a:p>
            <a:pPr algn="ctr" indent="0" marL="0">
              <a:buNone/>
            </a:pPr>
            <a:r>
              <a:rPr lang="en-US" sz="2600" b="1" dirty="0">
                <a:solidFill>
                  <a:srgbClr val="A7BEAE"/>
                </a:solidFill>
                <a:latin typeface="Cambria" pitchFamily="34" charset="0"/>
                <a:ea typeface="Cambria" pitchFamily="34" charset="-122"/>
                <a:cs typeface="Cambria" pitchFamily="34" charset="-120"/>
              </a:rPr>
              <a:t>p = 0.000064</a:t>
            </a:r>
            <a:endParaRPr lang="en-US" sz="2600" dirty="0"/>
          </a:p>
        </p:txBody>
      </p:sp>
      <p:sp>
        <p:nvSpPr>
          <p:cNvPr id="11" name="Text 9"/>
          <p:cNvSpPr/>
          <p:nvPr/>
        </p:nvSpPr>
        <p:spPr>
          <a:xfrm>
            <a:off x="7827264" y="257860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the difference is unlikely to be chance</a:t>
            </a:r>
            <a:endParaRPr lang="en-US" sz="950" dirty="0"/>
          </a:p>
        </p:txBody>
      </p:sp>
      <p:sp>
        <p:nvSpPr>
          <p:cNvPr id="12" name="Text 10"/>
          <p:cNvSpPr/>
          <p:nvPr/>
        </p:nvSpPr>
        <p:spPr>
          <a:xfrm>
            <a:off x="841248" y="2926080"/>
            <a:ext cx="10479024" cy="274320"/>
          </a:xfrm>
          <a:prstGeom prst="rect">
            <a:avLst/>
          </a:prstGeom>
          <a:noFill/>
          <a:ln/>
        </p:spPr>
        <p:txBody>
          <a:bodyPr wrap="square" lIns="0" tIns="0" rIns="0" bIns="0" rtlCol="0" anchor="ctr"/>
          <a:lstStyle/>
          <a:p>
            <a:pPr indent="0" marL="0">
              <a:buNone/>
            </a:pPr>
            <a:r>
              <a:rPr lang="en-US" sz="1000" i="1" dirty="0">
                <a:solidFill>
                  <a:srgbClr val="E7E8D1"/>
                </a:solidFill>
                <a:latin typeface="Calibri" pitchFamily="34" charset="0"/>
                <a:ea typeface="Calibri" pitchFamily="34" charset="-122"/>
                <a:cs typeface="Calibri" pitchFamily="34" charset="-120"/>
              </a:rPr>
              <a:t>"Relatively extreme" means the worst 10% of district-months on that one measure: conflict events, or vegetation-health stress.</a:t>
            </a:r>
            <a:endParaRPr lang="en-US" sz="1000" dirty="0"/>
          </a:p>
        </p:txBody>
      </p:sp>
      <p:sp>
        <p:nvSpPr>
          <p:cNvPr id="13" name="Shape 11"/>
          <p:cNvSpPr/>
          <p:nvPr/>
        </p:nvSpPr>
        <p:spPr>
          <a:xfrm>
            <a:off x="566928" y="3529584"/>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841248" y="3657600"/>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Wording note</a:t>
            </a:r>
            <a:endParaRPr lang="en-US" sz="1300" dirty="0"/>
          </a:p>
        </p:txBody>
      </p:sp>
      <p:sp>
        <p:nvSpPr>
          <p:cNvPr id="15" name="Text 13"/>
          <p:cNvSpPr/>
          <p:nvPr/>
        </p:nvSpPr>
        <p:spPr>
          <a:xfrm>
            <a:off x="841248" y="3950208"/>
            <a:ext cx="10479024" cy="86868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The two groups are matched on their position within Somalia's own 2024 distribution, not on equal humanitarian severity. Wording changed throughout to "relatively extreme conflict / climate-stress observations", never "comparable severity".</a:t>
            </a:r>
            <a:endParaRPr lang="en-US" sz="1150" dirty="0"/>
          </a:p>
        </p:txBody>
      </p:sp>
      <p:sp>
        <p:nvSpPr>
          <p:cNvPr id="16" name="Text 14"/>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Four robustness checks follow across the next two slides, testing whether this result holds beyond the original single threshold.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Robustness check: different thresholds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Does the gap survive stricter or looser cutoffs for "extreme"?</a:t>
            </a:r>
            <a:endParaRPr lang="en-US" sz="1250" dirty="0"/>
          </a:p>
        </p:txBody>
      </p:sp>
      <p:sp>
        <p:nvSpPr>
          <p:cNvPr id="4" name="Shape 2"/>
          <p:cNvSpPr/>
          <p:nvPr/>
        </p:nvSpPr>
        <p:spPr>
          <a:xfrm>
            <a:off x="566928" y="1645920"/>
            <a:ext cx="3529584"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828800"/>
            <a:ext cx="3090672" cy="731520"/>
          </a:xfrm>
          <a:prstGeom prst="rect">
            <a:avLst/>
          </a:prstGeom>
          <a:noFill/>
          <a:ln/>
        </p:spPr>
        <p:txBody>
          <a:bodyPr wrap="square" lIns="0" tIns="0" rIns="0" bIns="0" rtlCol="0" anchor="ctr"/>
          <a:lstStyle/>
          <a:p>
            <a:pPr indent="0" marL="0">
              <a:buNone/>
            </a:pPr>
            <a:r>
              <a:rPr lang="en-US" sz="3600" b="1" dirty="0">
                <a:solidFill>
                  <a:srgbClr val="B85042"/>
                </a:solidFill>
                <a:latin typeface="Cambria" pitchFamily="34" charset="0"/>
                <a:ea typeface="Cambria" pitchFamily="34" charset="-122"/>
                <a:cs typeface="Cambria" pitchFamily="34" charset="-120"/>
              </a:rPr>
              <a:t>5%</a:t>
            </a:r>
            <a:endParaRPr lang="en-US" sz="3600" dirty="0"/>
          </a:p>
        </p:txBody>
      </p:sp>
      <p:sp>
        <p:nvSpPr>
          <p:cNvPr id="6" name="Text 4"/>
          <p:cNvSpPr/>
          <p:nvPr/>
        </p:nvSpPr>
        <p:spPr>
          <a:xfrm>
            <a:off x="786384" y="2615184"/>
            <a:ext cx="3090672"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Strictest</a:t>
            </a:r>
            <a:endParaRPr lang="en-US" sz="1250" dirty="0"/>
          </a:p>
        </p:txBody>
      </p:sp>
      <p:sp>
        <p:nvSpPr>
          <p:cNvPr id="7" name="Text 5"/>
          <p:cNvSpPr/>
          <p:nvPr/>
        </p:nvSpPr>
        <p:spPr>
          <a:xfrm>
            <a:off x="786384" y="2926080"/>
            <a:ext cx="3090672" cy="45720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~44 district-months per group</a:t>
            </a:r>
            <a:endParaRPr lang="en-US" sz="1000" dirty="0"/>
          </a:p>
        </p:txBody>
      </p:sp>
      <p:sp>
        <p:nvSpPr>
          <p:cNvPr id="8" name="Text 6"/>
          <p:cNvSpPr/>
          <p:nvPr/>
        </p:nvSpPr>
        <p:spPr>
          <a:xfrm>
            <a:off x="786384" y="3474720"/>
            <a:ext cx="3090672" cy="365760"/>
          </a:xfrm>
          <a:prstGeom prst="rect">
            <a:avLst/>
          </a:prstGeom>
          <a:noFill/>
          <a:ln/>
        </p:spPr>
        <p:txBody>
          <a:bodyPr wrap="square" lIns="0" tIns="0" rIns="0" bIns="0" rtlCol="0" anchor="ctr"/>
          <a:lstStyle/>
          <a:p>
            <a:pPr indent="0" marL="0">
              <a:buNone/>
            </a:pPr>
            <a:r>
              <a:rPr lang="en-US" sz="1200" b="1" dirty="0">
                <a:solidFill>
                  <a:srgbClr val="B85042"/>
                </a:solidFill>
                <a:latin typeface="Calibri" pitchFamily="34" charset="0"/>
                <a:ea typeface="Calibri" pitchFamily="34" charset="-122"/>
                <a:cs typeface="Calibri" pitchFamily="34" charset="-120"/>
              </a:rPr>
              <a:t>p &lt; 0.001</a:t>
            </a:r>
            <a:endParaRPr lang="en-US" sz="1200" dirty="0"/>
          </a:p>
        </p:txBody>
      </p:sp>
      <p:sp>
        <p:nvSpPr>
          <p:cNvPr id="9" name="Shape 7"/>
          <p:cNvSpPr/>
          <p:nvPr/>
        </p:nvSpPr>
        <p:spPr>
          <a:xfrm>
            <a:off x="4315968" y="1645920"/>
            <a:ext cx="3529584" cy="2377440"/>
          </a:xfrm>
          <a:prstGeom prst="roundRect">
            <a:avLst>
              <a:gd name="adj" fmla="val 2308"/>
            </a:avLst>
          </a:prstGeom>
          <a:solidFill>
            <a:srgbClr val="2B2523"/>
          </a:solidFill>
          <a:ln/>
          <a:effectLst>
            <a:outerShdw sx="100000" sy="100000" kx="0" ky="0" algn="bl" rotWithShape="0" blurRad="76200" dist="381" dir="5400000">
              <a:srgbClr val="000000">
                <a:alpha val="8000"/>
              </a:srgbClr>
            </a:outerShdw>
          </a:effectLst>
        </p:spPr>
      </p:sp>
      <p:sp>
        <p:nvSpPr>
          <p:cNvPr id="10" name="Text 8"/>
          <p:cNvSpPr/>
          <p:nvPr/>
        </p:nvSpPr>
        <p:spPr>
          <a:xfrm>
            <a:off x="4535424" y="1828800"/>
            <a:ext cx="3090672" cy="731520"/>
          </a:xfrm>
          <a:prstGeom prst="rect">
            <a:avLst/>
          </a:prstGeom>
          <a:noFill/>
          <a:ln/>
        </p:spPr>
        <p:txBody>
          <a:bodyPr wrap="square" lIns="0" tIns="0" rIns="0" bIns="0" rtlCol="0" anchor="ctr"/>
          <a:lstStyle/>
          <a:p>
            <a:pPr indent="0" marL="0">
              <a:buNone/>
            </a:pPr>
            <a:r>
              <a:rPr lang="en-US" sz="3600" b="1" dirty="0">
                <a:solidFill>
                  <a:srgbClr val="A7BEAE"/>
                </a:solidFill>
                <a:latin typeface="Cambria" pitchFamily="34" charset="0"/>
                <a:ea typeface="Cambria" pitchFamily="34" charset="-122"/>
                <a:cs typeface="Cambria" pitchFamily="34" charset="-120"/>
              </a:rPr>
              <a:t>10%</a:t>
            </a:r>
            <a:endParaRPr lang="en-US" sz="3600" dirty="0"/>
          </a:p>
        </p:txBody>
      </p:sp>
      <p:sp>
        <p:nvSpPr>
          <p:cNvPr id="11" name="Text 9"/>
          <p:cNvSpPr/>
          <p:nvPr/>
        </p:nvSpPr>
        <p:spPr>
          <a:xfrm>
            <a:off x="4535424" y="2615184"/>
            <a:ext cx="3090672"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Original result</a:t>
            </a:r>
            <a:endParaRPr lang="en-US" sz="1250" dirty="0"/>
          </a:p>
        </p:txBody>
      </p:sp>
      <p:sp>
        <p:nvSpPr>
          <p:cNvPr id="12" name="Text 10"/>
          <p:cNvSpPr/>
          <p:nvPr/>
        </p:nvSpPr>
        <p:spPr>
          <a:xfrm>
            <a:off x="4535424" y="2926080"/>
            <a:ext cx="3090672" cy="457200"/>
          </a:xfrm>
          <a:prstGeom prst="rect">
            <a:avLst/>
          </a:prstGeom>
          <a:noFill/>
          <a:ln/>
        </p:spPr>
        <p:txBody>
          <a:bodyPr wrap="square" lIns="0" tIns="0" rIns="0" bIns="0" rtlCol="0" anchor="ctr"/>
          <a:lstStyle/>
          <a:p>
            <a:pPr indent="0" marL="0">
              <a:lnSpc>
                <a:spcPts val="1300"/>
              </a:lnSpc>
              <a:buNone/>
            </a:pPr>
            <a:r>
              <a:rPr lang="en-US" sz="1000" dirty="0">
                <a:solidFill>
                  <a:srgbClr val="E7E8D1"/>
                </a:solidFill>
                <a:latin typeface="Calibri" pitchFamily="34" charset="0"/>
                <a:ea typeface="Calibri" pitchFamily="34" charset="-122"/>
                <a:cs typeface="Calibri" pitchFamily="34" charset="-120"/>
              </a:rPr>
              <a:t>68 vs 67 district-months</a:t>
            </a:r>
            <a:endParaRPr lang="en-US" sz="1000" dirty="0"/>
          </a:p>
        </p:txBody>
      </p:sp>
      <p:sp>
        <p:nvSpPr>
          <p:cNvPr id="13" name="Text 11"/>
          <p:cNvSpPr/>
          <p:nvPr/>
        </p:nvSpPr>
        <p:spPr>
          <a:xfrm>
            <a:off x="4535424" y="3474720"/>
            <a:ext cx="3090672" cy="365760"/>
          </a:xfrm>
          <a:prstGeom prst="rect">
            <a:avLst/>
          </a:prstGeom>
          <a:noFill/>
          <a:ln/>
        </p:spPr>
        <p:txBody>
          <a:bodyPr wrap="square" lIns="0" tIns="0" rIns="0" bIns="0" rtlCol="0" anchor="ctr"/>
          <a:lstStyle/>
          <a:p>
            <a:pPr indent="0" marL="0">
              <a:buNone/>
            </a:pPr>
            <a:r>
              <a:rPr lang="en-US" sz="1200" b="1" dirty="0">
                <a:solidFill>
                  <a:srgbClr val="A7BEAE"/>
                </a:solidFill>
                <a:latin typeface="Calibri" pitchFamily="34" charset="0"/>
                <a:ea typeface="Calibri" pitchFamily="34" charset="-122"/>
                <a:cs typeface="Calibri" pitchFamily="34" charset="-120"/>
              </a:rPr>
              <a:t>p = 0.000064</a:t>
            </a:r>
            <a:endParaRPr lang="en-US" sz="1200" dirty="0"/>
          </a:p>
        </p:txBody>
      </p:sp>
      <p:sp>
        <p:nvSpPr>
          <p:cNvPr id="14" name="Shape 12"/>
          <p:cNvSpPr/>
          <p:nvPr/>
        </p:nvSpPr>
        <p:spPr>
          <a:xfrm>
            <a:off x="8065008" y="1645920"/>
            <a:ext cx="3529584"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5" name="Text 13"/>
          <p:cNvSpPr/>
          <p:nvPr/>
        </p:nvSpPr>
        <p:spPr>
          <a:xfrm>
            <a:off x="8284464" y="1828800"/>
            <a:ext cx="3090672" cy="731520"/>
          </a:xfrm>
          <a:prstGeom prst="rect">
            <a:avLst/>
          </a:prstGeom>
          <a:noFill/>
          <a:ln/>
        </p:spPr>
        <p:txBody>
          <a:bodyPr wrap="square" lIns="0" tIns="0" rIns="0" bIns="0" rtlCol="0" anchor="ctr"/>
          <a:lstStyle/>
          <a:p>
            <a:pPr indent="0" marL="0">
              <a:buNone/>
            </a:pPr>
            <a:r>
              <a:rPr lang="en-US" sz="3600" b="1" dirty="0">
                <a:solidFill>
                  <a:srgbClr val="B85042"/>
                </a:solidFill>
                <a:latin typeface="Cambria" pitchFamily="34" charset="0"/>
                <a:ea typeface="Cambria" pitchFamily="34" charset="-122"/>
                <a:cs typeface="Cambria" pitchFamily="34" charset="-120"/>
              </a:rPr>
              <a:t>20%</a:t>
            </a:r>
            <a:endParaRPr lang="en-US" sz="3600" dirty="0"/>
          </a:p>
        </p:txBody>
      </p:sp>
      <p:sp>
        <p:nvSpPr>
          <p:cNvPr id="16" name="Text 14"/>
          <p:cNvSpPr/>
          <p:nvPr/>
        </p:nvSpPr>
        <p:spPr>
          <a:xfrm>
            <a:off x="8284464" y="2615184"/>
            <a:ext cx="3090672"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Loosest</a:t>
            </a:r>
            <a:endParaRPr lang="en-US" sz="1250" dirty="0"/>
          </a:p>
        </p:txBody>
      </p:sp>
      <p:sp>
        <p:nvSpPr>
          <p:cNvPr id="17" name="Text 15"/>
          <p:cNvSpPr/>
          <p:nvPr/>
        </p:nvSpPr>
        <p:spPr>
          <a:xfrm>
            <a:off x="8284464" y="2926080"/>
            <a:ext cx="3090672" cy="45720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~155 vs 117 district-months</a:t>
            </a:r>
            <a:endParaRPr lang="en-US" sz="1000" dirty="0"/>
          </a:p>
        </p:txBody>
      </p:sp>
      <p:sp>
        <p:nvSpPr>
          <p:cNvPr id="18" name="Text 16"/>
          <p:cNvSpPr/>
          <p:nvPr/>
        </p:nvSpPr>
        <p:spPr>
          <a:xfrm>
            <a:off x="8284464" y="3474720"/>
            <a:ext cx="3090672" cy="365760"/>
          </a:xfrm>
          <a:prstGeom prst="rect">
            <a:avLst/>
          </a:prstGeom>
          <a:noFill/>
          <a:ln/>
        </p:spPr>
        <p:txBody>
          <a:bodyPr wrap="square" lIns="0" tIns="0" rIns="0" bIns="0" rtlCol="0" anchor="ctr"/>
          <a:lstStyle/>
          <a:p>
            <a:pPr indent="0" marL="0">
              <a:buNone/>
            </a:pPr>
            <a:r>
              <a:rPr lang="en-US" sz="1200" b="1" dirty="0">
                <a:solidFill>
                  <a:srgbClr val="B85042"/>
                </a:solidFill>
                <a:latin typeface="Calibri" pitchFamily="34" charset="0"/>
                <a:ea typeface="Calibri" pitchFamily="34" charset="-122"/>
                <a:cs typeface="Calibri" pitchFamily="34" charset="-120"/>
              </a:rPr>
              <a:t>p &lt; 0.001</a:t>
            </a:r>
            <a:endParaRPr lang="en-US" sz="1200" dirty="0"/>
          </a:p>
        </p:txBody>
      </p:sp>
      <p:sp>
        <p:nvSpPr>
          <p:cNvPr id="19" name="Shape 17"/>
          <p:cNvSpPr/>
          <p:nvPr/>
        </p:nvSpPr>
        <p:spPr>
          <a:xfrm>
            <a:off x="566928" y="4297680"/>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20" name="Text 18"/>
          <p:cNvSpPr/>
          <p:nvPr/>
        </p:nvSpPr>
        <p:spPr>
          <a:xfrm>
            <a:off x="841248" y="4425696"/>
            <a:ext cx="10479024" cy="1097280"/>
          </a:xfrm>
          <a:prstGeom prst="rect">
            <a:avLst/>
          </a:prstGeom>
          <a:noFill/>
          <a:ln/>
        </p:spPr>
        <p:txBody>
          <a:bodyPr wrap="square" lIns="0" tIns="0" rIns="0" bIns="0" rtlCol="0" anchor="ctr"/>
          <a:lstStyle/>
          <a:p>
            <a:pPr indent="0" marL="0">
              <a:lnSpc>
                <a:spcPts val="1600"/>
              </a:lnSpc>
              <a:buNone/>
            </a:pPr>
            <a:r>
              <a:rPr lang="en-US" sz="1200" dirty="0">
                <a:solidFill>
                  <a:srgbClr val="2B2523"/>
                </a:solidFill>
                <a:latin typeface="Calibri" pitchFamily="34" charset="0"/>
                <a:ea typeface="Calibri" pitchFamily="34" charset="-122"/>
                <a:cs typeface="Calibri" pitchFamily="34" charset="-120"/>
              </a:rPr>
              <a:t>Result: the gap holds at every threshold tested. The size moves a little (largest at the strictest cutoff, since the most extreme district-months attract the most reporting), but the direction and significance never change. This rules out the result being a one-threshold coincidence.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Robustness check: a continuous version</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Does reporting rise steadily with intensity, not just at one cutoff?</a:t>
            </a:r>
            <a:endParaRPr lang="en-US" sz="1250" dirty="0"/>
          </a:p>
        </p:txBody>
      </p:sp>
      <p:sp>
        <p:nvSpPr>
          <p:cNvPr id="4" name="Shape 2"/>
          <p:cNvSpPr/>
          <p:nvPr/>
        </p:nvSpPr>
        <p:spPr>
          <a:xfrm>
            <a:off x="566928" y="1554480"/>
            <a:ext cx="5486400" cy="3108960"/>
          </a:xfrm>
          <a:prstGeom prst="roundRect">
            <a:avLst>
              <a:gd name="adj" fmla="val 1765"/>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Conflict quintiles</a:t>
            </a:r>
            <a:endParaRPr lang="en-US" sz="1350" dirty="0"/>
          </a:p>
        </p:txBody>
      </p:sp>
      <p:sp>
        <p:nvSpPr>
          <p:cNvPr id="6" name="Text 4"/>
          <p:cNvSpPr/>
          <p:nvPr/>
        </p:nvSpPr>
        <p:spPr>
          <a:xfrm>
            <a:off x="804672" y="2011680"/>
            <a:ext cx="5029200" cy="548640"/>
          </a:xfrm>
          <a:prstGeom prst="rect">
            <a:avLst/>
          </a:prstGeom>
          <a:noFill/>
          <a:ln/>
        </p:spPr>
        <p:txBody>
          <a:bodyPr wrap="square" lIns="0" tIns="0" rIns="0" bIns="0" rtlCol="0" anchor="ctr"/>
          <a:lstStyle/>
          <a:p>
            <a:pPr indent="0" marL="0">
              <a:buNone/>
            </a:pPr>
            <a:r>
              <a:rPr lang="en-US" sz="2200" b="1" dirty="0">
                <a:solidFill>
                  <a:srgbClr val="2B2523"/>
                </a:solidFill>
                <a:latin typeface="Cambria" pitchFamily="34" charset="0"/>
                <a:ea typeface="Cambria" pitchFamily="34" charset="-122"/>
                <a:cs typeface="Cambria" pitchFamily="34" charset="-120"/>
              </a:rPr>
              <a:t>1.40  -&gt;  5.66 reports</a:t>
            </a:r>
            <a:endParaRPr lang="en-US" sz="2200" dirty="0"/>
          </a:p>
        </p:txBody>
      </p:sp>
      <p:sp>
        <p:nvSpPr>
          <p:cNvPr id="7" name="Text 5"/>
          <p:cNvSpPr/>
          <p:nvPr/>
        </p:nvSpPr>
        <p:spPr>
          <a:xfrm>
            <a:off x="804672" y="2651760"/>
            <a:ext cx="5029200" cy="164592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Reporting rises in a close to straight line from the least-conflict group to the most-conflict group, across all five groups.</a:t>
            </a:r>
            <a:endParaRPr lang="en-US" sz="1150" dirty="0"/>
          </a:p>
        </p:txBody>
      </p:sp>
      <p:sp>
        <p:nvSpPr>
          <p:cNvPr id="8" name="Shape 6"/>
          <p:cNvSpPr/>
          <p:nvPr/>
        </p:nvSpPr>
        <p:spPr>
          <a:xfrm>
            <a:off x="6309360" y="1554480"/>
            <a:ext cx="5285232" cy="3108960"/>
          </a:xfrm>
          <a:prstGeom prst="roundRect">
            <a:avLst>
              <a:gd name="adj" fmla="val 1765"/>
            </a:avLst>
          </a:prstGeom>
          <a:solidFill>
            <a:srgbClr val="2B2523"/>
          </a:solidFill>
          <a:ln/>
          <a:effectLst>
            <a:outerShdw sx="100000" sy="100000" kx="0" ky="0" algn="bl" rotWithShape="0" blurRad="76200" dist="381" dir="5400000">
              <a:srgbClr val="000000">
                <a:alpha val="8000"/>
              </a:srgbClr>
            </a:outerShdw>
          </a:effectLst>
        </p:spPr>
      </p:sp>
      <p:sp>
        <p:nvSpPr>
          <p:cNvPr id="9" name="Text 7"/>
          <p:cNvSpPr/>
          <p:nvPr/>
        </p:nvSpPr>
        <p:spPr>
          <a:xfrm>
            <a:off x="6547104" y="1700784"/>
            <a:ext cx="475488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Climate-stress quintiles</a:t>
            </a:r>
            <a:endParaRPr lang="en-US" sz="1350" dirty="0"/>
          </a:p>
        </p:txBody>
      </p:sp>
      <p:sp>
        <p:nvSpPr>
          <p:cNvPr id="10" name="Text 8"/>
          <p:cNvSpPr/>
          <p:nvPr/>
        </p:nvSpPr>
        <p:spPr>
          <a:xfrm>
            <a:off x="6547104" y="201168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No steady rise</a:t>
            </a:r>
            <a:endParaRPr lang="en-US" sz="2200" dirty="0"/>
          </a:p>
        </p:txBody>
      </p:sp>
      <p:sp>
        <p:nvSpPr>
          <p:cNvPr id="11" name="Text 9"/>
          <p:cNvSpPr/>
          <p:nvPr/>
        </p:nvSpPr>
        <p:spPr>
          <a:xfrm>
            <a:off x="6547104" y="2651760"/>
            <a:ext cx="4754880" cy="164592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The worst-stress group sits a little higher than the middle groups (4.01 vs ~2.0), but there is no climbing pattern the way conflict shows.</a:t>
            </a:r>
            <a:endParaRPr lang="en-US" sz="1150" dirty="0"/>
          </a:p>
        </p:txBody>
      </p:sp>
      <p:sp>
        <p:nvSpPr>
          <p:cNvPr id="12" name="Text 10"/>
          <p:cNvSpPr/>
          <p:nvPr/>
        </p:nvSpPr>
        <p:spPr>
          <a:xfrm>
            <a:off x="566928" y="4846320"/>
            <a:ext cx="11027664" cy="548640"/>
          </a:xfrm>
          <a:prstGeom prst="rect">
            <a:avLst/>
          </a:prstGeom>
          <a:noFill/>
          <a:ln/>
        </p:spPr>
        <p:txBody>
          <a:bodyPr wrap="square" lIns="0" tIns="0" rIns="0" bIns="0" rtlCol="0" anchor="ctr"/>
          <a:lstStyle/>
          <a:p>
            <a:pPr indent="0" marL="0">
              <a:lnSpc>
                <a:spcPts val="1600"/>
              </a:lnSpc>
              <a:buNone/>
            </a:pPr>
            <a:r>
              <a:rPr lang="en-US" sz="1200" i="1" dirty="0">
                <a:solidFill>
                  <a:srgbClr val="2B2523"/>
                </a:solidFill>
                <a:latin typeface="Calibri" pitchFamily="34" charset="0"/>
                <a:ea typeface="Calibri" pitchFamily="34" charset="-122"/>
                <a:cs typeface="Calibri" pitchFamily="34" charset="-120"/>
              </a:rPr>
              <a:t>Together, the threshold and continuous checks agree: reporting responds clearly and continuously to conflict, and shows no reliable, independent response to climate stress.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Three further checks, and what remains open</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Beyond what was strictly asked for, kept for completeness</a:t>
            </a:r>
            <a:endParaRPr lang="en-US" sz="1250" dirty="0"/>
          </a:p>
        </p:txBody>
      </p:sp>
      <p:sp>
        <p:nvSpPr>
          <p:cNvPr id="4" name="Shape 2"/>
          <p:cNvSpPr/>
          <p:nvPr/>
        </p:nvSpPr>
        <p:spPr>
          <a:xfrm>
            <a:off x="566928" y="1554480"/>
            <a:ext cx="11027664" cy="1225296"/>
          </a:xfrm>
          <a:prstGeom prst="roundRect">
            <a:avLst>
              <a:gd name="adj" fmla="val 447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682496"/>
            <a:ext cx="3749040" cy="45720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Food and nutrition reports only</a:t>
            </a:r>
            <a:endParaRPr lang="en-US" sz="1250" dirty="0"/>
          </a:p>
        </p:txBody>
      </p:sp>
      <p:sp>
        <p:nvSpPr>
          <p:cNvPr id="6" name="Text 4"/>
          <p:cNvSpPr/>
          <p:nvPr/>
        </p:nvSpPr>
        <p:spPr>
          <a:xfrm>
            <a:off x="4846320" y="1682496"/>
            <a:ext cx="2286000" cy="914400"/>
          </a:xfrm>
          <a:prstGeom prst="rect">
            <a:avLst/>
          </a:prstGeom>
          <a:noFill/>
          <a:ln/>
        </p:spPr>
        <p:txBody>
          <a:bodyPr wrap="square" lIns="0" tIns="0" rIns="0" bIns="0" rtlCol="0" anchor="ctr"/>
          <a:lstStyle/>
          <a:p>
            <a:pPr indent="0" marL="0">
              <a:lnSpc>
                <a:spcPts val="1500"/>
              </a:lnSpc>
              <a:buNone/>
            </a:pPr>
            <a:r>
              <a:rPr lang="en-US" sz="1250" b="1" dirty="0">
                <a:solidFill>
                  <a:srgbClr val="B85042"/>
                </a:solidFill>
                <a:latin typeface="Cambria" pitchFamily="34" charset="0"/>
                <a:ea typeface="Cambria" pitchFamily="34" charset="-122"/>
                <a:cs typeface="Cambria" pitchFamily="34" charset="-120"/>
              </a:rPr>
              <a:t>3.21 vs 2.09 reports (p = 0.016)</a:t>
            </a:r>
            <a:endParaRPr lang="en-US" sz="1250" dirty="0"/>
          </a:p>
        </p:txBody>
      </p:sp>
      <p:sp>
        <p:nvSpPr>
          <p:cNvPr id="7" name="Text 5"/>
          <p:cNvSpPr/>
          <p:nvPr/>
        </p:nvSpPr>
        <p:spPr>
          <a:xfrm>
            <a:off x="7315200" y="1664208"/>
            <a:ext cx="4005072" cy="100584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Same direction, but weaker. Food/nutrition-specific reporting still favours conflict, just less strongly than reporting overall.</a:t>
            </a:r>
            <a:endParaRPr lang="en-US" sz="1000" dirty="0"/>
          </a:p>
        </p:txBody>
      </p:sp>
      <p:sp>
        <p:nvSpPr>
          <p:cNvPr id="8" name="Shape 6"/>
          <p:cNvSpPr/>
          <p:nvPr/>
        </p:nvSpPr>
        <p:spPr>
          <a:xfrm>
            <a:off x="566928" y="2907792"/>
            <a:ext cx="11027664" cy="1225296"/>
          </a:xfrm>
          <a:prstGeom prst="roundRect">
            <a:avLst>
              <a:gd name="adj" fmla="val 4478"/>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804672" y="3035808"/>
            <a:ext cx="3749040" cy="45720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Is climate stress just reported late?</a:t>
            </a:r>
            <a:endParaRPr lang="en-US" sz="1250" dirty="0"/>
          </a:p>
        </p:txBody>
      </p:sp>
      <p:sp>
        <p:nvSpPr>
          <p:cNvPr id="10" name="Text 8"/>
          <p:cNvSpPr/>
          <p:nvPr/>
        </p:nvSpPr>
        <p:spPr>
          <a:xfrm>
            <a:off x="4846320" y="3035808"/>
            <a:ext cx="2286000" cy="914400"/>
          </a:xfrm>
          <a:prstGeom prst="rect">
            <a:avLst/>
          </a:prstGeom>
          <a:noFill/>
          <a:ln/>
        </p:spPr>
        <p:txBody>
          <a:bodyPr wrap="square" lIns="0" tIns="0" rIns="0" bIns="0" rtlCol="0" anchor="ctr"/>
          <a:lstStyle/>
          <a:p>
            <a:pPr indent="0" marL="0">
              <a:lnSpc>
                <a:spcPts val="1500"/>
              </a:lnSpc>
              <a:buNone/>
            </a:pPr>
            <a:r>
              <a:rPr lang="en-US" sz="1250" b="1" dirty="0">
                <a:solidFill>
                  <a:srgbClr val="B85042"/>
                </a:solidFill>
                <a:latin typeface="Cambria" pitchFamily="34" charset="0"/>
                <a:ea typeface="Cambria" pitchFamily="34" charset="-122"/>
                <a:cs typeface="Cambria" pitchFamily="34" charset="-120"/>
              </a:rPr>
              <a:t>17.47 vs 6.82 reports (p = 0.0001)</a:t>
            </a:r>
            <a:endParaRPr lang="en-US" sz="1250" dirty="0"/>
          </a:p>
        </p:txBody>
      </p:sp>
      <p:sp>
        <p:nvSpPr>
          <p:cNvPr id="11" name="Text 9"/>
          <p:cNvSpPr/>
          <p:nvPr/>
        </p:nvSpPr>
        <p:spPr>
          <a:xfrm>
            <a:off x="7315200" y="3017520"/>
            <a:ext cx="4005072" cy="100584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No. The gap does not shrink over the three months after an extreme month; if anything it widens slightly. Climate stress is not "noticed late", it attracts less attention throughout.</a:t>
            </a:r>
            <a:endParaRPr lang="en-US" sz="1000" dirty="0"/>
          </a:p>
        </p:txBody>
      </p:sp>
      <p:sp>
        <p:nvSpPr>
          <p:cNvPr id="12" name="Shape 10"/>
          <p:cNvSpPr/>
          <p:nvPr/>
        </p:nvSpPr>
        <p:spPr>
          <a:xfrm>
            <a:off x="566928" y="4261104"/>
            <a:ext cx="11027664" cy="1225296"/>
          </a:xfrm>
          <a:prstGeom prst="roundRect">
            <a:avLst>
              <a:gd name="adj" fmla="val 4478"/>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804672" y="4389120"/>
            <a:ext cx="3749040" cy="45720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Checked at the district level</a:t>
            </a:r>
            <a:endParaRPr lang="en-US" sz="1250" dirty="0"/>
          </a:p>
        </p:txBody>
      </p:sp>
      <p:sp>
        <p:nvSpPr>
          <p:cNvPr id="14" name="Text 12"/>
          <p:cNvSpPr/>
          <p:nvPr/>
        </p:nvSpPr>
        <p:spPr>
          <a:xfrm>
            <a:off x="4846320" y="4389120"/>
            <a:ext cx="2286000" cy="914400"/>
          </a:xfrm>
          <a:prstGeom prst="rect">
            <a:avLst/>
          </a:prstGeom>
          <a:noFill/>
          <a:ln/>
        </p:spPr>
        <p:txBody>
          <a:bodyPr wrap="square" lIns="0" tIns="0" rIns="0" bIns="0" rtlCol="0" anchor="ctr"/>
          <a:lstStyle/>
          <a:p>
            <a:pPr indent="0" marL="0">
              <a:lnSpc>
                <a:spcPts val="1500"/>
              </a:lnSpc>
              <a:buNone/>
            </a:pPr>
            <a:r>
              <a:rPr lang="en-US" sz="1250" b="1" dirty="0">
                <a:solidFill>
                  <a:srgbClr val="B85042"/>
                </a:solidFill>
                <a:latin typeface="Cambria" pitchFamily="34" charset="0"/>
                <a:ea typeface="Cambria" pitchFamily="34" charset="-122"/>
                <a:cs typeface="Cambria" pitchFamily="34" charset="-120"/>
              </a:rPr>
              <a:t>p = 0.000064 -&gt; p = 0.0067</a:t>
            </a:r>
            <a:endParaRPr lang="en-US" sz="1250" dirty="0"/>
          </a:p>
        </p:txBody>
      </p:sp>
      <p:sp>
        <p:nvSpPr>
          <p:cNvPr id="15" name="Text 13"/>
          <p:cNvSpPr/>
          <p:nvPr/>
        </p:nvSpPr>
        <p:spPr>
          <a:xfrm>
            <a:off x="7315200" y="4370832"/>
            <a:ext cx="4005072" cy="100584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Survives, but weaker. The extreme-conflict group leans on far fewer distinct districts (18) than the extreme-climate group (41), so the effective sample size is smaller than the naive test implied.</a:t>
            </a:r>
            <a:endParaRPr lang="en-US" sz="1000" dirty="0"/>
          </a:p>
        </p:txBody>
      </p:sp>
      <p:sp>
        <p:nvSpPr>
          <p:cNvPr id="16" name="Shape 14"/>
          <p:cNvSpPr/>
          <p:nvPr/>
        </p:nvSpPr>
        <p:spPr>
          <a:xfrm>
            <a:off x="566928" y="5632704"/>
            <a:ext cx="11027664" cy="786384"/>
          </a:xfrm>
          <a:prstGeom prst="roundRect">
            <a:avLst>
              <a:gd name="adj" fmla="val 6977"/>
            </a:avLst>
          </a:prstGeom>
          <a:solidFill>
            <a:srgbClr val="E7E8D1"/>
          </a:solidFill>
          <a:ln/>
          <a:effectLst>
            <a:outerShdw sx="100000" sy="100000" kx="0" ky="0" algn="bl" rotWithShape="0" blurRad="76200" dist="381" dir="5400000">
              <a:srgbClr val="000000">
                <a:alpha val="8000"/>
              </a:srgbClr>
            </a:outerShdw>
          </a:effectLst>
        </p:spPr>
      </p:sp>
      <p:sp>
        <p:nvSpPr>
          <p:cNvPr id="17" name="Text 15"/>
          <p:cNvSpPr/>
          <p:nvPr/>
        </p:nvSpPr>
        <p:spPr>
          <a:xfrm>
            <a:off x="841248" y="5742432"/>
            <a:ext cx="10479024" cy="585216"/>
          </a:xfrm>
          <a:prstGeom prst="rect">
            <a:avLst/>
          </a:prstGeom>
          <a:noFill/>
          <a:ln/>
        </p:spPr>
        <p:txBody>
          <a:bodyPr wrap="square" lIns="0" tIns="0" rIns="0" bIns="0" rtlCol="0" anchor="ctr"/>
          <a:lstStyle/>
          <a:p>
            <a:pPr indent="0" marL="0">
              <a:lnSpc>
                <a:spcPts val="1400"/>
              </a:lnSpc>
              <a:buNone/>
            </a:pPr>
            <a:r>
              <a:rPr lang="en-US" sz="1050" i="1" dirty="0">
                <a:solidFill>
                  <a:srgbClr val="2B2523"/>
                </a:solidFill>
                <a:latin typeface="Calibri" pitchFamily="34" charset="0"/>
                <a:ea typeface="Calibri" pitchFamily="34" charset="-122"/>
                <a:cs typeface="Calibri" pitchFamily="34" charset="-120"/>
              </a:rPr>
              <a:t>What's left open: "extreme" is defined relative to Somalia's own 2024 data, not an outside measure of human impact. This result says how the reporting system responds to different kinds of signal, not that the underlying suffering in the two groups was ever equal.</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Measuring source complementarity</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How many of the four mechanisms cover each district-month?</a:t>
            </a:r>
            <a:endParaRPr lang="en-US" sz="1250" dirty="0"/>
          </a:p>
        </p:txBody>
      </p:sp>
      <p:sp>
        <p:nvSpPr>
          <p:cNvPr id="4" name="Shape 2"/>
          <p:cNvSpPr/>
          <p:nvPr/>
        </p:nvSpPr>
        <p:spPr>
          <a:xfrm>
            <a:off x="566928" y="1554480"/>
            <a:ext cx="11027664" cy="1371600"/>
          </a:xfrm>
          <a:prstGeom prst="roundRect">
            <a:avLst>
              <a:gd name="adj" fmla="val 4000"/>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10479024" cy="1097280"/>
          </a:xfrm>
          <a:prstGeom prst="rect">
            <a:avLst/>
          </a:prstGeom>
          <a:noFill/>
          <a:ln/>
        </p:spPr>
        <p:txBody>
          <a:bodyPr wrap="square" lIns="0" tIns="0" rIns="0" bIns="0" rtlCol="0" anchor="ctr"/>
          <a:lstStyle/>
          <a:p>
            <a:pPr indent="0" marL="0">
              <a:lnSpc>
                <a:spcPts val="1700"/>
              </a:lnSpc>
              <a:buNone/>
            </a:pPr>
            <a:r>
              <a:rPr lang="en-US" sz="1250" dirty="0">
                <a:solidFill>
                  <a:srgbClr val="E7E8D1"/>
                </a:solidFill>
                <a:latin typeface="Calibri" pitchFamily="34" charset="0"/>
                <a:ea typeface="Calibri" pitchFamily="34" charset="-122"/>
                <a:cs typeface="Calibri" pitchFamily="34" charset="-120"/>
              </a:rPr>
              <a:t>Conflict and climate are recorded everywhere by construction (zero-filled events, satellite has no gaps). So every district-month starts with a floor of 2 of 4. All the real variation comes from market and reporting.</a:t>
            </a:r>
            <a:endParaRPr lang="en-US" sz="1250" dirty="0"/>
          </a:p>
        </p:txBody>
      </p:sp>
      <p:sp>
        <p:nvSpPr>
          <p:cNvPr id="6" name="Shape 4"/>
          <p:cNvSpPr/>
          <p:nvPr/>
        </p:nvSpPr>
        <p:spPr>
          <a:xfrm>
            <a:off x="566928" y="3200400"/>
            <a:ext cx="3553968" cy="1737360"/>
          </a:xfrm>
          <a:prstGeom prst="roundRect">
            <a:avLst>
              <a:gd name="adj" fmla="val 3158"/>
            </a:avLst>
          </a:prstGeom>
          <a:solidFill>
            <a:srgbClr val="E7E8D1"/>
          </a:solidFill>
          <a:ln/>
          <a:effectLst>
            <a:outerShdw sx="100000" sy="100000" kx="0" ky="0" algn="bl" rotWithShape="0" blurRad="76200" dist="381" dir="5400000">
              <a:srgbClr val="000000">
                <a:alpha val="8000"/>
              </a:srgbClr>
            </a:outerShdw>
          </a:effectLst>
        </p:spPr>
      </p:sp>
      <p:sp>
        <p:nvSpPr>
          <p:cNvPr id="7" name="Text 5"/>
          <p:cNvSpPr/>
          <p:nvPr/>
        </p:nvSpPr>
        <p:spPr>
          <a:xfrm>
            <a:off x="566928"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31.0%</a:t>
            </a:r>
            <a:endParaRPr lang="en-US" sz="3000" dirty="0"/>
          </a:p>
        </p:txBody>
      </p:sp>
      <p:sp>
        <p:nvSpPr>
          <p:cNvPr id="8" name="Text 6"/>
          <p:cNvSpPr/>
          <p:nvPr/>
        </p:nvSpPr>
        <p:spPr>
          <a:xfrm>
            <a:off x="566928"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2 of 4 mechanisms observed</a:t>
            </a:r>
            <a:endParaRPr lang="en-US" sz="1100" dirty="0"/>
          </a:p>
        </p:txBody>
      </p:sp>
      <p:sp>
        <p:nvSpPr>
          <p:cNvPr id="9" name="Shape 7"/>
          <p:cNvSpPr/>
          <p:nvPr/>
        </p:nvSpPr>
        <p:spPr>
          <a:xfrm>
            <a:off x="4303776" y="3200400"/>
            <a:ext cx="3553968" cy="1737360"/>
          </a:xfrm>
          <a:prstGeom prst="roundRect">
            <a:avLst>
              <a:gd name="adj" fmla="val 3158"/>
            </a:avLst>
          </a:prstGeom>
          <a:solidFill>
            <a:srgbClr val="A7BEAE"/>
          </a:solidFill>
          <a:ln/>
          <a:effectLst>
            <a:outerShdw sx="100000" sy="100000" kx="0" ky="0" algn="bl" rotWithShape="0" blurRad="76200" dist="381" dir="5400000">
              <a:srgbClr val="000000">
                <a:alpha val="8000"/>
              </a:srgbClr>
            </a:outerShdw>
          </a:effectLst>
        </p:spPr>
      </p:sp>
      <p:sp>
        <p:nvSpPr>
          <p:cNvPr id="10" name="Text 8"/>
          <p:cNvSpPr/>
          <p:nvPr/>
        </p:nvSpPr>
        <p:spPr>
          <a:xfrm>
            <a:off x="4303776"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34.8%</a:t>
            </a:r>
            <a:endParaRPr lang="en-US" sz="3000" dirty="0"/>
          </a:p>
        </p:txBody>
      </p:sp>
      <p:sp>
        <p:nvSpPr>
          <p:cNvPr id="11" name="Text 9"/>
          <p:cNvSpPr/>
          <p:nvPr/>
        </p:nvSpPr>
        <p:spPr>
          <a:xfrm>
            <a:off x="4303776"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3 of 4 mechanisms observed</a:t>
            </a:r>
            <a:endParaRPr lang="en-US" sz="1100" dirty="0"/>
          </a:p>
        </p:txBody>
      </p:sp>
      <p:sp>
        <p:nvSpPr>
          <p:cNvPr id="12" name="Shape 10"/>
          <p:cNvSpPr/>
          <p:nvPr/>
        </p:nvSpPr>
        <p:spPr>
          <a:xfrm>
            <a:off x="8040624" y="3200400"/>
            <a:ext cx="3553968" cy="1737360"/>
          </a:xfrm>
          <a:prstGeom prst="roundRect">
            <a:avLst>
              <a:gd name="adj" fmla="val 3158"/>
            </a:avLst>
          </a:prstGeom>
          <a:solidFill>
            <a:srgbClr val="B85042"/>
          </a:solidFill>
          <a:ln/>
          <a:effectLst>
            <a:outerShdw sx="100000" sy="100000" kx="0" ky="0" algn="bl" rotWithShape="0" blurRad="76200" dist="381" dir="5400000">
              <a:srgbClr val="000000">
                <a:alpha val="8000"/>
              </a:srgbClr>
            </a:outerShdw>
          </a:effectLst>
        </p:spPr>
      </p:sp>
      <p:sp>
        <p:nvSpPr>
          <p:cNvPr id="13" name="Text 11"/>
          <p:cNvSpPr/>
          <p:nvPr/>
        </p:nvSpPr>
        <p:spPr>
          <a:xfrm>
            <a:off x="8040624"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34.2%</a:t>
            </a:r>
            <a:endParaRPr lang="en-US" sz="3000" dirty="0"/>
          </a:p>
        </p:txBody>
      </p:sp>
      <p:sp>
        <p:nvSpPr>
          <p:cNvPr id="14" name="Text 12"/>
          <p:cNvSpPr/>
          <p:nvPr/>
        </p:nvSpPr>
        <p:spPr>
          <a:xfrm>
            <a:off x="8040624"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4 of 4 mechanisms observed</a:t>
            </a:r>
            <a:endParaRPr lang="en-US" sz="1100" dirty="0"/>
          </a:p>
        </p:txBody>
      </p:sp>
      <p:sp>
        <p:nvSpPr>
          <p:cNvPr id="15" name="Text 13"/>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31.0% of district-months (275) sit at the floor of 2. 34.8% (309) reach 3. 34.2% (304) reach all 4. No district-month is ever observed by 0 or 1 mechanism.</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Do market and reporting overlap, or add different things?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Genuinely complementary, not redundant</a:t>
            </a:r>
            <a:endParaRPr lang="en-US" sz="1250" dirty="0"/>
          </a:p>
        </p:txBody>
      </p:sp>
      <p:sp>
        <p:nvSpPr>
          <p:cNvPr id="4" name="Shape 2"/>
          <p:cNvSpPr/>
          <p:nvPr/>
        </p:nvSpPr>
        <p:spPr>
          <a:xfrm>
            <a:off x="566928" y="1554480"/>
            <a:ext cx="11027664"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Both market and reporting observed</a:t>
            </a:r>
            <a:endParaRPr lang="en-US" sz="1150" dirty="0"/>
          </a:p>
        </p:txBody>
      </p:sp>
      <p:sp>
        <p:nvSpPr>
          <p:cNvPr id="6" name="Text 4"/>
          <p:cNvSpPr/>
          <p:nvPr/>
        </p:nvSpPr>
        <p:spPr>
          <a:xfrm>
            <a:off x="7589520" y="1700784"/>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304</a:t>
            </a:r>
            <a:endParaRPr lang="en-US" sz="1300" dirty="0"/>
          </a:p>
        </p:txBody>
      </p:sp>
      <p:sp>
        <p:nvSpPr>
          <p:cNvPr id="7" name="Text 5"/>
          <p:cNvSpPr/>
          <p:nvPr/>
        </p:nvSpPr>
        <p:spPr>
          <a:xfrm>
            <a:off x="9052560" y="1700784"/>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34.2%</a:t>
            </a:r>
            <a:endParaRPr lang="en-US" sz="1150" dirty="0"/>
          </a:p>
        </p:txBody>
      </p:sp>
      <p:sp>
        <p:nvSpPr>
          <p:cNvPr id="8" name="Text 6"/>
          <p:cNvSpPr/>
          <p:nvPr/>
        </p:nvSpPr>
        <p:spPr>
          <a:xfrm>
            <a:off x="841248" y="2084832"/>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Market only (reporting silent that month)</a:t>
            </a:r>
            <a:endParaRPr lang="en-US" sz="1150" dirty="0"/>
          </a:p>
        </p:txBody>
      </p:sp>
      <p:sp>
        <p:nvSpPr>
          <p:cNvPr id="9" name="Text 7"/>
          <p:cNvSpPr/>
          <p:nvPr/>
        </p:nvSpPr>
        <p:spPr>
          <a:xfrm>
            <a:off x="7589520" y="2084832"/>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79</a:t>
            </a:r>
            <a:endParaRPr lang="en-US" sz="1300" dirty="0"/>
          </a:p>
        </p:txBody>
      </p:sp>
      <p:sp>
        <p:nvSpPr>
          <p:cNvPr id="10" name="Text 8"/>
          <p:cNvSpPr/>
          <p:nvPr/>
        </p:nvSpPr>
        <p:spPr>
          <a:xfrm>
            <a:off x="9052560" y="2084832"/>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8.9%</a:t>
            </a:r>
            <a:endParaRPr lang="en-US" sz="1150" dirty="0"/>
          </a:p>
        </p:txBody>
      </p:sp>
      <p:sp>
        <p:nvSpPr>
          <p:cNvPr id="11" name="Text 9"/>
          <p:cNvSpPr/>
          <p:nvPr/>
        </p:nvSpPr>
        <p:spPr>
          <a:xfrm>
            <a:off x="841248" y="2468880"/>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Reporting only (market silent that month)</a:t>
            </a:r>
            <a:endParaRPr lang="en-US" sz="1150" dirty="0"/>
          </a:p>
        </p:txBody>
      </p:sp>
      <p:sp>
        <p:nvSpPr>
          <p:cNvPr id="12" name="Text 10"/>
          <p:cNvSpPr/>
          <p:nvPr/>
        </p:nvSpPr>
        <p:spPr>
          <a:xfrm>
            <a:off x="7589520" y="2468880"/>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230</a:t>
            </a:r>
            <a:endParaRPr lang="en-US" sz="1300" dirty="0"/>
          </a:p>
        </p:txBody>
      </p:sp>
      <p:sp>
        <p:nvSpPr>
          <p:cNvPr id="13" name="Text 11"/>
          <p:cNvSpPr/>
          <p:nvPr/>
        </p:nvSpPr>
        <p:spPr>
          <a:xfrm>
            <a:off x="9052560" y="2468880"/>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25.9%</a:t>
            </a:r>
            <a:endParaRPr lang="en-US" sz="1150" dirty="0"/>
          </a:p>
        </p:txBody>
      </p:sp>
      <p:sp>
        <p:nvSpPr>
          <p:cNvPr id="14" name="Text 12"/>
          <p:cNvSpPr/>
          <p:nvPr/>
        </p:nvSpPr>
        <p:spPr>
          <a:xfrm>
            <a:off x="841248" y="2852928"/>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Neither observed</a:t>
            </a:r>
            <a:endParaRPr lang="en-US" sz="1150" dirty="0"/>
          </a:p>
        </p:txBody>
      </p:sp>
      <p:sp>
        <p:nvSpPr>
          <p:cNvPr id="15" name="Text 13"/>
          <p:cNvSpPr/>
          <p:nvPr/>
        </p:nvSpPr>
        <p:spPr>
          <a:xfrm>
            <a:off x="7589520" y="2852928"/>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275</a:t>
            </a:r>
            <a:endParaRPr lang="en-US" sz="1300" dirty="0"/>
          </a:p>
        </p:txBody>
      </p:sp>
      <p:sp>
        <p:nvSpPr>
          <p:cNvPr id="16" name="Text 14"/>
          <p:cNvSpPr/>
          <p:nvPr/>
        </p:nvSpPr>
        <p:spPr>
          <a:xfrm>
            <a:off x="9052560" y="2852928"/>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31.0%</a:t>
            </a:r>
            <a:endParaRPr lang="en-US" sz="1150" dirty="0"/>
          </a:p>
        </p:txBody>
      </p:sp>
      <p:sp>
        <p:nvSpPr>
          <p:cNvPr id="17" name="Shape 15"/>
          <p:cNvSpPr/>
          <p:nvPr/>
        </p:nvSpPr>
        <p:spPr>
          <a:xfrm>
            <a:off x="566928" y="3474720"/>
            <a:ext cx="11027664" cy="1371600"/>
          </a:xfrm>
          <a:prstGeom prst="roundRect">
            <a:avLst>
              <a:gd name="adj" fmla="val 4000"/>
            </a:avLst>
          </a:prstGeom>
          <a:solidFill>
            <a:srgbClr val="2B2523"/>
          </a:solidFill>
          <a:ln/>
          <a:effectLst>
            <a:outerShdw sx="100000" sy="100000" kx="0" ky="0" algn="bl" rotWithShape="0" blurRad="76200" dist="381" dir="5400000">
              <a:srgbClr val="000000">
                <a:alpha val="8000"/>
              </a:srgbClr>
            </a:outerShdw>
          </a:effectLst>
        </p:spPr>
      </p:sp>
      <p:sp>
        <p:nvSpPr>
          <p:cNvPr id="18" name="Text 16"/>
          <p:cNvSpPr/>
          <p:nvPr/>
        </p:nvSpPr>
        <p:spPr>
          <a:xfrm>
            <a:off x="841248" y="3602736"/>
            <a:ext cx="10479024" cy="274320"/>
          </a:xfrm>
          <a:prstGeom prst="rect">
            <a:avLst/>
          </a:prstGeom>
          <a:noFill/>
          <a:ln/>
        </p:spPr>
        <p:txBody>
          <a:bodyPr wrap="square" lIns="0" tIns="0" rIns="0" bIns="0" rtlCol="0" anchor="ctr"/>
          <a:lstStyle/>
          <a:p>
            <a:pPr indent="0" marL="0">
              <a:buNone/>
            </a:pPr>
            <a:r>
              <a:rPr lang="en-US" sz="1300" b="1" dirty="0">
                <a:solidFill>
                  <a:srgbClr val="A7BEAE"/>
                </a:solidFill>
                <a:latin typeface="Cambria" pitchFamily="34" charset="0"/>
                <a:ea typeface="Cambria" pitchFamily="34" charset="-122"/>
                <a:cs typeface="Cambria" pitchFamily="34" charset="-120"/>
              </a:rPr>
              <a:t>Each source's own unique contribution</a:t>
            </a:r>
            <a:endParaRPr lang="en-US" sz="1300" dirty="0"/>
          </a:p>
        </p:txBody>
      </p:sp>
      <p:sp>
        <p:nvSpPr>
          <p:cNvPr id="19" name="Text 17"/>
          <p:cNvSpPr/>
          <p:nvPr/>
        </p:nvSpPr>
        <p:spPr>
          <a:xfrm>
            <a:off x="841248" y="3913632"/>
            <a:ext cx="5239512"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20.6%</a:t>
            </a:r>
            <a:endParaRPr lang="en-US" sz="2600" dirty="0"/>
          </a:p>
        </p:txBody>
      </p:sp>
      <p:sp>
        <p:nvSpPr>
          <p:cNvPr id="20" name="Text 18"/>
          <p:cNvSpPr/>
          <p:nvPr/>
        </p:nvSpPr>
        <p:spPr>
          <a:xfrm>
            <a:off x="841248" y="4462272"/>
            <a:ext cx="5239512"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of market's 383 covered district-months,</a:t>
            </a:r>
            <a:endParaRPr lang="en-US" sz="950" dirty="0"/>
          </a:p>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reporting would have missed on its own</a:t>
            </a:r>
            <a:endParaRPr lang="en-US" sz="950" dirty="0"/>
          </a:p>
        </p:txBody>
      </p:sp>
      <p:sp>
        <p:nvSpPr>
          <p:cNvPr id="21" name="Text 19"/>
          <p:cNvSpPr/>
          <p:nvPr/>
        </p:nvSpPr>
        <p:spPr>
          <a:xfrm>
            <a:off x="6080760" y="3913632"/>
            <a:ext cx="5239512" cy="566928"/>
          </a:xfrm>
          <a:prstGeom prst="rect">
            <a:avLst/>
          </a:prstGeom>
          <a:noFill/>
          <a:ln/>
        </p:spPr>
        <p:txBody>
          <a:bodyPr wrap="square" lIns="0" tIns="0" rIns="0" bIns="0" rtlCol="0" anchor="ctr"/>
          <a:lstStyle/>
          <a:p>
            <a:pPr algn="ctr" indent="0" marL="0">
              <a:buNone/>
            </a:pPr>
            <a:r>
              <a:rPr lang="en-US" sz="2600" b="1" dirty="0">
                <a:solidFill>
                  <a:srgbClr val="E7E8D1"/>
                </a:solidFill>
                <a:latin typeface="Cambria" pitchFamily="34" charset="0"/>
                <a:ea typeface="Cambria" pitchFamily="34" charset="-122"/>
                <a:cs typeface="Cambria" pitchFamily="34" charset="-120"/>
              </a:rPr>
              <a:t>43.1%</a:t>
            </a:r>
            <a:endParaRPr lang="en-US" sz="2600" dirty="0"/>
          </a:p>
        </p:txBody>
      </p:sp>
      <p:sp>
        <p:nvSpPr>
          <p:cNvPr id="22" name="Text 20"/>
          <p:cNvSpPr/>
          <p:nvPr/>
        </p:nvSpPr>
        <p:spPr>
          <a:xfrm>
            <a:off x="6080760" y="4462272"/>
            <a:ext cx="5239512"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of reporting's 534 covered district-months,</a:t>
            </a:r>
            <a:endParaRPr lang="en-US" sz="950" dirty="0"/>
          </a:p>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market would have missed on its own</a:t>
            </a:r>
            <a:endParaRPr lang="en-US" sz="950" dirty="0"/>
          </a:p>
        </p:txBody>
      </p:sp>
      <p:sp>
        <p:nvSpPr>
          <p:cNvPr id="23" name="Text 21"/>
          <p:cNvSpPr/>
          <p:nvPr/>
        </p:nvSpPr>
        <p:spPr>
          <a:xfrm>
            <a:off x="566928" y="5029200"/>
            <a:ext cx="11027664" cy="640080"/>
          </a:xfrm>
          <a:prstGeom prst="rect">
            <a:avLst/>
          </a:prstGeom>
          <a:noFill/>
          <a:ln/>
        </p:spPr>
        <p:txBody>
          <a:bodyPr wrap="square" lIns="0" tIns="0" rIns="0" bIns="0" rtlCol="0" anchor="ctr"/>
          <a:lstStyle/>
          <a:p>
            <a:pPr indent="0" marL="0">
              <a:lnSpc>
                <a:spcPts val="1500"/>
              </a:lnSpc>
              <a:buNone/>
            </a:pPr>
            <a:r>
              <a:rPr lang="en-US" sz="1150" i="1" dirty="0">
                <a:solidFill>
                  <a:srgbClr val="2B2523"/>
                </a:solidFill>
                <a:latin typeface="Calibri" pitchFamily="34" charset="0"/>
                <a:ea typeface="Calibri" pitchFamily="34" charset="-122"/>
                <a:cs typeface="Calibri" pitchFamily="34" charset="-120"/>
              </a:rPr>
              <a:t>Reporting is the bigger and more independent contributor: it covers more district-months outright, and a much larger share of what it covers, market simply cannot reach (39 of 74 districts have no market at all).</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Does this hold at the district level too?</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Month to month vs. which districts appear in the dataset at all</a:t>
            </a:r>
            <a:endParaRPr lang="en-US" sz="1250" dirty="0"/>
          </a:p>
        </p:txBody>
      </p:sp>
      <p:sp>
        <p:nvSpPr>
          <p:cNvPr id="4" name="Shape 2"/>
          <p:cNvSpPr/>
          <p:nvPr/>
        </p:nvSpPr>
        <p:spPr>
          <a:xfrm>
            <a:off x="566928" y="1554480"/>
            <a:ext cx="5486400" cy="3108960"/>
          </a:xfrm>
          <a:prstGeom prst="roundRect">
            <a:avLst>
              <a:gd name="adj" fmla="val 1765"/>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700784"/>
            <a:ext cx="2194560"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MONTH TO MONTH: COMPLEMENTARY</a:t>
            </a:r>
            <a:endParaRPr lang="en-US" sz="950" dirty="0"/>
          </a:p>
        </p:txBody>
      </p:sp>
      <p:sp>
        <p:nvSpPr>
          <p:cNvPr id="6" name="Text 4"/>
          <p:cNvSpPr/>
          <p:nvPr/>
        </p:nvSpPr>
        <p:spPr>
          <a:xfrm>
            <a:off x="786384" y="2011680"/>
            <a:ext cx="5029200" cy="1097280"/>
          </a:xfrm>
          <a:prstGeom prst="rect">
            <a:avLst/>
          </a:prstGeom>
          <a:noFill/>
          <a:ln/>
        </p:spPr>
        <p:txBody>
          <a:bodyPr wrap="square" lIns="0" tIns="0" rIns="0" bIns="0" rtlCol="0" anchor="ctr"/>
          <a:lstStyle/>
          <a:p>
            <a:pPr indent="0" marL="0">
              <a:lnSpc>
                <a:spcPts val="1600"/>
              </a:lnSpc>
              <a:buNone/>
            </a:pPr>
            <a:r>
              <a:rPr lang="en-US" sz="1200" dirty="0">
                <a:solidFill>
                  <a:srgbClr val="7A6E68"/>
                </a:solidFill>
                <a:latin typeface="Calibri" pitchFamily="34" charset="0"/>
                <a:ea typeface="Calibri" pitchFamily="34" charset="-122"/>
                <a:cs typeface="Calibri" pitchFamily="34" charset="-120"/>
              </a:rPr>
              <a:t>Market fills in real gaps reporting leaves in an average month, and reporting fills in gaps market leaves. Each source genuinely widens what gets seen, beyond what the other alone would show.</a:t>
            </a:r>
            <a:endParaRPr lang="en-US" sz="1200" dirty="0"/>
          </a:p>
        </p:txBody>
      </p:sp>
      <p:sp>
        <p:nvSpPr>
          <p:cNvPr id="7" name="Shape 5"/>
          <p:cNvSpPr/>
          <p:nvPr/>
        </p:nvSpPr>
        <p:spPr>
          <a:xfrm>
            <a:off x="6309360" y="1554480"/>
            <a:ext cx="5285232" cy="3108960"/>
          </a:xfrm>
          <a:prstGeom prst="roundRect">
            <a:avLst>
              <a:gd name="adj" fmla="val 1765"/>
            </a:avLst>
          </a:prstGeom>
          <a:solidFill>
            <a:srgbClr val="2B2523"/>
          </a:solidFill>
          <a:ln/>
          <a:effectLst>
            <a:outerShdw sx="100000" sy="100000" kx="0" ky="0" algn="bl" rotWithShape="0" blurRad="76200" dist="381" dir="5400000">
              <a:srgbClr val="000000">
                <a:alpha val="8000"/>
              </a:srgbClr>
            </a:outerShdw>
          </a:effectLst>
        </p:spPr>
      </p:sp>
      <p:sp>
        <p:nvSpPr>
          <p:cNvPr id="8" name="Text 6"/>
          <p:cNvSpPr/>
          <p:nvPr/>
        </p:nvSpPr>
        <p:spPr>
          <a:xfrm>
            <a:off x="6547104" y="1700784"/>
            <a:ext cx="438912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WHICH DISTRICTS GET SEEN AT ALL: NOT COMPLEMENTARY</a:t>
            </a:r>
            <a:endParaRPr lang="en-US" sz="950" dirty="0"/>
          </a:p>
        </p:txBody>
      </p:sp>
      <p:sp>
        <p:nvSpPr>
          <p:cNvPr id="9" name="Text 7"/>
          <p:cNvSpPr/>
          <p:nvPr/>
        </p:nvSpPr>
        <p:spPr>
          <a:xfrm>
            <a:off x="6547104" y="2048256"/>
            <a:ext cx="475488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32 / 0 / 41</a:t>
            </a:r>
            <a:endParaRPr lang="en-US" sz="2400" dirty="0"/>
          </a:p>
        </p:txBody>
      </p:sp>
      <p:sp>
        <p:nvSpPr>
          <p:cNvPr id="10" name="Text 8"/>
          <p:cNvSpPr/>
          <p:nvPr/>
        </p:nvSpPr>
        <p:spPr>
          <a:xfrm>
            <a:off x="6547104" y="2688336"/>
            <a:ext cx="4754880" cy="146304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Districts reached by both, by market only, and by reporting only. Every district with a market is also reached by reporting. Reporting alone reaches 41 districts market never touches.</a:t>
            </a:r>
            <a:endParaRPr lang="en-US" sz="1150" dirty="0"/>
          </a:p>
        </p:txBody>
      </p:sp>
      <p:sp>
        <p:nvSpPr>
          <p:cNvPr id="11" name="Shape 9"/>
          <p:cNvSpPr/>
          <p:nvPr/>
        </p:nvSpPr>
        <p:spPr>
          <a:xfrm>
            <a:off x="566928" y="4846320"/>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12" name="Text 10"/>
          <p:cNvSpPr/>
          <p:nvPr/>
        </p:nvSpPr>
        <p:spPr>
          <a:xfrm>
            <a:off x="841248" y="4974336"/>
            <a:ext cx="10479024" cy="109728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Bottom line: combining sources is worth doing for the finer, month-level picture. For the coarser question of which districts exist in this dataset at all, reporting is carrying nearly the whole load on its own. SO_BANDER_BEYLA remains the one district neither source reaches, all year.</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Every feature now has an exact formula</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23 features across the four sources, documented in one place</a:t>
            </a:r>
            <a:endParaRPr lang="en-US" sz="1250" dirty="0"/>
          </a:p>
        </p:txBody>
      </p:sp>
      <p:sp>
        <p:nvSpPr>
          <p:cNvPr id="4" name="Shape 2"/>
          <p:cNvSpPr/>
          <p:nvPr/>
        </p:nvSpPr>
        <p:spPr>
          <a:xfrm>
            <a:off x="566928"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49808"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3</a:t>
            </a:r>
            <a:endParaRPr lang="en-US" sz="3000" dirty="0"/>
          </a:p>
        </p:txBody>
      </p:sp>
      <p:sp>
        <p:nvSpPr>
          <p:cNvPr id="6" name="Text 4"/>
          <p:cNvSpPr/>
          <p:nvPr/>
        </p:nvSpPr>
        <p:spPr>
          <a:xfrm>
            <a:off x="749808"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Conflict</a:t>
            </a:r>
            <a:endParaRPr lang="en-US" sz="1300" dirty="0"/>
          </a:p>
        </p:txBody>
      </p:sp>
      <p:sp>
        <p:nvSpPr>
          <p:cNvPr id="7" name="Text 5"/>
          <p:cNvSpPr/>
          <p:nvPr/>
        </p:nvSpPr>
        <p:spPr>
          <a:xfrm>
            <a:off x="749808"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Zero-filled event counts and fatalities, plus a log-difference trend</a:t>
            </a:r>
            <a:endParaRPr lang="en-US" sz="950" dirty="0"/>
          </a:p>
        </p:txBody>
      </p:sp>
      <p:sp>
        <p:nvSpPr>
          <p:cNvPr id="8" name="Shape 6"/>
          <p:cNvSpPr/>
          <p:nvPr/>
        </p:nvSpPr>
        <p:spPr>
          <a:xfrm>
            <a:off x="3369564"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3552444"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3552444"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Climate</a:t>
            </a:r>
            <a:endParaRPr lang="en-US" sz="1300" dirty="0"/>
          </a:p>
        </p:txBody>
      </p:sp>
      <p:sp>
        <p:nvSpPr>
          <p:cNvPr id="11" name="Text 9"/>
          <p:cNvSpPr/>
          <p:nvPr/>
        </p:nvSpPr>
        <p:spPr>
          <a:xfrm>
            <a:off x="3552444"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Monthly rainfall and a day-weighted average of the weekly vegetation index</a:t>
            </a:r>
            <a:endParaRPr lang="en-US" sz="950" dirty="0"/>
          </a:p>
        </p:txBody>
      </p:sp>
      <p:sp>
        <p:nvSpPr>
          <p:cNvPr id="12" name="Shape 10"/>
          <p:cNvSpPr/>
          <p:nvPr/>
        </p:nvSpPr>
        <p:spPr>
          <a:xfrm>
            <a:off x="6172200"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6355080"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16</a:t>
            </a:r>
            <a:endParaRPr lang="en-US" sz="3000" dirty="0"/>
          </a:p>
        </p:txBody>
      </p:sp>
      <p:sp>
        <p:nvSpPr>
          <p:cNvPr id="14" name="Text 12"/>
          <p:cNvSpPr/>
          <p:nvPr/>
        </p:nvSpPr>
        <p:spPr>
          <a:xfrm>
            <a:off x="6355080"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Market</a:t>
            </a:r>
            <a:endParaRPr lang="en-US" sz="1300" dirty="0"/>
          </a:p>
        </p:txBody>
      </p:sp>
      <p:sp>
        <p:nvSpPr>
          <p:cNvPr id="15" name="Text 13"/>
          <p:cNvSpPr/>
          <p:nvPr/>
        </p:nvSpPr>
        <p:spPr>
          <a:xfrm>
            <a:off x="6355080"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Prices in USD, log-difference trends, WFP's own PEWI score per commodity, and 4 summary counts</a:t>
            </a:r>
            <a:endParaRPr lang="en-US" sz="950" dirty="0"/>
          </a:p>
        </p:txBody>
      </p:sp>
      <p:sp>
        <p:nvSpPr>
          <p:cNvPr id="16" name="Shape 14"/>
          <p:cNvSpPr/>
          <p:nvPr/>
        </p:nvSpPr>
        <p:spPr>
          <a:xfrm>
            <a:off x="8974836"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9157716"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a:t>
            </a:r>
            <a:endParaRPr lang="en-US" sz="3000" dirty="0"/>
          </a:p>
        </p:txBody>
      </p:sp>
      <p:sp>
        <p:nvSpPr>
          <p:cNvPr id="18" name="Text 16"/>
          <p:cNvSpPr/>
          <p:nvPr/>
        </p:nvSpPr>
        <p:spPr>
          <a:xfrm>
            <a:off x="9157716"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Reporting</a:t>
            </a:r>
            <a:endParaRPr lang="en-US" sz="1300" dirty="0"/>
          </a:p>
        </p:txBody>
      </p:sp>
      <p:sp>
        <p:nvSpPr>
          <p:cNvPr id="19" name="Text 17"/>
          <p:cNvSpPr/>
          <p:nvPr/>
        </p:nvSpPr>
        <p:spPr>
          <a:xfrm>
            <a:off x="9157716"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Report counts by district, and a food-and-nutrition subset</a:t>
            </a:r>
            <a:endParaRPr lang="en-US" sz="950" dirty="0"/>
          </a:p>
        </p:txBody>
      </p:sp>
      <p:sp>
        <p:nvSpPr>
          <p:cNvPr id="20" name="Shape 18"/>
          <p:cNvSpPr/>
          <p:nvPr/>
        </p:nvSpPr>
        <p:spPr>
          <a:xfrm>
            <a:off x="566928" y="4114800"/>
            <a:ext cx="11027664" cy="2103120"/>
          </a:xfrm>
          <a:prstGeom prst="roundRect">
            <a:avLst>
              <a:gd name="adj" fmla="val 2609"/>
            </a:avLst>
          </a:prstGeom>
          <a:solidFill>
            <a:srgbClr val="2B2523"/>
          </a:solidFill>
          <a:ln/>
          <a:effectLst>
            <a:outerShdw sx="100000" sy="100000" kx="0" ky="0" algn="bl" rotWithShape="0" blurRad="76200" dist="381" dir="5400000">
              <a:srgbClr val="000000">
                <a:alpha val="8000"/>
              </a:srgbClr>
            </a:outerShdw>
          </a:effectLst>
        </p:spPr>
      </p:sp>
      <p:sp>
        <p:nvSpPr>
          <p:cNvPr id="21" name="Text 19"/>
          <p:cNvSpPr/>
          <p:nvPr/>
        </p:nvSpPr>
        <p:spPr>
          <a:xfrm>
            <a:off x="841248" y="4242816"/>
            <a:ext cx="10479024" cy="292608"/>
          </a:xfrm>
          <a:prstGeom prst="rect">
            <a:avLst/>
          </a:prstGeom>
          <a:noFill/>
          <a:ln/>
        </p:spPr>
        <p:txBody>
          <a:bodyPr wrap="square" lIns="0" tIns="0" rIns="0" bIns="0" rtlCol="0" anchor="ctr"/>
          <a:lstStyle/>
          <a:p>
            <a:pPr indent="0" marL="0">
              <a:buNone/>
            </a:pPr>
            <a:r>
              <a:rPr lang="en-US" sz="1400" b="1" dirty="0">
                <a:solidFill>
                  <a:srgbClr val="A7BEAE"/>
                </a:solidFill>
                <a:latin typeface="Cambria" pitchFamily="34" charset="0"/>
                <a:ea typeface="Cambria" pitchFamily="34" charset="-122"/>
                <a:cs typeface="Cambria" pitchFamily="34" charset="-120"/>
              </a:rPr>
              <a:t>The log-difference distinction</a:t>
            </a:r>
            <a:endParaRPr lang="en-US" sz="1400" dirty="0"/>
          </a:p>
        </p:txBody>
      </p:sp>
      <p:sp>
        <p:nvSpPr>
          <p:cNvPr id="22" name="Text 20"/>
          <p:cNvSpPr/>
          <p:nvPr/>
        </p:nvSpPr>
        <p:spPr>
          <a:xfrm>
            <a:off x="841248" y="4572000"/>
            <a:ext cx="10479024" cy="146304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conflict_trend_log uses log1p (log of 1+x), because a district can genuinely have 0 conflict events in a month, and log(0) is undefined</a:t>
            </a:r>
            <a:endParaRPr lang="en-US" sz="1150" dirty="0"/>
          </a:p>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The market trend features use a plain log instead, since a valid price is never 0</a:t>
            </a:r>
            <a:endParaRPr lang="en-US" sz="1150" dirty="0"/>
          </a:p>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Both replaced percentage change, which breaks when the previous month is zero</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Conflict and climate features, one by one</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5 of the 23, all fully documented</a:t>
            </a:r>
            <a:endParaRPr lang="en-US" sz="1250" dirty="0"/>
          </a:p>
        </p:txBody>
      </p:sp>
      <p:sp>
        <p:nvSpPr>
          <p:cNvPr id="4" name="Shape 2"/>
          <p:cNvSpPr/>
          <p:nvPr/>
        </p:nvSpPr>
        <p:spPr>
          <a:xfrm>
            <a:off x="566928" y="151790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60934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conflict_event_count</a:t>
            </a:r>
            <a:endParaRPr lang="en-US" sz="1150" dirty="0"/>
          </a:p>
        </p:txBody>
      </p:sp>
      <p:sp>
        <p:nvSpPr>
          <p:cNvPr id="6" name="Text 4"/>
          <p:cNvSpPr/>
          <p:nvPr/>
        </p:nvSpPr>
        <p:spPr>
          <a:xfrm>
            <a:off x="3657600" y="160934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Count of ACLED events in that district and month</a:t>
            </a:r>
            <a:endParaRPr lang="en-US" sz="1000" dirty="0"/>
          </a:p>
        </p:txBody>
      </p:sp>
      <p:sp>
        <p:nvSpPr>
          <p:cNvPr id="7" name="Text 5"/>
          <p:cNvSpPr/>
          <p:nvPr/>
        </p:nvSpPr>
        <p:spPr>
          <a:xfrm>
            <a:off x="7360920" y="160934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Zero-filled: no matching events means 0, not a missing gap.</a:t>
            </a:r>
            <a:endParaRPr lang="en-US" sz="950" dirty="0"/>
          </a:p>
        </p:txBody>
      </p:sp>
      <p:sp>
        <p:nvSpPr>
          <p:cNvPr id="8" name="Shape 6"/>
          <p:cNvSpPr/>
          <p:nvPr/>
        </p:nvSpPr>
        <p:spPr>
          <a:xfrm>
            <a:off x="566928" y="252374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786384" y="261518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fatalities</a:t>
            </a:r>
            <a:endParaRPr lang="en-US" sz="1150" dirty="0"/>
          </a:p>
        </p:txBody>
      </p:sp>
      <p:sp>
        <p:nvSpPr>
          <p:cNvPr id="10" name="Text 8"/>
          <p:cNvSpPr/>
          <p:nvPr/>
        </p:nvSpPr>
        <p:spPr>
          <a:xfrm>
            <a:off x="3657600" y="261518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Sum of ACLED's fatalities field, same events</a:t>
            </a:r>
            <a:endParaRPr lang="en-US" sz="1000" dirty="0"/>
          </a:p>
        </p:txBody>
      </p:sp>
      <p:sp>
        <p:nvSpPr>
          <p:cNvPr id="11" name="Text 9"/>
          <p:cNvSpPr/>
          <p:nvPr/>
        </p:nvSpPr>
        <p:spPr>
          <a:xfrm>
            <a:off x="7360920" y="261518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Also zero-filled the same way.</a:t>
            </a:r>
            <a:endParaRPr lang="en-US" sz="950" dirty="0"/>
          </a:p>
        </p:txBody>
      </p:sp>
      <p:sp>
        <p:nvSpPr>
          <p:cNvPr id="12" name="Shape 10"/>
          <p:cNvSpPr/>
          <p:nvPr/>
        </p:nvSpPr>
        <p:spPr>
          <a:xfrm>
            <a:off x="566928" y="352958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786384" y="362102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conflict_trend_log</a:t>
            </a:r>
            <a:endParaRPr lang="en-US" sz="1150" dirty="0"/>
          </a:p>
        </p:txBody>
      </p:sp>
      <p:sp>
        <p:nvSpPr>
          <p:cNvPr id="14" name="Text 12"/>
          <p:cNvSpPr/>
          <p:nvPr/>
        </p:nvSpPr>
        <p:spPr>
          <a:xfrm>
            <a:off x="3657600" y="362102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log1p(events_t) - log1p(events_t-1)</a:t>
            </a:r>
            <a:endParaRPr lang="en-US" sz="1000" dirty="0"/>
          </a:p>
        </p:txBody>
      </p:sp>
      <p:sp>
        <p:nvSpPr>
          <p:cNvPr id="15" name="Text 13"/>
          <p:cNvSpPr/>
          <p:nvPr/>
        </p:nvSpPr>
        <p:spPr>
          <a:xfrm>
            <a:off x="7360920" y="362102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How conflict activity changed since last month, on a log scale. Missing for each district's first month.</a:t>
            </a:r>
            <a:endParaRPr lang="en-US" sz="950" dirty="0"/>
          </a:p>
        </p:txBody>
      </p:sp>
      <p:sp>
        <p:nvSpPr>
          <p:cNvPr id="16" name="Shape 14"/>
          <p:cNvSpPr/>
          <p:nvPr/>
        </p:nvSpPr>
        <p:spPr>
          <a:xfrm>
            <a:off x="566928" y="453542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786384" y="462686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rainfall_mean_mm</a:t>
            </a:r>
            <a:endParaRPr lang="en-US" sz="1150" dirty="0"/>
          </a:p>
        </p:txBody>
      </p:sp>
      <p:sp>
        <p:nvSpPr>
          <p:cNvPr id="18" name="Text 16"/>
          <p:cNvSpPr/>
          <p:nvPr/>
        </p:nvSpPr>
        <p:spPr>
          <a:xfrm>
            <a:off x="3657600" y="462686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Zonal mean of that month's CHIRPS raster</a:t>
            </a:r>
            <a:endParaRPr lang="en-US" sz="1000" dirty="0"/>
          </a:p>
        </p:txBody>
      </p:sp>
      <p:sp>
        <p:nvSpPr>
          <p:cNvPr id="19" name="Text 17"/>
          <p:cNvSpPr/>
          <p:nvPr/>
        </p:nvSpPr>
        <p:spPr>
          <a:xfrm>
            <a:off x="7360920" y="462686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Average rainfall across the district, in millimetres. Never missing.</a:t>
            </a:r>
            <a:endParaRPr lang="en-US" sz="950" dirty="0"/>
          </a:p>
        </p:txBody>
      </p:sp>
      <p:sp>
        <p:nvSpPr>
          <p:cNvPr id="20" name="Shape 18"/>
          <p:cNvSpPr/>
          <p:nvPr/>
        </p:nvSpPr>
        <p:spPr>
          <a:xfrm>
            <a:off x="566928" y="554126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21" name="Text 19"/>
          <p:cNvSpPr/>
          <p:nvPr/>
        </p:nvSpPr>
        <p:spPr>
          <a:xfrm>
            <a:off x="786384" y="563270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vegetation_health_index_mean</a:t>
            </a:r>
            <a:endParaRPr lang="en-US" sz="1150" dirty="0"/>
          </a:p>
        </p:txBody>
      </p:sp>
      <p:sp>
        <p:nvSpPr>
          <p:cNvPr id="22" name="Text 20"/>
          <p:cNvSpPr/>
          <p:nvPr/>
        </p:nvSpPr>
        <p:spPr>
          <a:xfrm>
            <a:off x="3657600" y="563270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Day-weighted average of the weekly VHI rasters overlapping the month</a:t>
            </a:r>
            <a:endParaRPr lang="en-US" sz="1000" dirty="0"/>
          </a:p>
        </p:txBody>
      </p:sp>
      <p:sp>
        <p:nvSpPr>
          <p:cNvPr id="23" name="Text 21"/>
          <p:cNvSpPr/>
          <p:nvPr/>
        </p:nvSpPr>
        <p:spPr>
          <a:xfrm>
            <a:off x="7360920" y="563270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VHI is published weekly, not monthly, so each week is weighted by its overlap with the target month. Never missing.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Market features, by formula group</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16 features, 7 distinct formula patterns (4 are per-commodity)</a:t>
            </a:r>
            <a:endParaRPr lang="en-US" sz="1250" dirty="0"/>
          </a:p>
        </p:txBody>
      </p:sp>
      <p:sp>
        <p:nvSpPr>
          <p:cNvPr id="4" name="Shape 2"/>
          <p:cNvSpPr/>
          <p:nvPr/>
        </p:nvSpPr>
        <p:spPr>
          <a:xfrm>
            <a:off x="566928" y="1371600"/>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426464"/>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{c}_price_usd  (x4)</a:t>
            </a:r>
            <a:endParaRPr lang="en-US" sz="1050" dirty="0"/>
          </a:p>
        </p:txBody>
      </p:sp>
      <p:sp>
        <p:nvSpPr>
          <p:cNvPr id="6" name="Text 4"/>
          <p:cNvSpPr/>
          <p:nvPr/>
        </p:nvSpPr>
        <p:spPr>
          <a:xfrm>
            <a:off x="3657600" y="1426464"/>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price_local / exchange_rate_to_usd</a:t>
            </a:r>
            <a:endParaRPr lang="en-US" sz="900" dirty="0"/>
          </a:p>
        </p:txBody>
      </p:sp>
      <p:sp>
        <p:nvSpPr>
          <p:cNvPr id="7" name="Text 5"/>
          <p:cNvSpPr/>
          <p:nvPr/>
        </p:nvSpPr>
        <p:spPr>
          <a:xfrm>
            <a:off x="7360920" y="1426464"/>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USD price for wheat flour, rice, sugar, oil. Averaged across markets if more than one reports in a district.</a:t>
            </a:r>
            <a:endParaRPr lang="en-US" sz="850" dirty="0"/>
          </a:p>
        </p:txBody>
      </p:sp>
      <p:sp>
        <p:nvSpPr>
          <p:cNvPr id="8" name="Shape 6"/>
          <p:cNvSpPr/>
          <p:nvPr/>
        </p:nvSpPr>
        <p:spPr>
          <a:xfrm>
            <a:off x="566928" y="2176272"/>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786384" y="2231136"/>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{c}_trend_log  (x4)</a:t>
            </a:r>
            <a:endParaRPr lang="en-US" sz="1050" dirty="0"/>
          </a:p>
        </p:txBody>
      </p:sp>
      <p:sp>
        <p:nvSpPr>
          <p:cNvPr id="10" name="Text 8"/>
          <p:cNvSpPr/>
          <p:nvPr/>
        </p:nvSpPr>
        <p:spPr>
          <a:xfrm>
            <a:off x="3657600" y="2231136"/>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log(price_t) - log(price_t-1)</a:t>
            </a:r>
            <a:endParaRPr lang="en-US" sz="900" dirty="0"/>
          </a:p>
        </p:txBody>
      </p:sp>
      <p:sp>
        <p:nvSpPr>
          <p:cNvPr id="11" name="Text 9"/>
          <p:cNvSpPr/>
          <p:nvPr/>
        </p:nvSpPr>
        <p:spPr>
          <a:xfrm>
            <a:off x="7360920" y="2231136"/>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Month-over-month change, log scale. Missing whenever either month's price is missing.</a:t>
            </a:r>
            <a:endParaRPr lang="en-US" sz="850" dirty="0"/>
          </a:p>
        </p:txBody>
      </p:sp>
      <p:sp>
        <p:nvSpPr>
          <p:cNvPr id="12" name="Shape 10"/>
          <p:cNvSpPr/>
          <p:nvPr/>
        </p:nvSpPr>
        <p:spPr>
          <a:xfrm>
            <a:off x="566928" y="2980944"/>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786384" y="3035808"/>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{c}_pewi_score  (x4)</a:t>
            </a:r>
            <a:endParaRPr lang="en-US" sz="1050" dirty="0"/>
          </a:p>
        </p:txBody>
      </p:sp>
      <p:sp>
        <p:nvSpPr>
          <p:cNvPr id="14" name="Text 12"/>
          <p:cNvSpPr/>
          <p:nvPr/>
        </p:nvSpPr>
        <p:spPr>
          <a:xfrm>
            <a:off x="3657600" y="3035808"/>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Taken directly from WFP's own "Pewi" column</a:t>
            </a:r>
            <a:endParaRPr lang="en-US" sz="900" dirty="0"/>
          </a:p>
        </p:txBody>
      </p:sp>
      <p:sp>
        <p:nvSpPr>
          <p:cNvPr id="15" name="Text 13"/>
          <p:cNvSpPr/>
          <p:nvPr/>
        </p:nvSpPr>
        <p:spPr>
          <a:xfrm>
            <a:off x="7360920" y="3035808"/>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Not computed by this pipeline. Full explanation next slide.</a:t>
            </a:r>
            <a:endParaRPr lang="en-US" sz="850" dirty="0"/>
          </a:p>
        </p:txBody>
      </p:sp>
      <p:sp>
        <p:nvSpPr>
          <p:cNvPr id="16" name="Shape 14"/>
          <p:cNvSpPr/>
          <p:nvPr/>
        </p:nvSpPr>
        <p:spPr>
          <a:xfrm>
            <a:off x="566928" y="3785616"/>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786384" y="3840480"/>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commodities_tracked_count</a:t>
            </a:r>
            <a:endParaRPr lang="en-US" sz="1050" dirty="0"/>
          </a:p>
        </p:txBody>
      </p:sp>
      <p:sp>
        <p:nvSpPr>
          <p:cNvPr id="18" name="Text 16"/>
          <p:cNvSpPr/>
          <p:nvPr/>
        </p:nvSpPr>
        <p:spPr>
          <a:xfrm>
            <a:off x="3657600" y="3840480"/>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Count of the 4 commodities with a non-null pewi_score</a:t>
            </a:r>
            <a:endParaRPr lang="en-US" sz="900" dirty="0"/>
          </a:p>
        </p:txBody>
      </p:sp>
      <p:sp>
        <p:nvSpPr>
          <p:cNvPr id="19" name="Text 17"/>
          <p:cNvSpPr/>
          <p:nvPr/>
        </p:nvSpPr>
        <p:spPr>
          <a:xfrm>
            <a:off x="7360920" y="3840480"/>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Never missing; 0 is a valid value.</a:t>
            </a:r>
            <a:endParaRPr lang="en-US" sz="850" dirty="0"/>
          </a:p>
        </p:txBody>
      </p:sp>
      <p:sp>
        <p:nvSpPr>
          <p:cNvPr id="20" name="Shape 18"/>
          <p:cNvSpPr/>
          <p:nvPr/>
        </p:nvSpPr>
        <p:spPr>
          <a:xfrm>
            <a:off x="566928" y="4590288"/>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21" name="Text 19"/>
          <p:cNvSpPr/>
          <p:nvPr/>
        </p:nvSpPr>
        <p:spPr>
          <a:xfrm>
            <a:off x="786384" y="4645152"/>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market_anomaly_mean / max</a:t>
            </a:r>
            <a:endParaRPr lang="en-US" sz="1050" dirty="0"/>
          </a:p>
        </p:txBody>
      </p:sp>
      <p:sp>
        <p:nvSpPr>
          <p:cNvPr id="22" name="Text 20"/>
          <p:cNvSpPr/>
          <p:nvPr/>
        </p:nvSpPr>
        <p:spPr>
          <a:xfrm>
            <a:off x="3657600" y="4645152"/>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Mean / max of the non-null pewi_score values</a:t>
            </a:r>
            <a:endParaRPr lang="en-US" sz="900" dirty="0"/>
          </a:p>
        </p:txBody>
      </p:sp>
      <p:sp>
        <p:nvSpPr>
          <p:cNvPr id="23" name="Text 21"/>
          <p:cNvSpPr/>
          <p:nvPr/>
        </p:nvSpPr>
        <p:spPr>
          <a:xfrm>
            <a:off x="7360920" y="4645152"/>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Missing only when all four commodities are missing.</a:t>
            </a:r>
            <a:endParaRPr lang="en-US" sz="850" dirty="0"/>
          </a:p>
        </p:txBody>
      </p:sp>
      <p:sp>
        <p:nvSpPr>
          <p:cNvPr id="24" name="Shape 22"/>
          <p:cNvSpPr/>
          <p:nvPr/>
        </p:nvSpPr>
        <p:spPr>
          <a:xfrm>
            <a:off x="566928" y="5394960"/>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25" name="Text 23"/>
          <p:cNvSpPr/>
          <p:nvPr/>
        </p:nvSpPr>
        <p:spPr>
          <a:xfrm>
            <a:off x="786384" y="5449824"/>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market_stress_count</a:t>
            </a:r>
            <a:endParaRPr lang="en-US" sz="1050" dirty="0"/>
          </a:p>
        </p:txBody>
      </p:sp>
      <p:sp>
        <p:nvSpPr>
          <p:cNvPr id="26" name="Text 24"/>
          <p:cNvSpPr/>
          <p:nvPr/>
        </p:nvSpPr>
        <p:spPr>
          <a:xfrm>
            <a:off x="3657600" y="5449824"/>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Count of commodities with pewi_score &gt; 1.0</a:t>
            </a:r>
            <a:endParaRPr lang="en-US" sz="900" dirty="0"/>
          </a:p>
        </p:txBody>
      </p:sp>
      <p:sp>
        <p:nvSpPr>
          <p:cNvPr id="27" name="Text 25"/>
          <p:cNvSpPr/>
          <p:nvPr/>
        </p:nvSpPr>
        <p:spPr>
          <a:xfrm>
            <a:off x="7360920" y="5449824"/>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Never missing. What the 1.0 threshold means is resolved on the PEWI slide.</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Reporting features, and what comes next</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last 2 of 23, plus why PEWI needs its own slide</a:t>
            </a:r>
            <a:endParaRPr lang="en-US" sz="1250" dirty="0"/>
          </a:p>
        </p:txBody>
      </p:sp>
      <p:sp>
        <p:nvSpPr>
          <p:cNvPr id="4" name="Shape 2"/>
          <p:cNvSpPr/>
          <p:nvPr/>
        </p:nvSpPr>
        <p:spPr>
          <a:xfrm>
            <a:off x="566928" y="1554480"/>
            <a:ext cx="11027664" cy="1828800"/>
          </a:xfrm>
          <a:prstGeom prst="roundRect">
            <a:avLst>
              <a:gd name="adj" fmla="val 300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10552176"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reports_mentioning_district_count</a:t>
            </a:r>
            <a:endParaRPr lang="en-US" sz="1250" dirty="0"/>
          </a:p>
        </p:txBody>
      </p:sp>
      <p:sp>
        <p:nvSpPr>
          <p:cNvPr id="6" name="Text 4"/>
          <p:cNvSpPr/>
          <p:nvPr/>
        </p:nvSpPr>
        <p:spPr>
          <a:xfrm>
            <a:off x="804672" y="1993392"/>
            <a:ext cx="10552176" cy="274320"/>
          </a:xfrm>
          <a:prstGeom prst="rect">
            <a:avLst/>
          </a:prstGeom>
          <a:noFill/>
          <a:ln/>
        </p:spPr>
        <p:txBody>
          <a:bodyPr wrap="square" lIns="0" tIns="0" rIns="0" bIns="0" rtlCol="0" anchor="ctr"/>
          <a:lstStyle/>
          <a:p>
            <a:pPr indent="0" marL="0">
              <a:buNone/>
            </a:pPr>
            <a:r>
              <a:rPr lang="en-US" sz="1050" i="1" dirty="0">
                <a:solidFill>
                  <a:srgbClr val="2B2523"/>
                </a:solidFill>
                <a:latin typeface="Calibri" pitchFamily="34" charset="0"/>
                <a:ea typeface="Calibri" pitchFamily="34" charset="-122"/>
                <a:cs typeface="Calibri" pitchFamily="34" charset="-120"/>
              </a:rPr>
              <a:t>Count of Somalia reports that month whose title + body match the district's name or an alias</a:t>
            </a:r>
            <a:endParaRPr lang="en-US" sz="1050" dirty="0"/>
          </a:p>
        </p:txBody>
      </p:sp>
      <p:sp>
        <p:nvSpPr>
          <p:cNvPr id="7" name="Text 5"/>
          <p:cNvSpPr/>
          <p:nvPr/>
        </p:nvSpPr>
        <p:spPr>
          <a:xfrm>
            <a:off x="804672" y="2286000"/>
            <a:ext cx="10552176" cy="27432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After stripping datelines and excluding price bulletins, matched case-insensitively without word boundaries.</a:t>
            </a:r>
            <a:endParaRPr lang="en-US" sz="1000" dirty="0"/>
          </a:p>
        </p:txBody>
      </p:sp>
      <p:sp>
        <p:nvSpPr>
          <p:cNvPr id="8" name="Text 6"/>
          <p:cNvSpPr/>
          <p:nvPr/>
        </p:nvSpPr>
        <p:spPr>
          <a:xfrm>
            <a:off x="804672" y="2596896"/>
            <a:ext cx="10552176"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food_nutrition_report_count</a:t>
            </a:r>
            <a:endParaRPr lang="en-US" sz="1250" dirty="0"/>
          </a:p>
        </p:txBody>
      </p:sp>
      <p:sp>
        <p:nvSpPr>
          <p:cNvPr id="9" name="Text 7"/>
          <p:cNvSpPr/>
          <p:nvPr/>
        </p:nvSpPr>
        <p:spPr>
          <a:xfrm>
            <a:off x="804672" y="2889504"/>
            <a:ext cx="10552176" cy="274320"/>
          </a:xfrm>
          <a:prstGeom prst="rect">
            <a:avLst/>
          </a:prstGeom>
          <a:noFill/>
          <a:ln/>
        </p:spPr>
        <p:txBody>
          <a:bodyPr wrap="square" lIns="0" tIns="0" rIns="0" bIns="0" rtlCol="0" anchor="ctr"/>
          <a:lstStyle/>
          <a:p>
            <a:pPr indent="0" marL="0">
              <a:buNone/>
            </a:pPr>
            <a:r>
              <a:rPr lang="en-US" sz="1050" i="1" dirty="0">
                <a:solidFill>
                  <a:srgbClr val="2B2523"/>
                </a:solidFill>
                <a:latin typeface="Calibri" pitchFamily="34" charset="0"/>
                <a:ea typeface="Calibri" pitchFamily="34" charset="-122"/>
                <a:cs typeface="Calibri" pitchFamily="34" charset="-120"/>
              </a:rPr>
              <a:t>Subset of the above where ReliefWeb's own "themes" field contains "Food and Nutrition"</a:t>
            </a:r>
            <a:endParaRPr lang="en-US" sz="1050" dirty="0"/>
          </a:p>
        </p:txBody>
      </p:sp>
      <p:sp>
        <p:nvSpPr>
          <p:cNvPr id="10" name="Text 8"/>
          <p:cNvSpPr/>
          <p:nvPr/>
        </p:nvSpPr>
        <p:spPr>
          <a:xfrm>
            <a:off x="804672" y="3182112"/>
            <a:ext cx="10552176" cy="27432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wash_report_count was dropped for never being used; this one was kept, since food insecurity remains the project's application domain.</a:t>
            </a:r>
            <a:endParaRPr lang="en-US" sz="1000" dirty="0"/>
          </a:p>
        </p:txBody>
      </p:sp>
      <p:sp>
        <p:nvSpPr>
          <p:cNvPr id="11" name="Shape 9"/>
          <p:cNvSpPr/>
          <p:nvPr/>
        </p:nvSpPr>
        <p:spPr>
          <a:xfrm>
            <a:off x="566928" y="3566160"/>
            <a:ext cx="11027664" cy="2651760"/>
          </a:xfrm>
          <a:prstGeom prst="roundRect">
            <a:avLst>
              <a:gd name="adj" fmla="val 2069"/>
            </a:avLst>
          </a:prstGeom>
          <a:solidFill>
            <a:srgbClr val="2B2523"/>
          </a:solidFill>
          <a:ln/>
          <a:effectLst>
            <a:outerShdw sx="100000" sy="100000" kx="0" ky="0" algn="bl" rotWithShape="0" blurRad="76200" dist="381" dir="5400000">
              <a:srgbClr val="000000">
                <a:alpha val="8000"/>
              </a:srgbClr>
            </a:outerShdw>
          </a:effectLst>
        </p:spPr>
      </p:sp>
      <p:sp>
        <p:nvSpPr>
          <p:cNvPr id="12" name="Text 10"/>
          <p:cNvSpPr/>
          <p:nvPr/>
        </p:nvSpPr>
        <p:spPr>
          <a:xfrm>
            <a:off x="841248" y="3694176"/>
            <a:ext cx="10479024" cy="310896"/>
          </a:xfrm>
          <a:prstGeom prst="rect">
            <a:avLst/>
          </a:prstGeom>
          <a:noFill/>
          <a:ln/>
        </p:spPr>
        <p:txBody>
          <a:bodyPr wrap="square" lIns="0" tIns="0" rIns="0" bIns="0" rtlCol="0" anchor="ctr"/>
          <a:lstStyle/>
          <a:p>
            <a:pPr indent="0" marL="0">
              <a:buNone/>
            </a:pPr>
            <a:r>
              <a:rPr lang="en-US" sz="1400" b="1" dirty="0">
                <a:solidFill>
                  <a:srgbClr val="A7BEAE"/>
                </a:solidFill>
                <a:latin typeface="Cambria" pitchFamily="34" charset="0"/>
                <a:ea typeface="Cambria" pitchFamily="34" charset="-122"/>
                <a:cs typeface="Cambria" pitchFamily="34" charset="-120"/>
              </a:rPr>
              <a:t>Two items that needed their own explanation</a:t>
            </a:r>
            <a:endParaRPr lang="en-US" sz="1400" dirty="0"/>
          </a:p>
        </p:txBody>
      </p:sp>
      <p:sp>
        <p:nvSpPr>
          <p:cNvPr id="13" name="Text 11"/>
          <p:cNvSpPr/>
          <p:nvPr/>
        </p:nvSpPr>
        <p:spPr>
          <a:xfrm>
            <a:off x="841248" y="4041648"/>
            <a:ext cx="10479024" cy="1463040"/>
          </a:xfrm>
          <a:prstGeom prst="rect">
            <a:avLst/>
          </a:prstGeom>
          <a:noFill/>
          <a:ln/>
        </p:spPr>
        <p:txBody>
          <a:bodyPr wrap="square" lIns="0" tIns="0" rIns="0" bIns="0" rtlCol="0" anchor="ctr"/>
          <a:lstStyle/>
          <a:p>
            <a:pPr marL="342900" indent="-342900">
              <a:lnSpc>
                <a:spcPts val="1700"/>
              </a:lnSpc>
              <a:spcAft>
                <a:spcPts val="1200"/>
              </a:spcAft>
              <a:buSzPct val="100000"/>
              <a:buChar char="•"/>
            </a:pPr>
            <a:r>
              <a:rPr lang="en-US" sz="1200" dirty="0">
                <a:solidFill>
                  <a:srgbClr val="E7E8D1"/>
                </a:solidFill>
                <a:latin typeface="Calibri" pitchFamily="34" charset="0"/>
                <a:ea typeface="Calibri" pitchFamily="34" charset="-122"/>
                <a:cs typeface="Calibri" pitchFamily="34" charset="-120"/>
              </a:rPr>
              <a:t>What PEWI actually is, since {c}_pewi_score, market_anomaly_mean/max and market_stress_count all depend on it, and it was never defined anywhere in the notebook until this week</a:t>
            </a:r>
            <a:endParaRPr lang="en-US" sz="1200" dirty="0"/>
          </a:p>
          <a:p>
            <a:pPr marL="342900" indent="-342900">
              <a:lnSpc>
                <a:spcPts val="1700"/>
              </a:lnSpc>
              <a:spcAft>
                <a:spcPts val="1200"/>
              </a:spcAft>
              <a:buSzPct val="100000"/>
              <a:buChar char="•"/>
            </a:pPr>
            <a:r>
              <a:rPr lang="en-US" sz="1200" dirty="0">
                <a:solidFill>
                  <a:srgbClr val="E7E8D1"/>
                </a:solidFill>
                <a:latin typeface="Calibri" pitchFamily="34" charset="0"/>
                <a:ea typeface="Calibri" pitchFamily="34" charset="-122"/>
                <a:cs typeface="Calibri" pitchFamily="34" charset="-120"/>
              </a:rPr>
              <a:t>Whether the 1.0 threshold behind market_stress_count is a real, sourced cutoff or an arbitrary one that would need a sensitivity analysis or should be dropped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PEWI, defined, and the market-stress threshold resolved</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Two items that needed their own explanation</a:t>
            </a:r>
            <a:endParaRPr lang="en-US" sz="1250" dirty="0"/>
          </a:p>
        </p:txBody>
      </p:sp>
      <p:sp>
        <p:nvSpPr>
          <p:cNvPr id="4" name="Shape 2"/>
          <p:cNvSpPr/>
          <p:nvPr/>
        </p:nvSpPr>
        <p:spPr>
          <a:xfrm>
            <a:off x="566928" y="1554480"/>
            <a:ext cx="5486400" cy="3200400"/>
          </a:xfrm>
          <a:prstGeom prst="roundRect">
            <a:avLst>
              <a:gd name="adj" fmla="val 1714"/>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What PEWI is</a:t>
            </a:r>
            <a:endParaRPr lang="en-US" sz="1350" dirty="0"/>
          </a:p>
        </p:txBody>
      </p:sp>
      <p:sp>
        <p:nvSpPr>
          <p:cNvPr id="6" name="Text 4"/>
          <p:cNvSpPr/>
          <p:nvPr/>
        </p:nvSpPr>
        <p:spPr>
          <a:xfrm>
            <a:off x="804672" y="2011680"/>
            <a:ext cx="5029200" cy="1280160"/>
          </a:xfrm>
          <a:prstGeom prst="rect">
            <a:avLst/>
          </a:prstGeom>
          <a:noFill/>
          <a:ln/>
        </p:spPr>
        <p:txBody>
          <a:bodyPr wrap="square" lIns="0" tIns="0" rIns="0" bIns="0" rtlCol="0" anchor="ctr"/>
          <a:lstStyle/>
          <a:p>
            <a:pPr indent="0" marL="0">
              <a:lnSpc>
                <a:spcPts val="1500"/>
              </a:lnSpc>
              <a:buNone/>
            </a:pPr>
            <a:r>
              <a:rPr lang="en-US" sz="1100" dirty="0">
                <a:solidFill>
                  <a:srgbClr val="7A6E68"/>
                </a:solidFill>
                <a:latin typeface="Calibri" pitchFamily="34" charset="0"/>
                <a:ea typeface="Calibri" pitchFamily="34" charset="-122"/>
                <a:cs typeface="Calibri" pitchFamily="34" charset="-120"/>
              </a:rPr>
              <a:t>Price Early Warning Indicator, WFP's own name for a method more widely known as ALPS (Alert for Price Spikes). It measures how far a commodity's price sits from its own normal seasonal pattern, in standardised units, so it can be compared across commodities with very different price levels.</a:t>
            </a:r>
            <a:endParaRPr lang="en-US" sz="1100" dirty="0"/>
          </a:p>
        </p:txBody>
      </p:sp>
      <p:sp>
        <p:nvSpPr>
          <p:cNvPr id="7" name="Text 5"/>
          <p:cNvSpPr/>
          <p:nvPr/>
        </p:nvSpPr>
        <p:spPr>
          <a:xfrm>
            <a:off x="804672" y="3383280"/>
            <a:ext cx="5029200" cy="365760"/>
          </a:xfrm>
          <a:prstGeom prst="rect">
            <a:avLst/>
          </a:prstGeom>
          <a:noFill/>
          <a:ln/>
        </p:spPr>
        <p:txBody>
          <a:bodyPr wrap="square" lIns="0" tIns="0" rIns="0" bIns="0" rtlCol="0" anchor="ctr"/>
          <a:lstStyle/>
          <a:p>
            <a:pPr indent="0" marL="0">
              <a:buNone/>
            </a:pPr>
            <a:r>
              <a:rPr lang="en-US" sz="1050" i="1" dirty="0">
                <a:solidFill>
                  <a:srgbClr val="B85042"/>
                </a:solidFill>
                <a:latin typeface="Calibri" pitchFamily="34" charset="0"/>
                <a:ea typeface="Calibri" pitchFamily="34" charset="-122"/>
                <a:cs typeface="Calibri" pitchFamily="34" charset="-120"/>
              </a:rPr>
              <a:t>This pipeline takes WFP's own "Pewi" column directly; nothing is recomputed.</a:t>
            </a:r>
            <a:endParaRPr lang="en-US" sz="1050" dirty="0"/>
          </a:p>
        </p:txBody>
      </p:sp>
      <p:sp>
        <p:nvSpPr>
          <p:cNvPr id="8" name="Text 6"/>
          <p:cNvSpPr/>
          <p:nvPr/>
        </p:nvSpPr>
        <p:spPr>
          <a:xfrm>
            <a:off x="804672" y="393192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Normal</a:t>
            </a:r>
            <a:endParaRPr lang="en-US" sz="1050" dirty="0"/>
          </a:p>
        </p:txBody>
      </p:sp>
      <p:sp>
        <p:nvSpPr>
          <p:cNvPr id="9" name="Text 7"/>
          <p:cNvSpPr/>
          <p:nvPr/>
        </p:nvSpPr>
        <p:spPr>
          <a:xfrm>
            <a:off x="2761488" y="393192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up to 0.25</a:t>
            </a:r>
            <a:endParaRPr lang="en-US" sz="1050" dirty="0"/>
          </a:p>
        </p:txBody>
      </p:sp>
      <p:sp>
        <p:nvSpPr>
          <p:cNvPr id="10" name="Text 8"/>
          <p:cNvSpPr/>
          <p:nvPr/>
        </p:nvSpPr>
        <p:spPr>
          <a:xfrm>
            <a:off x="804672" y="420624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Stress</a:t>
            </a:r>
            <a:endParaRPr lang="en-US" sz="1050" dirty="0"/>
          </a:p>
        </p:txBody>
      </p:sp>
      <p:sp>
        <p:nvSpPr>
          <p:cNvPr id="11" name="Text 9"/>
          <p:cNvSpPr/>
          <p:nvPr/>
        </p:nvSpPr>
        <p:spPr>
          <a:xfrm>
            <a:off x="2761488" y="420624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0.25 - 1.0</a:t>
            </a:r>
            <a:endParaRPr lang="en-US" sz="1050" dirty="0"/>
          </a:p>
        </p:txBody>
      </p:sp>
      <p:sp>
        <p:nvSpPr>
          <p:cNvPr id="12" name="Text 10"/>
          <p:cNvSpPr/>
          <p:nvPr/>
        </p:nvSpPr>
        <p:spPr>
          <a:xfrm>
            <a:off x="804672" y="448056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Alert</a:t>
            </a:r>
            <a:endParaRPr lang="en-US" sz="1050" dirty="0"/>
          </a:p>
        </p:txBody>
      </p:sp>
      <p:sp>
        <p:nvSpPr>
          <p:cNvPr id="13" name="Text 11"/>
          <p:cNvSpPr/>
          <p:nvPr/>
        </p:nvSpPr>
        <p:spPr>
          <a:xfrm>
            <a:off x="2761488" y="448056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1.0 - 2.0</a:t>
            </a:r>
            <a:endParaRPr lang="en-US" sz="1050" dirty="0"/>
          </a:p>
        </p:txBody>
      </p:sp>
      <p:sp>
        <p:nvSpPr>
          <p:cNvPr id="14" name="Text 12"/>
          <p:cNvSpPr/>
          <p:nvPr/>
        </p:nvSpPr>
        <p:spPr>
          <a:xfrm>
            <a:off x="804672" y="475488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Crisis</a:t>
            </a:r>
            <a:endParaRPr lang="en-US" sz="1050" dirty="0"/>
          </a:p>
        </p:txBody>
      </p:sp>
      <p:sp>
        <p:nvSpPr>
          <p:cNvPr id="15" name="Text 13"/>
          <p:cNvSpPr/>
          <p:nvPr/>
        </p:nvSpPr>
        <p:spPr>
          <a:xfrm>
            <a:off x="2761488" y="475488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above 2.0</a:t>
            </a:r>
            <a:endParaRPr lang="en-US" sz="1050" dirty="0"/>
          </a:p>
        </p:txBody>
      </p:sp>
      <p:sp>
        <p:nvSpPr>
          <p:cNvPr id="16" name="Shape 14"/>
          <p:cNvSpPr/>
          <p:nvPr/>
        </p:nvSpPr>
        <p:spPr>
          <a:xfrm>
            <a:off x="6309360" y="1554480"/>
            <a:ext cx="5285232" cy="3200400"/>
          </a:xfrm>
          <a:prstGeom prst="roundRect">
            <a:avLst>
              <a:gd name="adj" fmla="val 1714"/>
            </a:avLst>
          </a:prstGeom>
          <a:solidFill>
            <a:srgbClr val="2B2523"/>
          </a:solidFill>
          <a:ln/>
          <a:effectLst>
            <a:outerShdw sx="100000" sy="100000" kx="0" ky="0" algn="bl" rotWithShape="0" blurRad="76200" dist="381" dir="5400000">
              <a:srgbClr val="000000">
                <a:alpha val="8000"/>
              </a:srgbClr>
            </a:outerShdw>
          </a:effectLst>
        </p:spPr>
      </p:sp>
      <p:sp>
        <p:nvSpPr>
          <p:cNvPr id="17" name="Text 15"/>
          <p:cNvSpPr/>
          <p:nvPr/>
        </p:nvSpPr>
        <p:spPr>
          <a:xfrm>
            <a:off x="6547104" y="1700784"/>
            <a:ext cx="4754880" cy="54864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1.0 threshold is resolved, not dropped</a:t>
            </a:r>
            <a:endParaRPr lang="en-US" sz="1350" dirty="0"/>
          </a:p>
        </p:txBody>
      </p:sp>
      <p:sp>
        <p:nvSpPr>
          <p:cNvPr id="18" name="Text 16"/>
          <p:cNvSpPr/>
          <p:nvPr/>
        </p:nvSpPr>
        <p:spPr>
          <a:xfrm>
            <a:off x="6547104" y="2286000"/>
            <a:ext cx="4754880" cy="73152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It turns out to be exactly WFP's own Stress/Alert boundary, not an arbitrary cutoff. No sensitivity analysis was needed.</a:t>
            </a:r>
            <a:endParaRPr lang="en-US" sz="1150" dirty="0"/>
          </a:p>
        </p:txBody>
      </p:sp>
      <p:sp>
        <p:nvSpPr>
          <p:cNvPr id="19" name="Text 17"/>
          <p:cNvSpPr/>
          <p:nvPr/>
        </p:nvSpPr>
        <p:spPr>
          <a:xfrm>
            <a:off x="6547104" y="3108960"/>
            <a:ext cx="4754880" cy="310896"/>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The one correction: the name</a:t>
            </a:r>
            <a:endParaRPr lang="en-US" sz="1250" dirty="0"/>
          </a:p>
        </p:txBody>
      </p:sp>
      <p:sp>
        <p:nvSpPr>
          <p:cNvPr id="20" name="Text 18"/>
          <p:cNvSpPr/>
          <p:nvPr/>
        </p:nvSpPr>
        <p:spPr>
          <a:xfrm>
            <a:off x="6547104" y="3438144"/>
            <a:ext cx="4754880" cy="118872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market_stress_count actually counts commodities in WFP's Alert-or-Crisis phase, not WFP's own Stress phase (0.25-1.0). The column keeps its existing name, already used throughout the notebook, but the correct reading is Alert-or-worse.</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How each source actually observes Somalia</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dissertation's key table, condensed for this update</a:t>
            </a:r>
            <a:endParaRPr lang="en-US" sz="1250" dirty="0"/>
          </a:p>
        </p:txBody>
      </p:sp>
      <p:sp>
        <p:nvSpPr>
          <p:cNvPr id="4" name="Shape 2"/>
          <p:cNvSpPr/>
          <p:nvPr/>
        </p:nvSpPr>
        <p:spPr>
          <a:xfrm>
            <a:off x="566928" y="1481328"/>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609344"/>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Conflict (ACLED)</a:t>
            </a:r>
            <a:endParaRPr lang="en-US" sz="1400" dirty="0"/>
          </a:p>
        </p:txBody>
      </p:sp>
      <p:sp>
        <p:nvSpPr>
          <p:cNvPr id="6" name="Text 4"/>
          <p:cNvSpPr/>
          <p:nvPr/>
        </p:nvSpPr>
        <p:spPr>
          <a:xfrm>
            <a:off x="804672" y="1901952"/>
            <a:ext cx="4919472"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100% RECORDED COVERAGE</a:t>
            </a:r>
            <a:endParaRPr lang="en-US" sz="950" dirty="0"/>
          </a:p>
        </p:txBody>
      </p:sp>
      <p:sp>
        <p:nvSpPr>
          <p:cNvPr id="7" name="Text 5"/>
          <p:cNvSpPr/>
          <p:nvPr/>
        </p:nvSpPr>
        <p:spPr>
          <a:xfrm>
            <a:off x="804672" y="2194560"/>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Event coding from local media and monitoring partners; 65.3% "Local partner" sourced, 31.2% cite no source at all</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100% (zero-filled)</a:t>
            </a:r>
            <a:endParaRPr lang="en-US" sz="1050" dirty="0"/>
          </a:p>
        </p:txBody>
      </p:sp>
      <p:sp>
        <p:nvSpPr>
          <p:cNvPr id="8" name="Shape 6"/>
          <p:cNvSpPr/>
          <p:nvPr/>
        </p:nvSpPr>
        <p:spPr>
          <a:xfrm>
            <a:off x="6199632" y="1481328"/>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6437376" y="1609344"/>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Climate (CHIRPS / VHI)</a:t>
            </a:r>
            <a:endParaRPr lang="en-US" sz="1400" dirty="0"/>
          </a:p>
        </p:txBody>
      </p:sp>
      <p:sp>
        <p:nvSpPr>
          <p:cNvPr id="10" name="Text 8"/>
          <p:cNvSpPr/>
          <p:nvPr/>
        </p:nvSpPr>
        <p:spPr>
          <a:xfrm>
            <a:off x="6437376" y="1901952"/>
            <a:ext cx="4919472"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100% RECORDED COVERAGE</a:t>
            </a:r>
            <a:endParaRPr lang="en-US" sz="950" dirty="0"/>
          </a:p>
        </p:txBody>
      </p:sp>
      <p:sp>
        <p:nvSpPr>
          <p:cNvPr id="11" name="Text 9"/>
          <p:cNvSpPr/>
          <p:nvPr/>
        </p:nvSpPr>
        <p:spPr>
          <a:xfrm>
            <a:off x="6437376" y="2194560"/>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Satellite imagery only, no ground survey needed, so no dependence on local access or reporting</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100%</a:t>
            </a:r>
            <a:endParaRPr lang="en-US" sz="1050" dirty="0"/>
          </a:p>
        </p:txBody>
      </p:sp>
      <p:sp>
        <p:nvSpPr>
          <p:cNvPr id="12" name="Shape 10"/>
          <p:cNvSpPr/>
          <p:nvPr/>
        </p:nvSpPr>
        <p:spPr>
          <a:xfrm>
            <a:off x="566928" y="3931920"/>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804672" y="4059936"/>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Market (WFP / PEWI)</a:t>
            </a:r>
            <a:endParaRPr lang="en-US" sz="1400" dirty="0"/>
          </a:p>
        </p:txBody>
      </p:sp>
      <p:sp>
        <p:nvSpPr>
          <p:cNvPr id="14" name="Text 12"/>
          <p:cNvSpPr/>
          <p:nvPr/>
        </p:nvSpPr>
        <p:spPr>
          <a:xfrm>
            <a:off x="804672" y="4352544"/>
            <a:ext cx="4919472"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43-47% OF DISTRICT-MONTHS</a:t>
            </a:r>
            <a:endParaRPr lang="en-US" sz="950" dirty="0"/>
          </a:p>
        </p:txBody>
      </p:sp>
      <p:sp>
        <p:nvSpPr>
          <p:cNvPr id="15" name="Text 13"/>
          <p:cNvSpPr/>
          <p:nvPr/>
        </p:nvSpPr>
        <p:spPr>
          <a:xfrm>
            <a:off x="804672" y="4645152"/>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Weekly visits by WFP's own enumerators, only to markets that are safe and accessible to reach</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47% of districts (needs a market); actually covers 43.1% by the PEWI score used in this panel</a:t>
            </a:r>
            <a:endParaRPr lang="en-US" sz="1050" dirty="0"/>
          </a:p>
        </p:txBody>
      </p:sp>
      <p:sp>
        <p:nvSpPr>
          <p:cNvPr id="16" name="Shape 14"/>
          <p:cNvSpPr/>
          <p:nvPr/>
        </p:nvSpPr>
        <p:spPr>
          <a:xfrm>
            <a:off x="6199632" y="3931920"/>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6437376" y="4059936"/>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Reporting (ReliefWeb)</a:t>
            </a:r>
            <a:endParaRPr lang="en-US" sz="1400" dirty="0"/>
          </a:p>
        </p:txBody>
      </p:sp>
      <p:sp>
        <p:nvSpPr>
          <p:cNvPr id="18" name="Text 16"/>
          <p:cNvSpPr/>
          <p:nvPr/>
        </p:nvSpPr>
        <p:spPr>
          <a:xfrm>
            <a:off x="6437376" y="4352544"/>
            <a:ext cx="4919472"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60% OF MONTHS, 99% OF DISTRICTS</a:t>
            </a:r>
            <a:endParaRPr lang="en-US" sz="950" dirty="0"/>
          </a:p>
        </p:txBody>
      </p:sp>
      <p:sp>
        <p:nvSpPr>
          <p:cNvPr id="19" name="Text 17"/>
          <p:cNvSpPr/>
          <p:nvPr/>
        </p:nvSpPr>
        <p:spPr>
          <a:xfrm>
            <a:off x="6437376" y="4645152"/>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Reports self-submitted by humanitarian organisations, no fixed schedule or obligation to report</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60.1% of district-months, 73 of 74 districts at least once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What a zero means, what missing means, and the main risk</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Same table, the harder-to-summarise rows</a:t>
            </a:r>
            <a:endParaRPr lang="en-US" sz="1250" dirty="0"/>
          </a:p>
        </p:txBody>
      </p:sp>
      <p:sp>
        <p:nvSpPr>
          <p:cNvPr id="4" name="Text 2"/>
          <p:cNvSpPr/>
          <p:nvPr/>
        </p:nvSpPr>
        <p:spPr>
          <a:xfrm>
            <a:off x="566928" y="1554480"/>
            <a:ext cx="11027664" cy="310896"/>
          </a:xfrm>
          <a:prstGeom prst="rect">
            <a:avLst/>
          </a:prstGeom>
          <a:noFill/>
          <a:ln/>
        </p:spPr>
        <p:txBody>
          <a:bodyPr wrap="square" lIns="0" tIns="0" rIns="0" bIns="0" rtlCol="0" anchor="ctr"/>
          <a:lstStyle/>
          <a:p>
            <a:pPr indent="0" marL="0">
              <a:buNone/>
            </a:pPr>
            <a:r>
              <a:rPr lang="en-US" sz="1400" b="1" dirty="0">
                <a:solidFill>
                  <a:srgbClr val="B85042"/>
                </a:solidFill>
                <a:latin typeface="Cambria" pitchFamily="34" charset="0"/>
                <a:ea typeface="Cambria" pitchFamily="34" charset="-122"/>
                <a:cs typeface="Cambria" pitchFamily="34" charset="-120"/>
              </a:rPr>
              <a:t>What a zero means</a:t>
            </a:r>
            <a:endParaRPr lang="en-US" sz="1400" dirty="0"/>
          </a:p>
        </p:txBody>
      </p:sp>
      <p:sp>
        <p:nvSpPr>
          <p:cNvPr id="5" name="Shape 3"/>
          <p:cNvSpPr/>
          <p:nvPr/>
        </p:nvSpPr>
        <p:spPr>
          <a:xfrm>
            <a:off x="566928" y="192024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6" name="Text 4"/>
          <p:cNvSpPr/>
          <p:nvPr/>
        </p:nvSpPr>
        <p:spPr>
          <a:xfrm>
            <a:off x="749808"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Conflict</a:t>
            </a:r>
            <a:endParaRPr lang="en-US" sz="1050" dirty="0"/>
          </a:p>
        </p:txBody>
      </p:sp>
      <p:sp>
        <p:nvSpPr>
          <p:cNvPr id="7" name="Text 5"/>
          <p:cNvSpPr/>
          <p:nvPr/>
        </p:nvSpPr>
        <p:spPr>
          <a:xfrm>
            <a:off x="749808"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recorded event: genuine calm, or violence nobody reported</a:t>
            </a:r>
            <a:endParaRPr lang="en-US" sz="950" dirty="0"/>
          </a:p>
        </p:txBody>
      </p:sp>
      <p:sp>
        <p:nvSpPr>
          <p:cNvPr id="8" name="Text 6"/>
          <p:cNvSpPr/>
          <p:nvPr/>
        </p:nvSpPr>
        <p:spPr>
          <a:xfrm>
            <a:off x="3506724"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Climate</a:t>
            </a:r>
            <a:endParaRPr lang="en-US" sz="1050" dirty="0"/>
          </a:p>
        </p:txBody>
      </p:sp>
      <p:sp>
        <p:nvSpPr>
          <p:cNvPr id="9" name="Text 7"/>
          <p:cNvSpPr/>
          <p:nvPr/>
        </p:nvSpPr>
        <p:spPr>
          <a:xfrm>
            <a:off x="3506724"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real, meaningful reading, not a gap</a:t>
            </a:r>
            <a:endParaRPr lang="en-US" sz="950" dirty="0"/>
          </a:p>
        </p:txBody>
      </p:sp>
      <p:sp>
        <p:nvSpPr>
          <p:cNvPr id="10" name="Text 8"/>
          <p:cNvSpPr/>
          <p:nvPr/>
        </p:nvSpPr>
        <p:spPr>
          <a:xfrm>
            <a:off x="6263640"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Market</a:t>
            </a:r>
            <a:endParaRPr lang="en-US" sz="1050" dirty="0"/>
          </a:p>
        </p:txBody>
      </p:sp>
      <p:sp>
        <p:nvSpPr>
          <p:cNvPr id="11" name="Text 9"/>
          <p:cNvSpPr/>
          <p:nvPr/>
        </p:nvSpPr>
        <p:spPr>
          <a:xfrm>
            <a:off x="6263640"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Not valid for a price itself; only the summary counts can read 0</a:t>
            </a:r>
            <a:endParaRPr lang="en-US" sz="950" dirty="0"/>
          </a:p>
        </p:txBody>
      </p:sp>
      <p:sp>
        <p:nvSpPr>
          <p:cNvPr id="12" name="Text 10"/>
          <p:cNvSpPr/>
          <p:nvPr/>
        </p:nvSpPr>
        <p:spPr>
          <a:xfrm>
            <a:off x="9020556"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Reporting</a:t>
            </a:r>
            <a:endParaRPr lang="en-US" sz="1050" dirty="0"/>
          </a:p>
        </p:txBody>
      </p:sp>
      <p:sp>
        <p:nvSpPr>
          <p:cNvPr id="13" name="Text 11"/>
          <p:cNvSpPr/>
          <p:nvPr/>
        </p:nvSpPr>
        <p:spPr>
          <a:xfrm>
            <a:off x="9020556"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most literal zero: no report matched</a:t>
            </a:r>
            <a:endParaRPr lang="en-US" sz="950" dirty="0"/>
          </a:p>
        </p:txBody>
      </p:sp>
      <p:sp>
        <p:nvSpPr>
          <p:cNvPr id="14" name="Text 12"/>
          <p:cNvSpPr/>
          <p:nvPr/>
        </p:nvSpPr>
        <p:spPr>
          <a:xfrm>
            <a:off x="566928" y="3090672"/>
            <a:ext cx="11027664" cy="310896"/>
          </a:xfrm>
          <a:prstGeom prst="rect">
            <a:avLst/>
          </a:prstGeom>
          <a:noFill/>
          <a:ln/>
        </p:spPr>
        <p:txBody>
          <a:bodyPr wrap="square" lIns="0" tIns="0" rIns="0" bIns="0" rtlCol="0" anchor="ctr"/>
          <a:lstStyle/>
          <a:p>
            <a:pPr indent="0" marL="0">
              <a:buNone/>
            </a:pPr>
            <a:r>
              <a:rPr lang="en-US" sz="1400" b="1" dirty="0">
                <a:solidFill>
                  <a:srgbClr val="B85042"/>
                </a:solidFill>
                <a:latin typeface="Cambria" pitchFamily="34" charset="0"/>
                <a:ea typeface="Cambria" pitchFamily="34" charset="-122"/>
                <a:cs typeface="Cambria" pitchFamily="34" charset="-120"/>
              </a:rPr>
              <a:t>Main measurement risk</a:t>
            </a:r>
            <a:endParaRPr lang="en-US" sz="1400" dirty="0"/>
          </a:p>
        </p:txBody>
      </p:sp>
      <p:sp>
        <p:nvSpPr>
          <p:cNvPr id="15" name="Shape 13"/>
          <p:cNvSpPr/>
          <p:nvPr/>
        </p:nvSpPr>
        <p:spPr>
          <a:xfrm>
            <a:off x="566928" y="3456432"/>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6" name="Text 14"/>
          <p:cNvSpPr/>
          <p:nvPr/>
        </p:nvSpPr>
        <p:spPr>
          <a:xfrm>
            <a:off x="749808"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Conflict</a:t>
            </a:r>
            <a:endParaRPr lang="en-US" sz="1050" dirty="0"/>
          </a:p>
        </p:txBody>
      </p:sp>
      <p:sp>
        <p:nvSpPr>
          <p:cNvPr id="17" name="Text 15"/>
          <p:cNvSpPr/>
          <p:nvPr/>
        </p:nvSpPr>
        <p:spPr>
          <a:xfrm>
            <a:off x="749808"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Tracks media presence more than violence itself</a:t>
            </a:r>
            <a:endParaRPr lang="en-US" sz="950" dirty="0"/>
          </a:p>
        </p:txBody>
      </p:sp>
      <p:sp>
        <p:nvSpPr>
          <p:cNvPr id="18" name="Text 16"/>
          <p:cNvSpPr/>
          <p:nvPr/>
        </p:nvSpPr>
        <p:spPr>
          <a:xfrm>
            <a:off x="3506724"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Climate</a:t>
            </a:r>
            <a:endParaRPr lang="en-US" sz="1050" dirty="0"/>
          </a:p>
        </p:txBody>
      </p:sp>
      <p:sp>
        <p:nvSpPr>
          <p:cNvPr id="19" name="Text 17"/>
          <p:cNvSpPr/>
          <p:nvPr/>
        </p:nvSpPr>
        <p:spPr>
          <a:xfrm>
            <a:off x="3506724"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most reliable of the four, but weaker where rain gauges are sparse</a:t>
            </a:r>
            <a:endParaRPr lang="en-US" sz="950" dirty="0"/>
          </a:p>
        </p:txBody>
      </p:sp>
      <p:sp>
        <p:nvSpPr>
          <p:cNvPr id="20" name="Text 18"/>
          <p:cNvSpPr/>
          <p:nvPr/>
        </p:nvSpPr>
        <p:spPr>
          <a:xfrm>
            <a:off x="6263640"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Market</a:t>
            </a:r>
            <a:endParaRPr lang="en-US" sz="1050" dirty="0"/>
          </a:p>
        </p:txBody>
      </p:sp>
      <p:sp>
        <p:nvSpPr>
          <p:cNvPr id="21" name="Text 19"/>
          <p:cNvSpPr/>
          <p:nvPr/>
        </p:nvSpPr>
        <p:spPr>
          <a:xfrm>
            <a:off x="6263640"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Reflects accessible trade hubs, not a random sample of Somalia</a:t>
            </a:r>
            <a:endParaRPr lang="en-US" sz="950" dirty="0"/>
          </a:p>
        </p:txBody>
      </p:sp>
      <p:sp>
        <p:nvSpPr>
          <p:cNvPr id="22" name="Text 20"/>
          <p:cNvSpPr/>
          <p:nvPr/>
        </p:nvSpPr>
        <p:spPr>
          <a:xfrm>
            <a:off x="9020556"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Reporting</a:t>
            </a:r>
            <a:endParaRPr lang="en-US" sz="1050" dirty="0"/>
          </a:p>
        </p:txBody>
      </p:sp>
      <p:sp>
        <p:nvSpPr>
          <p:cNvPr id="23" name="Text 21"/>
          <p:cNvSpPr/>
          <p:nvPr/>
        </p:nvSpPr>
        <p:spPr>
          <a:xfrm>
            <a:off x="9020556"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word-boundary matching; favours conflict over climate stress</a:t>
            </a:r>
            <a:endParaRPr lang="en-US" sz="950" dirty="0"/>
          </a:p>
        </p:txBody>
      </p:sp>
      <p:sp>
        <p:nvSpPr>
          <p:cNvPr id="24" name="Shape 22"/>
          <p:cNvSpPr/>
          <p:nvPr/>
        </p:nvSpPr>
        <p:spPr>
          <a:xfrm>
            <a:off x="566928" y="4626864"/>
            <a:ext cx="11027664" cy="786384"/>
          </a:xfrm>
          <a:prstGeom prst="roundRect">
            <a:avLst>
              <a:gd name="adj" fmla="val 6977"/>
            </a:avLst>
          </a:prstGeom>
          <a:solidFill>
            <a:srgbClr val="F7F5F1"/>
          </a:solidFill>
          <a:ln/>
          <a:effectLst>
            <a:outerShdw sx="100000" sy="100000" kx="0" ky="0" algn="bl" rotWithShape="0" blurRad="76200" dist="381" dir="5400000">
              <a:srgbClr val="000000">
                <a:alpha val="8000"/>
              </a:srgbClr>
            </a:outerShdw>
          </a:effectLst>
        </p:spPr>
      </p:sp>
      <p:sp>
        <p:nvSpPr>
          <p:cNvPr id="25" name="Text 23"/>
          <p:cNvSpPr/>
          <p:nvPr/>
        </p:nvSpPr>
        <p:spPr>
          <a:xfrm>
            <a:off x="841248" y="4754880"/>
            <a:ext cx="10479024" cy="548640"/>
          </a:xfrm>
          <a:prstGeom prst="rect">
            <a:avLst/>
          </a:prstGeom>
          <a:noFill/>
          <a:ln/>
        </p:spPr>
        <p:txBody>
          <a:bodyPr wrap="square" lIns="0" tIns="0" rIns="0" bIns="0" rtlCol="0" anchor="ctr"/>
          <a:lstStyle/>
          <a:p>
            <a:pPr indent="0" marL="0">
              <a:buNone/>
            </a:pPr>
            <a:r>
              <a:rPr lang="en-US" sz="1200" i="1" dirty="0">
                <a:solidFill>
                  <a:srgbClr val="2B2523"/>
                </a:solidFill>
                <a:latin typeface="Calibri" pitchFamily="34" charset="0"/>
                <a:ea typeface="Calibri" pitchFamily="34" charset="-122"/>
                <a:cs typeface="Calibri" pitchFamily="34" charset="-120"/>
              </a:rPr>
              <a:t>None of the four is a neutral, ground-truthed measure. Each one sees Somalia through the lens of who is watching, and why.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Next steps: sharpening the three sub-questions further</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Identified this week, not yet built</a:t>
            </a:r>
            <a:endParaRPr lang="en-US" sz="1250" dirty="0"/>
          </a:p>
        </p:txBody>
      </p:sp>
      <p:sp>
        <p:nvSpPr>
          <p:cNvPr id="4" name="Shape 2"/>
          <p:cNvSpPr/>
          <p:nvPr/>
        </p:nvSpPr>
        <p:spPr>
          <a:xfrm>
            <a:off x="566928" y="155448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49808" y="1719072"/>
            <a:ext cx="384048" cy="384048"/>
          </a:xfrm>
          <a:prstGeom prst="ellipse">
            <a:avLst/>
          </a:prstGeom>
          <a:solidFill>
            <a:srgbClr val="B85042"/>
          </a:solidFill>
          <a:ln/>
        </p:spPr>
      </p:sp>
      <p:sp>
        <p:nvSpPr>
          <p:cNvPr id="6" name="Text 4"/>
          <p:cNvSpPr/>
          <p:nvPr/>
        </p:nvSpPr>
        <p:spPr>
          <a:xfrm>
            <a:off x="749808" y="171907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1298448" y="1682496"/>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One table, coverage by month</a:t>
            </a:r>
            <a:endParaRPr lang="en-US" sz="1250" dirty="0"/>
          </a:p>
        </p:txBody>
      </p:sp>
      <p:sp>
        <p:nvSpPr>
          <p:cNvPr id="8" name="Text 6"/>
          <p:cNvSpPr/>
          <p:nvPr/>
        </p:nvSpPr>
        <p:spPr>
          <a:xfrm>
            <a:off x="5349240" y="1645920"/>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Pull the scattered month-by-month coverage numbers for every source into a single table, so the weakest months are visible at a glance.</a:t>
            </a:r>
            <a:endParaRPr lang="en-US" sz="1050" dirty="0"/>
          </a:p>
        </p:txBody>
      </p:sp>
      <p:sp>
        <p:nvSpPr>
          <p:cNvPr id="9" name="Shape 7"/>
          <p:cNvSpPr/>
          <p:nvPr/>
        </p:nvSpPr>
        <p:spPr>
          <a:xfrm>
            <a:off x="566928" y="2688336"/>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749808" y="2852928"/>
            <a:ext cx="384048" cy="384048"/>
          </a:xfrm>
          <a:prstGeom prst="ellipse">
            <a:avLst/>
          </a:prstGeom>
          <a:solidFill>
            <a:srgbClr val="B85042"/>
          </a:solidFill>
          <a:ln/>
        </p:spPr>
      </p:sp>
      <p:sp>
        <p:nvSpPr>
          <p:cNvPr id="11" name="Text 9"/>
          <p:cNvSpPr/>
          <p:nvPr/>
        </p:nvSpPr>
        <p:spPr>
          <a:xfrm>
            <a:off x="749808" y="28529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1298448" y="2816352"/>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Is market placement itself systematic?</a:t>
            </a:r>
            <a:endParaRPr lang="en-US" sz="1250" dirty="0"/>
          </a:p>
        </p:txBody>
      </p:sp>
      <p:sp>
        <p:nvSpPr>
          <p:cNvPr id="13" name="Text 11"/>
          <p:cNvSpPr/>
          <p:nvPr/>
        </p:nvSpPr>
        <p:spPr>
          <a:xfrm>
            <a:off x="5349240" y="2779776"/>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Market presence has only been checked against conflict. Check it against region and district size too, the same treatment reporting coverage already got.</a:t>
            </a:r>
            <a:endParaRPr lang="en-US" sz="1050" dirty="0"/>
          </a:p>
        </p:txBody>
      </p:sp>
      <p:sp>
        <p:nvSpPr>
          <p:cNvPr id="14" name="Shape 12"/>
          <p:cNvSpPr/>
          <p:nvPr/>
        </p:nvSpPr>
        <p:spPr>
          <a:xfrm>
            <a:off x="566928" y="3822192"/>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749808" y="3986784"/>
            <a:ext cx="384048" cy="384048"/>
          </a:xfrm>
          <a:prstGeom prst="ellipse">
            <a:avLst/>
          </a:prstGeom>
          <a:solidFill>
            <a:srgbClr val="B85042"/>
          </a:solidFill>
          <a:ln/>
        </p:spPr>
      </p:sp>
      <p:sp>
        <p:nvSpPr>
          <p:cNvPr id="16" name="Text 14"/>
          <p:cNvSpPr/>
          <p:nvPr/>
        </p:nvSpPr>
        <p:spPr>
          <a:xfrm>
            <a:off x="749808" y="39867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1298448" y="3950208"/>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Do the sources agree on where the crisis is?</a:t>
            </a:r>
            <a:endParaRPr lang="en-US" sz="1250" dirty="0"/>
          </a:p>
        </p:txBody>
      </p:sp>
      <p:sp>
        <p:nvSpPr>
          <p:cNvPr id="18" name="Text 16"/>
          <p:cNvSpPr/>
          <p:nvPr/>
        </p:nvSpPr>
        <p:spPr>
          <a:xfrm>
            <a:off x="5349240" y="3913632"/>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So far we've only checked whether sources cover the same places. Check whether conflict-severe districts are also the ones with stressed markets, or whether the two point elsewhere.</a:t>
            </a:r>
            <a:endParaRPr lang="en-US" sz="1050" dirty="0"/>
          </a:p>
        </p:txBody>
      </p:sp>
      <p:sp>
        <p:nvSpPr>
          <p:cNvPr id="19" name="Shape 17"/>
          <p:cNvSpPr/>
          <p:nvPr/>
        </p:nvSpPr>
        <p:spPr>
          <a:xfrm>
            <a:off x="566928" y="4956048"/>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749808" y="5120640"/>
            <a:ext cx="384048" cy="384048"/>
          </a:xfrm>
          <a:prstGeom prst="ellipse">
            <a:avLst/>
          </a:prstGeom>
          <a:solidFill>
            <a:srgbClr val="B85042"/>
          </a:solidFill>
          <a:ln/>
        </p:spPr>
      </p:sp>
      <p:sp>
        <p:nvSpPr>
          <p:cNvPr id="21" name="Text 19"/>
          <p:cNvSpPr/>
          <p:nvPr/>
        </p:nvSpPr>
        <p:spPr>
          <a:xfrm>
            <a:off x="749808" y="51206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1298448" y="5084064"/>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A note on how fine-grained each source is</a:t>
            </a:r>
            <a:endParaRPr lang="en-US" sz="1250" dirty="0"/>
          </a:p>
        </p:txBody>
      </p:sp>
      <p:sp>
        <p:nvSpPr>
          <p:cNvPr id="23" name="Text 21"/>
          <p:cNvSpPr/>
          <p:nvPr/>
        </p:nvSpPr>
        <p:spPr>
          <a:xfrm>
            <a:off x="5349240" y="5047488"/>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The research question asks about granularity by name. Document each source's native resolution, from exact GPS points down to a whole document, before it collapses to one number per district.</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Next steps: data-quality findings, already checked</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Verified against the actual data this week; ready to write up</a:t>
            </a:r>
            <a:endParaRPr lang="en-US" sz="1250" dirty="0"/>
          </a:p>
        </p:txBody>
      </p:sp>
      <p:sp>
        <p:nvSpPr>
          <p:cNvPr id="4" name="Shape 2"/>
          <p:cNvSpPr/>
          <p:nvPr/>
        </p:nvSpPr>
        <p:spPr>
          <a:xfrm>
            <a:off x="566928" y="1463040"/>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5" name="Text 3"/>
          <p:cNvSpPr/>
          <p:nvPr/>
        </p:nvSpPr>
        <p:spPr>
          <a:xfrm>
            <a:off x="768096" y="159105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Conflict location precision</a:t>
            </a:r>
            <a:endParaRPr lang="en-US" sz="1200" dirty="0"/>
          </a:p>
        </p:txBody>
      </p:sp>
      <p:sp>
        <p:nvSpPr>
          <p:cNvPr id="6" name="Text 4"/>
          <p:cNvSpPr/>
          <p:nvPr/>
        </p:nvSpPr>
        <p:spPr>
          <a:xfrm>
            <a:off x="768096" y="1920240"/>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22.4% of Somalia's 2024 conflict events are only approximately located, not pinned to an exact site, and it varies sharply by district (0-69%).</a:t>
            </a:r>
            <a:endParaRPr lang="en-US" sz="1000" dirty="0"/>
          </a:p>
        </p:txBody>
      </p:sp>
      <p:sp>
        <p:nvSpPr>
          <p:cNvPr id="7" name="Shape 5"/>
          <p:cNvSpPr/>
          <p:nvPr/>
        </p:nvSpPr>
        <p:spPr>
          <a:xfrm>
            <a:off x="6190488" y="1463040"/>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8" name="Text 6"/>
          <p:cNvSpPr/>
          <p:nvPr/>
        </p:nvSpPr>
        <p:spPr>
          <a:xfrm>
            <a:off x="6391656" y="159105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The market/PEWI gap, quantified</a:t>
            </a:r>
            <a:endParaRPr lang="en-US" sz="1200" dirty="0"/>
          </a:p>
        </p:txBody>
      </p:sp>
      <p:sp>
        <p:nvSpPr>
          <p:cNvPr id="9" name="Text 7"/>
          <p:cNvSpPr/>
          <p:nvPr/>
        </p:nvSpPr>
        <p:spPr>
          <a:xfrm>
            <a:off x="6391656" y="1920240"/>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147 of 1,676 basket-commodity price records (8.8%) have a price but no PEWI score, concentrated in 3 districts missing it all year.</a:t>
            </a:r>
            <a:endParaRPr lang="en-US" sz="1000" dirty="0"/>
          </a:p>
        </p:txBody>
      </p:sp>
      <p:sp>
        <p:nvSpPr>
          <p:cNvPr id="10" name="Shape 8"/>
          <p:cNvSpPr/>
          <p:nvPr/>
        </p:nvSpPr>
        <p:spPr>
          <a:xfrm>
            <a:off x="566928" y="2944368"/>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11" name="Text 9"/>
          <p:cNvSpPr/>
          <p:nvPr/>
        </p:nvSpPr>
        <p:spPr>
          <a:xfrm>
            <a:off x="768096" y="3072384"/>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Price outlier check</a:t>
            </a:r>
            <a:endParaRPr lang="en-US" sz="1200" dirty="0"/>
          </a:p>
        </p:txBody>
      </p:sp>
      <p:sp>
        <p:nvSpPr>
          <p:cNvPr id="12" name="Text 10"/>
          <p:cNvSpPr/>
          <p:nvPr/>
        </p:nvSpPr>
        <p:spPr>
          <a:xfrm>
            <a:off x="768096" y="3401568"/>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Ran a check for implausible prices. Came back clean, nothing to report beyond confirming it was checked.</a:t>
            </a:r>
            <a:endParaRPr lang="en-US" sz="1000" dirty="0"/>
          </a:p>
        </p:txBody>
      </p:sp>
      <p:sp>
        <p:nvSpPr>
          <p:cNvPr id="13" name="Shape 11"/>
          <p:cNvSpPr/>
          <p:nvPr/>
        </p:nvSpPr>
        <p:spPr>
          <a:xfrm>
            <a:off x="6190488" y="2944368"/>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6391656" y="3072384"/>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Trend features miss more than prices</a:t>
            </a:r>
            <a:endParaRPr lang="en-US" sz="1200" dirty="0"/>
          </a:p>
        </p:txBody>
      </p:sp>
      <p:sp>
        <p:nvSpPr>
          <p:cNvPr id="15" name="Text 13"/>
          <p:cNvSpPr/>
          <p:nvPr/>
        </p:nvSpPr>
        <p:spPr>
          <a:xfrm>
            <a:off x="6391656" y="3401568"/>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The price-change features are missing 56.8% of the time, versus 52.8% for the prices they're built from, since a trend needs two consecutive months.</a:t>
            </a:r>
            <a:endParaRPr lang="en-US" sz="1000" dirty="0"/>
          </a:p>
        </p:txBody>
      </p:sp>
      <p:sp>
        <p:nvSpPr>
          <p:cNvPr id="16" name="Shape 14"/>
          <p:cNvSpPr/>
          <p:nvPr/>
        </p:nvSpPr>
        <p:spPr>
          <a:xfrm>
            <a:off x="566928" y="4425696"/>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17" name="Text 15"/>
          <p:cNvSpPr/>
          <p:nvPr/>
        </p:nvSpPr>
        <p:spPr>
          <a:xfrm>
            <a:off x="768096" y="4553712"/>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"Whole basket or nothing" reporting</a:t>
            </a:r>
            <a:endParaRPr lang="en-US" sz="1200" dirty="0"/>
          </a:p>
        </p:txBody>
      </p:sp>
      <p:sp>
        <p:nvSpPr>
          <p:cNvPr id="18" name="Text 16"/>
          <p:cNvSpPr/>
          <p:nvPr/>
        </p:nvSpPr>
        <p:spPr>
          <a:xfrm>
            <a:off x="768096" y="4882896"/>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A market reports all four basket foods in a month, or none of them, almost never a partial mix. A genuine, previously undocumented pattern in how WFP collects prices.</a:t>
            </a:r>
            <a:endParaRPr lang="en-US" sz="1000" dirty="0"/>
          </a:p>
        </p:txBody>
      </p:sp>
      <p:sp>
        <p:nvSpPr>
          <p:cNvPr id="19" name="Shape 17"/>
          <p:cNvSpPr/>
          <p:nvPr/>
        </p:nvSpPr>
        <p:spPr>
          <a:xfrm>
            <a:off x="566928" y="5925312"/>
            <a:ext cx="11027664" cy="420624"/>
          </a:xfrm>
          <a:prstGeom prst="roundRect">
            <a:avLst>
              <a:gd name="adj" fmla="val 13043"/>
            </a:avLst>
          </a:prstGeom>
          <a:solidFill>
            <a:srgbClr val="2B2523"/>
          </a:solidFill>
          <a:ln/>
          <a:effectLst>
            <a:outerShdw sx="100000" sy="100000" kx="0" ky="0" algn="bl" rotWithShape="0" blurRad="76200" dist="381" dir="5400000">
              <a:srgbClr val="000000">
                <a:alpha val="8000"/>
              </a:srgbClr>
            </a:outerShdw>
          </a:effectLst>
        </p:spPr>
      </p:sp>
      <p:sp>
        <p:nvSpPr>
          <p:cNvPr id="20" name="Text 18"/>
          <p:cNvSpPr/>
          <p:nvPr/>
        </p:nvSpPr>
        <p:spPr>
          <a:xfrm>
            <a:off x="841248" y="5998464"/>
            <a:ext cx="10479024" cy="292608"/>
          </a:xfrm>
          <a:prstGeom prst="rect">
            <a:avLst/>
          </a:prstGeom>
          <a:noFill/>
          <a:ln/>
        </p:spPr>
        <p:txBody>
          <a:bodyPr wrap="square" lIns="0" tIns="0" rIns="0" bIns="0" rtlCol="0" anchor="ctr"/>
          <a:lstStyle/>
          <a:p>
            <a:pPr indent="0" marL="0">
              <a:buNone/>
            </a:pPr>
            <a:r>
              <a:rPr lang="en-US" sz="1100" i="1" dirty="0">
                <a:solidFill>
                  <a:srgbClr val="E7E8D1"/>
                </a:solidFill>
                <a:latin typeface="Calibri" pitchFamily="34" charset="0"/>
                <a:ea typeface="Calibri" pitchFamily="34" charset="-122"/>
                <a:cs typeface="Calibri" pitchFamily="34" charset="-120"/>
              </a:rPr>
              <a:t>None require new data. All reuse the datasets already in the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of August 17</dc:title>
  <dc:subject>PptxGenJS Presentation</dc:subject>
  <dc:creator>Samuel Aracena</dc:creator>
  <cp:lastModifiedBy>Samuel Aracena</cp:lastModifiedBy>
  <cp:revision>1</cp:revision>
  <dcterms:created xsi:type="dcterms:W3CDTF">2026-08-25T02:50:00Z</dcterms:created>
  <dcterms:modified xsi:type="dcterms:W3CDTF">2026-08-25T02:50:00Z</dcterms:modified>
</cp:coreProperties>
</file>