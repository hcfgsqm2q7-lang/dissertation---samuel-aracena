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523"/>
        </a:solidFill>
      </p:bgPr>
    </p:bg>
    <p:spTree>
      <p:nvGrpSpPr>
        <p:cNvPr id="1" name=""/>
        <p:cNvGrpSpPr/>
        <p:nvPr/>
      </p:nvGrpSpPr>
      <p:grpSpPr>
        <a:xfrm>
          <a:off x="0" y="0"/>
          <a:ext cx="0" cy="0"/>
          <a:chOff x="0" y="0"/>
          <a:chExt cx="0" cy="0"/>
        </a:xfrm>
      </p:grpSpPr>
      <p:sp>
        <p:nvSpPr>
          <p:cNvPr id="2" name="Text 0"/>
          <p:cNvSpPr/>
          <p:nvPr/>
        </p:nvSpPr>
        <p:spPr>
          <a:xfrm>
            <a:off x="566928" y="2468880"/>
            <a:ext cx="11027664"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Week of August 17, 2026</a:t>
            </a:r>
            <a:endParaRPr lang="en-US" sz="4000" dirty="0"/>
          </a:p>
        </p:txBody>
      </p:sp>
      <p:sp>
        <p:nvSpPr>
          <p:cNvPr id="3" name="Text 1"/>
          <p:cNvSpPr/>
          <p:nvPr/>
        </p:nvSpPr>
        <p:spPr>
          <a:xfrm>
            <a:off x="566928" y="3383280"/>
            <a:ext cx="11027664" cy="1005840"/>
          </a:xfrm>
          <a:prstGeom prst="rect">
            <a:avLst/>
          </a:prstGeom>
          <a:noFill/>
          <a:ln/>
        </p:spPr>
        <p:txBody>
          <a:bodyPr wrap="square" lIns="0" tIns="0" rIns="0" bIns="0" rtlCol="0" anchor="ctr"/>
          <a:lstStyle/>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This week's work: geoparser validation, correcting for repeated</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district-months, strengthening the conflict-vs-climate result, source complementarity,</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final feature formulas, and the source-level table.</a:t>
            </a:r>
            <a:endParaRPr lang="en-US" sz="1400" dirty="0"/>
          </a:p>
        </p:txBody>
      </p:sp>
      <p:sp>
        <p:nvSpPr>
          <p:cNvPr id="4" name="Text 2"/>
          <p:cNvSpPr/>
          <p:nvPr/>
        </p:nvSpPr>
        <p:spPr>
          <a:xfrm>
            <a:off x="566928" y="5943600"/>
            <a:ext cx="11027664" cy="365760"/>
          </a:xfrm>
          <a:prstGeom prst="rect">
            <a:avLst/>
          </a:prstGeom>
          <a:noFill/>
          <a:ln/>
        </p:spPr>
        <p:txBody>
          <a:bodyPr wrap="square" lIns="0" tIns="0" rIns="0" bIns="0" rtlCol="0" anchor="ctr"/>
          <a:lstStyle/>
          <a:p>
            <a:pPr indent="0" marL="0">
              <a:buNone/>
            </a:pPr>
            <a:r>
              <a:rPr lang="en-US" sz="1150" i="1" dirty="0">
                <a:solidFill>
                  <a:srgbClr val="A7BEAE"/>
                </a:solidFill>
                <a:latin typeface="Calibri" pitchFamily="34" charset="0"/>
                <a:ea typeface="Calibri" pitchFamily="34" charset="-122"/>
                <a:cs typeface="Calibri" pitchFamily="34" charset="-120"/>
              </a:rPr>
              <a:t>Somalia humanitarian observability dissertation</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ReliefWeb geoparser: final validation</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A blind, manual check of the final method against human judgement</a:t>
            </a:r>
            <a:endParaRPr lang="en-US" sz="1300" dirty="0"/>
          </a:p>
        </p:txBody>
      </p:sp>
      <p:sp>
        <p:nvSpPr>
          <p:cNvPr id="4" name="Shape 2"/>
          <p:cNvSpPr/>
          <p:nvPr/>
        </p:nvSpPr>
        <p:spPr>
          <a:xfrm>
            <a:off x="566928"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86384" y="1773936"/>
            <a:ext cx="457200" cy="457200"/>
          </a:xfrm>
          <a:prstGeom prst="ellipse">
            <a:avLst/>
          </a:prstGeom>
          <a:solidFill>
            <a:srgbClr val="B85042"/>
          </a:solidFill>
          <a:ln/>
        </p:spPr>
      </p:sp>
      <p:sp>
        <p:nvSpPr>
          <p:cNvPr id="6" name="Text 4"/>
          <p:cNvSpPr/>
          <p:nvPr/>
        </p:nvSpPr>
        <p:spPr>
          <a:xfrm>
            <a:off x="786384"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786384"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Draw a fresh sample</a:t>
            </a:r>
            <a:endParaRPr lang="en-US" sz="1300" dirty="0"/>
          </a:p>
        </p:txBody>
      </p:sp>
      <p:sp>
        <p:nvSpPr>
          <p:cNvPr id="8" name="Text 6"/>
          <p:cNvSpPr/>
          <p:nvPr/>
        </p:nvSpPr>
        <p:spPr>
          <a:xfrm>
            <a:off x="786384"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100 reports from March-December only. January and February were excluded, since those were the exact reports used while building and tuning the method.</a:t>
            </a:r>
            <a:endParaRPr lang="en-US" sz="1000" dirty="0"/>
          </a:p>
        </p:txBody>
      </p:sp>
      <p:sp>
        <p:nvSpPr>
          <p:cNvPr id="9" name="Shape 7"/>
          <p:cNvSpPr/>
          <p:nvPr/>
        </p:nvSpPr>
        <p:spPr>
          <a:xfrm>
            <a:off x="3374136"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3593592" y="1773936"/>
            <a:ext cx="457200" cy="457200"/>
          </a:xfrm>
          <a:prstGeom prst="ellipse">
            <a:avLst/>
          </a:prstGeom>
          <a:solidFill>
            <a:srgbClr val="B85042"/>
          </a:solidFill>
          <a:ln/>
        </p:spPr>
      </p:sp>
      <p:sp>
        <p:nvSpPr>
          <p:cNvPr id="11" name="Text 9"/>
          <p:cNvSpPr/>
          <p:nvPr/>
        </p:nvSpPr>
        <p:spPr>
          <a:xfrm>
            <a:off x="3593592"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3593592"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Split it evenly</a:t>
            </a:r>
            <a:endParaRPr lang="en-US" sz="1300" dirty="0"/>
          </a:p>
        </p:txBody>
      </p:sp>
      <p:sp>
        <p:nvSpPr>
          <p:cNvPr id="13" name="Text 11"/>
          <p:cNvSpPr/>
          <p:nvPr/>
        </p:nvSpPr>
        <p:spPr>
          <a:xfrm>
            <a:off x="3593592"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50 reports the geoparser matched to a district, 50 it did not. This makes it possible to measure both precision and recall properly, not just one.</a:t>
            </a:r>
            <a:endParaRPr lang="en-US" sz="1000" dirty="0"/>
          </a:p>
        </p:txBody>
      </p:sp>
      <p:sp>
        <p:nvSpPr>
          <p:cNvPr id="14" name="Shape 12"/>
          <p:cNvSpPr/>
          <p:nvPr/>
        </p:nvSpPr>
        <p:spPr>
          <a:xfrm>
            <a:off x="6181344"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6400800" y="1773936"/>
            <a:ext cx="457200" cy="457200"/>
          </a:xfrm>
          <a:prstGeom prst="ellipse">
            <a:avLst/>
          </a:prstGeom>
          <a:solidFill>
            <a:srgbClr val="B85042"/>
          </a:solidFill>
          <a:ln/>
        </p:spPr>
      </p:sp>
      <p:sp>
        <p:nvSpPr>
          <p:cNvPr id="16" name="Text 14"/>
          <p:cNvSpPr/>
          <p:nvPr/>
        </p:nvSpPr>
        <p:spPr>
          <a:xfrm>
            <a:off x="640080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6400800"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Label it blind</a:t>
            </a:r>
            <a:endParaRPr lang="en-US" sz="1300" dirty="0"/>
          </a:p>
        </p:txBody>
      </p:sp>
      <p:sp>
        <p:nvSpPr>
          <p:cNvPr id="18" name="Text 16"/>
          <p:cNvSpPr/>
          <p:nvPr/>
        </p:nvSpPr>
        <p:spPr>
          <a:xfrm>
            <a:off x="6400800"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The geoparser's own predictions were hidden from the labelling sheet. Districts were identified by reading each report from scratch, with no hint of what the method had guessed.</a:t>
            </a:r>
            <a:endParaRPr lang="en-US" sz="1000" dirty="0"/>
          </a:p>
        </p:txBody>
      </p:sp>
      <p:sp>
        <p:nvSpPr>
          <p:cNvPr id="19" name="Shape 17"/>
          <p:cNvSpPr/>
          <p:nvPr/>
        </p:nvSpPr>
        <p:spPr>
          <a:xfrm>
            <a:off x="8988552"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9208008" y="1773936"/>
            <a:ext cx="457200" cy="457200"/>
          </a:xfrm>
          <a:prstGeom prst="ellipse">
            <a:avLst/>
          </a:prstGeom>
          <a:solidFill>
            <a:srgbClr val="B85042"/>
          </a:solidFill>
          <a:ln/>
        </p:spPr>
      </p:sp>
      <p:sp>
        <p:nvSpPr>
          <p:cNvPr id="21" name="Text 19"/>
          <p:cNvSpPr/>
          <p:nvPr/>
        </p:nvSpPr>
        <p:spPr>
          <a:xfrm>
            <a:off x="920800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9208008"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Compare afterwards</a:t>
            </a:r>
            <a:endParaRPr lang="en-US" sz="1300" dirty="0"/>
          </a:p>
        </p:txBody>
      </p:sp>
      <p:sp>
        <p:nvSpPr>
          <p:cNvPr id="23" name="Text 21"/>
          <p:cNvSpPr/>
          <p:nvPr/>
        </p:nvSpPr>
        <p:spPr>
          <a:xfrm>
            <a:off x="9208008"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Only once labelling was done were the human labels joined against a separate answer key holding the geoparser's predictions, and precision, recall and F1 computed.</a:t>
            </a:r>
            <a:endParaRPr lang="en-US" sz="1000" dirty="0"/>
          </a:p>
        </p:txBody>
      </p:sp>
      <p:sp>
        <p:nvSpPr>
          <p:cNvPr id="24" name="Shape 22"/>
          <p:cNvSpPr/>
          <p:nvPr/>
        </p:nvSpPr>
        <p:spPr>
          <a:xfrm>
            <a:off x="566928" y="5029200"/>
            <a:ext cx="11027664" cy="1207008"/>
          </a:xfrm>
          <a:prstGeom prst="roundRect">
            <a:avLst>
              <a:gd name="adj" fmla="val 4545"/>
            </a:avLst>
          </a:prstGeom>
          <a:solidFill>
            <a:srgbClr val="2B2523"/>
          </a:solidFill>
          <a:ln/>
          <a:effectLst>
            <a:outerShdw sx="100000" sy="100000" kx="0" ky="0" algn="bl" rotWithShape="0" blurRad="76200" dist="381" dir="5400000">
              <a:srgbClr val="000000">
                <a:alpha val="8000"/>
              </a:srgbClr>
            </a:outerShdw>
          </a:effectLst>
        </p:spPr>
      </p:sp>
      <p:sp>
        <p:nvSpPr>
          <p:cNvPr id="25" name="Text 23"/>
          <p:cNvSpPr/>
          <p:nvPr/>
        </p:nvSpPr>
        <p:spPr>
          <a:xfrm>
            <a:off x="841248" y="5157216"/>
            <a:ext cx="10479024" cy="914400"/>
          </a:xfrm>
          <a:prstGeom prst="rect">
            <a:avLst/>
          </a:prstGeom>
          <a:noFill/>
          <a:ln/>
        </p:spPr>
        <p:txBody>
          <a:bodyPr wrap="square" lIns="0" tIns="0" rIns="0" bIns="0" rtlCol="0" anchor="ctr"/>
          <a:lstStyle/>
          <a:p>
            <a:pPr indent="0" marL="0">
              <a:lnSpc>
                <a:spcPts val="1600"/>
              </a:lnSpc>
              <a:buNone/>
            </a:pPr>
            <a:r>
              <a:rPr lang="en-US" sz="1200" dirty="0">
                <a:solidFill>
                  <a:srgbClr val="E7E8D1"/>
                </a:solidFill>
                <a:latin typeface="Calibri" pitchFamily="34" charset="0"/>
                <a:ea typeface="Calibri" pitchFamily="34" charset="-122"/>
                <a:cs typeface="Calibri" pitchFamily="34" charset="-120"/>
              </a:rPr>
              <a:t>Why this matters: the validation had to test the final method, on reports it had never seen, with the labeller unable to see what the method predicted. All three conditions are met 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Results: strong precision, and a recall figure that needs care</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All 100 reports labelled and scored</a:t>
            </a:r>
            <a:endParaRPr lang="en-US" sz="1300" dirty="0"/>
          </a:p>
        </p:txBody>
      </p:sp>
      <p:sp>
        <p:nvSpPr>
          <p:cNvPr id="4" name="Shape 2"/>
          <p:cNvSpPr/>
          <p:nvPr/>
        </p:nvSpPr>
        <p:spPr>
          <a:xfrm>
            <a:off x="566928" y="1517904"/>
            <a:ext cx="11027664" cy="1700784"/>
          </a:xfrm>
          <a:prstGeom prst="roundRect">
            <a:avLst>
              <a:gd name="adj" fmla="val 3226"/>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664208"/>
            <a:ext cx="3562868" cy="274320"/>
          </a:xfrm>
          <a:prstGeom prst="rect">
            <a:avLst/>
          </a:prstGeom>
          <a:noFill/>
          <a:ln/>
        </p:spPr>
        <p:txBody>
          <a:bodyPr wrap="square" lIns="0" tIns="0" rIns="0" bIns="0" rtlCol="0" anchor="ctr"/>
          <a:lstStyle/>
          <a:p>
            <a:pPr algn="l" indent="0" marL="0">
              <a:buNone/>
            </a:pPr>
            <a:endParaRPr lang="en-US" sz="1050" dirty="0"/>
          </a:p>
        </p:txBody>
      </p:sp>
      <p:sp>
        <p:nvSpPr>
          <p:cNvPr id="6" name="Text 4"/>
          <p:cNvSpPr/>
          <p:nvPr/>
        </p:nvSpPr>
        <p:spPr>
          <a:xfrm>
            <a:off x="841248" y="2011680"/>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x district pairs</a:t>
            </a:r>
            <a:endParaRPr lang="en-US" sz="1250" dirty="0"/>
          </a:p>
        </p:txBody>
      </p:sp>
      <p:sp>
        <p:nvSpPr>
          <p:cNvPr id="7" name="Text 5"/>
          <p:cNvSpPr/>
          <p:nvPr/>
        </p:nvSpPr>
        <p:spPr>
          <a:xfrm>
            <a:off x="841248" y="2542032"/>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level</a:t>
            </a:r>
            <a:endParaRPr lang="en-US" sz="1250" dirty="0"/>
          </a:p>
        </p:txBody>
      </p:sp>
      <p:sp>
        <p:nvSpPr>
          <p:cNvPr id="8" name="Text 6"/>
          <p:cNvSpPr/>
          <p:nvPr/>
        </p:nvSpPr>
        <p:spPr>
          <a:xfrm>
            <a:off x="4404116"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Precision</a:t>
            </a:r>
            <a:endParaRPr lang="en-US" sz="1050" dirty="0"/>
          </a:p>
        </p:txBody>
      </p:sp>
      <p:sp>
        <p:nvSpPr>
          <p:cNvPr id="9" name="Text 7"/>
          <p:cNvSpPr/>
          <p:nvPr/>
        </p:nvSpPr>
        <p:spPr>
          <a:xfrm>
            <a:off x="4404116"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81.1%</a:t>
            </a:r>
            <a:endParaRPr lang="en-US" sz="1800" dirty="0"/>
          </a:p>
        </p:txBody>
      </p:sp>
      <p:sp>
        <p:nvSpPr>
          <p:cNvPr id="10" name="Text 8"/>
          <p:cNvSpPr/>
          <p:nvPr/>
        </p:nvSpPr>
        <p:spPr>
          <a:xfrm>
            <a:off x="4404116"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78.8%</a:t>
            </a:r>
            <a:endParaRPr lang="en-US" sz="1800" dirty="0"/>
          </a:p>
        </p:txBody>
      </p:sp>
      <p:sp>
        <p:nvSpPr>
          <p:cNvPr id="11" name="Text 9"/>
          <p:cNvSpPr/>
          <p:nvPr/>
        </p:nvSpPr>
        <p:spPr>
          <a:xfrm>
            <a:off x="6709501"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Recall</a:t>
            </a:r>
            <a:endParaRPr lang="en-US" sz="1050" dirty="0"/>
          </a:p>
        </p:txBody>
      </p:sp>
      <p:sp>
        <p:nvSpPr>
          <p:cNvPr id="12" name="Text 10"/>
          <p:cNvSpPr/>
          <p:nvPr/>
        </p:nvSpPr>
        <p:spPr>
          <a:xfrm>
            <a:off x="6709501"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16.7%</a:t>
            </a:r>
            <a:endParaRPr lang="en-US" sz="1800" dirty="0"/>
          </a:p>
        </p:txBody>
      </p:sp>
      <p:sp>
        <p:nvSpPr>
          <p:cNvPr id="13" name="Text 11"/>
          <p:cNvSpPr/>
          <p:nvPr/>
        </p:nvSpPr>
        <p:spPr>
          <a:xfrm>
            <a:off x="6709501"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56.8%</a:t>
            </a:r>
            <a:endParaRPr lang="en-US" sz="1800" dirty="0"/>
          </a:p>
        </p:txBody>
      </p:sp>
      <p:sp>
        <p:nvSpPr>
          <p:cNvPr id="14" name="Text 12"/>
          <p:cNvSpPr/>
          <p:nvPr/>
        </p:nvSpPr>
        <p:spPr>
          <a:xfrm>
            <a:off x="9014887"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F1</a:t>
            </a:r>
            <a:endParaRPr lang="en-US" sz="1050" dirty="0"/>
          </a:p>
        </p:txBody>
      </p:sp>
      <p:sp>
        <p:nvSpPr>
          <p:cNvPr id="15" name="Text 13"/>
          <p:cNvSpPr/>
          <p:nvPr/>
        </p:nvSpPr>
        <p:spPr>
          <a:xfrm>
            <a:off x="9014887"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27.7%</a:t>
            </a:r>
            <a:endParaRPr lang="en-US" sz="1800" dirty="0"/>
          </a:p>
        </p:txBody>
      </p:sp>
      <p:sp>
        <p:nvSpPr>
          <p:cNvPr id="16" name="Text 14"/>
          <p:cNvSpPr/>
          <p:nvPr/>
        </p:nvSpPr>
        <p:spPr>
          <a:xfrm>
            <a:off x="9014887"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66.0%</a:t>
            </a:r>
            <a:endParaRPr lang="en-US" sz="1800" dirty="0"/>
          </a:p>
        </p:txBody>
      </p:sp>
      <p:sp>
        <p:nvSpPr>
          <p:cNvPr id="17" name="Text 15"/>
          <p:cNvSpPr/>
          <p:nvPr/>
        </p:nvSpPr>
        <p:spPr>
          <a:xfrm>
            <a:off x="566928" y="3401568"/>
            <a:ext cx="11027664" cy="457200"/>
          </a:xfrm>
          <a:prstGeom prst="rect">
            <a:avLst/>
          </a:prstGeom>
          <a:noFill/>
          <a:ln/>
        </p:spPr>
        <p:txBody>
          <a:bodyPr wrap="square" lIns="0" tIns="0" rIns="0" bIns="0" rtlCol="0" anchor="ctr"/>
          <a:lstStyle/>
          <a:p>
            <a:pPr indent="0" marL="0">
              <a:lnSpc>
                <a:spcPts val="1600"/>
              </a:lnSpc>
              <a:buNone/>
            </a:pPr>
            <a:r>
              <a:rPr lang="en-US" sz="1250" i="1" dirty="0">
                <a:solidFill>
                  <a:srgbClr val="2B2523"/>
                </a:solidFill>
                <a:latin typeface="Calibri" pitchFamily="34" charset="0"/>
                <a:ea typeface="Calibri" pitchFamily="34" charset="-122"/>
                <a:cs typeface="Calibri" pitchFamily="34" charset="-120"/>
              </a:rPr>
              <a:t>Read plainly: when the geoparser says a report is about a district, it is right roughly four times out of five, at either level of detail.</a:t>
            </a:r>
            <a:endParaRPr lang="en-US" sz="1250" dirty="0"/>
          </a:p>
        </p:txBody>
      </p:sp>
      <p:sp>
        <p:nvSpPr>
          <p:cNvPr id="18" name="Shape 16"/>
          <p:cNvSpPr/>
          <p:nvPr/>
        </p:nvSpPr>
        <p:spPr>
          <a:xfrm>
            <a:off x="566928" y="4023360"/>
            <a:ext cx="5486400" cy="2212848"/>
          </a:xfrm>
          <a:prstGeom prst="roundRect">
            <a:avLst>
              <a:gd name="adj" fmla="val 2479"/>
            </a:avLst>
          </a:prstGeom>
          <a:solidFill>
            <a:srgbClr val="2B2523"/>
          </a:solidFill>
          <a:ln/>
          <a:effectLst>
            <a:outerShdw sx="100000" sy="100000" kx="0" ky="0" algn="bl" rotWithShape="0" blurRad="76200" dist="381" dir="5400000">
              <a:srgbClr val="000000">
                <a:alpha val="8000"/>
              </a:srgbClr>
            </a:outerShdw>
          </a:effectLst>
        </p:spPr>
      </p:sp>
      <p:sp>
        <p:nvSpPr>
          <p:cNvPr id="19" name="Text 17"/>
          <p:cNvSpPr/>
          <p:nvPr/>
        </p:nvSpPr>
        <p:spPr>
          <a:xfrm>
            <a:off x="804672" y="4169664"/>
            <a:ext cx="219456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WHY THE PAIR-LEVEL RECALL IS LOW</a:t>
            </a:r>
            <a:endParaRPr lang="en-US" sz="950" dirty="0"/>
          </a:p>
        </p:txBody>
      </p:sp>
      <p:sp>
        <p:nvSpPr>
          <p:cNvPr id="20" name="Text 18"/>
          <p:cNvSpPr/>
          <p:nvPr/>
        </p:nvSpPr>
        <p:spPr>
          <a:xfrm>
            <a:off x="804672" y="4480560"/>
            <a:ext cx="5029200" cy="164592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The geoparser can only work with a report's title and exported body text. It has no access to images, tables or attached files, so recall can only ever be as good as what that exported text contains.</a:t>
            </a:r>
            <a:endParaRPr lang="en-US" sz="1100" dirty="0"/>
          </a:p>
        </p:txBody>
      </p:sp>
      <p:sp>
        <p:nvSpPr>
          <p:cNvPr id="21" name="Shape 19"/>
          <p:cNvSpPr/>
          <p:nvPr/>
        </p:nvSpPr>
        <p:spPr>
          <a:xfrm>
            <a:off x="6309360" y="4023360"/>
            <a:ext cx="5285232" cy="2212848"/>
          </a:xfrm>
          <a:prstGeom prst="roundRect">
            <a:avLst>
              <a:gd name="adj" fmla="val 2479"/>
            </a:avLst>
          </a:prstGeom>
          <a:solidFill>
            <a:srgbClr val="A7BEAE"/>
          </a:solidFill>
          <a:ln/>
          <a:effectLst>
            <a:outerShdw sx="100000" sy="100000" kx="0" ky="0" algn="bl" rotWithShape="0" blurRad="76200" dist="381" dir="5400000">
              <a:srgbClr val="000000">
                <a:alpha val="8000"/>
              </a:srgbClr>
            </a:outerShdw>
          </a:effectLst>
        </p:spPr>
      </p:sp>
      <p:sp>
        <p:nvSpPr>
          <p:cNvPr id="22" name="Text 20"/>
          <p:cNvSpPr/>
          <p:nvPr/>
        </p:nvSpPr>
        <p:spPr>
          <a:xfrm>
            <a:off x="6547104" y="4169664"/>
            <a:ext cx="4754880" cy="731520"/>
          </a:xfrm>
          <a:prstGeom prst="rect">
            <a:avLst/>
          </a:prstGeom>
          <a:noFill/>
          <a:ln/>
        </p:spPr>
        <p:txBody>
          <a:bodyPr wrap="square" lIns="0" tIns="0" rIns="0" bIns="0" rtlCol="0" anchor="ctr"/>
          <a:lstStyle/>
          <a:p>
            <a:pPr indent="0" marL="0">
              <a:buNone/>
            </a:pPr>
            <a:r>
              <a:rPr lang="en-US" sz="3400" b="1" dirty="0">
                <a:solidFill>
                  <a:srgbClr val="2B2523"/>
                </a:solidFill>
                <a:latin typeface="Cambria" pitchFamily="34" charset="0"/>
                <a:ea typeface="Cambria" pitchFamily="34" charset="-122"/>
                <a:cs typeface="Cambria" pitchFamily="34" charset="-120"/>
              </a:rPr>
              <a:t>97.4%</a:t>
            </a:r>
            <a:endParaRPr lang="en-US" sz="3400" dirty="0"/>
          </a:p>
        </p:txBody>
      </p:sp>
      <p:sp>
        <p:nvSpPr>
          <p:cNvPr id="23" name="Text 21"/>
          <p:cNvSpPr/>
          <p:nvPr/>
        </p:nvSpPr>
        <p:spPr>
          <a:xfrm>
            <a:off x="6547104" y="4937760"/>
            <a:ext cx="4754880" cy="1097280"/>
          </a:xfrm>
          <a:prstGeom prst="rect">
            <a:avLst/>
          </a:prstGeom>
          <a:noFill/>
          <a:ln/>
        </p:spPr>
        <p:txBody>
          <a:bodyPr wrap="square" lIns="0" tIns="0" rIns="0" bIns="0" rtlCol="0" anchor="ctr"/>
          <a:lstStyle/>
          <a:p>
            <a:pPr indent="0" marL="0">
              <a:lnSpc>
                <a:spcPts val="1400"/>
              </a:lnSpc>
              <a:buNone/>
            </a:pPr>
            <a:r>
              <a:rPr lang="en-US" sz="1100" dirty="0">
                <a:solidFill>
                  <a:srgbClr val="2B2523"/>
                </a:solidFill>
                <a:latin typeface="Calibri" pitchFamily="34" charset="0"/>
                <a:ea typeface="Calibri" pitchFamily="34" charset="-122"/>
                <a:cs typeface="Calibri" pitchFamily="34" charset="-120"/>
              </a:rPr>
              <a:t>recall, once restricted to only the district mentions that were actually present in the report's exported text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The real limitation: attachments and PDFs, not matching quality</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Confirmed by opening the reports directly</a:t>
            </a:r>
            <a:endParaRPr lang="en-US" sz="1300" dirty="0"/>
          </a:p>
        </p:txBody>
      </p:sp>
      <p:sp>
        <p:nvSpPr>
          <p:cNvPr id="4" name="Shape 2"/>
          <p:cNvSpPr/>
          <p:nvPr/>
        </p:nvSpPr>
        <p:spPr>
          <a:xfrm>
            <a:off x="566928" y="1517904"/>
            <a:ext cx="11027664" cy="1828800"/>
          </a:xfrm>
          <a:prstGeom prst="roundRect">
            <a:avLst>
              <a:gd name="adj" fmla="val 3000"/>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64208"/>
            <a:ext cx="5486400" cy="292608"/>
          </a:xfrm>
          <a:prstGeom prst="rect">
            <a:avLst/>
          </a:prstGeom>
          <a:noFill/>
          <a:ln/>
        </p:spPr>
        <p:txBody>
          <a:bodyPr wrap="square" lIns="0" tIns="0" rIns="0" bIns="0" rtlCol="0" anchor="ctr"/>
          <a:lstStyle/>
          <a:p>
            <a:pPr indent="0" marL="0">
              <a:buNone/>
            </a:pPr>
            <a:r>
              <a:rPr lang="en-US" sz="1450" b="1" dirty="0">
                <a:solidFill>
                  <a:srgbClr val="A7BEAE"/>
                </a:solidFill>
                <a:latin typeface="Cambria" pitchFamily="34" charset="0"/>
                <a:ea typeface="Cambria" pitchFamily="34" charset="-122"/>
                <a:cs typeface="Cambria" pitchFamily="34" charset="-120"/>
              </a:rPr>
              <a:t>What we found</a:t>
            </a:r>
            <a:endParaRPr lang="en-US" sz="1450" dirty="0"/>
          </a:p>
        </p:txBody>
      </p:sp>
      <p:sp>
        <p:nvSpPr>
          <p:cNvPr id="6" name="Text 4"/>
          <p:cNvSpPr/>
          <p:nvPr/>
        </p:nvSpPr>
        <p:spPr>
          <a:xfrm>
            <a:off x="841248" y="1993392"/>
            <a:ext cx="10479024" cy="118872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Of every district a human labeller said a report was genuinely about, 80.5% of those district names never appear anywhere in the report's exported title or body text at all. They only exist inside attached files ReliefWeb does not index as text.</a:t>
            </a:r>
            <a:endParaRPr lang="en-US" sz="1250" dirty="0"/>
          </a:p>
        </p:txBody>
      </p:sp>
      <p:sp>
        <p:nvSpPr>
          <p:cNvPr id="7" name="Shape 5"/>
          <p:cNvSpPr/>
          <p:nvPr/>
        </p:nvSpPr>
        <p:spPr>
          <a:xfrm>
            <a:off x="566928" y="3529584"/>
            <a:ext cx="5486400"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04672" y="3675888"/>
            <a:ext cx="502920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clearest example</a:t>
            </a:r>
            <a:endParaRPr lang="en-US" sz="1250" dirty="0"/>
          </a:p>
        </p:txBody>
      </p:sp>
      <p:sp>
        <p:nvSpPr>
          <p:cNvPr id="9" name="Text 7"/>
          <p:cNvSpPr/>
          <p:nvPr/>
        </p:nvSpPr>
        <p:spPr>
          <a:xfrm>
            <a:off x="804672" y="3986784"/>
            <a:ext cx="5029200" cy="1234440"/>
          </a:xfrm>
          <a:prstGeom prst="rect">
            <a:avLst/>
          </a:prstGeom>
          <a:noFill/>
          <a:ln/>
        </p:spPr>
        <p:txBody>
          <a:bodyPr wrap="square" lIns="0" tIns="0" rIns="0" bIns="0" rtlCol="0" anchor="ctr"/>
          <a:lstStyle/>
          <a:p>
            <a:pPr indent="0" marL="0">
              <a:lnSpc>
                <a:spcPts val="1400"/>
              </a:lnSpc>
              <a:buNone/>
            </a:pPr>
            <a:r>
              <a:rPr lang="en-US" sz="1050" dirty="0">
                <a:solidFill>
                  <a:srgbClr val="7A6E68"/>
                </a:solidFill>
                <a:latin typeface="Calibri" pitchFamily="34" charset="0"/>
                <a:ea typeface="Calibri" pitchFamily="34" charset="-122"/>
                <a:cs typeface="Calibri" pitchFamily="34" charset="-120"/>
              </a:rPr>
              <a:t>Weekly cholera/AWD bulletins list their real district-by-district breakdown only inside a table in an attached PDF. ReliefWeb files them as an ordinary "Situation Report", with nothing in the metadata to say the substance lives in an attachment. The exported body is just a one-line summary, no district named at all.</a:t>
            </a:r>
            <a:endParaRPr lang="en-US" sz="1050" dirty="0"/>
          </a:p>
        </p:txBody>
      </p:sp>
      <p:sp>
        <p:nvSpPr>
          <p:cNvPr id="10" name="Shape 8"/>
          <p:cNvSpPr/>
          <p:nvPr/>
        </p:nvSpPr>
        <p:spPr>
          <a:xfrm>
            <a:off x="6309360" y="3529584"/>
            <a:ext cx="5285232"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11" name="Text 9"/>
          <p:cNvSpPr/>
          <p:nvPr/>
        </p:nvSpPr>
        <p:spPr>
          <a:xfrm>
            <a:off x="6547104" y="3675888"/>
            <a:ext cx="475488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What this is not</a:t>
            </a:r>
            <a:endParaRPr lang="en-US" sz="1250" dirty="0"/>
          </a:p>
        </p:txBody>
      </p:sp>
      <p:sp>
        <p:nvSpPr>
          <p:cNvPr id="12" name="Text 10"/>
          <p:cNvSpPr/>
          <p:nvPr/>
        </p:nvSpPr>
        <p:spPr>
          <a:xfrm>
            <a:off x="6547104" y="3986784"/>
            <a:ext cx="4754880" cy="128016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The five genuine misses in the whole sample all come from one report, and are a deliberate design choice (price bulletins are excluded on purpose), not an error</a:t>
            </a:r>
            <a:endParaRPr lang="en-US" sz="1050" dirty="0"/>
          </a:p>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Reading PDF attachments reliably is a materially different, less reliable engineering problem, and is out of scope for this project</a:t>
            </a:r>
            <a:endParaRPr lang="en-US" sz="1050" dirty="0"/>
          </a:p>
        </p:txBody>
      </p:sp>
      <p:sp>
        <p:nvSpPr>
          <p:cNvPr id="13" name="Shape 11"/>
          <p:cNvSpPr/>
          <p:nvPr/>
        </p:nvSpPr>
        <p:spPr>
          <a:xfrm>
            <a:off x="566928" y="5431536"/>
            <a:ext cx="11027664" cy="841248"/>
          </a:xfrm>
          <a:prstGeom prst="roundRect">
            <a:avLst>
              <a:gd name="adj" fmla="val 6522"/>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841248" y="5541264"/>
            <a:ext cx="10479024" cy="640080"/>
          </a:xfrm>
          <a:prstGeom prst="rect">
            <a:avLst/>
          </a:prstGeom>
          <a:noFill/>
          <a:ln/>
        </p:spPr>
        <p:txBody>
          <a:bodyPr wrap="square" lIns="0" tIns="0" rIns="0" bIns="0" rtlCol="0" anchor="ctr"/>
          <a:lstStyle/>
          <a:p>
            <a:pPr indent="0" marL="0">
              <a:lnSpc>
                <a:spcPts val="1400"/>
              </a:lnSpc>
              <a:buNone/>
            </a:pPr>
            <a:r>
              <a:rPr lang="en-US" sz="1150" dirty="0">
                <a:solidFill>
                  <a:srgbClr val="2B2523"/>
                </a:solidFill>
                <a:latin typeface="Calibri" pitchFamily="34" charset="0"/>
                <a:ea typeface="Calibri" pitchFamily="34" charset="-122"/>
                <a:cs typeface="Calibri" pitchFamily="34" charset="-120"/>
              </a:rPr>
              <a:t>Bottom line: precision (81-79%), not recall, is the figure to trust for this method. Recall should be read as "recall on what a text-based method can structurally see", not "recall on everything a human could find in the full report".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Correcting for repeated district-months</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Each of the 74 districts contributes 12 rows to the panel</a:t>
            </a:r>
            <a:endParaRPr lang="en-US" sz="1300" dirty="0"/>
          </a:p>
        </p:txBody>
      </p:sp>
      <p:sp>
        <p:nvSpPr>
          <p:cNvPr id="4" name="Shape 2"/>
          <p:cNvSpPr/>
          <p:nvPr/>
        </p:nvSpPr>
        <p:spPr>
          <a:xfrm>
            <a:off x="566928" y="1517904"/>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45920"/>
            <a:ext cx="457200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issue</a:t>
            </a:r>
            <a:endParaRPr lang="en-US" sz="1350" dirty="0"/>
          </a:p>
        </p:txBody>
      </p:sp>
      <p:sp>
        <p:nvSpPr>
          <p:cNvPr id="6" name="Text 4"/>
          <p:cNvSpPr/>
          <p:nvPr/>
        </p:nvSpPr>
        <p:spPr>
          <a:xfrm>
            <a:off x="841248" y="1956816"/>
            <a:ext cx="10479024" cy="868680"/>
          </a:xfrm>
          <a:prstGeom prst="rect">
            <a:avLst/>
          </a:prstGeom>
          <a:noFill/>
          <a:ln/>
        </p:spPr>
        <p:txBody>
          <a:bodyPr wrap="square" lIns="0" tIns="0" rIns="0" bIns="0" rtlCol="0" anchor="ctr"/>
          <a:lstStyle/>
          <a:p>
            <a:pPr indent="0" marL="0">
              <a:lnSpc>
                <a:spcPts val="1600"/>
              </a:lnSpc>
              <a:buNone/>
            </a:pPr>
            <a:r>
              <a:rPr lang="en-US" sz="1200" dirty="0">
                <a:solidFill>
                  <a:srgbClr val="E7E8D1"/>
                </a:solidFill>
                <a:latin typeface="Calibri" pitchFamily="34" charset="0"/>
                <a:ea typeface="Calibri" pitchFamily="34" charset="-122"/>
                <a:cs typeface="Calibri" pitchFamily="34" charset="-120"/>
              </a:rPr>
              <a:t>A district's conflict level, market status and reporting attention this month are largely the same underlying district carrying forward, not a fresh, independent observation. Treating all 888 rows as 888 independent pieces of evidence can turn a genuinely null result into one that looks statistically significant.</a:t>
            </a:r>
            <a:endParaRPr lang="en-US" sz="1200" dirty="0"/>
          </a:p>
        </p:txBody>
      </p:sp>
      <p:sp>
        <p:nvSpPr>
          <p:cNvPr id="7" name="Text 5"/>
          <p:cNvSpPr/>
          <p:nvPr/>
        </p:nvSpPr>
        <p:spPr>
          <a:xfrm>
            <a:off x="566928" y="3127248"/>
            <a:ext cx="731520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THE ONE GENUINE VIOLATION FOUND: DOES MARKET ACCESS TRACK CONFLICT?</a:t>
            </a:r>
            <a:endParaRPr lang="en-US" sz="950" dirty="0"/>
          </a:p>
        </p:txBody>
      </p:sp>
      <p:sp>
        <p:nvSpPr>
          <p:cNvPr id="8" name="Shape 6"/>
          <p:cNvSpPr/>
          <p:nvPr/>
        </p:nvSpPr>
        <p:spPr>
          <a:xfrm>
            <a:off x="566928" y="3456432"/>
            <a:ext cx="548640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804672" y="3602736"/>
            <a:ext cx="502920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Naive reading (888 rows, wrong)</a:t>
            </a:r>
            <a:endParaRPr lang="en-US" sz="1250" dirty="0"/>
          </a:p>
        </p:txBody>
      </p:sp>
      <p:sp>
        <p:nvSpPr>
          <p:cNvPr id="10" name="Text 8"/>
          <p:cNvSpPr/>
          <p:nvPr/>
        </p:nvSpPr>
        <p:spPr>
          <a:xfrm>
            <a:off x="804672" y="3931920"/>
            <a:ext cx="5029200"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p = 0.0001</a:t>
            </a:r>
            <a:endParaRPr lang="en-US" sz="2600" dirty="0"/>
          </a:p>
        </p:txBody>
      </p:sp>
      <p:sp>
        <p:nvSpPr>
          <p:cNvPr id="11" name="Text 9"/>
          <p:cNvSpPr/>
          <p:nvPr/>
        </p:nvSpPr>
        <p:spPr>
          <a:xfrm>
            <a:off x="804672" y="4480560"/>
            <a:ext cx="502920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conflict events, market vs no market</a:t>
            </a:r>
            <a:endParaRPr lang="en-US" sz="950" dirty="0"/>
          </a:p>
        </p:txBody>
      </p:sp>
      <p:sp>
        <p:nvSpPr>
          <p:cNvPr id="12" name="Text 10"/>
          <p:cNvSpPr/>
          <p:nvPr/>
        </p:nvSpPr>
        <p:spPr>
          <a:xfrm>
            <a:off x="804672" y="5029200"/>
            <a:ext cx="5029200" cy="548640"/>
          </a:xfrm>
          <a:prstGeom prst="rect">
            <a:avLst/>
          </a:prstGeom>
          <a:noFill/>
          <a:ln/>
        </p:spPr>
        <p:txBody>
          <a:bodyPr wrap="square" lIns="0" tIns="0" rIns="0" bIns="0" rtlCol="0" anchor="ctr"/>
          <a:lstStyle/>
          <a:p>
            <a:pPr indent="0" marL="0">
              <a:lnSpc>
                <a:spcPts val="1400"/>
              </a:lnSpc>
              <a:buNone/>
            </a:pPr>
            <a:r>
              <a:rPr lang="en-US" sz="1100" i="1" dirty="0">
                <a:solidFill>
                  <a:srgbClr val="7A6E68"/>
                </a:solidFill>
                <a:latin typeface="Calibri" pitchFamily="34" charset="0"/>
                <a:ea typeface="Calibri" pitchFamily="34" charset="-122"/>
                <a:cs typeface="Calibri" pitchFamily="34" charset="-120"/>
              </a:rPr>
              <a:t>Statistically significant: looks like a real relationship.</a:t>
            </a:r>
            <a:endParaRPr lang="en-US" sz="1100" dirty="0"/>
          </a:p>
        </p:txBody>
      </p:sp>
      <p:sp>
        <p:nvSpPr>
          <p:cNvPr id="13" name="Shape 11"/>
          <p:cNvSpPr/>
          <p:nvPr/>
        </p:nvSpPr>
        <p:spPr>
          <a:xfrm>
            <a:off x="6309360" y="3456432"/>
            <a:ext cx="5285232" cy="2286000"/>
          </a:xfrm>
          <a:prstGeom prst="roundRect">
            <a:avLst>
              <a:gd name="adj" fmla="val 2400"/>
            </a:avLst>
          </a:prstGeom>
          <a:solidFill>
            <a:srgbClr val="A7BEAE"/>
          </a:solidFill>
          <a:ln/>
          <a:effectLst>
            <a:outerShdw sx="100000" sy="100000" kx="0" ky="0" algn="bl" rotWithShape="0" blurRad="76200" dist="381" dir="5400000">
              <a:srgbClr val="000000">
                <a:alpha val="8000"/>
              </a:srgbClr>
            </a:outerShdw>
          </a:effectLst>
        </p:spPr>
      </p:sp>
      <p:sp>
        <p:nvSpPr>
          <p:cNvPr id="14" name="Text 12"/>
          <p:cNvSpPr/>
          <p:nvPr/>
        </p:nvSpPr>
        <p:spPr>
          <a:xfrm>
            <a:off x="6547104" y="3602736"/>
            <a:ext cx="475488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Corrected (n = 74 districts, right)</a:t>
            </a:r>
            <a:endParaRPr lang="en-US" sz="1250" dirty="0"/>
          </a:p>
        </p:txBody>
      </p:sp>
      <p:sp>
        <p:nvSpPr>
          <p:cNvPr id="15" name="Text 13"/>
          <p:cNvSpPr/>
          <p:nvPr/>
        </p:nvSpPr>
        <p:spPr>
          <a:xfrm>
            <a:off x="6547104" y="3931920"/>
            <a:ext cx="4754880" cy="566928"/>
          </a:xfrm>
          <a:prstGeom prst="rect">
            <a:avLst/>
          </a:prstGeom>
          <a:noFill/>
          <a:ln/>
        </p:spPr>
        <p:txBody>
          <a:bodyPr wrap="square" lIns="0" tIns="0" rIns="0" bIns="0" rtlCol="0" anchor="ctr"/>
          <a:lstStyle/>
          <a:p>
            <a:pPr algn="ctr" indent="0" marL="0">
              <a:buNone/>
            </a:pPr>
            <a:r>
              <a:rPr lang="en-US" sz="2600" b="1" dirty="0">
                <a:solidFill>
                  <a:srgbClr val="2B2523"/>
                </a:solidFill>
                <a:latin typeface="Cambria" pitchFamily="34" charset="0"/>
                <a:ea typeface="Cambria" pitchFamily="34" charset="-122"/>
                <a:cs typeface="Cambria" pitchFamily="34" charset="-120"/>
              </a:rPr>
              <a:t>p = 0.188</a:t>
            </a:r>
            <a:endParaRPr lang="en-US" sz="2600" dirty="0"/>
          </a:p>
        </p:txBody>
      </p:sp>
      <p:sp>
        <p:nvSpPr>
          <p:cNvPr id="16" name="Text 14"/>
          <p:cNvSpPr/>
          <p:nvPr/>
        </p:nvSpPr>
        <p:spPr>
          <a:xfrm>
            <a:off x="6547104" y="4480560"/>
            <a:ext cx="475488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same test, one row per district</a:t>
            </a:r>
            <a:endParaRPr lang="en-US" sz="950" dirty="0"/>
          </a:p>
        </p:txBody>
      </p:sp>
      <p:sp>
        <p:nvSpPr>
          <p:cNvPr id="17" name="Text 15"/>
          <p:cNvSpPr/>
          <p:nvPr/>
        </p:nvSpPr>
        <p:spPr>
          <a:xfrm>
            <a:off x="6547104" y="5029200"/>
            <a:ext cx="4754880" cy="548640"/>
          </a:xfrm>
          <a:prstGeom prst="rect">
            <a:avLst/>
          </a:prstGeom>
          <a:noFill/>
          <a:ln/>
        </p:spPr>
        <p:txBody>
          <a:bodyPr wrap="square" lIns="0" tIns="0" rIns="0" bIns="0" rtlCol="0" anchor="ctr"/>
          <a:lstStyle/>
          <a:p>
            <a:pPr indent="0" marL="0">
              <a:lnSpc>
                <a:spcPts val="1400"/>
              </a:lnSpc>
              <a:buNone/>
            </a:pPr>
            <a:r>
              <a:rPr lang="en-US" sz="1100" i="1" dirty="0">
                <a:solidFill>
                  <a:srgbClr val="2B2523"/>
                </a:solidFill>
                <a:latin typeface="Calibri" pitchFamily="34" charset="0"/>
                <a:ea typeface="Calibri" pitchFamily="34" charset="-122"/>
                <a:cs typeface="Calibri" pitchFamily="34" charset="-120"/>
              </a:rPr>
              <a:t>Not significant. The naive result was entirely an artefact of counting each district twelve times over.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Checking every other result, and what survives</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Three different strengths of the same problem, three different fixes</a:t>
            </a:r>
            <a:endParaRPr lang="en-US" sz="1300" dirty="0"/>
          </a:p>
        </p:txBody>
      </p:sp>
      <p:sp>
        <p:nvSpPr>
          <p:cNvPr id="4" name="Shape 2"/>
          <p:cNvSpPr/>
          <p:nvPr/>
        </p:nvSpPr>
        <p:spPr>
          <a:xfrm>
            <a:off x="566928" y="146304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566928" y="1463040"/>
            <a:ext cx="73152" cy="1005840"/>
          </a:xfrm>
          <a:prstGeom prst="rect">
            <a:avLst/>
          </a:prstGeom>
          <a:solidFill>
            <a:srgbClr val="A7BEAE"/>
          </a:solidFill>
          <a:ln/>
        </p:spPr>
      </p:sp>
      <p:sp>
        <p:nvSpPr>
          <p:cNvPr id="6" name="Text 4"/>
          <p:cNvSpPr/>
          <p:nvPr/>
        </p:nvSpPr>
        <p:spPr>
          <a:xfrm>
            <a:off x="841248" y="1554480"/>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Time-varying correlations</a:t>
            </a:r>
            <a:endParaRPr lang="en-US" sz="1250" dirty="0"/>
          </a:p>
        </p:txBody>
      </p:sp>
      <p:sp>
        <p:nvSpPr>
          <p:cNvPr id="7" name="Text 5"/>
          <p:cNvSpPr/>
          <p:nvPr/>
        </p:nvSpPr>
        <p:spPr>
          <a:xfrm>
            <a:off x="841248" y="1901952"/>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Conflict vs reports, rainfall vs reports, VHI vs conflict</a:t>
            </a:r>
            <a:endParaRPr lang="en-US" sz="950" dirty="0"/>
          </a:p>
        </p:txBody>
      </p:sp>
      <p:sp>
        <p:nvSpPr>
          <p:cNvPr id="8" name="Text 6"/>
          <p:cNvSpPr/>
          <p:nvPr/>
        </p:nvSpPr>
        <p:spPr>
          <a:xfrm>
            <a:off x="4114800" y="1591056"/>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Checked with a district-cluster bootstrap (resampling whole districts, not rows). All three survive with confidence intervals well clear of zero.</a:t>
            </a:r>
            <a:endParaRPr lang="en-US" sz="1050" dirty="0"/>
          </a:p>
        </p:txBody>
      </p:sp>
      <p:sp>
        <p:nvSpPr>
          <p:cNvPr id="9" name="Shape 7"/>
          <p:cNvSpPr/>
          <p:nvPr/>
        </p:nvSpPr>
        <p:spPr>
          <a:xfrm>
            <a:off x="566928" y="2578608"/>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566928" y="2578608"/>
            <a:ext cx="73152" cy="1005840"/>
          </a:xfrm>
          <a:prstGeom prst="rect">
            <a:avLst/>
          </a:prstGeom>
          <a:solidFill>
            <a:srgbClr val="B85042"/>
          </a:solidFill>
          <a:ln/>
        </p:spPr>
      </p:sp>
      <p:sp>
        <p:nvSpPr>
          <p:cNvPr id="11" name="Text 9"/>
          <p:cNvSpPr/>
          <p:nvPr/>
        </p:nvSpPr>
        <p:spPr>
          <a:xfrm>
            <a:off x="841248" y="2670048"/>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One exception</a:t>
            </a:r>
            <a:endParaRPr lang="en-US" sz="1250" dirty="0"/>
          </a:p>
        </p:txBody>
      </p:sp>
      <p:sp>
        <p:nvSpPr>
          <p:cNvPr id="12" name="Text 10"/>
          <p:cNvSpPr/>
          <p:nvPr/>
        </p:nvSpPr>
        <p:spPr>
          <a:xfrm>
            <a:off x="841248" y="3017520"/>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Vegetation health (VHI) vs reports</a:t>
            </a:r>
            <a:endParaRPr lang="en-US" sz="950" dirty="0"/>
          </a:p>
        </p:txBody>
      </p:sp>
      <p:sp>
        <p:nvSpPr>
          <p:cNvPr id="13" name="Text 11"/>
          <p:cNvSpPr/>
          <p:nvPr/>
        </p:nvSpPr>
        <p:spPr>
          <a:xfrm>
            <a:off x="4114800" y="2706624"/>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Its cluster-robust confidence interval crosses zero. The earlier r=-0.11 figure should be read as inconclusive, not a confirmed effect.</a:t>
            </a:r>
            <a:endParaRPr lang="en-US" sz="1050" dirty="0"/>
          </a:p>
        </p:txBody>
      </p:sp>
      <p:sp>
        <p:nvSpPr>
          <p:cNvPr id="14" name="Shape 12"/>
          <p:cNvSpPr/>
          <p:nvPr/>
        </p:nvSpPr>
        <p:spPr>
          <a:xfrm>
            <a:off x="566928" y="3694176"/>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566928" y="3694176"/>
            <a:ext cx="73152" cy="1005840"/>
          </a:xfrm>
          <a:prstGeom prst="rect">
            <a:avLst/>
          </a:prstGeom>
          <a:solidFill>
            <a:srgbClr val="E7E8D1"/>
          </a:solidFill>
          <a:ln/>
        </p:spPr>
      </p:sp>
      <p:sp>
        <p:nvSpPr>
          <p:cNvPr id="16" name="Text 14"/>
          <p:cNvSpPr/>
          <p:nvPr/>
        </p:nvSpPr>
        <p:spPr>
          <a:xfrm>
            <a:off x="841248" y="3785616"/>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Conflict-vs-climate reporting gap</a:t>
            </a:r>
            <a:endParaRPr lang="en-US" sz="1250" dirty="0"/>
          </a:p>
        </p:txBody>
      </p:sp>
      <p:sp>
        <p:nvSpPr>
          <p:cNvPr id="17" name="Text 15"/>
          <p:cNvSpPr/>
          <p:nvPr/>
        </p:nvSpPr>
        <p:spPr>
          <a:xfrm>
            <a:off x="841248" y="4133088"/>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Collapsed to one row per district (n=18 vs n=41)</a:t>
            </a:r>
            <a:endParaRPr lang="en-US" sz="950" dirty="0"/>
          </a:p>
        </p:txBody>
      </p:sp>
      <p:sp>
        <p:nvSpPr>
          <p:cNvPr id="18" name="Text 16"/>
          <p:cNvSpPr/>
          <p:nvPr/>
        </p:nvSpPr>
        <p:spPr>
          <a:xfrm>
            <a:off x="4114800" y="3822192"/>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Survives, but weakens: p=0.000064 falls to p=0.0067 once repeated conflict-heavy districts stop being over-counted.</a:t>
            </a:r>
            <a:endParaRPr lang="en-US" sz="1050" dirty="0"/>
          </a:p>
        </p:txBody>
      </p:sp>
      <p:sp>
        <p:nvSpPr>
          <p:cNvPr id="19" name="Shape 17"/>
          <p:cNvSpPr/>
          <p:nvPr/>
        </p:nvSpPr>
        <p:spPr>
          <a:xfrm>
            <a:off x="566928" y="4809744"/>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566928" y="4809744"/>
            <a:ext cx="73152" cy="1005840"/>
          </a:xfrm>
          <a:prstGeom prst="rect">
            <a:avLst/>
          </a:prstGeom>
          <a:solidFill>
            <a:srgbClr val="A7BEAE"/>
          </a:solidFill>
          <a:ln/>
        </p:spPr>
      </p:sp>
      <p:sp>
        <p:nvSpPr>
          <p:cNvPr id="21" name="Text 19"/>
          <p:cNvSpPr/>
          <p:nvPr/>
        </p:nvSpPr>
        <p:spPr>
          <a:xfrm>
            <a:off x="841248" y="4901184"/>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Logistic regression</a:t>
            </a:r>
            <a:endParaRPr lang="en-US" sz="1250" dirty="0"/>
          </a:p>
        </p:txBody>
      </p:sp>
      <p:sp>
        <p:nvSpPr>
          <p:cNvPr id="22" name="Text 20"/>
          <p:cNvSpPr/>
          <p:nvPr/>
        </p:nvSpPr>
        <p:spPr>
          <a:xfrm>
            <a:off x="841248" y="5248656"/>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Already clusters its standard errors by district</a:t>
            </a:r>
            <a:endParaRPr lang="en-US" sz="950" dirty="0"/>
          </a:p>
        </p:txBody>
      </p:sp>
      <p:sp>
        <p:nvSpPr>
          <p:cNvPr id="23" name="Text 21"/>
          <p:cNvSpPr/>
          <p:nvPr/>
        </p:nvSpPr>
        <p:spPr>
          <a:xfrm>
            <a:off x="4114800" y="4937760"/>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No correction was needed. It would have had the same problem built in from the start had it not.</a:t>
            </a:r>
            <a:endParaRPr lang="en-US" sz="1050" dirty="0"/>
          </a:p>
        </p:txBody>
      </p:sp>
      <p:sp>
        <p:nvSpPr>
          <p:cNvPr id="24" name="Text 22"/>
          <p:cNvSpPr/>
          <p:nvPr/>
        </p:nvSpPr>
        <p:spPr>
          <a:xfrm>
            <a:off x="566928" y="6035040"/>
            <a:ext cx="11027664" cy="310896"/>
          </a:xfrm>
          <a:prstGeom prst="rect">
            <a:avLst/>
          </a:prstGeom>
          <a:noFill/>
          <a:ln/>
        </p:spPr>
        <p:txBody>
          <a:bodyPr wrap="square" lIns="0" tIns="0" rIns="0" bIns="0" rtlCol="0" anchor="ctr"/>
          <a:lstStyle/>
          <a:p>
            <a:pPr indent="0" marL="0">
              <a:buNone/>
            </a:pPr>
            <a:r>
              <a:rPr lang="en-US" sz="1050" i="1" dirty="0">
                <a:solidFill>
                  <a:srgbClr val="7A6E68"/>
                </a:solidFill>
                <a:latin typeface="Calibri" pitchFamily="34" charset="0"/>
                <a:ea typeface="Calibri" pitchFamily="34" charset="-122"/>
                <a:cs typeface="Calibri" pitchFamily="34" charset="-120"/>
              </a:rPr>
              <a:t>Bottom line: nothing in the notebook's headline findings depended on a repeated-district-months artefact once corrected, except the naive market/conflict result, which was never a real finding.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Strengthening the conflict-vs-climate reporting result</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The original test, and why the wording changed</a:t>
            </a:r>
            <a:endParaRPr lang="en-US" sz="1300" dirty="0"/>
          </a:p>
        </p:txBody>
      </p:sp>
      <p:sp>
        <p:nvSpPr>
          <p:cNvPr id="4" name="Shape 2"/>
          <p:cNvSpPr/>
          <p:nvPr/>
        </p:nvSpPr>
        <p:spPr>
          <a:xfrm>
            <a:off x="566928" y="1517904"/>
            <a:ext cx="11027664" cy="1554480"/>
          </a:xfrm>
          <a:prstGeom prst="roundRect">
            <a:avLst>
              <a:gd name="adj" fmla="val 352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45920"/>
            <a:ext cx="457200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original result</a:t>
            </a:r>
            <a:endParaRPr lang="en-US" sz="1350" dirty="0"/>
          </a:p>
        </p:txBody>
      </p:sp>
      <p:sp>
        <p:nvSpPr>
          <p:cNvPr id="6" name="Text 4"/>
          <p:cNvSpPr/>
          <p:nvPr/>
        </p:nvSpPr>
        <p:spPr>
          <a:xfrm>
            <a:off x="841248" y="1975104"/>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6.65</a:t>
            </a:r>
            <a:endParaRPr lang="en-US" sz="2600" dirty="0"/>
          </a:p>
        </p:txBody>
      </p:sp>
      <p:sp>
        <p:nvSpPr>
          <p:cNvPr id="7" name="Text 5"/>
          <p:cNvSpPr/>
          <p:nvPr/>
        </p:nvSpPr>
        <p:spPr>
          <a:xfrm>
            <a:off x="841248" y="2523744"/>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conflict</a:t>
            </a:r>
            <a:endParaRPr lang="en-US" sz="950" dirty="0"/>
          </a:p>
        </p:txBody>
      </p:sp>
      <p:sp>
        <p:nvSpPr>
          <p:cNvPr id="8" name="Text 6"/>
          <p:cNvSpPr/>
          <p:nvPr/>
        </p:nvSpPr>
        <p:spPr>
          <a:xfrm>
            <a:off x="4334256" y="1975104"/>
            <a:ext cx="3493008" cy="566928"/>
          </a:xfrm>
          <a:prstGeom prst="rect">
            <a:avLst/>
          </a:prstGeom>
          <a:noFill/>
          <a:ln/>
        </p:spPr>
        <p:txBody>
          <a:bodyPr wrap="square" lIns="0" tIns="0" rIns="0" bIns="0" rtlCol="0" anchor="ctr"/>
          <a:lstStyle/>
          <a:p>
            <a:pPr algn="ctr" indent="0" marL="0">
              <a:buNone/>
            </a:pPr>
            <a:r>
              <a:rPr lang="en-US" sz="2600" b="1" dirty="0">
                <a:solidFill>
                  <a:srgbClr val="E7E8D1"/>
                </a:solidFill>
                <a:latin typeface="Cambria" pitchFamily="34" charset="0"/>
                <a:ea typeface="Cambria" pitchFamily="34" charset="-122"/>
                <a:cs typeface="Cambria" pitchFamily="34" charset="-120"/>
              </a:rPr>
              <a:t>2.67</a:t>
            </a:r>
            <a:endParaRPr lang="en-US" sz="2600" dirty="0"/>
          </a:p>
        </p:txBody>
      </p:sp>
      <p:sp>
        <p:nvSpPr>
          <p:cNvPr id="9" name="Text 7"/>
          <p:cNvSpPr/>
          <p:nvPr/>
        </p:nvSpPr>
        <p:spPr>
          <a:xfrm>
            <a:off x="4334256" y="2523744"/>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climate stress</a:t>
            </a:r>
            <a:endParaRPr lang="en-US" sz="950" dirty="0"/>
          </a:p>
        </p:txBody>
      </p:sp>
      <p:sp>
        <p:nvSpPr>
          <p:cNvPr id="10" name="Text 8"/>
          <p:cNvSpPr/>
          <p:nvPr/>
        </p:nvSpPr>
        <p:spPr>
          <a:xfrm>
            <a:off x="7827264" y="1975104"/>
            <a:ext cx="3493008" cy="566928"/>
          </a:xfrm>
          <a:prstGeom prst="rect">
            <a:avLst/>
          </a:prstGeom>
          <a:noFill/>
          <a:ln/>
        </p:spPr>
        <p:txBody>
          <a:bodyPr wrap="square" lIns="0" tIns="0" rIns="0" bIns="0" rtlCol="0" anchor="ctr"/>
          <a:lstStyle/>
          <a:p>
            <a:pPr algn="ctr" indent="0" marL="0">
              <a:buNone/>
            </a:pPr>
            <a:r>
              <a:rPr lang="en-US" sz="2600" b="1" dirty="0">
                <a:solidFill>
                  <a:srgbClr val="A7BEAE"/>
                </a:solidFill>
                <a:latin typeface="Cambria" pitchFamily="34" charset="0"/>
                <a:ea typeface="Cambria" pitchFamily="34" charset="-122"/>
                <a:cs typeface="Cambria" pitchFamily="34" charset="-120"/>
              </a:rPr>
              <a:t>p = 0.000064</a:t>
            </a:r>
            <a:endParaRPr lang="en-US" sz="2600" dirty="0"/>
          </a:p>
        </p:txBody>
      </p:sp>
      <p:sp>
        <p:nvSpPr>
          <p:cNvPr id="11" name="Text 9"/>
          <p:cNvSpPr/>
          <p:nvPr/>
        </p:nvSpPr>
        <p:spPr>
          <a:xfrm>
            <a:off x="7827264" y="2523744"/>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the difference is unlikely to be chance</a:t>
            </a:r>
            <a:endParaRPr lang="en-US" sz="950" dirty="0"/>
          </a:p>
        </p:txBody>
      </p:sp>
      <p:sp>
        <p:nvSpPr>
          <p:cNvPr id="12" name="Shape 10"/>
          <p:cNvSpPr/>
          <p:nvPr/>
        </p:nvSpPr>
        <p:spPr>
          <a:xfrm>
            <a:off x="566928" y="3291840"/>
            <a:ext cx="11027664" cy="914400"/>
          </a:xfrm>
          <a:prstGeom prst="roundRect">
            <a:avLst>
              <a:gd name="adj" fmla="val 6000"/>
            </a:avLst>
          </a:prstGeom>
          <a:solidFill>
            <a:srgbClr val="E7E8D1"/>
          </a:solidFill>
          <a:ln/>
          <a:effectLst>
            <a:outerShdw sx="100000" sy="100000" kx="0" ky="0" algn="bl" rotWithShape="0" blurRad="76200" dist="381" dir="5400000">
              <a:srgbClr val="000000">
                <a:alpha val="8000"/>
              </a:srgbClr>
            </a:outerShdw>
          </a:effectLst>
        </p:spPr>
      </p:sp>
      <p:sp>
        <p:nvSpPr>
          <p:cNvPr id="13" name="Text 11"/>
          <p:cNvSpPr/>
          <p:nvPr/>
        </p:nvSpPr>
        <p:spPr>
          <a:xfrm>
            <a:off x="841248" y="3401568"/>
            <a:ext cx="10479024" cy="731520"/>
          </a:xfrm>
          <a:prstGeom prst="rect">
            <a:avLst/>
          </a:prstGeom>
          <a:noFill/>
          <a:ln/>
        </p:spPr>
        <p:txBody>
          <a:bodyPr wrap="square" lIns="0" tIns="0" rIns="0" bIns="0" rtlCol="0" anchor="ctr"/>
          <a:lstStyle/>
          <a:p>
            <a:pPr indent="0" marL="0">
              <a:lnSpc>
                <a:spcPts val="1500"/>
              </a:lnSpc>
              <a:buNone/>
            </a:pPr>
            <a:r>
              <a:rPr lang="en-US" sz="1150" i="1" dirty="0">
                <a:solidFill>
                  <a:srgbClr val="2B2523"/>
                </a:solidFill>
                <a:latin typeface="Calibri" pitchFamily="34" charset="0"/>
                <a:ea typeface="Calibri" pitchFamily="34" charset="-122"/>
                <a:cs typeface="Calibri" pitchFamily="34" charset="-120"/>
              </a:rPr>
              <a:t>Wording note: the two groups are matched on their position within Somalia's own 2024 distribution, not on equal humanitarian severity. "Relatively extreme conflict/climate-stress observations", never "comparable severity".</a:t>
            </a:r>
            <a:endParaRPr lang="en-US" sz="1150" dirty="0"/>
          </a:p>
        </p:txBody>
      </p:sp>
      <p:sp>
        <p:nvSpPr>
          <p:cNvPr id="14" name="Text 12"/>
          <p:cNvSpPr/>
          <p:nvPr/>
        </p:nvSpPr>
        <p:spPr>
          <a:xfrm>
            <a:off x="566928" y="4443984"/>
            <a:ext cx="548640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DIFFERENT THRESHOLDS, AS ASKED</a:t>
            </a:r>
            <a:endParaRPr lang="en-US" sz="950" dirty="0"/>
          </a:p>
        </p:txBody>
      </p:sp>
      <p:sp>
        <p:nvSpPr>
          <p:cNvPr id="15" name="Shape 13"/>
          <p:cNvSpPr/>
          <p:nvPr/>
        </p:nvSpPr>
        <p:spPr>
          <a:xfrm>
            <a:off x="566928" y="4718304"/>
            <a:ext cx="11027664" cy="1188720"/>
          </a:xfrm>
          <a:prstGeom prst="roundRect">
            <a:avLst>
              <a:gd name="adj" fmla="val 4615"/>
            </a:avLst>
          </a:prstGeom>
          <a:solidFill>
            <a:srgbClr val="F7F5F1"/>
          </a:solidFill>
          <a:ln/>
          <a:effectLst>
            <a:outerShdw sx="100000" sy="100000" kx="0" ky="0" algn="bl" rotWithShape="0" blurRad="76200" dist="381" dir="5400000">
              <a:srgbClr val="000000">
                <a:alpha val="8000"/>
              </a:srgbClr>
            </a:outerShdw>
          </a:effectLst>
        </p:spPr>
      </p:sp>
      <p:sp>
        <p:nvSpPr>
          <p:cNvPr id="16" name="Text 14"/>
          <p:cNvSpPr/>
          <p:nvPr/>
        </p:nvSpPr>
        <p:spPr>
          <a:xfrm>
            <a:off x="841248" y="4846320"/>
            <a:ext cx="3291840" cy="457200"/>
          </a:xfrm>
          <a:prstGeom prst="rect">
            <a:avLst/>
          </a:prstGeom>
          <a:noFill/>
          <a:ln/>
        </p:spPr>
        <p:txBody>
          <a:bodyPr wrap="square" lIns="0" tIns="0" rIns="0" bIns="0" rtlCol="0" anchor="ctr"/>
          <a:lstStyle/>
          <a:p>
            <a:pPr indent="0" marL="0">
              <a:buNone/>
            </a:pPr>
            <a:r>
              <a:rPr lang="en-US" sz="2000" b="1" dirty="0">
                <a:solidFill>
                  <a:srgbClr val="2B2523"/>
                </a:solidFill>
                <a:latin typeface="Cambria" pitchFamily="34" charset="0"/>
                <a:ea typeface="Cambria" pitchFamily="34" charset="-122"/>
                <a:cs typeface="Cambria" pitchFamily="34" charset="-120"/>
              </a:rPr>
              <a:t>5%</a:t>
            </a:r>
            <a:endParaRPr lang="en-US" sz="2000" dirty="0"/>
          </a:p>
        </p:txBody>
      </p:sp>
      <p:sp>
        <p:nvSpPr>
          <p:cNvPr id="17" name="Text 15"/>
          <p:cNvSpPr/>
          <p:nvPr/>
        </p:nvSpPr>
        <p:spPr>
          <a:xfrm>
            <a:off x="841248" y="5358384"/>
            <a:ext cx="3291840" cy="45720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strictest, ~44 per group  --  p &lt; 0.001</a:t>
            </a:r>
            <a:endParaRPr lang="en-US" sz="1000" dirty="0"/>
          </a:p>
        </p:txBody>
      </p:sp>
      <p:sp>
        <p:nvSpPr>
          <p:cNvPr id="18" name="Text 16"/>
          <p:cNvSpPr/>
          <p:nvPr/>
        </p:nvSpPr>
        <p:spPr>
          <a:xfrm>
            <a:off x="4224528" y="4846320"/>
            <a:ext cx="3291840" cy="457200"/>
          </a:xfrm>
          <a:prstGeom prst="rect">
            <a:avLst/>
          </a:prstGeom>
          <a:noFill/>
          <a:ln/>
        </p:spPr>
        <p:txBody>
          <a:bodyPr wrap="square" lIns="0" tIns="0" rIns="0" bIns="0" rtlCol="0" anchor="ctr"/>
          <a:lstStyle/>
          <a:p>
            <a:pPr indent="0" marL="0">
              <a:buNone/>
            </a:pPr>
            <a:r>
              <a:rPr lang="en-US" sz="2000" b="1" dirty="0">
                <a:solidFill>
                  <a:srgbClr val="2B2523"/>
                </a:solidFill>
                <a:latin typeface="Cambria" pitchFamily="34" charset="0"/>
                <a:ea typeface="Cambria" pitchFamily="34" charset="-122"/>
                <a:cs typeface="Cambria" pitchFamily="34" charset="-120"/>
              </a:rPr>
              <a:t>10%</a:t>
            </a:r>
            <a:endParaRPr lang="en-US" sz="2000" dirty="0"/>
          </a:p>
        </p:txBody>
      </p:sp>
      <p:sp>
        <p:nvSpPr>
          <p:cNvPr id="19" name="Text 17"/>
          <p:cNvSpPr/>
          <p:nvPr/>
        </p:nvSpPr>
        <p:spPr>
          <a:xfrm>
            <a:off x="4224528" y="5358384"/>
            <a:ext cx="3291840" cy="45720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original result  --  p &lt; 0.001</a:t>
            </a:r>
            <a:endParaRPr lang="en-US" sz="1000" dirty="0"/>
          </a:p>
        </p:txBody>
      </p:sp>
      <p:sp>
        <p:nvSpPr>
          <p:cNvPr id="20" name="Text 18"/>
          <p:cNvSpPr/>
          <p:nvPr/>
        </p:nvSpPr>
        <p:spPr>
          <a:xfrm>
            <a:off x="7607808" y="4846320"/>
            <a:ext cx="3291840" cy="457200"/>
          </a:xfrm>
          <a:prstGeom prst="rect">
            <a:avLst/>
          </a:prstGeom>
          <a:noFill/>
          <a:ln/>
        </p:spPr>
        <p:txBody>
          <a:bodyPr wrap="square" lIns="0" tIns="0" rIns="0" bIns="0" rtlCol="0" anchor="ctr"/>
          <a:lstStyle/>
          <a:p>
            <a:pPr indent="0" marL="0">
              <a:buNone/>
            </a:pPr>
            <a:r>
              <a:rPr lang="en-US" sz="2000" b="1" dirty="0">
                <a:solidFill>
                  <a:srgbClr val="2B2523"/>
                </a:solidFill>
                <a:latin typeface="Cambria" pitchFamily="34" charset="0"/>
                <a:ea typeface="Cambria" pitchFamily="34" charset="-122"/>
                <a:cs typeface="Cambria" pitchFamily="34" charset="-120"/>
              </a:rPr>
              <a:t>20%</a:t>
            </a:r>
            <a:endParaRPr lang="en-US" sz="2000" dirty="0"/>
          </a:p>
        </p:txBody>
      </p:sp>
      <p:sp>
        <p:nvSpPr>
          <p:cNvPr id="21" name="Text 19"/>
          <p:cNvSpPr/>
          <p:nvPr/>
        </p:nvSpPr>
        <p:spPr>
          <a:xfrm>
            <a:off x="7607808" y="5358384"/>
            <a:ext cx="3291840" cy="45720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loosest, ~155 vs 117  --  p &lt; 0.001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A continuous check, not just thresholds</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Does reporting rise steadily with intensity, on either axis?</a:t>
            </a:r>
            <a:endParaRPr lang="en-US" sz="1300" dirty="0"/>
          </a:p>
        </p:txBody>
      </p:sp>
      <p:sp>
        <p:nvSpPr>
          <p:cNvPr id="4" name="Shape 2"/>
          <p:cNvSpPr/>
          <p:nvPr/>
        </p:nvSpPr>
        <p:spPr>
          <a:xfrm>
            <a:off x="566928" y="1554480"/>
            <a:ext cx="5486400" cy="2743200"/>
          </a:xfrm>
          <a:prstGeom prst="roundRect">
            <a:avLst>
              <a:gd name="adj" fmla="val 20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Conflict quintiles</a:t>
            </a:r>
            <a:endParaRPr lang="en-US" sz="1350" dirty="0"/>
          </a:p>
        </p:txBody>
      </p:sp>
      <p:sp>
        <p:nvSpPr>
          <p:cNvPr id="6" name="Text 4"/>
          <p:cNvSpPr/>
          <p:nvPr/>
        </p:nvSpPr>
        <p:spPr>
          <a:xfrm>
            <a:off x="804672" y="2011680"/>
            <a:ext cx="5029200" cy="548640"/>
          </a:xfrm>
          <a:prstGeom prst="rect">
            <a:avLst/>
          </a:prstGeom>
          <a:noFill/>
          <a:ln/>
        </p:spPr>
        <p:txBody>
          <a:bodyPr wrap="square" lIns="0" tIns="0" rIns="0" bIns="0" rtlCol="0" anchor="ctr"/>
          <a:lstStyle/>
          <a:p>
            <a:pPr indent="0" marL="0">
              <a:buNone/>
            </a:pPr>
            <a:r>
              <a:rPr lang="en-US" sz="2200" b="1" dirty="0">
                <a:solidFill>
                  <a:srgbClr val="2B2523"/>
                </a:solidFill>
                <a:latin typeface="Cambria" pitchFamily="34" charset="0"/>
                <a:ea typeface="Cambria" pitchFamily="34" charset="-122"/>
                <a:cs typeface="Cambria" pitchFamily="34" charset="-120"/>
              </a:rPr>
              <a:t>1.40  →  5.66 reports</a:t>
            </a:r>
            <a:endParaRPr lang="en-US" sz="2200" dirty="0"/>
          </a:p>
        </p:txBody>
      </p:sp>
      <p:sp>
        <p:nvSpPr>
          <p:cNvPr id="7" name="Text 5"/>
          <p:cNvSpPr/>
          <p:nvPr/>
        </p:nvSpPr>
        <p:spPr>
          <a:xfrm>
            <a:off x="804672" y="2651760"/>
            <a:ext cx="5029200" cy="146304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Reporting rises in a close to straight line from the least-conflict group to the most-conflict group.</a:t>
            </a:r>
            <a:endParaRPr lang="en-US" sz="1150" dirty="0"/>
          </a:p>
        </p:txBody>
      </p:sp>
      <p:sp>
        <p:nvSpPr>
          <p:cNvPr id="8" name="Shape 6"/>
          <p:cNvSpPr/>
          <p:nvPr/>
        </p:nvSpPr>
        <p:spPr>
          <a:xfrm>
            <a:off x="6309360" y="1554480"/>
            <a:ext cx="5285232" cy="2743200"/>
          </a:xfrm>
          <a:prstGeom prst="roundRect">
            <a:avLst>
              <a:gd name="adj" fmla="val 2000"/>
            </a:avLst>
          </a:prstGeom>
          <a:solidFill>
            <a:srgbClr val="2B2523"/>
          </a:solidFill>
          <a:ln/>
          <a:effectLst>
            <a:outerShdw sx="100000" sy="100000" kx="0" ky="0" algn="bl" rotWithShape="0" blurRad="76200" dist="381" dir="5400000">
              <a:srgbClr val="000000">
                <a:alpha val="8000"/>
              </a:srgbClr>
            </a:outerShdw>
          </a:effectLst>
        </p:spPr>
      </p:sp>
      <p:sp>
        <p:nvSpPr>
          <p:cNvPr id="9" name="Text 7"/>
          <p:cNvSpPr/>
          <p:nvPr/>
        </p:nvSpPr>
        <p:spPr>
          <a:xfrm>
            <a:off x="6547104" y="1700784"/>
            <a:ext cx="475488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Climate-stress quintiles</a:t>
            </a:r>
            <a:endParaRPr lang="en-US" sz="1350" dirty="0"/>
          </a:p>
        </p:txBody>
      </p:sp>
      <p:sp>
        <p:nvSpPr>
          <p:cNvPr id="10" name="Text 8"/>
          <p:cNvSpPr/>
          <p:nvPr/>
        </p:nvSpPr>
        <p:spPr>
          <a:xfrm>
            <a:off x="6547104" y="201168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No steady rise</a:t>
            </a:r>
            <a:endParaRPr lang="en-US" sz="2200" dirty="0"/>
          </a:p>
        </p:txBody>
      </p:sp>
      <p:sp>
        <p:nvSpPr>
          <p:cNvPr id="11" name="Text 9"/>
          <p:cNvSpPr/>
          <p:nvPr/>
        </p:nvSpPr>
        <p:spPr>
          <a:xfrm>
            <a:off x="6547104" y="2651760"/>
            <a:ext cx="4754880" cy="146304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The worst-stress group sits a little higher than the middle groups (4.01 vs ~2.0), but there is no climbing pattern the way conflict shows.</a:t>
            </a:r>
            <a:endParaRPr lang="en-US" sz="1150" dirty="0"/>
          </a:p>
        </p:txBody>
      </p:sp>
      <p:sp>
        <p:nvSpPr>
          <p:cNvPr id="12" name="Shape 10"/>
          <p:cNvSpPr/>
          <p:nvPr/>
        </p:nvSpPr>
        <p:spPr>
          <a:xfrm>
            <a:off x="566928" y="4480560"/>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3" name="Text 11"/>
          <p:cNvSpPr/>
          <p:nvPr/>
        </p:nvSpPr>
        <p:spPr>
          <a:xfrm>
            <a:off x="841248" y="4608576"/>
            <a:ext cx="10479024" cy="1097280"/>
          </a:xfrm>
          <a:prstGeom prst="rect">
            <a:avLst/>
          </a:prstGeom>
          <a:noFill/>
          <a:ln/>
        </p:spPr>
        <p:txBody>
          <a:bodyPr wrap="square" lIns="0" tIns="0" rIns="0" bIns="0" rtlCol="0" anchor="ctr"/>
          <a:lstStyle/>
          <a:p>
            <a:pPr indent="0" marL="0">
              <a:lnSpc>
                <a:spcPts val="1600"/>
              </a:lnSpc>
              <a:buNone/>
            </a:pPr>
            <a:r>
              <a:rPr lang="en-US" sz="1200" i="1" dirty="0">
                <a:solidFill>
                  <a:srgbClr val="2B2523"/>
                </a:solidFill>
                <a:latin typeface="Calibri" pitchFamily="34" charset="0"/>
                <a:ea typeface="Calibri" pitchFamily="34" charset="-122"/>
                <a:cs typeface="Calibri" pitchFamily="34" charset="-120"/>
              </a:rPr>
              <a:t>What's left open: "extreme" is defined relative to Somalia's own 2024 data, not an outside measure of human impact. This result says how the reporting system responds to different kinds of signal. It does not say the underlying suffering in the two groups was ever equal.</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Measuring source complementarity</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How many of the four mechanisms cover each district-month?</a:t>
            </a:r>
            <a:endParaRPr lang="en-US" sz="1300" dirty="0"/>
          </a:p>
        </p:txBody>
      </p:sp>
      <p:sp>
        <p:nvSpPr>
          <p:cNvPr id="4" name="Shape 2"/>
          <p:cNvSpPr/>
          <p:nvPr/>
        </p:nvSpPr>
        <p:spPr>
          <a:xfrm>
            <a:off x="566928" y="1554480"/>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109728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Conflict and climate are recorded everywhere by construction (zero-filled events, satellite has no gaps). So every district-month starts with a floor of 2 of 4. All the real variation comes from market and reporting.</a:t>
            </a:r>
            <a:endParaRPr lang="en-US" sz="1250" dirty="0"/>
          </a:p>
        </p:txBody>
      </p:sp>
      <p:sp>
        <p:nvSpPr>
          <p:cNvPr id="6" name="Shape 4"/>
          <p:cNvSpPr/>
          <p:nvPr/>
        </p:nvSpPr>
        <p:spPr>
          <a:xfrm>
            <a:off x="566928" y="3200400"/>
            <a:ext cx="3553968" cy="1737360"/>
          </a:xfrm>
          <a:prstGeom prst="roundRect">
            <a:avLst>
              <a:gd name="adj" fmla="val 3158"/>
            </a:avLst>
          </a:prstGeom>
          <a:solidFill>
            <a:srgbClr val="E7E8D1"/>
          </a:solidFill>
          <a:ln/>
          <a:effectLst>
            <a:outerShdw sx="100000" sy="100000" kx="0" ky="0" algn="bl" rotWithShape="0" blurRad="76200" dist="381" dir="5400000">
              <a:srgbClr val="000000">
                <a:alpha val="8000"/>
              </a:srgbClr>
            </a:outerShdw>
          </a:effectLst>
        </p:spPr>
      </p:sp>
      <p:sp>
        <p:nvSpPr>
          <p:cNvPr id="7" name="Text 5"/>
          <p:cNvSpPr/>
          <p:nvPr/>
        </p:nvSpPr>
        <p:spPr>
          <a:xfrm>
            <a:off x="566928"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31.0%</a:t>
            </a:r>
            <a:endParaRPr lang="en-US" sz="3000" dirty="0"/>
          </a:p>
        </p:txBody>
      </p:sp>
      <p:sp>
        <p:nvSpPr>
          <p:cNvPr id="8" name="Text 6"/>
          <p:cNvSpPr/>
          <p:nvPr/>
        </p:nvSpPr>
        <p:spPr>
          <a:xfrm>
            <a:off x="566928"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2 of 4 mechanisms observed</a:t>
            </a:r>
            <a:endParaRPr lang="en-US" sz="1100" dirty="0"/>
          </a:p>
        </p:txBody>
      </p:sp>
      <p:sp>
        <p:nvSpPr>
          <p:cNvPr id="9" name="Shape 7"/>
          <p:cNvSpPr/>
          <p:nvPr/>
        </p:nvSpPr>
        <p:spPr>
          <a:xfrm>
            <a:off x="4303776" y="3200400"/>
            <a:ext cx="3553968" cy="1737360"/>
          </a:xfrm>
          <a:prstGeom prst="roundRect">
            <a:avLst>
              <a:gd name="adj" fmla="val 3158"/>
            </a:avLst>
          </a:prstGeom>
          <a:solidFill>
            <a:srgbClr val="A7BEAE"/>
          </a:solidFill>
          <a:ln/>
          <a:effectLst>
            <a:outerShdw sx="100000" sy="100000" kx="0" ky="0" algn="bl" rotWithShape="0" blurRad="76200" dist="381" dir="5400000">
              <a:srgbClr val="000000">
                <a:alpha val="8000"/>
              </a:srgbClr>
            </a:outerShdw>
          </a:effectLst>
        </p:spPr>
      </p:sp>
      <p:sp>
        <p:nvSpPr>
          <p:cNvPr id="10" name="Text 8"/>
          <p:cNvSpPr/>
          <p:nvPr/>
        </p:nvSpPr>
        <p:spPr>
          <a:xfrm>
            <a:off x="4303776"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34.8%</a:t>
            </a:r>
            <a:endParaRPr lang="en-US" sz="3000" dirty="0"/>
          </a:p>
        </p:txBody>
      </p:sp>
      <p:sp>
        <p:nvSpPr>
          <p:cNvPr id="11" name="Text 9"/>
          <p:cNvSpPr/>
          <p:nvPr/>
        </p:nvSpPr>
        <p:spPr>
          <a:xfrm>
            <a:off x="4303776"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3 of 4 mechanisms observed</a:t>
            </a:r>
            <a:endParaRPr lang="en-US" sz="1100" dirty="0"/>
          </a:p>
        </p:txBody>
      </p:sp>
      <p:sp>
        <p:nvSpPr>
          <p:cNvPr id="12" name="Shape 10"/>
          <p:cNvSpPr/>
          <p:nvPr/>
        </p:nvSpPr>
        <p:spPr>
          <a:xfrm>
            <a:off x="8040624" y="3200400"/>
            <a:ext cx="3553968" cy="1737360"/>
          </a:xfrm>
          <a:prstGeom prst="roundRect">
            <a:avLst>
              <a:gd name="adj" fmla="val 3158"/>
            </a:avLst>
          </a:prstGeom>
          <a:solidFill>
            <a:srgbClr val="B85042"/>
          </a:solidFill>
          <a:ln/>
          <a:effectLst>
            <a:outerShdw sx="100000" sy="100000" kx="0" ky="0" algn="bl" rotWithShape="0" blurRad="76200" dist="381" dir="5400000">
              <a:srgbClr val="000000">
                <a:alpha val="8000"/>
              </a:srgbClr>
            </a:outerShdw>
          </a:effectLst>
        </p:spPr>
      </p:sp>
      <p:sp>
        <p:nvSpPr>
          <p:cNvPr id="13" name="Text 11"/>
          <p:cNvSpPr/>
          <p:nvPr/>
        </p:nvSpPr>
        <p:spPr>
          <a:xfrm>
            <a:off x="8040624"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34.2%</a:t>
            </a:r>
            <a:endParaRPr lang="en-US" sz="3000" dirty="0"/>
          </a:p>
        </p:txBody>
      </p:sp>
      <p:sp>
        <p:nvSpPr>
          <p:cNvPr id="14" name="Text 12"/>
          <p:cNvSpPr/>
          <p:nvPr/>
        </p:nvSpPr>
        <p:spPr>
          <a:xfrm>
            <a:off x="8040624"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4 of 4 mechanisms observed</a:t>
            </a:r>
            <a:endParaRPr lang="en-US" sz="1100" dirty="0"/>
          </a:p>
        </p:txBody>
      </p:sp>
      <p:sp>
        <p:nvSpPr>
          <p:cNvPr id="15" name="Shape 13"/>
          <p:cNvSpPr/>
          <p:nvPr/>
        </p:nvSpPr>
        <p:spPr>
          <a:xfrm>
            <a:off x="566928" y="5175504"/>
            <a:ext cx="11027664" cy="1060704"/>
          </a:xfrm>
          <a:prstGeom prst="roundRect">
            <a:avLst>
              <a:gd name="adj" fmla="val 5172"/>
            </a:avLst>
          </a:prstGeom>
          <a:solidFill>
            <a:srgbClr val="F7F5F1"/>
          </a:solidFill>
          <a:ln/>
          <a:effectLst>
            <a:outerShdw sx="100000" sy="100000" kx="0" ky="0" algn="bl" rotWithShape="0" blurRad="76200" dist="381" dir="5400000">
              <a:srgbClr val="000000">
                <a:alpha val="8000"/>
              </a:srgbClr>
            </a:outerShdw>
          </a:effectLst>
        </p:spPr>
      </p:sp>
      <p:sp>
        <p:nvSpPr>
          <p:cNvPr id="16" name="Text 14"/>
          <p:cNvSpPr/>
          <p:nvPr/>
        </p:nvSpPr>
        <p:spPr>
          <a:xfrm>
            <a:off x="841248" y="5303520"/>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Market vs reporting overlap: of the 383 district-months market covers, 79 (20.6%) are ones reporting missed. Of the 534 reporting covers, 230 (43.1%) are ones market missed. Genuinely complementary, not redundant.</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Does this hold at the district level too?</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Month to month vs. which districts appear in the dataset at all</a:t>
            </a:r>
            <a:endParaRPr lang="en-US" sz="1300" dirty="0"/>
          </a:p>
        </p:txBody>
      </p:sp>
      <p:sp>
        <p:nvSpPr>
          <p:cNvPr id="4" name="Shape 2"/>
          <p:cNvSpPr/>
          <p:nvPr/>
        </p:nvSpPr>
        <p:spPr>
          <a:xfrm>
            <a:off x="566928" y="1554480"/>
            <a:ext cx="5486400" cy="3108960"/>
          </a:xfrm>
          <a:prstGeom prst="roundRect">
            <a:avLst>
              <a:gd name="adj" fmla="val 1765"/>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700784"/>
            <a:ext cx="2194560"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MONTH TO MONTH: COMPLEMENTARY</a:t>
            </a:r>
            <a:endParaRPr lang="en-US" sz="950" dirty="0"/>
          </a:p>
        </p:txBody>
      </p:sp>
      <p:sp>
        <p:nvSpPr>
          <p:cNvPr id="6" name="Text 4"/>
          <p:cNvSpPr/>
          <p:nvPr/>
        </p:nvSpPr>
        <p:spPr>
          <a:xfrm>
            <a:off x="786384" y="2011680"/>
            <a:ext cx="5029200" cy="914400"/>
          </a:xfrm>
          <a:prstGeom prst="rect">
            <a:avLst/>
          </a:prstGeom>
          <a:noFill/>
          <a:ln/>
        </p:spPr>
        <p:txBody>
          <a:bodyPr wrap="square" lIns="0" tIns="0" rIns="0" bIns="0" rtlCol="0" anchor="ctr"/>
          <a:lstStyle/>
          <a:p>
            <a:pPr indent="0" marL="0">
              <a:lnSpc>
                <a:spcPts val="1600"/>
              </a:lnSpc>
              <a:buNone/>
            </a:pPr>
            <a:r>
              <a:rPr lang="en-US" sz="1200" dirty="0">
                <a:solidFill>
                  <a:srgbClr val="7A6E68"/>
                </a:solidFill>
                <a:latin typeface="Calibri" pitchFamily="34" charset="0"/>
                <a:ea typeface="Calibri" pitchFamily="34" charset="-122"/>
                <a:cs typeface="Calibri" pitchFamily="34" charset="-120"/>
              </a:rPr>
              <a:t>Market fills in real gaps reporting leaves in an average month, and reporting fills in gaps market leaves.</a:t>
            </a:r>
            <a:endParaRPr lang="en-US" sz="1200" dirty="0"/>
          </a:p>
        </p:txBody>
      </p:sp>
      <p:sp>
        <p:nvSpPr>
          <p:cNvPr id="7" name="Shape 5"/>
          <p:cNvSpPr/>
          <p:nvPr/>
        </p:nvSpPr>
        <p:spPr>
          <a:xfrm>
            <a:off x="6309360" y="1554480"/>
            <a:ext cx="5285232" cy="3108960"/>
          </a:xfrm>
          <a:prstGeom prst="roundRect">
            <a:avLst>
              <a:gd name="adj" fmla="val 1765"/>
            </a:avLst>
          </a:prstGeom>
          <a:solidFill>
            <a:srgbClr val="2B2523"/>
          </a:solidFill>
          <a:ln/>
          <a:effectLst>
            <a:outerShdw sx="100000" sy="100000" kx="0" ky="0" algn="bl" rotWithShape="0" blurRad="76200" dist="381" dir="5400000">
              <a:srgbClr val="000000">
                <a:alpha val="8000"/>
              </a:srgbClr>
            </a:outerShdw>
          </a:effectLst>
        </p:spPr>
      </p:sp>
      <p:sp>
        <p:nvSpPr>
          <p:cNvPr id="8" name="Text 6"/>
          <p:cNvSpPr/>
          <p:nvPr/>
        </p:nvSpPr>
        <p:spPr>
          <a:xfrm>
            <a:off x="6547104" y="1700784"/>
            <a:ext cx="438912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WHICH DISTRICTS GET SEEN AT ALL: NOT COMPLEMENTARY</a:t>
            </a:r>
            <a:endParaRPr lang="en-US" sz="950" dirty="0"/>
          </a:p>
        </p:txBody>
      </p:sp>
      <p:sp>
        <p:nvSpPr>
          <p:cNvPr id="9" name="Text 7"/>
          <p:cNvSpPr/>
          <p:nvPr/>
        </p:nvSpPr>
        <p:spPr>
          <a:xfrm>
            <a:off x="6547104" y="2048256"/>
            <a:ext cx="475488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32 / 0 / 41</a:t>
            </a:r>
            <a:endParaRPr lang="en-US" sz="2400" dirty="0"/>
          </a:p>
        </p:txBody>
      </p:sp>
      <p:sp>
        <p:nvSpPr>
          <p:cNvPr id="10" name="Text 8"/>
          <p:cNvSpPr/>
          <p:nvPr/>
        </p:nvSpPr>
        <p:spPr>
          <a:xfrm>
            <a:off x="6547104" y="2688336"/>
            <a:ext cx="4754880" cy="146304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Districts reached by both, by market only, and by reporting only. Every district with a market is also reached by reporting. Reporting alone reaches 41 districts market never touches.</a:t>
            </a:r>
            <a:endParaRPr lang="en-US" sz="1150" dirty="0"/>
          </a:p>
        </p:txBody>
      </p:sp>
      <p:sp>
        <p:nvSpPr>
          <p:cNvPr id="11" name="Shape 9"/>
          <p:cNvSpPr/>
          <p:nvPr/>
        </p:nvSpPr>
        <p:spPr>
          <a:xfrm>
            <a:off x="566928" y="4846320"/>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2" name="Text 10"/>
          <p:cNvSpPr/>
          <p:nvPr/>
        </p:nvSpPr>
        <p:spPr>
          <a:xfrm>
            <a:off x="841248" y="4974336"/>
            <a:ext cx="10479024" cy="109728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Bottom line: combining sources is worth doing for the finer, month-level picture. For the coarser question of which districts exist in this dataset at all, reporting is carrying nearly the whole load on its own. SO_BANDER_BEYLA remains the one district neither source reaches, all year.</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Every feature now has an exact formula</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23 features across the four sources, documented in one place</a:t>
            </a:r>
            <a:endParaRPr lang="en-US" sz="1300" dirty="0"/>
          </a:p>
        </p:txBody>
      </p:sp>
      <p:sp>
        <p:nvSpPr>
          <p:cNvPr id="4" name="Shape 2"/>
          <p:cNvSpPr/>
          <p:nvPr/>
        </p:nvSpPr>
        <p:spPr>
          <a:xfrm>
            <a:off x="566928"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49808"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3</a:t>
            </a:r>
            <a:endParaRPr lang="en-US" sz="3000" dirty="0"/>
          </a:p>
        </p:txBody>
      </p:sp>
      <p:sp>
        <p:nvSpPr>
          <p:cNvPr id="6" name="Text 4"/>
          <p:cNvSpPr/>
          <p:nvPr/>
        </p:nvSpPr>
        <p:spPr>
          <a:xfrm>
            <a:off x="749808"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Conflict</a:t>
            </a:r>
            <a:endParaRPr lang="en-US" sz="1300" dirty="0"/>
          </a:p>
        </p:txBody>
      </p:sp>
      <p:sp>
        <p:nvSpPr>
          <p:cNvPr id="7" name="Text 5"/>
          <p:cNvSpPr/>
          <p:nvPr/>
        </p:nvSpPr>
        <p:spPr>
          <a:xfrm>
            <a:off x="749808"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Zero-filled event counts and fatalities, plus a log-difference trend</a:t>
            </a:r>
            <a:endParaRPr lang="en-US" sz="950" dirty="0"/>
          </a:p>
        </p:txBody>
      </p:sp>
      <p:sp>
        <p:nvSpPr>
          <p:cNvPr id="8" name="Shape 6"/>
          <p:cNvSpPr/>
          <p:nvPr/>
        </p:nvSpPr>
        <p:spPr>
          <a:xfrm>
            <a:off x="3369564"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3552444"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3552444"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Climate</a:t>
            </a:r>
            <a:endParaRPr lang="en-US" sz="1300" dirty="0"/>
          </a:p>
        </p:txBody>
      </p:sp>
      <p:sp>
        <p:nvSpPr>
          <p:cNvPr id="11" name="Text 9"/>
          <p:cNvSpPr/>
          <p:nvPr/>
        </p:nvSpPr>
        <p:spPr>
          <a:xfrm>
            <a:off x="3552444"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Monthly rainfall and a day-weighted average of the weekly vegetation index</a:t>
            </a:r>
            <a:endParaRPr lang="en-US" sz="950" dirty="0"/>
          </a:p>
        </p:txBody>
      </p:sp>
      <p:sp>
        <p:nvSpPr>
          <p:cNvPr id="12" name="Shape 10"/>
          <p:cNvSpPr/>
          <p:nvPr/>
        </p:nvSpPr>
        <p:spPr>
          <a:xfrm>
            <a:off x="6172200"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6355080"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16</a:t>
            </a:r>
            <a:endParaRPr lang="en-US" sz="3000" dirty="0"/>
          </a:p>
        </p:txBody>
      </p:sp>
      <p:sp>
        <p:nvSpPr>
          <p:cNvPr id="14" name="Text 12"/>
          <p:cNvSpPr/>
          <p:nvPr/>
        </p:nvSpPr>
        <p:spPr>
          <a:xfrm>
            <a:off x="6355080"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Market</a:t>
            </a:r>
            <a:endParaRPr lang="en-US" sz="1300" dirty="0"/>
          </a:p>
        </p:txBody>
      </p:sp>
      <p:sp>
        <p:nvSpPr>
          <p:cNvPr id="15" name="Text 13"/>
          <p:cNvSpPr/>
          <p:nvPr/>
        </p:nvSpPr>
        <p:spPr>
          <a:xfrm>
            <a:off x="6355080"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Prices in USD, log-difference trends, WFP's own PEWI score per commodity, and 4 summary counts</a:t>
            </a:r>
            <a:endParaRPr lang="en-US" sz="950" dirty="0"/>
          </a:p>
        </p:txBody>
      </p:sp>
      <p:sp>
        <p:nvSpPr>
          <p:cNvPr id="16" name="Shape 14"/>
          <p:cNvSpPr/>
          <p:nvPr/>
        </p:nvSpPr>
        <p:spPr>
          <a:xfrm>
            <a:off x="8974836"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9157716"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8" name="Text 16"/>
          <p:cNvSpPr/>
          <p:nvPr/>
        </p:nvSpPr>
        <p:spPr>
          <a:xfrm>
            <a:off x="9157716"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Reporting</a:t>
            </a:r>
            <a:endParaRPr lang="en-US" sz="1300" dirty="0"/>
          </a:p>
        </p:txBody>
      </p:sp>
      <p:sp>
        <p:nvSpPr>
          <p:cNvPr id="19" name="Text 17"/>
          <p:cNvSpPr/>
          <p:nvPr/>
        </p:nvSpPr>
        <p:spPr>
          <a:xfrm>
            <a:off x="9157716"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Report counts by district, and a food-and-nutrition subset</a:t>
            </a:r>
            <a:endParaRPr lang="en-US" sz="950" dirty="0"/>
          </a:p>
        </p:txBody>
      </p:sp>
      <p:sp>
        <p:nvSpPr>
          <p:cNvPr id="20" name="Shape 18"/>
          <p:cNvSpPr/>
          <p:nvPr/>
        </p:nvSpPr>
        <p:spPr>
          <a:xfrm>
            <a:off x="566928" y="4114800"/>
            <a:ext cx="11027664" cy="2103120"/>
          </a:xfrm>
          <a:prstGeom prst="roundRect">
            <a:avLst>
              <a:gd name="adj" fmla="val 2609"/>
            </a:avLst>
          </a:prstGeom>
          <a:solidFill>
            <a:srgbClr val="2B2523"/>
          </a:solidFill>
          <a:ln/>
          <a:effectLst>
            <a:outerShdw sx="100000" sy="100000" kx="0" ky="0" algn="bl" rotWithShape="0" blurRad="76200" dist="381" dir="5400000">
              <a:srgbClr val="000000">
                <a:alpha val="8000"/>
              </a:srgbClr>
            </a:outerShdw>
          </a:effectLst>
        </p:spPr>
      </p:sp>
      <p:sp>
        <p:nvSpPr>
          <p:cNvPr id="21" name="Text 19"/>
          <p:cNvSpPr/>
          <p:nvPr/>
        </p:nvSpPr>
        <p:spPr>
          <a:xfrm>
            <a:off x="841248" y="4242816"/>
            <a:ext cx="10479024" cy="292608"/>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The log-difference distinction</a:t>
            </a:r>
            <a:endParaRPr lang="en-US" sz="1400" dirty="0"/>
          </a:p>
        </p:txBody>
      </p:sp>
      <p:sp>
        <p:nvSpPr>
          <p:cNvPr id="22" name="Text 20"/>
          <p:cNvSpPr/>
          <p:nvPr/>
        </p:nvSpPr>
        <p:spPr>
          <a:xfrm>
            <a:off x="841248" y="4572000"/>
            <a:ext cx="10479024" cy="146304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conflict_trend_log uses log1p (log of 1+x), because a district can genuinely have 0 conflict events in a month, and log(0) is undefined</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The market trend features use a plain log instead, since a valid price is never 0</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Both replaced percentage change, which breaks when the previous month is zero</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PEWI, defined, and the market-stress threshold resolved</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Two items that needed their own explanation</a:t>
            </a:r>
            <a:endParaRPr lang="en-US" sz="1300" dirty="0"/>
          </a:p>
        </p:txBody>
      </p:sp>
      <p:sp>
        <p:nvSpPr>
          <p:cNvPr id="4" name="Shape 2"/>
          <p:cNvSpPr/>
          <p:nvPr/>
        </p:nvSpPr>
        <p:spPr>
          <a:xfrm>
            <a:off x="566928" y="1554480"/>
            <a:ext cx="5486400" cy="3200400"/>
          </a:xfrm>
          <a:prstGeom prst="roundRect">
            <a:avLst>
              <a:gd name="adj" fmla="val 1714"/>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What PEWI is</a:t>
            </a:r>
            <a:endParaRPr lang="en-US" sz="1350" dirty="0"/>
          </a:p>
        </p:txBody>
      </p:sp>
      <p:sp>
        <p:nvSpPr>
          <p:cNvPr id="6" name="Text 4"/>
          <p:cNvSpPr/>
          <p:nvPr/>
        </p:nvSpPr>
        <p:spPr>
          <a:xfrm>
            <a:off x="804672" y="2011680"/>
            <a:ext cx="5029200" cy="1280160"/>
          </a:xfrm>
          <a:prstGeom prst="rect">
            <a:avLst/>
          </a:prstGeom>
          <a:noFill/>
          <a:ln/>
        </p:spPr>
        <p:txBody>
          <a:bodyPr wrap="square" lIns="0" tIns="0" rIns="0" bIns="0" rtlCol="0" anchor="ctr"/>
          <a:lstStyle/>
          <a:p>
            <a:pPr indent="0" marL="0">
              <a:lnSpc>
                <a:spcPts val="1500"/>
              </a:lnSpc>
              <a:buNone/>
            </a:pPr>
            <a:r>
              <a:rPr lang="en-US" sz="1100" dirty="0">
                <a:solidFill>
                  <a:srgbClr val="7A6E68"/>
                </a:solidFill>
                <a:latin typeface="Calibri" pitchFamily="34" charset="0"/>
                <a:ea typeface="Calibri" pitchFamily="34" charset="-122"/>
                <a:cs typeface="Calibri" pitchFamily="34" charset="-120"/>
              </a:rPr>
              <a:t>Price Early Warning Indicator, WFP's own name for a method more widely known as ALPS (Alert for Price Spikes). It measures how far a commodity's price sits from its own normal seasonal pattern, in standardised units, so it can be compared across commodities with very different price levels.</a:t>
            </a:r>
            <a:endParaRPr lang="en-US" sz="1100" dirty="0"/>
          </a:p>
        </p:txBody>
      </p:sp>
      <p:sp>
        <p:nvSpPr>
          <p:cNvPr id="7" name="Text 5"/>
          <p:cNvSpPr/>
          <p:nvPr/>
        </p:nvSpPr>
        <p:spPr>
          <a:xfrm>
            <a:off x="804672" y="3383280"/>
            <a:ext cx="5029200" cy="365760"/>
          </a:xfrm>
          <a:prstGeom prst="rect">
            <a:avLst/>
          </a:prstGeom>
          <a:noFill/>
          <a:ln/>
        </p:spPr>
        <p:txBody>
          <a:bodyPr wrap="square" lIns="0" tIns="0" rIns="0" bIns="0" rtlCol="0" anchor="ctr"/>
          <a:lstStyle/>
          <a:p>
            <a:pPr indent="0" marL="0">
              <a:buNone/>
            </a:pPr>
            <a:r>
              <a:rPr lang="en-US" sz="1050" i="1" dirty="0">
                <a:solidFill>
                  <a:srgbClr val="B85042"/>
                </a:solidFill>
                <a:latin typeface="Calibri" pitchFamily="34" charset="0"/>
                <a:ea typeface="Calibri" pitchFamily="34" charset="-122"/>
                <a:cs typeface="Calibri" pitchFamily="34" charset="-120"/>
              </a:rPr>
              <a:t>This pipeline takes WFP's own "Pewi" column directly; nothing is recomputed.</a:t>
            </a:r>
            <a:endParaRPr lang="en-US" sz="1050" dirty="0"/>
          </a:p>
        </p:txBody>
      </p:sp>
      <p:sp>
        <p:nvSpPr>
          <p:cNvPr id="8" name="Text 6"/>
          <p:cNvSpPr/>
          <p:nvPr/>
        </p:nvSpPr>
        <p:spPr>
          <a:xfrm>
            <a:off x="804672" y="393192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Normal</a:t>
            </a:r>
            <a:endParaRPr lang="en-US" sz="1050" dirty="0"/>
          </a:p>
        </p:txBody>
      </p:sp>
      <p:sp>
        <p:nvSpPr>
          <p:cNvPr id="9" name="Text 7"/>
          <p:cNvSpPr/>
          <p:nvPr/>
        </p:nvSpPr>
        <p:spPr>
          <a:xfrm>
            <a:off x="2761488" y="393192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up to 0.25</a:t>
            </a:r>
            <a:endParaRPr lang="en-US" sz="1050" dirty="0"/>
          </a:p>
        </p:txBody>
      </p:sp>
      <p:sp>
        <p:nvSpPr>
          <p:cNvPr id="10" name="Text 8"/>
          <p:cNvSpPr/>
          <p:nvPr/>
        </p:nvSpPr>
        <p:spPr>
          <a:xfrm>
            <a:off x="804672" y="420624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Stress</a:t>
            </a:r>
            <a:endParaRPr lang="en-US" sz="1050" dirty="0"/>
          </a:p>
        </p:txBody>
      </p:sp>
      <p:sp>
        <p:nvSpPr>
          <p:cNvPr id="11" name="Text 9"/>
          <p:cNvSpPr/>
          <p:nvPr/>
        </p:nvSpPr>
        <p:spPr>
          <a:xfrm>
            <a:off x="2761488" y="420624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0.25 - 1.0</a:t>
            </a:r>
            <a:endParaRPr lang="en-US" sz="1050" dirty="0"/>
          </a:p>
        </p:txBody>
      </p:sp>
      <p:sp>
        <p:nvSpPr>
          <p:cNvPr id="12" name="Text 10"/>
          <p:cNvSpPr/>
          <p:nvPr/>
        </p:nvSpPr>
        <p:spPr>
          <a:xfrm>
            <a:off x="804672" y="448056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Alert</a:t>
            </a:r>
            <a:endParaRPr lang="en-US" sz="1050" dirty="0"/>
          </a:p>
        </p:txBody>
      </p:sp>
      <p:sp>
        <p:nvSpPr>
          <p:cNvPr id="13" name="Text 11"/>
          <p:cNvSpPr/>
          <p:nvPr/>
        </p:nvSpPr>
        <p:spPr>
          <a:xfrm>
            <a:off x="2761488" y="448056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1.0 - 2.0</a:t>
            </a:r>
            <a:endParaRPr lang="en-US" sz="1050" dirty="0"/>
          </a:p>
        </p:txBody>
      </p:sp>
      <p:sp>
        <p:nvSpPr>
          <p:cNvPr id="14" name="Text 12"/>
          <p:cNvSpPr/>
          <p:nvPr/>
        </p:nvSpPr>
        <p:spPr>
          <a:xfrm>
            <a:off x="804672" y="475488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Crisis</a:t>
            </a:r>
            <a:endParaRPr lang="en-US" sz="1050" dirty="0"/>
          </a:p>
        </p:txBody>
      </p:sp>
      <p:sp>
        <p:nvSpPr>
          <p:cNvPr id="15" name="Text 13"/>
          <p:cNvSpPr/>
          <p:nvPr/>
        </p:nvSpPr>
        <p:spPr>
          <a:xfrm>
            <a:off x="2761488" y="475488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above 2.0</a:t>
            </a:r>
            <a:endParaRPr lang="en-US" sz="1050" dirty="0"/>
          </a:p>
        </p:txBody>
      </p:sp>
      <p:sp>
        <p:nvSpPr>
          <p:cNvPr id="16" name="Shape 14"/>
          <p:cNvSpPr/>
          <p:nvPr/>
        </p:nvSpPr>
        <p:spPr>
          <a:xfrm>
            <a:off x="6309360" y="1554480"/>
            <a:ext cx="5285232" cy="3200400"/>
          </a:xfrm>
          <a:prstGeom prst="roundRect">
            <a:avLst>
              <a:gd name="adj" fmla="val 1714"/>
            </a:avLst>
          </a:prstGeom>
          <a:solidFill>
            <a:srgbClr val="2B2523"/>
          </a:solidFill>
          <a:ln/>
          <a:effectLst>
            <a:outerShdw sx="100000" sy="100000" kx="0" ky="0" algn="bl" rotWithShape="0" blurRad="76200" dist="381" dir="5400000">
              <a:srgbClr val="000000">
                <a:alpha val="8000"/>
              </a:srgbClr>
            </a:outerShdw>
          </a:effectLst>
        </p:spPr>
      </p:sp>
      <p:sp>
        <p:nvSpPr>
          <p:cNvPr id="17" name="Text 15"/>
          <p:cNvSpPr/>
          <p:nvPr/>
        </p:nvSpPr>
        <p:spPr>
          <a:xfrm>
            <a:off x="6547104" y="1700784"/>
            <a:ext cx="4754880" cy="54864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1.0 threshold is resolved, not dropped</a:t>
            </a:r>
            <a:endParaRPr lang="en-US" sz="1350" dirty="0"/>
          </a:p>
        </p:txBody>
      </p:sp>
      <p:sp>
        <p:nvSpPr>
          <p:cNvPr id="18" name="Text 16"/>
          <p:cNvSpPr/>
          <p:nvPr/>
        </p:nvSpPr>
        <p:spPr>
          <a:xfrm>
            <a:off x="6547104" y="2286000"/>
            <a:ext cx="4754880" cy="73152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It turns out to be exactly WFP's own Stress/Alert boundary, not an arbitrary cutoff. No sensitivity analysis was needed.</a:t>
            </a:r>
            <a:endParaRPr lang="en-US" sz="1150" dirty="0"/>
          </a:p>
        </p:txBody>
      </p:sp>
      <p:sp>
        <p:nvSpPr>
          <p:cNvPr id="19" name="Text 17"/>
          <p:cNvSpPr/>
          <p:nvPr/>
        </p:nvSpPr>
        <p:spPr>
          <a:xfrm>
            <a:off x="6547104" y="3108960"/>
            <a:ext cx="4754880" cy="310896"/>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one correction: the name</a:t>
            </a:r>
            <a:endParaRPr lang="en-US" sz="1250" dirty="0"/>
          </a:p>
        </p:txBody>
      </p:sp>
      <p:sp>
        <p:nvSpPr>
          <p:cNvPr id="20" name="Text 18"/>
          <p:cNvSpPr/>
          <p:nvPr/>
        </p:nvSpPr>
        <p:spPr>
          <a:xfrm>
            <a:off x="6547104" y="3438144"/>
            <a:ext cx="4754880" cy="118872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market_stress_count actually counts commodities in WFP's Alert-or-Crisis phase, not WFP's own Stress phase (0.25-1.0). The column keeps its existing name, already used throughout the notebook, but the correct reading is Alert-or-worse.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How each source actually observes Somalia</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The dissertation's key table, condensed for this update</a:t>
            </a:r>
            <a:endParaRPr lang="en-US" sz="1300" dirty="0"/>
          </a:p>
        </p:txBody>
      </p:sp>
      <p:sp>
        <p:nvSpPr>
          <p:cNvPr id="4" name="Shape 2"/>
          <p:cNvSpPr/>
          <p:nvPr/>
        </p:nvSpPr>
        <p:spPr>
          <a:xfrm>
            <a:off x="566928"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Conflict (ACLED)</a:t>
            </a:r>
            <a:endParaRPr lang="en-US" sz="1400" dirty="0"/>
          </a:p>
        </p:txBody>
      </p:sp>
      <p:sp>
        <p:nvSpPr>
          <p:cNvPr id="6" name="Text 4"/>
          <p:cNvSpPr/>
          <p:nvPr/>
        </p:nvSpPr>
        <p:spPr>
          <a:xfrm>
            <a:off x="804672"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7" name="Text 5"/>
          <p:cNvSpPr/>
          <p:nvPr/>
        </p:nvSpPr>
        <p:spPr>
          <a:xfrm>
            <a:off x="804672"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Event coding from local media and monitoring partners; 65.3% "Local partner" sourced, 31.2% cite no source at all</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 (zero-filled)</a:t>
            </a:r>
            <a:endParaRPr lang="en-US" sz="1050" dirty="0"/>
          </a:p>
        </p:txBody>
      </p:sp>
      <p:sp>
        <p:nvSpPr>
          <p:cNvPr id="8" name="Shape 6"/>
          <p:cNvSpPr/>
          <p:nvPr/>
        </p:nvSpPr>
        <p:spPr>
          <a:xfrm>
            <a:off x="6199632"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6437376"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Climate (CHIRPS / VHI)</a:t>
            </a:r>
            <a:endParaRPr lang="en-US" sz="1400" dirty="0"/>
          </a:p>
        </p:txBody>
      </p:sp>
      <p:sp>
        <p:nvSpPr>
          <p:cNvPr id="10" name="Text 8"/>
          <p:cNvSpPr/>
          <p:nvPr/>
        </p:nvSpPr>
        <p:spPr>
          <a:xfrm>
            <a:off x="6437376"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11" name="Text 9"/>
          <p:cNvSpPr/>
          <p:nvPr/>
        </p:nvSpPr>
        <p:spPr>
          <a:xfrm>
            <a:off x="6437376"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Satellite imagery only, no ground survey needed, so no dependence on local access or reporting</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a:t>
            </a:r>
            <a:endParaRPr lang="en-US" sz="1050" dirty="0"/>
          </a:p>
        </p:txBody>
      </p:sp>
      <p:sp>
        <p:nvSpPr>
          <p:cNvPr id="12" name="Shape 10"/>
          <p:cNvSpPr/>
          <p:nvPr/>
        </p:nvSpPr>
        <p:spPr>
          <a:xfrm>
            <a:off x="566928"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804672"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Market (WFP / PEWI)</a:t>
            </a:r>
            <a:endParaRPr lang="en-US" sz="1400" dirty="0"/>
          </a:p>
        </p:txBody>
      </p:sp>
      <p:sp>
        <p:nvSpPr>
          <p:cNvPr id="14" name="Text 12"/>
          <p:cNvSpPr/>
          <p:nvPr/>
        </p:nvSpPr>
        <p:spPr>
          <a:xfrm>
            <a:off x="804672"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43-47% OF DISTRICT-MONTHS</a:t>
            </a:r>
            <a:endParaRPr lang="en-US" sz="950" dirty="0"/>
          </a:p>
        </p:txBody>
      </p:sp>
      <p:sp>
        <p:nvSpPr>
          <p:cNvPr id="15" name="Text 13"/>
          <p:cNvSpPr/>
          <p:nvPr/>
        </p:nvSpPr>
        <p:spPr>
          <a:xfrm>
            <a:off x="804672"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Weekly visits by WFP's own enumerators, only to markets that are safe and accessible to reach</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47% of districts (needs a market); actually covers 43.1% by the PEWI score used in this panel</a:t>
            </a:r>
            <a:endParaRPr lang="en-US" sz="1050" dirty="0"/>
          </a:p>
        </p:txBody>
      </p:sp>
      <p:sp>
        <p:nvSpPr>
          <p:cNvPr id="16" name="Shape 14"/>
          <p:cNvSpPr/>
          <p:nvPr/>
        </p:nvSpPr>
        <p:spPr>
          <a:xfrm>
            <a:off x="6199632"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6437376"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Reporting (ReliefWeb)</a:t>
            </a:r>
            <a:endParaRPr lang="en-US" sz="1400" dirty="0"/>
          </a:p>
        </p:txBody>
      </p:sp>
      <p:sp>
        <p:nvSpPr>
          <p:cNvPr id="18" name="Text 16"/>
          <p:cNvSpPr/>
          <p:nvPr/>
        </p:nvSpPr>
        <p:spPr>
          <a:xfrm>
            <a:off x="6437376"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60% OF MONTHS, 99% OF DISTRICTS</a:t>
            </a:r>
            <a:endParaRPr lang="en-US" sz="950" dirty="0"/>
          </a:p>
        </p:txBody>
      </p:sp>
      <p:sp>
        <p:nvSpPr>
          <p:cNvPr id="19" name="Text 17"/>
          <p:cNvSpPr/>
          <p:nvPr/>
        </p:nvSpPr>
        <p:spPr>
          <a:xfrm>
            <a:off x="6437376"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Reports self-submitted by humanitarian organisations, no fixed schedule or obligation to report</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60.1% of district-months, 73 of 74 districts at least once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What a zero means, what missing means, and the main risk</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Same table, the harder-to-summarise rows</a:t>
            </a:r>
            <a:endParaRPr lang="en-US" sz="1300" dirty="0"/>
          </a:p>
        </p:txBody>
      </p:sp>
      <p:sp>
        <p:nvSpPr>
          <p:cNvPr id="4" name="Text 2"/>
          <p:cNvSpPr/>
          <p:nvPr/>
        </p:nvSpPr>
        <p:spPr>
          <a:xfrm>
            <a:off x="566928" y="1554480"/>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What a zero means</a:t>
            </a:r>
            <a:endParaRPr lang="en-US" sz="1400" dirty="0"/>
          </a:p>
        </p:txBody>
      </p:sp>
      <p:sp>
        <p:nvSpPr>
          <p:cNvPr id="5" name="Shape 3"/>
          <p:cNvSpPr/>
          <p:nvPr/>
        </p:nvSpPr>
        <p:spPr>
          <a:xfrm>
            <a:off x="566928" y="1920240"/>
            <a:ext cx="11027664" cy="1042416"/>
          </a:xfrm>
          <a:prstGeom prst="roundRect">
            <a:avLst>
              <a:gd name="adj" fmla="val 5263"/>
            </a:avLst>
          </a:prstGeom>
          <a:solidFill>
            <a:srgbClr val="F7F5F1"/>
          </a:solidFill>
          <a:ln/>
          <a:effectLst>
            <a:outerShdw sx="100000" sy="100000" kx="0" ky="0" algn="bl" rotWithShape="0" blurRad="76200" dist="381" dir="5400000">
              <a:srgbClr val="000000">
                <a:alpha val="8000"/>
              </a:srgbClr>
            </a:outerShdw>
          </a:effectLst>
        </p:spPr>
      </p:sp>
      <p:sp>
        <p:nvSpPr>
          <p:cNvPr id="6" name="Text 4"/>
          <p:cNvSpPr/>
          <p:nvPr/>
        </p:nvSpPr>
        <p:spPr>
          <a:xfrm>
            <a:off x="749808"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7" name="Text 5"/>
          <p:cNvSpPr/>
          <p:nvPr/>
        </p:nvSpPr>
        <p:spPr>
          <a:xfrm>
            <a:off x="749808"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recorded event: genuine calm, or violence nobody reported</a:t>
            </a:r>
            <a:endParaRPr lang="en-US" sz="950" dirty="0"/>
          </a:p>
        </p:txBody>
      </p:sp>
      <p:sp>
        <p:nvSpPr>
          <p:cNvPr id="8" name="Text 6"/>
          <p:cNvSpPr/>
          <p:nvPr/>
        </p:nvSpPr>
        <p:spPr>
          <a:xfrm>
            <a:off x="3506724"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9" name="Text 7"/>
          <p:cNvSpPr/>
          <p:nvPr/>
        </p:nvSpPr>
        <p:spPr>
          <a:xfrm>
            <a:off x="3506724"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real, meaningful reading, not a gap</a:t>
            </a:r>
            <a:endParaRPr lang="en-US" sz="950" dirty="0"/>
          </a:p>
        </p:txBody>
      </p:sp>
      <p:sp>
        <p:nvSpPr>
          <p:cNvPr id="10" name="Text 8"/>
          <p:cNvSpPr/>
          <p:nvPr/>
        </p:nvSpPr>
        <p:spPr>
          <a:xfrm>
            <a:off x="6263640"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11" name="Text 9"/>
          <p:cNvSpPr/>
          <p:nvPr/>
        </p:nvSpPr>
        <p:spPr>
          <a:xfrm>
            <a:off x="6263640"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Not valid for a price itself; only the summary counts can read 0</a:t>
            </a:r>
            <a:endParaRPr lang="en-US" sz="950" dirty="0"/>
          </a:p>
        </p:txBody>
      </p:sp>
      <p:sp>
        <p:nvSpPr>
          <p:cNvPr id="12" name="Text 10"/>
          <p:cNvSpPr/>
          <p:nvPr/>
        </p:nvSpPr>
        <p:spPr>
          <a:xfrm>
            <a:off x="9020556"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13" name="Text 11"/>
          <p:cNvSpPr/>
          <p:nvPr/>
        </p:nvSpPr>
        <p:spPr>
          <a:xfrm>
            <a:off x="9020556"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literal zero: no report matched</a:t>
            </a:r>
            <a:endParaRPr lang="en-US" sz="950" dirty="0"/>
          </a:p>
        </p:txBody>
      </p:sp>
      <p:sp>
        <p:nvSpPr>
          <p:cNvPr id="14" name="Text 12"/>
          <p:cNvSpPr/>
          <p:nvPr/>
        </p:nvSpPr>
        <p:spPr>
          <a:xfrm>
            <a:off x="566928" y="3145536"/>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Main measurement risk</a:t>
            </a:r>
            <a:endParaRPr lang="en-US" sz="1400" dirty="0"/>
          </a:p>
        </p:txBody>
      </p:sp>
      <p:sp>
        <p:nvSpPr>
          <p:cNvPr id="15" name="Shape 13"/>
          <p:cNvSpPr/>
          <p:nvPr/>
        </p:nvSpPr>
        <p:spPr>
          <a:xfrm>
            <a:off x="566928" y="3511296"/>
            <a:ext cx="11027664" cy="1042416"/>
          </a:xfrm>
          <a:prstGeom prst="roundRect">
            <a:avLst>
              <a:gd name="adj" fmla="val 5263"/>
            </a:avLst>
          </a:prstGeom>
          <a:solidFill>
            <a:srgbClr val="F7F5F1"/>
          </a:solidFill>
          <a:ln/>
          <a:effectLst>
            <a:outerShdw sx="100000" sy="100000" kx="0" ky="0" algn="bl" rotWithShape="0" blurRad="76200" dist="381" dir="5400000">
              <a:srgbClr val="000000">
                <a:alpha val="8000"/>
              </a:srgbClr>
            </a:outerShdw>
          </a:effectLst>
        </p:spPr>
      </p:sp>
      <p:sp>
        <p:nvSpPr>
          <p:cNvPr id="16" name="Text 14"/>
          <p:cNvSpPr/>
          <p:nvPr/>
        </p:nvSpPr>
        <p:spPr>
          <a:xfrm>
            <a:off x="749808" y="3621024"/>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17" name="Text 15"/>
          <p:cNvSpPr/>
          <p:nvPr/>
        </p:nvSpPr>
        <p:spPr>
          <a:xfrm>
            <a:off x="749808" y="3877056"/>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Tracks media presence more than violence itself</a:t>
            </a:r>
            <a:endParaRPr lang="en-US" sz="950" dirty="0"/>
          </a:p>
        </p:txBody>
      </p:sp>
      <p:sp>
        <p:nvSpPr>
          <p:cNvPr id="18" name="Text 16"/>
          <p:cNvSpPr/>
          <p:nvPr/>
        </p:nvSpPr>
        <p:spPr>
          <a:xfrm>
            <a:off x="3506724" y="3621024"/>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19" name="Text 17"/>
          <p:cNvSpPr/>
          <p:nvPr/>
        </p:nvSpPr>
        <p:spPr>
          <a:xfrm>
            <a:off x="3506724" y="3877056"/>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reliable of the four, but weaker where rain gauges are sparse</a:t>
            </a:r>
            <a:endParaRPr lang="en-US" sz="950" dirty="0"/>
          </a:p>
        </p:txBody>
      </p:sp>
      <p:sp>
        <p:nvSpPr>
          <p:cNvPr id="20" name="Text 18"/>
          <p:cNvSpPr/>
          <p:nvPr/>
        </p:nvSpPr>
        <p:spPr>
          <a:xfrm>
            <a:off x="6263640" y="3621024"/>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21" name="Text 19"/>
          <p:cNvSpPr/>
          <p:nvPr/>
        </p:nvSpPr>
        <p:spPr>
          <a:xfrm>
            <a:off x="6263640" y="3877056"/>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Reflects accessible trade hubs, not a random sample of Somalia</a:t>
            </a:r>
            <a:endParaRPr lang="en-US" sz="950" dirty="0"/>
          </a:p>
        </p:txBody>
      </p:sp>
      <p:sp>
        <p:nvSpPr>
          <p:cNvPr id="22" name="Text 20"/>
          <p:cNvSpPr/>
          <p:nvPr/>
        </p:nvSpPr>
        <p:spPr>
          <a:xfrm>
            <a:off x="9020556" y="3621024"/>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23" name="Text 21"/>
          <p:cNvSpPr/>
          <p:nvPr/>
        </p:nvSpPr>
        <p:spPr>
          <a:xfrm>
            <a:off x="9020556" y="3877056"/>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word-boundary matching; favours conflict over climate stress</a:t>
            </a:r>
            <a:endParaRPr lang="en-US" sz="950" dirty="0"/>
          </a:p>
        </p:txBody>
      </p:sp>
      <p:sp>
        <p:nvSpPr>
          <p:cNvPr id="24" name="Shape 22"/>
          <p:cNvSpPr/>
          <p:nvPr/>
        </p:nvSpPr>
        <p:spPr>
          <a:xfrm>
            <a:off x="566928" y="4791456"/>
            <a:ext cx="11027664" cy="822960"/>
          </a:xfrm>
          <a:prstGeom prst="roundRect">
            <a:avLst>
              <a:gd name="adj" fmla="val 6667"/>
            </a:avLst>
          </a:prstGeom>
          <a:solidFill>
            <a:srgbClr val="2B2523"/>
          </a:solidFill>
          <a:ln/>
          <a:effectLst>
            <a:outerShdw sx="100000" sy="100000" kx="0" ky="0" algn="bl" rotWithShape="0" blurRad="76200" dist="381" dir="5400000">
              <a:srgbClr val="000000">
                <a:alpha val="8000"/>
              </a:srgbClr>
            </a:outerShdw>
          </a:effectLst>
        </p:spPr>
      </p:sp>
      <p:sp>
        <p:nvSpPr>
          <p:cNvPr id="25" name="Text 23"/>
          <p:cNvSpPr/>
          <p:nvPr/>
        </p:nvSpPr>
        <p:spPr>
          <a:xfrm>
            <a:off x="841248" y="4919472"/>
            <a:ext cx="10479024" cy="548640"/>
          </a:xfrm>
          <a:prstGeom prst="rect">
            <a:avLst/>
          </a:prstGeom>
          <a:noFill/>
          <a:ln/>
        </p:spPr>
        <p:txBody>
          <a:bodyPr wrap="square" lIns="0" tIns="0" rIns="0" bIns="0" rtlCol="0" anchor="ctr"/>
          <a:lstStyle/>
          <a:p>
            <a:pPr indent="0" marL="0">
              <a:buNone/>
            </a:pPr>
            <a:r>
              <a:rPr lang="en-US" sz="1200" i="1" dirty="0">
                <a:solidFill>
                  <a:srgbClr val="E7E8D1"/>
                </a:solidFill>
                <a:latin typeface="Calibri" pitchFamily="34" charset="0"/>
                <a:ea typeface="Calibri" pitchFamily="34" charset="-122"/>
                <a:cs typeface="Calibri" pitchFamily="34" charset="-120"/>
              </a:rPr>
              <a:t>None of the four is a neutral, ground-truthed measure. Each one sees Somalia through the lens of who is watching, and why.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Next steps: sharpening the three sub-questions further</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Identified this week, not yet built</a:t>
            </a:r>
            <a:endParaRPr lang="en-US" sz="1300" dirty="0"/>
          </a:p>
        </p:txBody>
      </p:sp>
      <p:sp>
        <p:nvSpPr>
          <p:cNvPr id="4" name="Shape 2"/>
          <p:cNvSpPr/>
          <p:nvPr/>
        </p:nvSpPr>
        <p:spPr>
          <a:xfrm>
            <a:off x="566928" y="1554480"/>
            <a:ext cx="11027664" cy="1060704"/>
          </a:xfrm>
          <a:prstGeom prst="roundRect">
            <a:avLst>
              <a:gd name="adj" fmla="val 5172"/>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49808" y="1719072"/>
            <a:ext cx="384048" cy="384048"/>
          </a:xfrm>
          <a:prstGeom prst="ellipse">
            <a:avLst/>
          </a:prstGeom>
          <a:solidFill>
            <a:srgbClr val="B85042"/>
          </a:solidFill>
          <a:ln/>
        </p:spPr>
      </p:sp>
      <p:sp>
        <p:nvSpPr>
          <p:cNvPr id="6" name="Text 4"/>
          <p:cNvSpPr/>
          <p:nvPr/>
        </p:nvSpPr>
        <p:spPr>
          <a:xfrm>
            <a:off x="749808" y="17190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1298448" y="1682496"/>
            <a:ext cx="3703320" cy="82296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One table, coverage by month</a:t>
            </a:r>
            <a:endParaRPr lang="en-US" sz="1250" dirty="0"/>
          </a:p>
        </p:txBody>
      </p:sp>
      <p:sp>
        <p:nvSpPr>
          <p:cNvPr id="8" name="Text 6"/>
          <p:cNvSpPr/>
          <p:nvPr/>
        </p:nvSpPr>
        <p:spPr>
          <a:xfrm>
            <a:off x="5349240" y="1664208"/>
            <a:ext cx="5971032" cy="86868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Pull the scattered month-by-month coverage numbers for every source into a single table, so the weakest months are visible at a glance.</a:t>
            </a:r>
            <a:endParaRPr lang="en-US" sz="1050" dirty="0"/>
          </a:p>
        </p:txBody>
      </p:sp>
      <p:sp>
        <p:nvSpPr>
          <p:cNvPr id="9" name="Shape 7"/>
          <p:cNvSpPr/>
          <p:nvPr/>
        </p:nvSpPr>
        <p:spPr>
          <a:xfrm>
            <a:off x="566928" y="2761488"/>
            <a:ext cx="11027664" cy="1060704"/>
          </a:xfrm>
          <a:prstGeom prst="roundRect">
            <a:avLst>
              <a:gd name="adj" fmla="val 5172"/>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749808" y="2926080"/>
            <a:ext cx="384048" cy="384048"/>
          </a:xfrm>
          <a:prstGeom prst="ellipse">
            <a:avLst/>
          </a:prstGeom>
          <a:solidFill>
            <a:srgbClr val="B85042"/>
          </a:solidFill>
          <a:ln/>
        </p:spPr>
      </p:sp>
      <p:sp>
        <p:nvSpPr>
          <p:cNvPr id="11" name="Text 9"/>
          <p:cNvSpPr/>
          <p:nvPr/>
        </p:nvSpPr>
        <p:spPr>
          <a:xfrm>
            <a:off x="749808" y="292608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1298448" y="2889504"/>
            <a:ext cx="3703320" cy="82296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Is market placement itself systematic?</a:t>
            </a:r>
            <a:endParaRPr lang="en-US" sz="1250" dirty="0"/>
          </a:p>
        </p:txBody>
      </p:sp>
      <p:sp>
        <p:nvSpPr>
          <p:cNvPr id="13" name="Text 11"/>
          <p:cNvSpPr/>
          <p:nvPr/>
        </p:nvSpPr>
        <p:spPr>
          <a:xfrm>
            <a:off x="5349240" y="2871216"/>
            <a:ext cx="5971032" cy="86868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Market presence has only been checked against conflict. Check it against region and district size too, the same treatment reporting coverage already got.</a:t>
            </a:r>
            <a:endParaRPr lang="en-US" sz="1050" dirty="0"/>
          </a:p>
        </p:txBody>
      </p:sp>
      <p:sp>
        <p:nvSpPr>
          <p:cNvPr id="14" name="Shape 12"/>
          <p:cNvSpPr/>
          <p:nvPr/>
        </p:nvSpPr>
        <p:spPr>
          <a:xfrm>
            <a:off x="566928" y="3968496"/>
            <a:ext cx="11027664" cy="1060704"/>
          </a:xfrm>
          <a:prstGeom prst="roundRect">
            <a:avLst>
              <a:gd name="adj" fmla="val 5172"/>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749808" y="4133088"/>
            <a:ext cx="384048" cy="384048"/>
          </a:xfrm>
          <a:prstGeom prst="ellipse">
            <a:avLst/>
          </a:prstGeom>
          <a:solidFill>
            <a:srgbClr val="B85042"/>
          </a:solidFill>
          <a:ln/>
        </p:spPr>
      </p:sp>
      <p:sp>
        <p:nvSpPr>
          <p:cNvPr id="16" name="Text 14"/>
          <p:cNvSpPr/>
          <p:nvPr/>
        </p:nvSpPr>
        <p:spPr>
          <a:xfrm>
            <a:off x="749808" y="41330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1298448" y="4096512"/>
            <a:ext cx="3703320" cy="82296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Do the sources agree on where the crisis is?</a:t>
            </a:r>
            <a:endParaRPr lang="en-US" sz="1250" dirty="0"/>
          </a:p>
        </p:txBody>
      </p:sp>
      <p:sp>
        <p:nvSpPr>
          <p:cNvPr id="18" name="Text 16"/>
          <p:cNvSpPr/>
          <p:nvPr/>
        </p:nvSpPr>
        <p:spPr>
          <a:xfrm>
            <a:off x="5349240" y="4078224"/>
            <a:ext cx="5971032" cy="86868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So far we've only checked whether sources cover the same places. Check whether conflict-severe districts are also the ones with stressed markets, or whether the two point elsewhere.</a:t>
            </a:r>
            <a:endParaRPr lang="en-US" sz="1050" dirty="0"/>
          </a:p>
        </p:txBody>
      </p:sp>
      <p:sp>
        <p:nvSpPr>
          <p:cNvPr id="19" name="Shape 17"/>
          <p:cNvSpPr/>
          <p:nvPr/>
        </p:nvSpPr>
        <p:spPr>
          <a:xfrm>
            <a:off x="566928" y="5175504"/>
            <a:ext cx="11027664" cy="1060704"/>
          </a:xfrm>
          <a:prstGeom prst="roundRect">
            <a:avLst>
              <a:gd name="adj" fmla="val 5172"/>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749808" y="5340096"/>
            <a:ext cx="384048" cy="384048"/>
          </a:xfrm>
          <a:prstGeom prst="ellipse">
            <a:avLst/>
          </a:prstGeom>
          <a:solidFill>
            <a:srgbClr val="B85042"/>
          </a:solidFill>
          <a:ln/>
        </p:spPr>
      </p:sp>
      <p:sp>
        <p:nvSpPr>
          <p:cNvPr id="21" name="Text 19"/>
          <p:cNvSpPr/>
          <p:nvPr/>
        </p:nvSpPr>
        <p:spPr>
          <a:xfrm>
            <a:off x="749808" y="534009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1298448" y="5303520"/>
            <a:ext cx="3703320" cy="822960"/>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A note on how fine-grained each source is</a:t>
            </a:r>
            <a:endParaRPr lang="en-US" sz="1250" dirty="0"/>
          </a:p>
        </p:txBody>
      </p:sp>
      <p:sp>
        <p:nvSpPr>
          <p:cNvPr id="23" name="Text 21"/>
          <p:cNvSpPr/>
          <p:nvPr/>
        </p:nvSpPr>
        <p:spPr>
          <a:xfrm>
            <a:off x="5349240" y="5285232"/>
            <a:ext cx="5971032" cy="86868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The research question asks about granularity by name. Document each source's native resolution, from exact GPS points down to a whole document, before it collapses to one number per district.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27664" cy="548640"/>
          </a:xfrm>
          <a:prstGeom prst="rect">
            <a:avLst/>
          </a:prstGeom>
          <a:noFill/>
          <a:ln/>
        </p:spPr>
        <p:txBody>
          <a:bodyPr wrap="square" lIns="0" tIns="0" rIns="0" bIns="0" rtlCol="0" anchor="ctr"/>
          <a:lstStyle/>
          <a:p>
            <a:pPr indent="0" marL="0">
              <a:buNone/>
            </a:pPr>
            <a:r>
              <a:rPr lang="en-US" sz="2700" b="1" dirty="0">
                <a:solidFill>
                  <a:srgbClr val="2B2523"/>
                </a:solidFill>
                <a:latin typeface="Cambria" pitchFamily="34" charset="0"/>
                <a:ea typeface="Cambria" pitchFamily="34" charset="-122"/>
                <a:cs typeface="Cambria" pitchFamily="34" charset="-120"/>
              </a:rPr>
              <a:t>Next steps: data-quality findings, already checked</a:t>
            </a:r>
            <a:endParaRPr lang="en-US" sz="2700" dirty="0"/>
          </a:p>
        </p:txBody>
      </p:sp>
      <p:sp>
        <p:nvSpPr>
          <p:cNvPr id="3" name="Text 1"/>
          <p:cNvSpPr/>
          <p:nvPr/>
        </p:nvSpPr>
        <p:spPr>
          <a:xfrm>
            <a:off x="566928" y="1042416"/>
            <a:ext cx="11027664" cy="329184"/>
          </a:xfrm>
          <a:prstGeom prst="rect">
            <a:avLst/>
          </a:prstGeom>
          <a:noFill/>
          <a:ln/>
        </p:spPr>
        <p:txBody>
          <a:bodyPr wrap="square" lIns="0" tIns="0" rIns="0" bIns="0" rtlCol="0" anchor="ctr"/>
          <a:lstStyle/>
          <a:p>
            <a:pPr indent="0" marL="0">
              <a:buNone/>
            </a:pPr>
            <a:r>
              <a:rPr lang="en-US" sz="1300" i="1" dirty="0">
                <a:solidFill>
                  <a:srgbClr val="7A6E68"/>
                </a:solidFill>
                <a:latin typeface="Calibri" pitchFamily="34" charset="0"/>
                <a:ea typeface="Calibri" pitchFamily="34" charset="-122"/>
                <a:cs typeface="Calibri" pitchFamily="34" charset="-120"/>
              </a:rPr>
              <a:t>Verified against the actual data this week; ready to write up</a:t>
            </a:r>
            <a:endParaRPr lang="en-US" sz="1300" dirty="0"/>
          </a:p>
        </p:txBody>
      </p:sp>
      <p:sp>
        <p:nvSpPr>
          <p:cNvPr id="4" name="Shape 2"/>
          <p:cNvSpPr/>
          <p:nvPr/>
        </p:nvSpPr>
        <p:spPr>
          <a:xfrm>
            <a:off x="566928" y="1554480"/>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5" name="Text 3"/>
          <p:cNvSpPr/>
          <p:nvPr/>
        </p:nvSpPr>
        <p:spPr>
          <a:xfrm>
            <a:off x="768096" y="168249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Conflict location precision</a:t>
            </a:r>
            <a:endParaRPr lang="en-US" sz="1200" dirty="0"/>
          </a:p>
        </p:txBody>
      </p:sp>
      <p:sp>
        <p:nvSpPr>
          <p:cNvPr id="6" name="Text 4"/>
          <p:cNvSpPr/>
          <p:nvPr/>
        </p:nvSpPr>
        <p:spPr>
          <a:xfrm>
            <a:off x="768096" y="2011680"/>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22.4% of Somalia's 2024 conflict events are only approximately located, not pinned to an exact site, and it varies sharply by district (0-69%).</a:t>
            </a:r>
            <a:endParaRPr lang="en-US" sz="1000" dirty="0"/>
          </a:p>
        </p:txBody>
      </p:sp>
      <p:sp>
        <p:nvSpPr>
          <p:cNvPr id="7" name="Shape 5"/>
          <p:cNvSpPr/>
          <p:nvPr/>
        </p:nvSpPr>
        <p:spPr>
          <a:xfrm>
            <a:off x="6190488" y="1554480"/>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8" name="Text 6"/>
          <p:cNvSpPr/>
          <p:nvPr/>
        </p:nvSpPr>
        <p:spPr>
          <a:xfrm>
            <a:off x="6391656" y="168249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The market/PEWI gap, quantified</a:t>
            </a:r>
            <a:endParaRPr lang="en-US" sz="1200" dirty="0"/>
          </a:p>
        </p:txBody>
      </p:sp>
      <p:sp>
        <p:nvSpPr>
          <p:cNvPr id="9" name="Text 7"/>
          <p:cNvSpPr/>
          <p:nvPr/>
        </p:nvSpPr>
        <p:spPr>
          <a:xfrm>
            <a:off x="6391656" y="2011680"/>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147 of 1,676 basket-commodity price records (8.8%) have a price but no PEWI score, concentrated in 3 districts missing it all year.</a:t>
            </a:r>
            <a:endParaRPr lang="en-US" sz="1000" dirty="0"/>
          </a:p>
        </p:txBody>
      </p:sp>
      <p:sp>
        <p:nvSpPr>
          <p:cNvPr id="10" name="Shape 8"/>
          <p:cNvSpPr/>
          <p:nvPr/>
        </p:nvSpPr>
        <p:spPr>
          <a:xfrm>
            <a:off x="566928" y="3035808"/>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1" name="Text 9"/>
          <p:cNvSpPr/>
          <p:nvPr/>
        </p:nvSpPr>
        <p:spPr>
          <a:xfrm>
            <a:off x="768096" y="3163824"/>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Price outlier check</a:t>
            </a:r>
            <a:endParaRPr lang="en-US" sz="1200" dirty="0"/>
          </a:p>
        </p:txBody>
      </p:sp>
      <p:sp>
        <p:nvSpPr>
          <p:cNvPr id="12" name="Text 10"/>
          <p:cNvSpPr/>
          <p:nvPr/>
        </p:nvSpPr>
        <p:spPr>
          <a:xfrm>
            <a:off x="768096" y="3493008"/>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Ran a check for implausible prices. Came back clean, nothing to report beyond confirming it was checked.</a:t>
            </a:r>
            <a:endParaRPr lang="en-US" sz="1000" dirty="0"/>
          </a:p>
        </p:txBody>
      </p:sp>
      <p:sp>
        <p:nvSpPr>
          <p:cNvPr id="13" name="Shape 11"/>
          <p:cNvSpPr/>
          <p:nvPr/>
        </p:nvSpPr>
        <p:spPr>
          <a:xfrm>
            <a:off x="6190488" y="3035808"/>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6391656" y="3163824"/>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Trend features miss more than prices</a:t>
            </a:r>
            <a:endParaRPr lang="en-US" sz="1200" dirty="0"/>
          </a:p>
        </p:txBody>
      </p:sp>
      <p:sp>
        <p:nvSpPr>
          <p:cNvPr id="15" name="Text 13"/>
          <p:cNvSpPr/>
          <p:nvPr/>
        </p:nvSpPr>
        <p:spPr>
          <a:xfrm>
            <a:off x="6391656" y="3493008"/>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The price-change features are missing 56.8% of the time, versus 52.8% for the prices they're built from, since a trend needs two consecutive months.</a:t>
            </a:r>
            <a:endParaRPr lang="en-US" sz="1000" dirty="0"/>
          </a:p>
        </p:txBody>
      </p:sp>
      <p:sp>
        <p:nvSpPr>
          <p:cNvPr id="16" name="Shape 14"/>
          <p:cNvSpPr/>
          <p:nvPr/>
        </p:nvSpPr>
        <p:spPr>
          <a:xfrm>
            <a:off x="566928" y="4517136"/>
            <a:ext cx="5404104" cy="1335024"/>
          </a:xfrm>
          <a:prstGeom prst="roundRect">
            <a:avLst>
              <a:gd name="adj" fmla="val 4110"/>
            </a:avLst>
          </a:prstGeom>
          <a:solidFill>
            <a:srgbClr val="E7E8D1"/>
          </a:solidFill>
          <a:ln/>
          <a:effectLst>
            <a:outerShdw sx="100000" sy="100000" kx="0" ky="0" algn="bl" rotWithShape="0" blurRad="76200" dist="381" dir="5400000">
              <a:srgbClr val="000000">
                <a:alpha val="8000"/>
              </a:srgbClr>
            </a:outerShdw>
          </a:effectLst>
        </p:spPr>
      </p:sp>
      <p:sp>
        <p:nvSpPr>
          <p:cNvPr id="17" name="Text 15"/>
          <p:cNvSpPr/>
          <p:nvPr/>
        </p:nvSpPr>
        <p:spPr>
          <a:xfrm>
            <a:off x="768096" y="4645152"/>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"Whole basket or nothing" reporting</a:t>
            </a:r>
            <a:endParaRPr lang="en-US" sz="1200" dirty="0"/>
          </a:p>
        </p:txBody>
      </p:sp>
      <p:sp>
        <p:nvSpPr>
          <p:cNvPr id="18" name="Text 16"/>
          <p:cNvSpPr/>
          <p:nvPr/>
        </p:nvSpPr>
        <p:spPr>
          <a:xfrm>
            <a:off x="768096" y="4974336"/>
            <a:ext cx="5001768" cy="822960"/>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A market reports all four basket foods in a month, or none of them, almost never a partial mix. A genuine, previously undocumented pattern in how WFP collects prices.</a:t>
            </a:r>
            <a:endParaRPr lang="en-US" sz="1000" dirty="0"/>
          </a:p>
        </p:txBody>
      </p:sp>
      <p:sp>
        <p:nvSpPr>
          <p:cNvPr id="19" name="Shape 17"/>
          <p:cNvSpPr/>
          <p:nvPr/>
        </p:nvSpPr>
        <p:spPr>
          <a:xfrm>
            <a:off x="566928" y="5943600"/>
            <a:ext cx="11027664" cy="420624"/>
          </a:xfrm>
          <a:prstGeom prst="roundRect">
            <a:avLst>
              <a:gd name="adj" fmla="val 13043"/>
            </a:avLst>
          </a:prstGeom>
          <a:solidFill>
            <a:srgbClr val="2B2523"/>
          </a:solidFill>
          <a:ln/>
          <a:effectLst>
            <a:outerShdw sx="100000" sy="100000" kx="0" ky="0" algn="bl" rotWithShape="0" blurRad="76200" dist="381" dir="5400000">
              <a:srgbClr val="000000">
                <a:alpha val="8000"/>
              </a:srgbClr>
            </a:outerShdw>
          </a:effectLst>
        </p:spPr>
      </p:sp>
      <p:sp>
        <p:nvSpPr>
          <p:cNvPr id="20" name="Text 18"/>
          <p:cNvSpPr/>
          <p:nvPr/>
        </p:nvSpPr>
        <p:spPr>
          <a:xfrm>
            <a:off x="841248" y="6016752"/>
            <a:ext cx="10479024" cy="292608"/>
          </a:xfrm>
          <a:prstGeom prst="rect">
            <a:avLst/>
          </a:prstGeom>
          <a:noFill/>
          <a:ln/>
        </p:spPr>
        <p:txBody>
          <a:bodyPr wrap="square" lIns="0" tIns="0" rIns="0" bIns="0" rtlCol="0" anchor="ctr"/>
          <a:lstStyle/>
          <a:p>
            <a:pPr indent="0" marL="0">
              <a:buNone/>
            </a:pPr>
            <a:r>
              <a:rPr lang="en-US" sz="1100" i="1" dirty="0">
                <a:solidFill>
                  <a:srgbClr val="E7E8D1"/>
                </a:solidFill>
                <a:latin typeface="Calibri" pitchFamily="34" charset="0"/>
                <a:ea typeface="Calibri" pitchFamily="34" charset="-122"/>
                <a:cs typeface="Calibri" pitchFamily="34" charset="-120"/>
              </a:rPr>
              <a:t>None require new data. All reuse the datasets already in the repository.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of August 17</dc:title>
  <dc:subject>PptxGenJS Presentation</dc:subject>
  <dc:creator>Samuel Aracena</dc:creator>
  <cp:lastModifiedBy>Samuel Aracena</cp:lastModifiedBy>
  <cp:revision>1</cp:revision>
  <dcterms:created xsi:type="dcterms:W3CDTF">2026-08-25T02:40:05Z</dcterms:created>
  <dcterms:modified xsi:type="dcterms:W3CDTF">2026-08-25T02:40:05Z</dcterms:modified>
</cp:coreProperties>
</file>